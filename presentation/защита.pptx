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59" r:id="rId14"/>
    <p:sldId id="271" r:id="rId15"/>
    <p:sldId id="272" r:id="rId16"/>
    <p:sldId id="269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84" y="264"/>
      </p:cViewPr>
      <p:guideLst>
        <p:guide orient="horz" pos="2183"/>
        <p:guide pos="4294"/>
        <p:guide pos="3863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9827064"/>
        <c:axId val="469822360"/>
      </c:barChart>
      <c:catAx>
        <c:axId val="469827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822360"/>
        <c:crosses val="autoZero"/>
        <c:auto val="1"/>
        <c:lblAlgn val="ctr"/>
        <c:lblOffset val="100"/>
        <c:noMultiLvlLbl val="0"/>
      </c:catAx>
      <c:valAx>
        <c:axId val="469822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827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69823144"/>
        <c:axId val="469824320"/>
      </c:barChart>
      <c:catAx>
        <c:axId val="469823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824320"/>
        <c:crosses val="autoZero"/>
        <c:auto val="1"/>
        <c:lblAlgn val="ctr"/>
        <c:lblOffset val="100"/>
        <c:noMultiLvlLbl val="0"/>
      </c:catAx>
      <c:valAx>
        <c:axId val="469824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823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Engine</a:t>
          </a:r>
          <a:endParaRPr lang="ru-RU" sz="3200" b="1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JSON </a:t>
          </a:r>
          <a:endParaRPr lang="ru-RU" sz="2000" b="1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46520">
          <a:off x="6016071" y="3148663"/>
          <a:ext cx="2423204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204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175" y="2424724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Operations</a:t>
          </a:r>
          <a:endParaRPr lang="ru-RU" sz="2000" b="1" kern="1200" dirty="0"/>
        </a:p>
      </dsp:txBody>
      <dsp:txXfrm>
        <a:off x="8517268" y="2503817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28235">
          <a:off x="5960573" y="1942563"/>
          <a:ext cx="394267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67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1" y="18737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6122" y="106618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53010">
          <a:off x="5876740" y="1965495"/>
          <a:ext cx="249466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66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75" y="2281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Response </a:t>
          </a:r>
          <a:endParaRPr lang="ru-RU" sz="2000" b="1" kern="1200" dirty="0"/>
        </a:p>
      </dsp:txBody>
      <dsp:txXfrm>
        <a:off x="8318856" y="110694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diagramData" Target="../diagrams/data1.xml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3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59.png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62.png"/><Relationship Id="rId7" Type="http://schemas.openxmlformats.org/officeDocument/2006/relationships/image" Target="../media/image55.png"/><Relationship Id="rId12" Type="http://schemas.openxmlformats.org/officeDocument/2006/relationships/image" Target="../media/image67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6.png"/><Relationship Id="rId5" Type="http://schemas.openxmlformats.org/officeDocument/2006/relationships/image" Target="../media/image45.png"/><Relationship Id="rId10" Type="http://schemas.openxmlformats.org/officeDocument/2006/relationships/image" Target="../media/image65.png"/><Relationship Id="rId4" Type="http://schemas.openxmlformats.org/officeDocument/2006/relationships/image" Target="../media/image44.png"/><Relationship Id="rId9" Type="http://schemas.openxmlformats.org/officeDocument/2006/relationships/image" Target="../media/image6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5.png"/><Relationship Id="rId3" Type="http://schemas.openxmlformats.org/officeDocument/2006/relationships/image" Target="../media/image51.png"/><Relationship Id="rId7" Type="http://schemas.openxmlformats.org/officeDocument/2006/relationships/image" Target="../media/image63.png"/><Relationship Id="rId12" Type="http://schemas.openxmlformats.org/officeDocument/2006/relationships/image" Target="../media/image74.png"/><Relationship Id="rId2" Type="http://schemas.openxmlformats.org/officeDocument/2006/relationships/image" Target="../media/image68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54.png"/><Relationship Id="rId5" Type="http://schemas.openxmlformats.org/officeDocument/2006/relationships/image" Target="../media/image70.png"/><Relationship Id="rId15" Type="http://schemas.openxmlformats.org/officeDocument/2006/relationships/image" Target="../media/image77.png"/><Relationship Id="rId10" Type="http://schemas.openxmlformats.org/officeDocument/2006/relationships/image" Target="../media/image55.png"/><Relationship Id="rId4" Type="http://schemas.openxmlformats.org/officeDocument/2006/relationships/image" Target="../media/image69.png"/><Relationship Id="rId9" Type="http://schemas.openxmlformats.org/officeDocument/2006/relationships/image" Target="../media/image73.png"/><Relationship Id="rId14" Type="http://schemas.openxmlformats.org/officeDocument/2006/relationships/image" Target="../media/image7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5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4.png"/><Relationship Id="rId7" Type="http://schemas.openxmlformats.org/officeDocument/2006/relationships/image" Target="../media/image52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79.png"/><Relationship Id="rId4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00.png"/><Relationship Id="rId12" Type="http://schemas.openxmlformats.org/officeDocument/2006/relationships/image" Target="../media/image104.png"/><Relationship Id="rId2" Type="http://schemas.openxmlformats.org/officeDocument/2006/relationships/diagramData" Target="../diagrams/data2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openxmlformats.org/officeDocument/2006/relationships/image" Target="../media/image58.png"/><Relationship Id="rId5" Type="http://schemas.openxmlformats.org/officeDocument/2006/relationships/diagramColors" Target="../diagrams/colors2.xml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09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112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1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Relationship Id="rId9" Type="http://schemas.openxmlformats.org/officeDocument/2006/relationships/image" Target="../media/image1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20.png"/><Relationship Id="rId7" Type="http://schemas.openxmlformats.org/officeDocument/2006/relationships/image" Target="../media/image1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10" Type="http://schemas.openxmlformats.org/officeDocument/2006/relationships/image" Target="../media/image127.png"/><Relationship Id="rId4" Type="http://schemas.openxmlformats.org/officeDocument/2006/relationships/image" Target="../media/image121.png"/><Relationship Id="rId9" Type="http://schemas.openxmlformats.org/officeDocument/2006/relationships/image" Target="../media/image12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5450" y="1471613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149561" y="3368528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073461" y="3935834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955436" y="21597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02236" y="4481147"/>
            <a:ext cx="1271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Текстовые  файлы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1" y="1958482"/>
            <a:ext cx="849172" cy="120103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91" y="3185607"/>
            <a:ext cx="1372970" cy="194187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124" y="2962168"/>
            <a:ext cx="1887399" cy="266945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277534"/>
            <a:ext cx="754265" cy="1066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72034" y="62626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 rot="5400000">
            <a:off x="5899709" y="1449818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1778424"/>
            <a:ext cx="723441" cy="10232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10284" y="2105360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Список слов</a:t>
            </a:r>
          </a:p>
        </p:txBody>
      </p:sp>
      <p:sp>
        <p:nvSpPr>
          <p:cNvPr id="20" name="Стрелка вправо 19"/>
          <p:cNvSpPr/>
          <p:nvPr/>
        </p:nvSpPr>
        <p:spPr>
          <a:xfrm rot="5400000">
            <a:off x="5899709" y="2957084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4795288" y="3896300"/>
            <a:ext cx="595800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331" y="2575201"/>
            <a:ext cx="2362414" cy="3341299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7329070" y="3931366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580" y="3082033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32821" y="4416784"/>
            <a:ext cx="1505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213360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7" y="3005264"/>
            <a:ext cx="491750" cy="69551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274727" y="1809381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1066800" y="4069357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4249" y="2132992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" y="4882773"/>
            <a:ext cx="429863" cy="60798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772" y="4415613"/>
            <a:ext cx="804972" cy="113851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33735" y="234592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298806" y="450931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9730" y="3425767"/>
            <a:ext cx="442447" cy="31282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975" y="3266236"/>
            <a:ext cx="406677" cy="575187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936" y="5479012"/>
            <a:ext cx="471798" cy="667291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330016"/>
              </p:ext>
            </p:extLst>
          </p:nvPr>
        </p:nvGraphicFramePr>
        <p:xfrm>
          <a:off x="4400929" y="5399093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4400929" y="4940338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27" y="3479857"/>
            <a:ext cx="580393" cy="41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1557850" y="4141081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4973216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125" y="4987626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381" y="443827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90715" y="235964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3115" y="457941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9096" y="3458097"/>
            <a:ext cx="479870" cy="678708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290062"/>
              </p:ext>
            </p:extLst>
          </p:nvPr>
        </p:nvGraphicFramePr>
        <p:xfrm>
          <a:off x="3879822" y="4560104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878910" y="4108268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878910" y="5544024"/>
            <a:ext cx="327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878910" y="5919768"/>
            <a:ext cx="297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</a:t>
            </a: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256" y="3645370"/>
            <a:ext cx="430192" cy="30416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88" y="5624314"/>
            <a:ext cx="424789" cy="600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533" y="255018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4883914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3526" y="6000730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010" y="5886916"/>
            <a:ext cx="601341" cy="42516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7125" y="3694672"/>
            <a:ext cx="567280" cy="40108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806" y="3495697"/>
            <a:ext cx="554399" cy="39197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418" y="5953015"/>
            <a:ext cx="470973" cy="33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</a:t>
            </a:r>
            <a:r>
              <a:rPr lang="ru-RU" sz="4000" dirty="0" smtClean="0"/>
              <a:t> </a:t>
            </a:r>
            <a:r>
              <a:rPr lang="ru-RU" sz="4000" dirty="0" smtClean="0"/>
              <a:t>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474118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656191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243920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243920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243920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382419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719656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</a:t>
            </a:r>
            <a:r>
              <a:rPr lang="en-US" dirty="0" smtClean="0"/>
              <a:t>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911757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911920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911920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911920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911920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3043744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</a:t>
            </a:r>
            <a:r>
              <a:rPr lang="en-US" dirty="0" smtClean="0"/>
              <a:t> </a:t>
            </a:r>
            <a:r>
              <a:rPr lang="en-US" dirty="0" smtClean="0"/>
              <a:t>– </a:t>
            </a:r>
            <a:r>
              <a:rPr lang="ru-RU" dirty="0" smtClean="0"/>
              <a:t>количество </a:t>
            </a:r>
            <a:r>
              <a:rPr lang="ru-RU" dirty="0" smtClean="0"/>
              <a:t>путей файлов и </a:t>
            </a:r>
            <a:r>
              <a:rPr lang="ru-RU" dirty="0" smtClean="0"/>
              <a:t>документов </a:t>
            </a:r>
            <a:r>
              <a:rPr lang="ru-RU" dirty="0" smtClean="0"/>
              <a:t>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665941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669598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720699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</a:t>
            </a:r>
            <a:r>
              <a:rPr lang="en-US" dirty="0" smtClean="0"/>
              <a:t>[p, </a:t>
            </a:r>
            <a:r>
              <a:rPr lang="en-US" dirty="0" smtClean="0"/>
              <a:t>p</a:t>
            </a:r>
            <a:r>
              <a:rPr lang="en-US" dirty="0" smtClean="0"/>
              <a:t>+p-1</a:t>
            </a:r>
            <a:r>
              <a:rPr lang="en-US" dirty="0" smtClean="0"/>
              <a:t>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890470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911920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911920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723720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</a:t>
            </a:r>
            <a:r>
              <a:rPr lang="en-US" dirty="0" smtClean="0"/>
              <a:t>n+1-p, </a:t>
            </a:r>
            <a:r>
              <a:rPr lang="en-US" dirty="0" smtClean="0"/>
              <a:t>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842298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837383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842300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837384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837384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842301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5063920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5059004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5063920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813641" y="2151227"/>
            <a:ext cx="11384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  <a:endParaRPr lang="ru-RU" sz="1000" dirty="0" smtClean="0"/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10586" y="3907217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834748" y="3912165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666940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618768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613853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618770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613854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</a:t>
            </a:r>
            <a:r>
              <a:rPr lang="en-US" dirty="0" smtClean="0"/>
              <a:t>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613854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618771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717279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093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9011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8142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7279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9176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344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98906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98906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98906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98906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98906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98906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3002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086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086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0783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289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532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287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531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288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651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734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651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651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651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651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16315" y="4755604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pic>
        <p:nvPicPr>
          <p:cNvPr id="266" name="Рисунок 2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68" y="3243597"/>
            <a:ext cx="1394439" cy="1972235"/>
          </a:xfrm>
          <a:prstGeom prst="rect">
            <a:avLst/>
          </a:prstGeom>
        </p:spPr>
      </p:pic>
      <p:sp>
        <p:nvSpPr>
          <p:cNvPr id="267" name="TextBox 266"/>
          <p:cNvSpPr txBox="1"/>
          <p:nvPr/>
        </p:nvSpPr>
        <p:spPr>
          <a:xfrm>
            <a:off x="10782406" y="4679476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pic>
        <p:nvPicPr>
          <p:cNvPr id="268" name="Рисунок 26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8974" y="3243597"/>
            <a:ext cx="1275202" cy="1803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smtClean="0"/>
              <a:t>Индексация документов в отдельных</a:t>
            </a:r>
            <a:r>
              <a:rPr lang="en-US" sz="4000" smtClean="0"/>
              <a:t> </a:t>
            </a:r>
            <a:r>
              <a:rPr lang="ru-RU" sz="400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1766198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3948271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4536000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4536000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4536000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4674499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011736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 smtClean="0"/>
              <a:t>d-1</a:t>
            </a:r>
            <a:r>
              <a:rPr lang="en-US" dirty="0" smtClean="0"/>
              <a:t>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203837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204000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204000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204000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204000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2335824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</a:t>
            </a:r>
            <a:r>
              <a:rPr lang="en-US" dirty="0" smtClean="0"/>
              <a:t>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3958021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3961678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012779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</a:t>
            </a:r>
            <a:r>
              <a:rPr lang="en-US" dirty="0" smtClean="0"/>
              <a:t>[d, d+d-1</a:t>
            </a:r>
            <a:r>
              <a:rPr lang="en-US" dirty="0" smtClean="0"/>
              <a:t>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182550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204000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204000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015800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</a:t>
            </a:r>
            <a:r>
              <a:rPr lang="en-US" dirty="0" smtClean="0"/>
              <a:t>n+1-d, </a:t>
            </a:r>
            <a:r>
              <a:rPr lang="en-US" dirty="0" smtClean="0"/>
              <a:t>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200000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200000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200000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134378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129463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134380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129464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</a:t>
            </a:r>
            <a:r>
              <a:rPr lang="en-US" dirty="0" smtClean="0"/>
              <a:t>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129464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134381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4356000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4351084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4356000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232889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702666" y="3907217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126828" y="3912165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7991455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7940349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7945267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7940164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7941325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03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8157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997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8157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15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8157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13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4621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752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2889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4786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954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</a:t>
            </a:r>
            <a:r>
              <a:rPr lang="ru-RU" sz="2400" dirty="0" smtClean="0"/>
              <a:t>индексных </a:t>
            </a:r>
            <a:r>
              <a:rPr lang="ru-RU" sz="2400" dirty="0" smtClean="0"/>
              <a:t>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5469" y="4618595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pic>
        <p:nvPicPr>
          <p:cNvPr id="110" name="Рисунок 10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37" y="3182716"/>
            <a:ext cx="1275202" cy="1803591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9598" y="3217353"/>
            <a:ext cx="2564936" cy="1813499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207749" y="4816390"/>
            <a:ext cx="1691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</a:t>
            </a:r>
            <a:r>
              <a:rPr lang="ru-RU" dirty="0" smtClean="0"/>
              <a:t>индексных баз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1781270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3948271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36000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36000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36000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4674499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11736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000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000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203837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04000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04000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04000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04000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679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702666" y="3897385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140540" y="390632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>
            <a:stCxn id="93" idx="1"/>
          </p:cNvCxnSpPr>
          <p:nvPr/>
        </p:nvCxnSpPr>
        <p:spPr>
          <a:xfrm rot="10800000">
            <a:off x="5373798" y="1693506"/>
            <a:ext cx="4136505" cy="2435441"/>
          </a:xfrm>
          <a:prstGeom prst="bentConnector3">
            <a:avLst>
              <a:gd name="adj1" fmla="val 3650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97280" y="1693501"/>
            <a:ext cx="5135664" cy="2448395"/>
          </a:xfrm>
          <a:prstGeom prst="bentConnector3">
            <a:avLst>
              <a:gd name="adj1" fmla="val 999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9460" y="2485296"/>
            <a:ext cx="2290792" cy="32400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510302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3958021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000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0167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3961678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12779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</a:t>
            </a:r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r>
              <a:rPr lang="en-US" dirty="0" smtClean="0"/>
              <a:t>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182550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204000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204000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015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000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15800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7991455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200000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200000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200000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134378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129463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134380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129464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129464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134381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7940349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7945267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7940164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</a:t>
            </a:r>
            <a:r>
              <a:rPr lang="ru-RU" sz="2400" dirty="0" smtClean="0"/>
              <a:t>промежуточных </a:t>
            </a:r>
            <a:r>
              <a:rPr lang="ru-RU" sz="2400" dirty="0" smtClean="0"/>
              <a:t>индексных </a:t>
            </a:r>
            <a:r>
              <a:rPr lang="ru-RU" sz="2400" dirty="0" smtClean="0"/>
              <a:t>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356000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351084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356000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154516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941325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1819" y="3162559"/>
            <a:ext cx="2564936" cy="1813499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4824" y="4627383"/>
            <a:ext cx="1691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</a:t>
            </a:r>
            <a:r>
              <a:rPr lang="ru-RU" dirty="0" smtClean="0"/>
              <a:t>индексных баз</a:t>
            </a:r>
            <a:endParaRPr lang="ru-RU" dirty="0"/>
          </a:p>
        </p:txBody>
      </p:sp>
      <p:sp>
        <p:nvSpPr>
          <p:cNvPr id="116" name="TextBox 115"/>
          <p:cNvSpPr txBox="1"/>
          <p:nvPr/>
        </p:nvSpPr>
        <p:spPr>
          <a:xfrm>
            <a:off x="10315856" y="5032169"/>
            <a:ext cx="1483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индекса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9264" y="4031169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1449387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2133600" y="287338"/>
            <a:ext cx="10058400" cy="735012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0" y="1846263"/>
          <a:ext cx="4938713" cy="3049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7254875" y="1846263"/>
          <a:ext cx="4937125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3686185" y="3743893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97945" y="3158837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2" y="250941"/>
            <a:ext cx="1877575" cy="2655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212" y="1136656"/>
            <a:ext cx="1843407" cy="2607237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99" y="2225809"/>
            <a:ext cx="1518987" cy="2148391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365" y="295502"/>
            <a:ext cx="1958257" cy="2769676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451" y="1351594"/>
            <a:ext cx="1698281" cy="2401977"/>
          </a:xfrm>
          <a:prstGeom prst="rect">
            <a:avLst/>
          </a:prstGeom>
        </p:spPr>
      </p:pic>
      <p:sp>
        <p:nvSpPr>
          <p:cNvPr id="14" name="Стрелка вправо 13"/>
          <p:cNvSpPr/>
          <p:nvPr/>
        </p:nvSpPr>
        <p:spPr>
          <a:xfrm>
            <a:off x="3504523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65" y="295502"/>
            <a:ext cx="2567857" cy="3631868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174" y="1048484"/>
            <a:ext cx="1492093" cy="2110353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7328709" y="186747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8122077" y="278266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05.12.2025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15126</TotalTime>
  <Words>1081</Words>
  <Application>Microsoft Office PowerPoint</Application>
  <PresentationFormat>Широкоэкранный</PresentationFormat>
  <Paragraphs>402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353</cp:revision>
  <dcterms:created xsi:type="dcterms:W3CDTF">2025-10-14T05:54:15Z</dcterms:created>
  <dcterms:modified xsi:type="dcterms:W3CDTF">2025-12-05T16:49:18Z</dcterms:modified>
</cp:coreProperties>
</file>
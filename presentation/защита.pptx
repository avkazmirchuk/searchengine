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8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79" r:id="rId10"/>
    <p:sldId id="280" r:id="rId11"/>
    <p:sldId id="281" r:id="rId12"/>
    <p:sldId id="283" r:id="rId13"/>
    <p:sldId id="269" r:id="rId14"/>
    <p:sldId id="272" r:id="rId15"/>
    <p:sldId id="259" r:id="rId16"/>
    <p:sldId id="271" r:id="rId17"/>
    <p:sldId id="285" r:id="rId18"/>
    <p:sldId id="287" r:id="rId19"/>
    <p:sldId id="257" r:id="rId20"/>
    <p:sldId id="289" r:id="rId21"/>
    <p:sldId id="278" r:id="rId22"/>
    <p:sldId id="258" r:id="rId23"/>
    <p:sldId id="276" r:id="rId24"/>
    <p:sldId id="277" r:id="rId25"/>
    <p:sldId id="288" r:id="rId26"/>
    <p:sldId id="263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16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1232" userDrawn="1">
          <p15:clr>
            <a:srgbClr val="A4A3A4"/>
          </p15:clr>
        </p15:guide>
        <p15:guide id="4" orient="horz" pos="91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2" autoAdjust="0"/>
    <p:restoredTop sz="96400" autoAdjust="0"/>
  </p:normalViewPr>
  <p:slideViewPr>
    <p:cSldViewPr snapToGrid="0">
      <p:cViewPr varScale="1">
        <p:scale>
          <a:sx n="100" d="100"/>
          <a:sy n="100" d="100"/>
        </p:scale>
        <p:origin x="78" y="252"/>
      </p:cViewPr>
      <p:guideLst>
        <p:guide orient="horz" pos="3816"/>
        <p:guide pos="3840"/>
        <p:guide pos="1232"/>
        <p:guide orient="horz" pos="91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чтение текстовых файлов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76236696"/>
        <c:axId val="476237088"/>
      </c:barChart>
      <c:catAx>
        <c:axId val="4762366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6237088"/>
        <c:crosses val="autoZero"/>
        <c:auto val="1"/>
        <c:lblAlgn val="ctr"/>
        <c:lblOffset val="100"/>
        <c:noMultiLvlLbl val="0"/>
      </c:catAx>
      <c:valAx>
        <c:axId val="4762370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62366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формирование базы индекса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76233168"/>
        <c:axId val="476232384"/>
      </c:barChart>
      <c:catAx>
        <c:axId val="476233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6232384"/>
        <c:crosses val="autoZero"/>
        <c:auto val="1"/>
        <c:lblAlgn val="ctr"/>
        <c:lblOffset val="100"/>
        <c:noMultiLvlLbl val="0"/>
      </c:catAx>
      <c:valAx>
        <c:axId val="4762323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62331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08.12.2025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08.12.2025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08.12.2025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08.12.2025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08.12.2025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08.12.2025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08.12.2025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diagramData" Target="../diagrams/data1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11" Type="http://schemas.openxmlformats.org/officeDocument/2006/relationships/image" Target="../media/image24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3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41.png"/><Relationship Id="rId3" Type="http://schemas.openxmlformats.org/officeDocument/2006/relationships/image" Target="../media/image49.png"/><Relationship Id="rId7" Type="http://schemas.openxmlformats.org/officeDocument/2006/relationships/image" Target="../media/image52.png"/><Relationship Id="rId12" Type="http://schemas.openxmlformats.org/officeDocument/2006/relationships/image" Target="../media/image30.png"/><Relationship Id="rId2" Type="http://schemas.openxmlformats.org/officeDocument/2006/relationships/image" Target="../media/image48.png"/><Relationship Id="rId16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11" Type="http://schemas.openxmlformats.org/officeDocument/2006/relationships/image" Target="../media/image29.png"/><Relationship Id="rId5" Type="http://schemas.openxmlformats.org/officeDocument/2006/relationships/image" Target="../media/image51.png"/><Relationship Id="rId15" Type="http://schemas.openxmlformats.org/officeDocument/2006/relationships/image" Target="../media/image44.png"/><Relationship Id="rId10" Type="http://schemas.openxmlformats.org/officeDocument/2006/relationships/image" Target="../media/image55.png"/><Relationship Id="rId4" Type="http://schemas.openxmlformats.org/officeDocument/2006/relationships/image" Target="../media/image50.png"/><Relationship Id="rId9" Type="http://schemas.openxmlformats.org/officeDocument/2006/relationships/image" Target="../media/image54.png"/><Relationship Id="rId14" Type="http://schemas.openxmlformats.org/officeDocument/2006/relationships/image" Target="../media/image4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42.png"/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12" Type="http://schemas.openxmlformats.org/officeDocument/2006/relationships/image" Target="../media/image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30.png"/><Relationship Id="rId5" Type="http://schemas.openxmlformats.org/officeDocument/2006/relationships/image" Target="../media/image39.png"/><Relationship Id="rId15" Type="http://schemas.openxmlformats.org/officeDocument/2006/relationships/image" Target="../media/image62.png"/><Relationship Id="rId10" Type="http://schemas.openxmlformats.org/officeDocument/2006/relationships/image" Target="../media/image29.png"/><Relationship Id="rId4" Type="http://schemas.openxmlformats.org/officeDocument/2006/relationships/image" Target="../media/image38.png"/><Relationship Id="rId9" Type="http://schemas.openxmlformats.org/officeDocument/2006/relationships/image" Target="../media/image61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1.png"/><Relationship Id="rId18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8.png"/><Relationship Id="rId12" Type="http://schemas.openxmlformats.org/officeDocument/2006/relationships/image" Target="../media/image70.png"/><Relationship Id="rId17" Type="http://schemas.openxmlformats.org/officeDocument/2006/relationships/image" Target="../media/image42.png"/><Relationship Id="rId2" Type="http://schemas.openxmlformats.org/officeDocument/2006/relationships/image" Target="../media/image63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30.png"/><Relationship Id="rId10" Type="http://schemas.openxmlformats.org/officeDocument/2006/relationships/image" Target="../media/image28.png"/><Relationship Id="rId4" Type="http://schemas.openxmlformats.org/officeDocument/2006/relationships/image" Target="../media/image48.png"/><Relationship Id="rId9" Type="http://schemas.openxmlformats.org/officeDocument/2006/relationships/image" Target="../media/image68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7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49.png"/><Relationship Id="rId7" Type="http://schemas.openxmlformats.org/officeDocument/2006/relationships/image" Target="../media/image73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77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8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9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image" Target="../media/image93.pn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9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06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101.png"/><Relationship Id="rId12" Type="http://schemas.openxmlformats.org/officeDocument/2006/relationships/image" Target="../media/image105.png"/><Relationship Id="rId2" Type="http://schemas.openxmlformats.org/officeDocument/2006/relationships/diagramData" Target="../diagrams/data3.xml"/><Relationship Id="rId16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11" Type="http://schemas.openxmlformats.org/officeDocument/2006/relationships/image" Target="../media/image53.png"/><Relationship Id="rId5" Type="http://schemas.openxmlformats.org/officeDocument/2006/relationships/diagramColors" Target="../diagrams/colors3.xml"/><Relationship Id="rId15" Type="http://schemas.openxmlformats.org/officeDocument/2006/relationships/image" Target="../media/image108.png"/><Relationship Id="rId10" Type="http://schemas.openxmlformats.org/officeDocument/2006/relationships/image" Target="../media/image104.png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103.png"/><Relationship Id="rId14" Type="http://schemas.openxmlformats.org/officeDocument/2006/relationships/image" Target="../media/image10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3" Type="http://schemas.openxmlformats.org/officeDocument/2006/relationships/image" Target="../media/image110.png"/><Relationship Id="rId7" Type="http://schemas.openxmlformats.org/officeDocument/2006/relationships/image" Target="../media/image1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11" Type="http://schemas.openxmlformats.org/officeDocument/2006/relationships/image" Target="../media/image116.png"/><Relationship Id="rId5" Type="http://schemas.openxmlformats.org/officeDocument/2006/relationships/image" Target="../media/image96.png"/><Relationship Id="rId10" Type="http://schemas.openxmlformats.org/officeDocument/2006/relationships/image" Target="../media/image115.png"/><Relationship Id="rId4" Type="http://schemas.openxmlformats.org/officeDocument/2006/relationships/image" Target="../media/image111.png"/><Relationship Id="rId9" Type="http://schemas.openxmlformats.org/officeDocument/2006/relationships/image" Target="../media/image11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117.png"/><Relationship Id="rId7" Type="http://schemas.openxmlformats.org/officeDocument/2006/relationships/image" Target="../media/image1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10" Type="http://schemas.openxmlformats.org/officeDocument/2006/relationships/image" Target="../media/image124.png"/><Relationship Id="rId4" Type="http://schemas.openxmlformats.org/officeDocument/2006/relationships/image" Target="../media/image118.png"/><Relationship Id="rId9" Type="http://schemas.openxmlformats.org/officeDocument/2006/relationships/image" Target="../media/image12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33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Специализация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38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доменом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08.12.2025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0853" y="5271611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2045" y="3973047"/>
            <a:ext cx="1540875" cy="81787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2696" y="3059223"/>
            <a:ext cx="1415007" cy="828211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334717" y="2034776"/>
            <a:ext cx="1227272" cy="789209"/>
            <a:chOff x="1072736" y="2018785"/>
            <a:chExt cx="1227272" cy="78920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201878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331529" y="3114907"/>
            <a:ext cx="1349927" cy="684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4019223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 noChangeAspect="1"/>
          </p:cNvGrpSpPr>
          <p:nvPr/>
        </p:nvGrpSpPr>
        <p:grpSpPr>
          <a:xfrm>
            <a:off x="334604" y="4909002"/>
            <a:ext cx="1588821" cy="684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888479"/>
              <a:ext cx="1692000" cy="46166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 noChangeAspect="1"/>
          </p:cNvGrpSpPr>
          <p:nvPr/>
        </p:nvGrpSpPr>
        <p:grpSpPr>
          <a:xfrm>
            <a:off x="332758" y="4042218"/>
            <a:ext cx="1588821" cy="684000"/>
            <a:chOff x="1268298" y="3625998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2" y="3099654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795327"/>
              <a:ext cx="1525033" cy="46166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55801" y="872551"/>
            <a:ext cx="990190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 типы</a:t>
            </a:r>
            <a:r>
              <a:rPr lang="en-US" sz="1600" dirty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  <a:endParaRPr lang="ru-RU" sz="1600" dirty="0" smtClean="0"/>
          </a:p>
          <a:p>
            <a:r>
              <a:rPr lang="ru-RU" sz="1600" dirty="0" smtClean="0"/>
              <a:t>перегрузка </a:t>
            </a:r>
            <a:r>
              <a:rPr lang="ru-RU" sz="1600" dirty="0" smtClean="0"/>
              <a:t>функций, </a:t>
            </a:r>
            <a:r>
              <a:rPr lang="ru-RU" sz="1600" dirty="0" smtClean="0"/>
              <a:t>шаблоны </a:t>
            </a:r>
            <a:r>
              <a:rPr lang="ru-RU" sz="1600" dirty="0" smtClean="0"/>
              <a:t>функций, ООП, перегрузка операторов, семантика перемещения, </a:t>
            </a:r>
            <a:endParaRPr lang="ru-RU" sz="1600" dirty="0" smtClean="0"/>
          </a:p>
          <a:p>
            <a:r>
              <a:rPr lang="ru-RU" sz="1600" dirty="0" smtClean="0"/>
              <a:t>умные </a:t>
            </a:r>
            <a:r>
              <a:rPr lang="ru-RU" sz="1600" dirty="0" smtClean="0"/>
              <a:t>указатели, наследование, </a:t>
            </a:r>
            <a:r>
              <a:rPr lang="ru-RU" sz="1600" dirty="0" smtClean="0"/>
              <a:t>виртуальные </a:t>
            </a:r>
            <a:r>
              <a:rPr lang="ru-RU" sz="1600" dirty="0" smtClean="0"/>
              <a:t>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  <a:endParaRPr lang="ru-RU" sz="1600" dirty="0" smtClean="0"/>
          </a:p>
          <a:p>
            <a:r>
              <a:rPr lang="ru-RU" sz="1600" dirty="0" smtClean="0"/>
              <a:t>исключения</a:t>
            </a:r>
            <a:r>
              <a:rPr lang="ru-RU" sz="1600" dirty="0" smtClean="0"/>
              <a:t>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58548" y="5797135"/>
            <a:ext cx="51587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/>
              <a:t>д</a:t>
            </a:r>
            <a:r>
              <a:rPr lang="ru-RU" sz="1600" dirty="0" smtClean="0"/>
              <a:t>остаточно знаний для описания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278784" y="5451175"/>
            <a:ext cx="828046" cy="945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2500349" y="5061766"/>
            <a:ext cx="72145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/>
              <a:t>для визуального 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2502751" y="4154459"/>
            <a:ext cx="70578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/>
              <a:t>для создания кроссплатформенных приложений с графическим интерфейсом </a:t>
            </a:r>
            <a:endParaRPr lang="ru-RU" sz="1600" dirty="0" smtClean="0"/>
          </a:p>
          <a:p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55801" y="3105284"/>
            <a:ext cx="99019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д</a:t>
            </a:r>
            <a:r>
              <a:rPr lang="ru-RU" sz="1600" dirty="0" smtClean="0"/>
              <a:t>ля разработки пользовательских интерфейсов</a:t>
            </a:r>
          </a:p>
          <a:p>
            <a:r>
              <a:rPr lang="ru-RU" sz="1600" dirty="0" smtClean="0"/>
              <a:t>элементы, </a:t>
            </a:r>
            <a:r>
              <a:rPr lang="ru-RU" sz="1600" dirty="0"/>
              <a:t>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</a:t>
            </a:r>
          </a:p>
          <a:p>
            <a:r>
              <a:rPr lang="ru-RU" sz="1600" dirty="0"/>
              <a:t>а</a:t>
            </a:r>
            <a:r>
              <a:rPr lang="ru-RU" sz="1600" dirty="0" smtClean="0"/>
              <a:t>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5802" y="2133141"/>
            <a:ext cx="98547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</a:t>
            </a:r>
          </a:p>
          <a:p>
            <a:r>
              <a:rPr lang="ru-RU" sz="1600" dirty="0"/>
              <a:t>в</a:t>
            </a:r>
            <a:r>
              <a:rPr lang="ru-RU" sz="1600" dirty="0" smtClean="0"/>
              <a:t>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Какие знания получил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45" y="1222617"/>
            <a:ext cx="575651" cy="648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30912" y="3000904"/>
            <a:ext cx="100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08.12.2025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55250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4952987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0643" y="424669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6732" y="4220578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4957346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4956689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0104" y="4344026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859254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6073413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62964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51489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7319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pic>
        <p:nvPicPr>
          <p:cNvPr id="68" name="Рисунок 6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08.12.2025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84478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847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59856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</a:t>
            </a:r>
          </a:p>
          <a:p>
            <a:r>
              <a:rPr lang="ru-RU" dirty="0"/>
              <a:t>д</a:t>
            </a:r>
            <a:r>
              <a:rPr lang="ru-RU" dirty="0" smtClean="0"/>
              <a:t>елёная на максимальную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</a:t>
            </a:r>
            <a:r>
              <a:rPr lang="en-US" dirty="0" err="1" smtClean="0"/>
              <a:t>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08.12.2025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0810800"/>
              </p:ext>
            </p:extLst>
          </p:nvPr>
        </p:nvGraphicFramePr>
        <p:xfrm>
          <a:off x="774530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88526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0339" y="4728157"/>
            <a:ext cx="910254" cy="1287425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0762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1480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147151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9952" y="4356113"/>
            <a:ext cx="720000" cy="1018336"/>
          </a:xfrm>
          <a:prstGeom prst="rect">
            <a:avLst/>
          </a:prstGeom>
        </p:spPr>
      </p:pic>
      <p:grpSp>
        <p:nvGrpSpPr>
          <p:cNvPr id="65" name="Группа 64"/>
          <p:cNvGrpSpPr/>
          <p:nvPr/>
        </p:nvGrpSpPr>
        <p:grpSpPr>
          <a:xfrm>
            <a:off x="4262691" y="5151091"/>
            <a:ext cx="2215671" cy="1086050"/>
            <a:chOff x="6278315" y="2624190"/>
            <a:chExt cx="2215671" cy="1086050"/>
          </a:xfrm>
        </p:grpSpPr>
        <p:sp>
          <p:nvSpPr>
            <p:cNvPr id="66" name="Стрелка вправо 65"/>
            <p:cNvSpPr/>
            <p:nvPr/>
          </p:nvSpPr>
          <p:spPr>
            <a:xfrm>
              <a:off x="6440774" y="2624190"/>
              <a:ext cx="1440000" cy="4680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6278315" y="3110076"/>
              <a:ext cx="2215671" cy="600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boost:source_location</a:t>
              </a:r>
              <a:r>
                <a:rPr lang="ru-RU" sz="1100" dirty="0"/>
                <a:t> </a:t>
              </a:r>
            </a:p>
            <a:p>
              <a:r>
                <a:rPr lang="en-US" sz="1100" dirty="0"/>
                <a:t>“</a:t>
              </a:r>
              <a:r>
                <a:rPr lang="ru-RU" sz="1100" dirty="0"/>
                <a:t>имя вызывающей функции</a:t>
              </a:r>
              <a:r>
                <a:rPr lang="en-US" sz="1100" dirty="0"/>
                <a:t>”, </a:t>
              </a:r>
            </a:p>
            <a:p>
              <a:r>
                <a:rPr lang="en-US" sz="1100" dirty="0"/>
                <a:t>ErrorLevel </a:t>
              </a:r>
              <a:r>
                <a:rPr lang="en-US" sz="1100" dirty="0" smtClean="0"/>
                <a:t>“</a:t>
              </a:r>
              <a:r>
                <a:rPr lang="ru-RU" sz="1100" dirty="0" smtClean="0"/>
                <a:t>уровень логирования</a:t>
              </a:r>
              <a:r>
                <a:rPr lang="en-US" sz="1100" dirty="0" smtClean="0"/>
                <a:t>”</a:t>
              </a:r>
              <a:endParaRPr lang="ru-RU" sz="1100" dirty="0"/>
            </a:p>
          </p:txBody>
        </p:sp>
      </p:grpSp>
      <p:grpSp>
        <p:nvGrpSpPr>
          <p:cNvPr id="68" name="Группа 67"/>
          <p:cNvGrpSpPr/>
          <p:nvPr/>
        </p:nvGrpSpPr>
        <p:grpSpPr>
          <a:xfrm>
            <a:off x="4397289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870863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sp>
        <p:nvSpPr>
          <p:cNvPr id="71" name="Стрелка вправо 70"/>
          <p:cNvSpPr/>
          <p:nvPr/>
        </p:nvSpPr>
        <p:spPr>
          <a:xfrm>
            <a:off x="6960053" y="5140175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950863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9038127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9172317" y="5140177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8046522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169755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612981151"/>
              </p:ext>
            </p:extLst>
          </p:nvPr>
        </p:nvGraphicFramePr>
        <p:xfrm>
          <a:off x="2074609" y="2020888"/>
          <a:ext cx="393290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519581611"/>
              </p:ext>
            </p:extLst>
          </p:nvPr>
        </p:nvGraphicFramePr>
        <p:xfrm>
          <a:off x="6174660" y="2020888"/>
          <a:ext cx="414921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применения многопоточности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2919688" y="4905682"/>
            <a:ext cx="2221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 раза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7051037" y="4905682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08.12.2025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0000"/>
                </a:solidFill>
              </a:rPr>
              <a:t>error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C00000"/>
                </a:solidFill>
              </a:rPr>
              <a:t>fatal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err="1" smtClean="0">
                  <a:solidFill>
                    <a:schemeClr val="tx1"/>
                  </a:solidFill>
                </a:rPr>
                <a:t>debug</a:t>
              </a:r>
              <a:r>
                <a:rPr lang="ru-RU" sz="1100" dirty="0" smtClean="0">
                  <a:solidFill>
                    <a:schemeClr val="tx1"/>
                  </a:solidFill>
                </a:rPr>
                <a:t>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08.12.2025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72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517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kav_check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2043820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08.12.2025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257951" y="4028267"/>
            <a:ext cx="5557483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4672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891653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464745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717856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8497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8533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342142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3111117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291353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483303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08.12.2025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08.12.2025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08.12.2025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08.12.2025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08.12.2025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16438</TotalTime>
  <Words>1299</Words>
  <Application>Microsoft Office PowerPoint</Application>
  <PresentationFormat>Широкоэкранный</PresentationFormat>
  <Paragraphs>464</Paragraphs>
  <Slides>26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29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отдельных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459</cp:revision>
  <dcterms:created xsi:type="dcterms:W3CDTF">2025-10-14T05:54:15Z</dcterms:created>
  <dcterms:modified xsi:type="dcterms:W3CDTF">2025-12-08T16:46:01Z</dcterms:modified>
</cp:coreProperties>
</file>
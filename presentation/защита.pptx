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1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5" userDrawn="1">
          <p15:clr>
            <a:srgbClr val="A4A3A4"/>
          </p15:clr>
        </p15:guide>
        <p15:guide id="2" pos="5541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247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66" y="450"/>
      </p:cViewPr>
      <p:guideLst>
        <p:guide orient="horz" pos="3385"/>
        <p:guide pos="5541"/>
        <p:guide pos="4089"/>
        <p:guide orient="horz" pos="24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27357968"/>
        <c:axId val="527360320"/>
      </c:barChart>
      <c:catAx>
        <c:axId val="527357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60320"/>
        <c:crosses val="autoZero"/>
        <c:auto val="1"/>
        <c:lblAlgn val="ctr"/>
        <c:lblOffset val="100"/>
        <c:noMultiLvlLbl val="0"/>
      </c:catAx>
      <c:valAx>
        <c:axId val="52736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7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843 файла (100'000 </a:t>
            </a:r>
            <a:r>
              <a:rPr lang="ru-RU" dirty="0" smtClean="0"/>
              <a:t>слов)</a:t>
            </a:r>
            <a:endParaRPr lang="ru-RU" dirty="0"/>
          </a:p>
        </c:rich>
      </c:tx>
      <c:layout>
        <c:manualLayout>
          <c:xMode val="edge"/>
          <c:yMode val="edge"/>
          <c:x val="0.12686053132247357"/>
          <c:y val="2.29205800097890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27359144"/>
        <c:axId val="527358360"/>
      </c:barChart>
      <c:catAx>
        <c:axId val="527359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8360"/>
        <c:crosses val="autoZero"/>
        <c:auto val="1"/>
        <c:lblAlgn val="ctr"/>
        <c:lblOffset val="100"/>
        <c:noMultiLvlLbl val="0"/>
      </c:catAx>
      <c:valAx>
        <c:axId val="527358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9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27354048"/>
        <c:axId val="527359928"/>
      </c:barChart>
      <c:catAx>
        <c:axId val="527354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9928"/>
        <c:crosses val="autoZero"/>
        <c:auto val="1"/>
        <c:lblAlgn val="ctr"/>
        <c:lblOffset val="100"/>
        <c:noMultiLvlLbl val="0"/>
      </c:catAx>
      <c:valAx>
        <c:axId val="527359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4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27355616"/>
        <c:axId val="211136880"/>
      </c:barChart>
      <c:catAx>
        <c:axId val="527355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11136880"/>
        <c:crosses val="autoZero"/>
        <c:auto val="1"/>
        <c:lblAlgn val="ctr"/>
        <c:lblOffset val="100"/>
        <c:noMultiLvlLbl val="0"/>
      </c:catAx>
      <c:valAx>
        <c:axId val="211136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27355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800432"/>
        <c:axId val="171799256"/>
      </c:barChart>
      <c:catAx>
        <c:axId val="1718004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9256"/>
        <c:crosses val="autoZero"/>
        <c:auto val="1"/>
        <c:lblAlgn val="ctr"/>
        <c:lblOffset val="100"/>
        <c:noMultiLvlLbl val="0"/>
      </c:catAx>
      <c:valAx>
        <c:axId val="171799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8004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800824"/>
        <c:axId val="171796120"/>
      </c:barChart>
      <c:catAx>
        <c:axId val="171800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6120"/>
        <c:crosses val="autoZero"/>
        <c:auto val="1"/>
        <c:lblAlgn val="ctr"/>
        <c:lblOffset val="100"/>
        <c:noMultiLvlLbl val="0"/>
      </c:catAx>
      <c:valAx>
        <c:axId val="171796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8008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795728"/>
        <c:axId val="171798472"/>
      </c:barChart>
      <c:catAx>
        <c:axId val="171795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8472"/>
        <c:crosses val="autoZero"/>
        <c:auto val="1"/>
        <c:lblAlgn val="ctr"/>
        <c:lblOffset val="100"/>
        <c:noMultiLvlLbl val="0"/>
      </c:catAx>
      <c:valAx>
        <c:axId val="171798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5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801608"/>
        <c:axId val="171794160"/>
      </c:barChart>
      <c:catAx>
        <c:axId val="171801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4160"/>
        <c:crosses val="autoZero"/>
        <c:auto val="1"/>
        <c:lblAlgn val="ctr"/>
        <c:lblOffset val="100"/>
        <c:noMultiLvlLbl val="0"/>
      </c:catAx>
      <c:valAx>
        <c:axId val="171794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801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795336"/>
        <c:axId val="171797296"/>
      </c:barChart>
      <c:catAx>
        <c:axId val="171795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7296"/>
        <c:crosses val="autoZero"/>
        <c:auto val="1"/>
        <c:lblAlgn val="ctr"/>
        <c:lblOffset val="100"/>
        <c:noMultiLvlLbl val="0"/>
      </c:catAx>
      <c:valAx>
        <c:axId val="1717972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5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1798864"/>
        <c:axId val="171799648"/>
      </c:barChart>
      <c:catAx>
        <c:axId val="171798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9648"/>
        <c:crosses val="autoZero"/>
        <c:auto val="1"/>
        <c:lblAlgn val="ctr"/>
        <c:lblOffset val="100"/>
        <c:noMultiLvlLbl val="0"/>
      </c:catAx>
      <c:valAx>
        <c:axId val="171799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71798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5064096"/>
        <c:axId val="535061352"/>
      </c:barChart>
      <c:catAx>
        <c:axId val="535064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1352"/>
        <c:crosses val="autoZero"/>
        <c:auto val="1"/>
        <c:lblAlgn val="ctr"/>
        <c:lblOffset val="100"/>
        <c:noMultiLvlLbl val="0"/>
      </c:catAx>
      <c:valAx>
        <c:axId val="535061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4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5061744"/>
        <c:axId val="535062136"/>
      </c:barChart>
      <c:catAx>
        <c:axId val="535061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2136"/>
        <c:crosses val="autoZero"/>
        <c:auto val="1"/>
        <c:lblAlgn val="ctr"/>
        <c:lblOffset val="100"/>
        <c:noMultiLvlLbl val="0"/>
      </c:catAx>
      <c:valAx>
        <c:axId val="535062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1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5060568"/>
        <c:axId val="535063704"/>
      </c:barChart>
      <c:catAx>
        <c:axId val="535060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3704"/>
        <c:crosses val="autoZero"/>
        <c:auto val="1"/>
        <c:lblAlgn val="ctr"/>
        <c:lblOffset val="100"/>
        <c:noMultiLvlLbl val="0"/>
      </c:catAx>
      <c:valAx>
        <c:axId val="535063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0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5066448"/>
        <c:axId val="535066840"/>
      </c:barChart>
      <c:catAx>
        <c:axId val="535066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6840"/>
        <c:crosses val="autoZero"/>
        <c:auto val="1"/>
        <c:lblAlgn val="ctr"/>
        <c:lblOffset val="100"/>
        <c:noMultiLvlLbl val="0"/>
      </c:catAx>
      <c:valAx>
        <c:axId val="535066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5066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34842320"/>
        <c:axId val="534838792"/>
      </c:barChart>
      <c:catAx>
        <c:axId val="534842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4838792"/>
        <c:crosses val="autoZero"/>
        <c:auto val="1"/>
        <c:lblAlgn val="ctr"/>
        <c:lblOffset val="100"/>
        <c:noMultiLvlLbl val="0"/>
      </c:catAx>
      <c:valAx>
        <c:axId val="5348387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34842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Общие функции использования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 custT="1"/>
      <dgm:spPr/>
      <dgm:t>
        <a:bodyPr/>
        <a:lstStyle/>
        <a:p>
          <a:r>
            <a:rPr lang="ru-RU" sz="2000" dirty="0" smtClean="0"/>
            <a:t>Предоставляет 5 уровней логирования</a:t>
          </a:r>
          <a:endParaRPr lang="ru-RU" sz="2000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Особенности устройства библиотеки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 custT="1"/>
      <dgm:spPr/>
      <dgm:t>
        <a:bodyPr/>
        <a:lstStyle/>
        <a:p>
          <a:r>
            <a:rPr lang="ru-RU" sz="2000" dirty="0" smtClean="0"/>
            <a:t>Записывает сообщения в лог-файлы в другом потоке</a:t>
          </a:r>
          <a:endParaRPr lang="ru-RU" sz="2000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 custT="1"/>
      <dgm:spPr/>
      <dgm:t>
        <a:bodyPr/>
        <a:lstStyle/>
        <a:p>
          <a:r>
            <a:rPr lang="ru-RU" sz="2000" dirty="0" smtClean="0"/>
            <a:t>Выводит события в консоль в другом потоке и процессе</a:t>
          </a:r>
          <a:endParaRPr lang="ru-RU" sz="2000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CB3FC929-0C35-47D5-99D1-FD9C71888538}">
      <dgm:prSet phldrT="[Текст]" custT="1"/>
      <dgm:spPr/>
      <dgm:t>
        <a:bodyPr/>
        <a:lstStyle/>
        <a:p>
          <a:r>
            <a:rPr lang="ru-RU" sz="2000" dirty="0" smtClean="0"/>
            <a:t>Выбор вывода событий в консоль</a:t>
          </a:r>
          <a:endParaRPr lang="ru-RU" sz="2000" dirty="0"/>
        </a:p>
      </dgm:t>
    </dgm:pt>
    <dgm:pt modelId="{F58825EB-7363-44A2-B0AD-148D97EB70C3}" type="parTrans" cxnId="{A7CC131B-3344-4ED6-A0E4-C7472D872E05}">
      <dgm:prSet/>
      <dgm:spPr/>
      <dgm:t>
        <a:bodyPr/>
        <a:lstStyle/>
        <a:p>
          <a:endParaRPr lang="ru-RU"/>
        </a:p>
      </dgm:t>
    </dgm:pt>
    <dgm:pt modelId="{5D115292-2957-40E0-BC82-53225AEC8AF7}" type="sibTrans" cxnId="{A7CC131B-3344-4ED6-A0E4-C7472D872E05}">
      <dgm:prSet/>
      <dgm:spPr/>
      <dgm:t>
        <a:bodyPr/>
        <a:lstStyle/>
        <a:p>
          <a:endParaRPr lang="ru-RU"/>
        </a:p>
      </dgm:t>
    </dgm:pt>
    <dgm:pt modelId="{05520103-2F2D-4EFF-AB75-8FD6D7147D3F}">
      <dgm:prSet phldrT="[Текст]" custT="1"/>
      <dgm:spPr/>
      <dgm:t>
        <a:bodyPr/>
        <a:lstStyle/>
        <a:p>
          <a:r>
            <a:rPr lang="ru-RU" sz="2000" dirty="0" smtClean="0"/>
            <a:t>Регулирование интервала времени использования файла</a:t>
          </a:r>
          <a:endParaRPr lang="ru-RU" sz="2000" dirty="0"/>
        </a:p>
      </dgm:t>
    </dgm:pt>
    <dgm:pt modelId="{7C4702F5-D88E-4CAC-80AB-E35CCD58F0B4}" type="parTrans" cxnId="{E3CD5BD1-5D0A-423B-A7EF-BB263265A0C4}">
      <dgm:prSet/>
      <dgm:spPr/>
      <dgm:t>
        <a:bodyPr/>
        <a:lstStyle/>
        <a:p>
          <a:endParaRPr lang="ru-RU"/>
        </a:p>
      </dgm:t>
    </dgm:pt>
    <dgm:pt modelId="{D120839A-389A-44AB-A41F-B26B76DB82AF}" type="sibTrans" cxnId="{E3CD5BD1-5D0A-423B-A7EF-BB263265A0C4}">
      <dgm:prSet/>
      <dgm:spPr/>
      <dgm:t>
        <a:bodyPr/>
        <a:lstStyle/>
        <a:p>
          <a:endParaRPr lang="ru-RU"/>
        </a:p>
      </dgm:t>
    </dgm:pt>
    <dgm:pt modelId="{97DC81DA-439E-464D-9124-98CA41504BAB}">
      <dgm:prSet phldrT="[Текст]" custT="1"/>
      <dgm:spPr/>
      <dgm:t>
        <a:bodyPr/>
        <a:lstStyle/>
        <a:p>
          <a:r>
            <a:rPr lang="ru-RU" sz="2000" dirty="0" smtClean="0"/>
            <a:t>Регулирование интервала времени хранения файла</a:t>
          </a:r>
          <a:endParaRPr lang="ru-RU" sz="2000" dirty="0"/>
        </a:p>
      </dgm:t>
    </dgm:pt>
    <dgm:pt modelId="{EF3CEE56-7D45-441D-A504-60B580408250}" type="parTrans" cxnId="{88F132A6-ACF6-4488-94BE-05D0AD0EF33E}">
      <dgm:prSet/>
      <dgm:spPr/>
      <dgm:t>
        <a:bodyPr/>
        <a:lstStyle/>
        <a:p>
          <a:endParaRPr lang="ru-RU"/>
        </a:p>
      </dgm:t>
    </dgm:pt>
    <dgm:pt modelId="{6AA1DE12-B356-45A7-8DF3-D226C21795ED}" type="sibTrans" cxnId="{88F132A6-ACF6-4488-94BE-05D0AD0EF33E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450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450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E01C0C4C-CDA1-4258-AA06-F10E41D78FE7}" type="presOf" srcId="{05520103-2F2D-4EFF-AB75-8FD6D7147D3F}" destId="{F2725D4B-59A7-40CF-AA8E-A27EC37530B2}" srcOrd="0" destOrd="2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9390319C-051C-41D4-9C5D-61E412295047}" type="presOf" srcId="{CB3FC929-0C35-47D5-99D1-FD9C71888538}" destId="{F2725D4B-59A7-40CF-AA8E-A27EC37530B2}" srcOrd="0" destOrd="1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3CD5BD1-5D0A-423B-A7EF-BB263265A0C4}" srcId="{48CC3452-B333-4F90-887E-97722077E109}" destId="{05520103-2F2D-4EFF-AB75-8FD6D7147D3F}" srcOrd="2" destOrd="0" parTransId="{7C4702F5-D88E-4CAC-80AB-E35CCD58F0B4}" sibTransId="{D120839A-389A-44AB-A41F-B26B76DB82AF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88F132A6-ACF6-4488-94BE-05D0AD0EF33E}" srcId="{48CC3452-B333-4F90-887E-97722077E109}" destId="{97DC81DA-439E-464D-9124-98CA41504BAB}" srcOrd="3" destOrd="0" parTransId="{EF3CEE56-7D45-441D-A504-60B580408250}" sibTransId="{6AA1DE12-B356-45A7-8DF3-D226C21795ED}"/>
    <dgm:cxn modelId="{A7CC131B-3344-4ED6-A0E4-C7472D872E05}" srcId="{48CC3452-B333-4F90-887E-97722077E109}" destId="{CB3FC929-0C35-47D5-99D1-FD9C71888538}" srcOrd="1" destOrd="0" parTransId="{F58825EB-7363-44A2-B0AD-148D97EB70C3}" sibTransId="{5D115292-2957-40E0-BC82-53225AEC8AF7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C4FDDC7E-B2FF-47A9-B181-E0E2C6160F48}" type="presOf" srcId="{97DC81DA-439E-464D-9124-98CA41504BAB}" destId="{F2725D4B-59A7-40CF-AA8E-A27EC37530B2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Общие функции использования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 custT="1"/>
      <dgm:spPr/>
      <dgm:t>
        <a:bodyPr/>
        <a:lstStyle/>
        <a:p>
          <a:r>
            <a:rPr lang="ru-RU" sz="2000" dirty="0" smtClean="0"/>
            <a:t>Прочитать/записать текстовый файл</a:t>
          </a:r>
          <a:endParaRPr lang="ru-RU" sz="2000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 custT="1"/>
      <dgm:spPr/>
      <dgm:t>
        <a:bodyPr/>
        <a:lstStyle/>
        <a:p>
          <a:r>
            <a:rPr lang="ru-RU" sz="2000" dirty="0" smtClean="0"/>
            <a:t>Проверка на существование файла</a:t>
          </a:r>
          <a:endParaRPr lang="ru-RU" sz="2000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 custT="1"/>
      <dgm:spPr/>
      <dgm:t>
        <a:bodyPr/>
        <a:lstStyle/>
        <a:p>
          <a:r>
            <a:rPr lang="ru-RU" sz="2000" dirty="0" smtClean="0"/>
            <a:t>Прочитать/записать </a:t>
          </a:r>
          <a:r>
            <a:rPr lang="en-US" sz="2000" dirty="0" smtClean="0"/>
            <a:t>JSON-</a:t>
          </a:r>
          <a:r>
            <a:rPr lang="ru-RU" sz="2000" dirty="0" smtClean="0"/>
            <a:t>файл</a:t>
          </a:r>
          <a:endParaRPr lang="ru-RU" sz="2000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 custT="1"/>
      <dgm:spPr/>
      <dgm:t>
        <a:bodyPr/>
        <a:lstStyle/>
        <a:p>
          <a:r>
            <a:rPr lang="ru-RU" sz="2000" dirty="0" smtClean="0"/>
            <a:t>Проверить </a:t>
          </a:r>
          <a:r>
            <a:rPr lang="en-US" sz="2000" dirty="0" smtClean="0"/>
            <a:t>JSON-</a:t>
          </a:r>
          <a:r>
            <a:rPr lang="ru-RU" sz="2000" dirty="0" smtClean="0"/>
            <a:t>структуру на соответствие шаблону</a:t>
          </a:r>
          <a:endParaRPr lang="ru-RU" sz="2000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 custT="1"/>
      <dgm:spPr/>
      <dgm:t>
        <a:bodyPr/>
        <a:lstStyle/>
        <a:p>
          <a:r>
            <a:rPr lang="ru-RU" sz="2000" dirty="0" smtClean="0"/>
            <a:t>Проверка на открытие файла</a:t>
          </a:r>
          <a:endParaRPr lang="ru-RU" sz="2000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 custT="1"/>
      <dgm:spPr/>
      <dgm:t>
        <a:bodyPr/>
        <a:lstStyle/>
        <a:p>
          <a:r>
            <a:rPr lang="ru-RU" sz="2000" dirty="0" smtClean="0"/>
            <a:t>Проверка на ошибки во время чтения/записи файла</a:t>
          </a:r>
          <a:endParaRPr lang="ru-RU" sz="2000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 custT="1"/>
      <dgm:spPr/>
      <dgm:t>
        <a:bodyPr/>
        <a:lstStyle/>
        <a:p>
          <a:r>
            <a:rPr lang="ru-RU" sz="2000" dirty="0" smtClean="0"/>
            <a:t>Проверить </a:t>
          </a:r>
          <a:r>
            <a:rPr lang="en-US" sz="2000" dirty="0" smtClean="0"/>
            <a:t>JSON-</a:t>
          </a:r>
          <a:r>
            <a:rPr lang="ru-RU" sz="2000" dirty="0" smtClean="0"/>
            <a:t>структуру на целостность</a:t>
          </a:r>
          <a:endParaRPr lang="ru-RU" sz="2000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45072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45072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49781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Общие функции использования</a:t>
          </a:r>
          <a:endParaRPr lang="ru-RU" sz="2400" kern="1200" dirty="0"/>
        </a:p>
      </dsp:txBody>
      <dsp:txXfrm>
        <a:off x="24301" y="24301"/>
        <a:ext cx="7871398" cy="449209"/>
      </dsp:txXfrm>
    </dsp:sp>
    <dsp:sp modelId="{F2725D4B-59A7-40CF-AA8E-A27EC37530B2}">
      <dsp:nvSpPr>
        <dsp:cNvPr id="0" name=""/>
        <dsp:cNvSpPr/>
      </dsp:nvSpPr>
      <dsp:spPr>
        <a:xfrm>
          <a:off x="0" y="510152"/>
          <a:ext cx="7920000" cy="13739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Предоставляет 5 уровней логирования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Выбор вывода событий в консоль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Регулирование интервала времени использования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Регулирование интервала времени хранения файла</a:t>
          </a:r>
          <a:endParaRPr lang="ru-RU" sz="2000" kern="1200" dirty="0"/>
        </a:p>
      </dsp:txBody>
      <dsp:txXfrm>
        <a:off x="0" y="510152"/>
        <a:ext cx="7920000" cy="1373962"/>
      </dsp:txXfrm>
    </dsp:sp>
    <dsp:sp modelId="{6C5C9815-44A2-4551-A509-FE6F0947C3DB}">
      <dsp:nvSpPr>
        <dsp:cNvPr id="0" name=""/>
        <dsp:cNvSpPr/>
      </dsp:nvSpPr>
      <dsp:spPr>
        <a:xfrm>
          <a:off x="0" y="1884114"/>
          <a:ext cx="7920000" cy="49781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Особенности устройства библиотеки</a:t>
          </a:r>
          <a:endParaRPr lang="ru-RU" sz="2400" kern="1200" dirty="0"/>
        </a:p>
      </dsp:txBody>
      <dsp:txXfrm>
        <a:off x="24301" y="1908415"/>
        <a:ext cx="7871398" cy="449209"/>
      </dsp:txXfrm>
    </dsp:sp>
    <dsp:sp modelId="{84271FDF-D644-48A5-8BBB-391AF85E26F5}">
      <dsp:nvSpPr>
        <dsp:cNvPr id="0" name=""/>
        <dsp:cNvSpPr/>
      </dsp:nvSpPr>
      <dsp:spPr>
        <a:xfrm>
          <a:off x="0" y="2381925"/>
          <a:ext cx="7920000" cy="97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Записывает сообщения в лог-файлы в другом потоке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Выводит события в консоль в другом потоке и процессе</a:t>
          </a:r>
          <a:endParaRPr lang="ru-RU" sz="2000" kern="1200" dirty="0"/>
        </a:p>
      </dsp:txBody>
      <dsp:txXfrm>
        <a:off x="0" y="2381925"/>
        <a:ext cx="7920000" cy="977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179080"/>
          <a:ext cx="7920000" cy="5399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Общие функции использования</a:t>
          </a:r>
          <a:endParaRPr lang="ru-RU" sz="2400" kern="1200" dirty="0"/>
        </a:p>
      </dsp:txBody>
      <dsp:txXfrm>
        <a:off x="26361" y="205441"/>
        <a:ext cx="7867278" cy="487276"/>
      </dsp:txXfrm>
    </dsp:sp>
    <dsp:sp modelId="{625A264F-F3DF-4EEC-8B66-102C93BB9818}">
      <dsp:nvSpPr>
        <dsp:cNvPr id="0" name=""/>
        <dsp:cNvSpPr/>
      </dsp:nvSpPr>
      <dsp:spPr>
        <a:xfrm>
          <a:off x="0" y="784707"/>
          <a:ext cx="7920000" cy="1357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Прочитать/записать текстовый файл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Прочитать/записать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файл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Проверить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структуру на соответствие шаблону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Проверить </a:t>
          </a:r>
          <a:r>
            <a:rPr lang="en-US" sz="2000" kern="1200" dirty="0" smtClean="0"/>
            <a:t>JSON-</a:t>
          </a:r>
          <a:r>
            <a:rPr lang="ru-RU" sz="2000" kern="1200" dirty="0" smtClean="0"/>
            <a:t>структуру на целостность</a:t>
          </a:r>
          <a:endParaRPr lang="ru-RU" sz="2000" kern="1200" dirty="0"/>
        </a:p>
      </dsp:txBody>
      <dsp:txXfrm>
        <a:off x="0" y="784707"/>
        <a:ext cx="7920000" cy="1357920"/>
      </dsp:txXfrm>
    </dsp:sp>
    <dsp:sp modelId="{557F1F5C-6D75-4492-8EF1-6580ED92ACAF}">
      <dsp:nvSpPr>
        <dsp:cNvPr id="0" name=""/>
        <dsp:cNvSpPr/>
      </dsp:nvSpPr>
      <dsp:spPr>
        <a:xfrm>
          <a:off x="0" y="2142627"/>
          <a:ext cx="7920000" cy="53999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26361" y="2168988"/>
        <a:ext cx="7867278" cy="487276"/>
      </dsp:txXfrm>
    </dsp:sp>
    <dsp:sp modelId="{657A1B8A-9783-4C29-9201-29A02D448FA4}">
      <dsp:nvSpPr>
        <dsp:cNvPr id="0" name=""/>
        <dsp:cNvSpPr/>
      </dsp:nvSpPr>
      <dsp:spPr>
        <a:xfrm>
          <a:off x="0" y="2682626"/>
          <a:ext cx="7920000" cy="1059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существование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открытие файла</a:t>
          </a:r>
          <a:endParaRPr lang="ru-RU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000" kern="1200" dirty="0" smtClean="0"/>
            <a:t>Проверка на ошибки во время чтения/записи файла</a:t>
          </a:r>
          <a:endParaRPr lang="ru-RU" sz="2000" kern="1200" dirty="0"/>
        </a:p>
      </dsp:txBody>
      <dsp:txXfrm>
        <a:off x="0" y="2682626"/>
        <a:ext cx="7920000" cy="10598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18" Type="http://schemas.openxmlformats.org/officeDocument/2006/relationships/image" Target="../media/image8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путей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пути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окументов</a:t>
            </a:r>
            <a:r>
              <a:rPr lang="en-US" sz="1200" dirty="0" smtClean="0"/>
              <a:t> </a:t>
            </a:r>
            <a:r>
              <a:rPr lang="ru-RU" sz="1200" dirty="0" smtClean="0"/>
              <a:t>или пути файлов 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ая выноска 6"/>
          <p:cNvSpPr/>
          <p:nvPr/>
        </p:nvSpPr>
        <p:spPr>
          <a:xfrm>
            <a:off x="6246460" y="3796381"/>
            <a:ext cx="2733144" cy="1461842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27311"/>
              </p:ext>
            </p:extLst>
          </p:nvPr>
        </p:nvGraphicFramePr>
        <p:xfrm>
          <a:off x="3221060" y="5598718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5228451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370300" y="3932492"/>
            <a:ext cx="1178434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1" name="TextBox 80"/>
          <p:cNvSpPr txBox="1"/>
          <p:nvPr/>
        </p:nvSpPr>
        <p:spPr>
          <a:xfrm>
            <a:off x="7674794" y="3939776"/>
            <a:ext cx="1171247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ая выноска 8"/>
          <p:cNvSpPr/>
          <p:nvPr/>
        </p:nvSpPr>
        <p:spPr>
          <a:xfrm>
            <a:off x="6914505" y="1495694"/>
            <a:ext cx="4618755" cy="2506667"/>
          </a:xfrm>
          <a:prstGeom prst="wedgeRectCallou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  <a:prstDash val="solid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4143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Относительная релевантность</a:t>
            </a:r>
            <a:r>
              <a:rPr lang="ru-RU" sz="1200" dirty="0" smtClean="0"/>
              <a:t>: абсолютная релевантность / </a:t>
            </a:r>
          </a:p>
          <a:p>
            <a:r>
              <a:rPr lang="ru-RU" sz="1200" dirty="0" smtClean="0"/>
              <a:t> максимальная абсолютная релевантность</a:t>
            </a:r>
            <a:endParaRPr lang="ru-RU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427834"/>
            <a:ext cx="53950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Абсолютная релевантность</a:t>
            </a:r>
            <a:r>
              <a:rPr lang="ru-RU" sz="1200" dirty="0" smtClean="0"/>
              <a:t>: в каждом запросе</a:t>
            </a:r>
            <a:r>
              <a:rPr lang="ru-RU" sz="1200" dirty="0"/>
              <a:t>, для </a:t>
            </a:r>
            <a:r>
              <a:rPr lang="ru-RU" sz="1200" dirty="0" smtClean="0"/>
              <a:t>каждого документа, сумма </a:t>
            </a:r>
          </a:p>
          <a:p>
            <a:r>
              <a:rPr lang="ru-RU" sz="1200" dirty="0" smtClean="0"/>
              <a:t>вхождений слов</a:t>
            </a:r>
            <a:endParaRPr lang="ru-RU" sz="1200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228712" y="5847359"/>
            <a:ext cx="5666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u="sng" dirty="0" smtClean="0"/>
              <a:t>Максимальная абсолютная релевантность</a:t>
            </a:r>
            <a:r>
              <a:rPr lang="ru-RU" sz="1200" dirty="0" smtClean="0"/>
              <a:t>: наибольшая абсолютная релевантность</a:t>
            </a:r>
          </a:p>
          <a:p>
            <a:r>
              <a:rPr lang="ru-RU" sz="1200" dirty="0"/>
              <a:t>и</a:t>
            </a:r>
            <a:r>
              <a:rPr lang="ru-RU" sz="1200" dirty="0" smtClean="0"/>
              <a:t>з всех запросов</a:t>
            </a:r>
            <a:endParaRPr lang="ru-RU" sz="1200" dirty="0"/>
          </a:p>
        </p:txBody>
      </p:sp>
      <p:sp>
        <p:nvSpPr>
          <p:cNvPr id="86" name="TextBox 85"/>
          <p:cNvSpPr txBox="1"/>
          <p:nvPr/>
        </p:nvSpPr>
        <p:spPr>
          <a:xfrm>
            <a:off x="7017572" y="1598434"/>
            <a:ext cx="1222301" cy="861774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документов: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water, milk}, </a:t>
            </a:r>
          </a:p>
          <a:p>
            <a:r>
              <a:rPr lang="en-US" sz="1000" dirty="0" smtClean="0"/>
              <a:t>{milk, tea</a:t>
            </a:r>
            <a:r>
              <a:rPr lang="en-US" sz="1000" dirty="0"/>
              <a:t>, </a:t>
            </a:r>
            <a:r>
              <a:rPr lang="en-US" sz="1000" dirty="0" smtClean="0"/>
              <a:t>coffee},</a:t>
            </a:r>
          </a:p>
          <a:p>
            <a:r>
              <a:rPr lang="en-US" sz="1000" dirty="0" smtClean="0"/>
              <a:t>{juice, water, tea}</a:t>
            </a:r>
            <a:endParaRPr lang="ru-RU" sz="1000" dirty="0"/>
          </a:p>
        </p:txBody>
      </p:sp>
      <p:sp>
        <p:nvSpPr>
          <p:cNvPr id="87" name="TextBox 86"/>
          <p:cNvSpPr txBox="1"/>
          <p:nvPr/>
        </p:nvSpPr>
        <p:spPr>
          <a:xfrm>
            <a:off x="8722760" y="1595444"/>
            <a:ext cx="1191800" cy="116955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индексов: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coffee: {1, </a:t>
            </a:r>
            <a:r>
              <a:rPr lang="ru-RU" sz="1000" dirty="0" smtClean="0"/>
              <a:t>1</a:t>
            </a:r>
            <a:r>
              <a:rPr lang="en-US" sz="1000" dirty="0" smtClean="0"/>
              <a:t>}</a:t>
            </a:r>
          </a:p>
          <a:p>
            <a:r>
              <a:rPr lang="en-US" sz="1000" dirty="0" smtClean="0"/>
              <a:t>juice: {2, 1}</a:t>
            </a:r>
          </a:p>
          <a:p>
            <a:r>
              <a:rPr lang="en-US" sz="1000" dirty="0"/>
              <a:t>m</a:t>
            </a:r>
            <a:r>
              <a:rPr lang="en-US" sz="1000" dirty="0" smtClean="0"/>
              <a:t>ilk: {0, 2}, {1, 1}</a:t>
            </a:r>
          </a:p>
          <a:p>
            <a:r>
              <a:rPr lang="en-US" sz="1000" dirty="0"/>
              <a:t>t</a:t>
            </a:r>
            <a:r>
              <a:rPr lang="en-US" sz="1000" dirty="0" smtClean="0"/>
              <a:t>ea: {1, 1}, {2, 1}</a:t>
            </a:r>
          </a:p>
          <a:p>
            <a:r>
              <a:rPr lang="en-US" sz="1000" dirty="0" smtClean="0"/>
              <a:t>water: {0, 1}, {2, 1}</a:t>
            </a:r>
            <a:endParaRPr lang="ru-RU" sz="1000" dirty="0"/>
          </a:p>
        </p:txBody>
      </p:sp>
      <p:sp>
        <p:nvSpPr>
          <p:cNvPr id="88" name="TextBox 87"/>
          <p:cNvSpPr txBox="1"/>
          <p:nvPr/>
        </p:nvSpPr>
        <p:spPr>
          <a:xfrm>
            <a:off x="10403418" y="1597162"/>
            <a:ext cx="1021440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запросов: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{milk, water}, </a:t>
            </a:r>
          </a:p>
          <a:p>
            <a:r>
              <a:rPr lang="en-US" sz="1000" dirty="0" smtClean="0"/>
              <a:t>{juice, tea}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64876" y="2881771"/>
            <a:ext cx="1959988" cy="70788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b="1" u="sng" dirty="0" smtClean="0"/>
              <a:t>База релевантности:</a:t>
            </a:r>
            <a:endParaRPr lang="en-US" sz="1000" b="1" u="sng" dirty="0" smtClean="0"/>
          </a:p>
          <a:p>
            <a:endParaRPr lang="en-US" sz="1000" u="sng" dirty="0" smtClean="0"/>
          </a:p>
          <a:p>
            <a:r>
              <a:rPr lang="en-US" sz="1000" dirty="0"/>
              <a:t>0 request</a:t>
            </a:r>
            <a:r>
              <a:rPr lang="en-US" sz="1000" dirty="0" smtClean="0"/>
              <a:t>: {0, 1},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 </a:t>
            </a:r>
          </a:p>
          <a:p>
            <a:r>
              <a:rPr lang="en-US" sz="1000" dirty="0"/>
              <a:t>1 request</a:t>
            </a:r>
            <a:r>
              <a:rPr lang="en-US" sz="1000" dirty="0" smtClean="0"/>
              <a:t>: {1, 1/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}, {2, 2/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/>
              <a:t>}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7575" y="2884053"/>
            <a:ext cx="2340901" cy="10156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ru-RU" sz="1000" u="sng" dirty="0" smtClean="0"/>
              <a:t>Суммирование индексов слов запроса:</a:t>
            </a:r>
            <a:endParaRPr lang="en-US" sz="1000" u="sng" dirty="0" smtClean="0"/>
          </a:p>
          <a:p>
            <a:endParaRPr lang="en-US" sz="1000" u="sng" dirty="0" smtClean="0"/>
          </a:p>
          <a:p>
            <a:r>
              <a:rPr lang="en-US" sz="1000" dirty="0" smtClean="0"/>
              <a:t>0 request: {{</a:t>
            </a:r>
            <a:r>
              <a:rPr lang="en-US" sz="1000" dirty="0"/>
              <a:t>0, 2}, {1, 1</a:t>
            </a:r>
            <a:r>
              <a:rPr lang="en-US" sz="1000" dirty="0" smtClean="0"/>
              <a:t>}} + {</a:t>
            </a:r>
            <a:r>
              <a:rPr lang="en-US" sz="1000" dirty="0"/>
              <a:t>{0,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{{0, </a:t>
            </a:r>
            <a:r>
              <a:rPr lang="en-US" sz="1000" dirty="0" smtClean="0">
                <a:solidFill>
                  <a:srgbClr val="C00000"/>
                </a:solidFill>
              </a:rPr>
              <a:t>3</a:t>
            </a:r>
            <a:r>
              <a:rPr lang="en-US" sz="1000" dirty="0" smtClean="0">
                <a:solidFill>
                  <a:srgbClr val="00B050"/>
                </a:solidFill>
              </a:rPr>
              <a:t>}, {1, 1}, {2, 1}}</a:t>
            </a:r>
            <a:r>
              <a:rPr lang="en-US" sz="1000" dirty="0" smtClean="0"/>
              <a:t> </a:t>
            </a:r>
            <a:endParaRPr lang="en-US" sz="1000" dirty="0"/>
          </a:p>
          <a:p>
            <a:r>
              <a:rPr lang="en-US" sz="1000" dirty="0" smtClean="0"/>
              <a:t>1 request</a:t>
            </a:r>
            <a:r>
              <a:rPr lang="en-US" sz="1000" dirty="0"/>
              <a:t>: {{2, 1</a:t>
            </a:r>
            <a:r>
              <a:rPr lang="en-US" sz="1000" dirty="0" smtClean="0"/>
              <a:t>}} </a:t>
            </a:r>
            <a:r>
              <a:rPr lang="en-US" sz="1000" dirty="0"/>
              <a:t>+ </a:t>
            </a:r>
            <a:r>
              <a:rPr lang="en-US" sz="1000" dirty="0" smtClean="0"/>
              <a:t>{{</a:t>
            </a:r>
            <a:r>
              <a:rPr lang="en-US" sz="1000" dirty="0"/>
              <a:t>1, 1}, {2, 1</a:t>
            </a:r>
            <a:r>
              <a:rPr lang="en-US" sz="1000" dirty="0" smtClean="0"/>
              <a:t>}} = </a:t>
            </a:r>
          </a:p>
          <a:p>
            <a:r>
              <a:rPr lang="en-US" sz="1000" dirty="0" smtClean="0"/>
              <a:t>                   </a:t>
            </a:r>
            <a:r>
              <a:rPr lang="en-US" sz="1000" dirty="0" smtClean="0">
                <a:solidFill>
                  <a:srgbClr val="00B050"/>
                </a:solidFill>
              </a:rPr>
              <a:t>{{1, 1}, {2, 2}} </a:t>
            </a:r>
            <a:endParaRPr lang="ru-RU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1032560"/>
            <a:chOff x="25306" y="4006835"/>
            <a:chExt cx="1924271" cy="103256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847009"/>
              <a:chOff x="205921" y="3650153"/>
              <a:chExt cx="1872546" cy="847009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43164"/>
                <a:ext cx="164484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 для каждой записи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 flipV="1">
            <a:off x="890782" y="2271575"/>
            <a:ext cx="8220324" cy="5388"/>
          </a:xfrm>
          <a:prstGeom prst="bentConnector4">
            <a:avLst>
              <a:gd name="adj1" fmla="val -2781"/>
              <a:gd name="adj2" fmla="val 1426503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1005722"/>
          </a:xfrm>
          <a:prstGeom prst="bentConnector4">
            <a:avLst>
              <a:gd name="adj1" fmla="val -8045"/>
              <a:gd name="adj2" fmla="val 934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783343" y="1777171"/>
            <a:ext cx="1908000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7" y="1654446"/>
              <a:ext cx="1747246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740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“ID request”</a:t>
              </a:r>
              <a:endParaRPr lang="ru-RU" sz="1000" dirty="0" smtClean="0"/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762987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736963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276963"/>
            <a:ext cx="930099" cy="35155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accent2"/>
                </a:solidFill>
              </a:rPr>
              <a:t>count</a:t>
            </a:r>
            <a:endParaRPr lang="ru-RU" sz="1200" b="1" dirty="0">
              <a:solidFill>
                <a:schemeClr val="accent2"/>
              </a:solidFill>
            </a:endParaRPr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“ID request”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243951" y="4526508"/>
            <a:ext cx="444269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241326" y="3396598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20126" y="148364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0623" y="1505466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тветов нет</a:t>
            </a:r>
            <a:endParaRPr lang="ru-RU" sz="1000" dirty="0"/>
          </a:p>
        </p:txBody>
      </p:sp>
      <p:sp>
        <p:nvSpPr>
          <p:cNvPr id="104" name="TextBox 103"/>
          <p:cNvSpPr txBox="1"/>
          <p:nvPr/>
        </p:nvSpPr>
        <p:spPr>
          <a:xfrm>
            <a:off x="6941335" y="2760279"/>
            <a:ext cx="8194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тветы есть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2795198" y="3527980"/>
            <a:ext cx="7825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  <p:sp>
        <p:nvSpPr>
          <p:cNvPr id="154" name="TextBox 153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документов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24830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86733" y="1586947"/>
            <a:ext cx="3534347" cy="24622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/>
              <a:t> </a:t>
            </a:r>
            <a:r>
              <a:rPr lang="ru-RU" sz="1400" dirty="0" smtClean="0"/>
              <a:t>   Необходимо добавить контейнер соответствия вызывающих функций уровню логирования.</a:t>
            </a:r>
          </a:p>
          <a:p>
            <a:endParaRPr lang="ru-RU" sz="1400" dirty="0"/>
          </a:p>
          <a:p>
            <a:r>
              <a:rPr lang="ru-RU" sz="1400" dirty="0">
                <a:solidFill>
                  <a:srgbClr val="00B050"/>
                </a:solidFill>
              </a:rPr>
              <a:t>П</a:t>
            </a:r>
            <a:r>
              <a:rPr lang="ru-RU" sz="1400" dirty="0" smtClean="0">
                <a:solidFill>
                  <a:srgbClr val="00B050"/>
                </a:solidFill>
              </a:rPr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используется </a:t>
            </a:r>
            <a:r>
              <a:rPr lang="ru-RU" sz="1400" dirty="0"/>
              <a:t>меньше </a:t>
            </a:r>
            <a:r>
              <a:rPr lang="ru-RU" sz="1400" dirty="0" smtClean="0"/>
              <a:t>аргументов;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>
                <a:solidFill>
                  <a:srgbClr val="C00000"/>
                </a:solidFill>
              </a:rPr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946175338"/>
              </p:ext>
            </p:extLst>
          </p:nvPr>
        </p:nvGraphicFramePr>
        <p:xfrm>
          <a:off x="3945916" y="2002381"/>
          <a:ext cx="7920000" cy="33713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3033829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537" y="3425678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4226718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2685168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" y="2482224"/>
            <a:ext cx="3264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f</a:t>
            </a:r>
            <a:r>
              <a:rPr lang="en-US" dirty="0" smtClean="0">
                <a:solidFill>
                  <a:srgbClr val="FF0000"/>
                </a:solidFill>
              </a:rPr>
              <a:t>atal</a:t>
            </a:r>
            <a:r>
              <a:rPr lang="en-US" dirty="0" smtClean="0"/>
              <a:t>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680" y="4582456"/>
            <a:ext cx="432706" cy="612000"/>
          </a:xfrm>
          <a:prstGeom prst="rect">
            <a:avLst/>
          </a:prstGeom>
        </p:spPr>
      </p:pic>
      <p:grpSp>
        <p:nvGrpSpPr>
          <p:cNvPr id="18" name="Группа 17"/>
          <p:cNvGrpSpPr>
            <a:grpSpLocks noChangeAspect="1"/>
          </p:cNvGrpSpPr>
          <p:nvPr/>
        </p:nvGrpSpPr>
        <p:grpSpPr>
          <a:xfrm>
            <a:off x="2296100" y="5569863"/>
            <a:ext cx="410079" cy="468000"/>
            <a:chOff x="1501166" y="5420382"/>
            <a:chExt cx="530641" cy="605587"/>
          </a:xfrm>
        </p:grpSpPr>
        <p:pic>
          <p:nvPicPr>
            <p:cNvPr id="19" name="Рисунок 18"/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945278" y="5595601"/>
            <a:ext cx="37744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Поддержка </a:t>
            </a:r>
            <a:r>
              <a:rPr lang="en-US" sz="2000" dirty="0"/>
              <a:t>CMake </a:t>
            </a:r>
            <a:r>
              <a:rPr lang="ru-RU" sz="2000" dirty="0"/>
              <a:t>с версии 3.21</a:t>
            </a:r>
            <a:r>
              <a:rPr lang="en-US" sz="2000" dirty="0"/>
              <a:t> </a:t>
            </a: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</a:t>
              </a:r>
              <a:r>
                <a:rPr lang="ru-RU" sz="1100" dirty="0" smtClean="0">
                  <a:solidFill>
                    <a:schemeClr val="tx1"/>
                  </a:solidFill>
                </a:rPr>
                <a:t> 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843852700"/>
              </p:ext>
            </p:extLst>
          </p:nvPr>
        </p:nvGraphicFramePr>
        <p:xfrm>
          <a:off x="3952367" y="1828966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548125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03395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288160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653483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548124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2929065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195980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198635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3" y="4771792"/>
            <a:ext cx="330893" cy="468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452374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498964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867673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1645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2296100" y="5723973"/>
            <a:ext cx="410079" cy="468000"/>
            <a:chOff x="1501166" y="5420382"/>
            <a:chExt cx="530641" cy="605587"/>
          </a:xfrm>
        </p:grpSpPr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3945278" y="5749711"/>
            <a:ext cx="37744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Поддержка </a:t>
            </a:r>
            <a:r>
              <a:rPr lang="en-US" sz="2000" dirty="0"/>
              <a:t>CMake </a:t>
            </a:r>
            <a:r>
              <a:rPr lang="ru-RU" sz="2000" dirty="0"/>
              <a:t>с версии 3.21</a:t>
            </a:r>
            <a:r>
              <a:rPr lang="en-US" sz="2000" dirty="0"/>
              <a:t> </a:t>
            </a: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4003417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416197" y="5875463"/>
            <a:ext cx="2001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logger_monitor.exe</a:t>
            </a:r>
            <a:endParaRPr lang="ru-RU" dirty="0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295" y="4278798"/>
            <a:ext cx="2810885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22709</TotalTime>
  <Words>2785</Words>
  <Application>Microsoft Office PowerPoint</Application>
  <PresentationFormat>Широкоэкранный</PresentationFormat>
  <Paragraphs>827</Paragraphs>
  <Slides>29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813</cp:revision>
  <dcterms:created xsi:type="dcterms:W3CDTF">2025-10-14T05:54:15Z</dcterms:created>
  <dcterms:modified xsi:type="dcterms:W3CDTF">2026-02-18T07:35:17Z</dcterms:modified>
</cp:coreProperties>
</file>
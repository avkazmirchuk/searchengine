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6"/>
  </p:notesMasterIdLst>
  <p:sldIdLst>
    <p:sldId id="256" r:id="rId2"/>
    <p:sldId id="274" r:id="rId3"/>
    <p:sldId id="275" r:id="rId4"/>
    <p:sldId id="284" r:id="rId5"/>
    <p:sldId id="273" r:id="rId6"/>
    <p:sldId id="257" r:id="rId7"/>
    <p:sldId id="258" r:id="rId8"/>
    <p:sldId id="276" r:id="rId9"/>
    <p:sldId id="277" r:id="rId10"/>
    <p:sldId id="278" r:id="rId11"/>
    <p:sldId id="260" r:id="rId12"/>
    <p:sldId id="263" r:id="rId13"/>
    <p:sldId id="282" r:id="rId14"/>
    <p:sldId id="264" r:id="rId15"/>
    <p:sldId id="266" r:id="rId16"/>
    <p:sldId id="268" r:id="rId17"/>
    <p:sldId id="279" r:id="rId18"/>
    <p:sldId id="280" r:id="rId19"/>
    <p:sldId id="281" r:id="rId20"/>
    <p:sldId id="259" r:id="rId21"/>
    <p:sldId id="269" r:id="rId22"/>
    <p:sldId id="271" r:id="rId23"/>
    <p:sldId id="272" r:id="rId24"/>
    <p:sldId id="283" r:id="rId2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4294" userDrawn="1">
          <p15:clr>
            <a:srgbClr val="A4A3A4"/>
          </p15:clr>
        </p15:guide>
        <p15:guide id="3" pos="3840" userDrawn="1">
          <p15:clr>
            <a:srgbClr val="A4A3A4"/>
          </p15:clr>
        </p15:guide>
        <p15:guide id="4" orient="horz" pos="170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400" autoAdjust="0"/>
  </p:normalViewPr>
  <p:slideViewPr>
    <p:cSldViewPr snapToGrid="0">
      <p:cViewPr varScale="1">
        <p:scale>
          <a:sx n="105" d="100"/>
          <a:sy n="105" d="100"/>
        </p:scale>
        <p:origin x="-1278" y="108"/>
      </p:cViewPr>
      <p:guideLst>
        <p:guide orient="horz" pos="2183"/>
        <p:guide pos="4294"/>
        <p:guide pos="3840"/>
        <p:guide orient="horz" pos="170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03510536"/>
        <c:axId val="403510928"/>
      </c:barChart>
      <c:catAx>
        <c:axId val="403510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3510928"/>
        <c:crosses val="autoZero"/>
        <c:auto val="1"/>
        <c:lblAlgn val="ctr"/>
        <c:lblOffset val="100"/>
        <c:noMultiLvlLbl val="0"/>
      </c:catAx>
      <c:valAx>
        <c:axId val="4035109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3510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03512104"/>
        <c:axId val="401384776"/>
      </c:barChart>
      <c:catAx>
        <c:axId val="403512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1384776"/>
        <c:crosses val="autoZero"/>
        <c:auto val="1"/>
        <c:lblAlgn val="ctr"/>
        <c:lblOffset val="100"/>
        <c:noMultiLvlLbl val="0"/>
      </c:catAx>
      <c:valAx>
        <c:axId val="401384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35121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1" dirty="0" smtClean="0"/>
            <a:t>Search</a:t>
          </a:r>
        </a:p>
        <a:p>
          <a:r>
            <a:rPr lang="en-US" sz="3200" b="1" dirty="0" smtClean="0"/>
            <a:t>Engine</a:t>
          </a:r>
          <a:endParaRPr lang="ru-RU" sz="32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2000" b="1" dirty="0" smtClean="0"/>
            <a:t>Converter</a:t>
          </a:r>
        </a:p>
        <a:p>
          <a:r>
            <a:rPr lang="en-US" sz="2000" b="1" dirty="0" smtClean="0"/>
            <a:t>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2000" b="1" dirty="0" smtClean="0"/>
            <a:t>InvertedIndex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2000" b="1" dirty="0" smtClean="0"/>
            <a:t>Relevant</a:t>
          </a:r>
        </a:p>
        <a:p>
          <a:r>
            <a:rPr lang="en-US" sz="2000" b="1" dirty="0" smtClean="0"/>
            <a:t>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2000" b="1" dirty="0" smtClean="0"/>
            <a:t>Dispatcher</a:t>
          </a:r>
        </a:p>
        <a:p>
          <a:r>
            <a:rPr lang="en-US" sz="2000" b="1" dirty="0" smtClean="0"/>
            <a:t>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744" custRadScaleInc="15343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0641" custRadScaleInc="-38988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2855" custRadScaleInc="44998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solidFill>
        <a:scrgbClr r="0" g="0" b="0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287E3C62-6D68-4A76-BB1D-B6CBB21BB9EE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C1ED5144-FB7A-46E2-ACE4-1DEF8C16F339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7473ABC6-86BC-4922-AA2C-4EC936067C75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30.11.2025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30.11.2025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30.11.2025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30.11.2025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30.11.2025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30.11.2025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30.11.2025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30.11.2025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30.11.2025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30.11.2025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30.11.2025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30.11.2025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30.11.2025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diagramLayout" Target="../diagrams/layout1.xml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diagramData" Target="../diagrams/data1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32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30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44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4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8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" Type="http://schemas.openxmlformats.org/officeDocument/2006/relationships/image" Target="../media/image47.png"/><Relationship Id="rId16" Type="http://schemas.openxmlformats.org/officeDocument/2006/relationships/image" Target="../media/image6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10" Type="http://schemas.openxmlformats.org/officeDocument/2006/relationships/image" Target="../media/image55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Relationship Id="rId9" Type="http://schemas.openxmlformats.org/officeDocument/2006/relationships/image" Target="../media/image6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70.png"/><Relationship Id="rId7" Type="http://schemas.openxmlformats.org/officeDocument/2006/relationships/image" Target="../media/image67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7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63.png"/><Relationship Id="rId7" Type="http://schemas.openxmlformats.org/officeDocument/2006/relationships/image" Target="../media/image71.png"/><Relationship Id="rId12" Type="http://schemas.openxmlformats.org/officeDocument/2006/relationships/image" Target="../media/image79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11" Type="http://schemas.openxmlformats.org/officeDocument/2006/relationships/image" Target="../media/image66.png"/><Relationship Id="rId5" Type="http://schemas.openxmlformats.org/officeDocument/2006/relationships/image" Target="../media/image75.png"/><Relationship Id="rId10" Type="http://schemas.openxmlformats.org/officeDocument/2006/relationships/image" Target="../media/image67.png"/><Relationship Id="rId4" Type="http://schemas.openxmlformats.org/officeDocument/2006/relationships/image" Target="../media/image74.png"/><Relationship Id="rId9" Type="http://schemas.openxmlformats.org/officeDocument/2006/relationships/image" Target="../media/image7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20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8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80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diagramLayout" Target="../diagrams/layout5.xml"/><Relationship Id="rId7" Type="http://schemas.openxmlformats.org/officeDocument/2006/relationships/image" Target="../media/image82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Relationship Id="rId9" Type="http://schemas.openxmlformats.org/officeDocument/2006/relationships/image" Target="../media/image8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13" Type="http://schemas.openxmlformats.org/officeDocument/2006/relationships/image" Target="../media/image95.png"/><Relationship Id="rId3" Type="http://schemas.openxmlformats.org/officeDocument/2006/relationships/diagramLayout" Target="../diagrams/layout6.xml"/><Relationship Id="rId7" Type="http://schemas.openxmlformats.org/officeDocument/2006/relationships/image" Target="../media/image89.png"/><Relationship Id="rId12" Type="http://schemas.openxmlformats.org/officeDocument/2006/relationships/image" Target="../media/image94.png"/><Relationship Id="rId2" Type="http://schemas.openxmlformats.org/officeDocument/2006/relationships/diagramData" Target="../diagrams/data6.xml"/><Relationship Id="rId16" Type="http://schemas.openxmlformats.org/officeDocument/2006/relationships/image" Target="../media/image98.png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6.xml"/><Relationship Id="rId11" Type="http://schemas.openxmlformats.org/officeDocument/2006/relationships/image" Target="../media/image93.png"/><Relationship Id="rId5" Type="http://schemas.openxmlformats.org/officeDocument/2006/relationships/diagramColors" Target="../diagrams/colors6.xml"/><Relationship Id="rId15" Type="http://schemas.openxmlformats.org/officeDocument/2006/relationships/image" Target="../media/image97.png"/><Relationship Id="rId10" Type="http://schemas.openxmlformats.org/officeDocument/2006/relationships/image" Target="../media/image92.png"/><Relationship Id="rId4" Type="http://schemas.openxmlformats.org/officeDocument/2006/relationships/diagramQuickStyle" Target="../diagrams/quickStyle6.xml"/><Relationship Id="rId9" Type="http://schemas.openxmlformats.org/officeDocument/2006/relationships/image" Target="../media/image91.png"/><Relationship Id="rId14" Type="http://schemas.openxmlformats.org/officeDocument/2006/relationships/image" Target="../media/image9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diagramLayout" Target="../diagrams/layout7.xml"/><Relationship Id="rId7" Type="http://schemas.openxmlformats.org/officeDocument/2006/relationships/hyperlink" Target="https://www.boost.org/doc/libs/master/doc/html/interprocess/synchronization_mechanisms.html#interprocess.synchronization_mechanisms.message_queue" TargetMode="Externa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7.xml"/><Relationship Id="rId11" Type="http://schemas.openxmlformats.org/officeDocument/2006/relationships/image" Target="../media/image102.png"/><Relationship Id="rId5" Type="http://schemas.openxmlformats.org/officeDocument/2006/relationships/diagramColors" Target="../diagrams/colors7.xml"/><Relationship Id="rId10" Type="http://schemas.openxmlformats.org/officeDocument/2006/relationships/image" Target="../media/image101.png"/><Relationship Id="rId4" Type="http://schemas.openxmlformats.org/officeDocument/2006/relationships/diagramQuickStyle" Target="../diagrams/quickStyle7.xml"/><Relationship Id="rId9" Type="http://schemas.openxmlformats.org/officeDocument/2006/relationships/image" Target="../media/image10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7" Type="http://schemas.openxmlformats.org/officeDocument/2006/relationships/image" Target="../media/image108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8042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529074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97280" y="1632155"/>
            <a:ext cx="10058400" cy="3963973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30.11.2025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0741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811483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30.11.2025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573309"/>
            <a:ext cx="3384959" cy="451327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9986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373187"/>
            <a:ext cx="2876083" cy="900000"/>
          </a:xfrm>
          <a:prstGeom prst="rect">
            <a:avLst/>
          </a:prstGeom>
        </p:spPr>
      </p:pic>
      <p:pic>
        <p:nvPicPr>
          <p:cNvPr id="12" name="Объект 11"/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1471283"/>
            <a:ext cx="2876084" cy="900000"/>
          </a:xfr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435573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390217"/>
            <a:ext cx="2876084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30.11.2025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031" y="1568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297" y="47006"/>
            <a:ext cx="2077058" cy="110246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3962" y="2628696"/>
            <a:ext cx="1415007" cy="828211"/>
          </a:xfrm>
          <a:prstGeom prst="rect">
            <a:avLst/>
          </a:prstGeom>
        </p:spPr>
      </p:pic>
      <p:sp>
        <p:nvSpPr>
          <p:cNvPr id="12" name="Прямоугольник с двумя усеченными противолежащими углами 11"/>
          <p:cNvSpPr/>
          <p:nvPr/>
        </p:nvSpPr>
        <p:spPr>
          <a:xfrm rot="5400000">
            <a:off x="1553935" y="1163727"/>
            <a:ext cx="1102466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1442713" y="1320333"/>
            <a:ext cx="1244251" cy="132343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80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</a:t>
            </a:r>
            <a:endParaRPr lang="ru-RU" sz="80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4" name="Прямоугольник с двумя усеченными противолежащими углами 13"/>
          <p:cNvSpPr/>
          <p:nvPr/>
        </p:nvSpPr>
        <p:spPr>
          <a:xfrm rot="5400000">
            <a:off x="1663469" y="2398204"/>
            <a:ext cx="776776" cy="1340630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1376893" y="2809639"/>
            <a:ext cx="134992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QML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6" name="Прямоугольник с двумя усеченными противолежащими углами 15"/>
          <p:cNvSpPr/>
          <p:nvPr/>
        </p:nvSpPr>
        <p:spPr>
          <a:xfrm rot="5400000">
            <a:off x="1728753" y="3769050"/>
            <a:ext cx="795777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1278494" y="4425175"/>
            <a:ext cx="169629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 Designer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8" name="Прямоугольник с двумя усеченными противолежащими углами 17"/>
          <p:cNvSpPr/>
          <p:nvPr/>
        </p:nvSpPr>
        <p:spPr>
          <a:xfrm rot="5400000">
            <a:off x="1758351" y="2816636"/>
            <a:ext cx="795777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1467756" y="3465517"/>
            <a:ext cx="1525033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 Creator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106994" y="1035782"/>
            <a:ext cx="129933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 типы</a:t>
            </a:r>
            <a:r>
              <a:rPr lang="en-US" dirty="0"/>
              <a:t> </a:t>
            </a:r>
            <a:r>
              <a:rPr lang="ru-RU" dirty="0"/>
              <a:t>данных</a:t>
            </a:r>
            <a:r>
              <a:rPr lang="ru-RU" dirty="0" smtClean="0"/>
              <a:t>, константы и строки, массивы, </a:t>
            </a:r>
            <a:r>
              <a:rPr lang="ru-RU" dirty="0"/>
              <a:t>ветвления, </a:t>
            </a:r>
            <a:r>
              <a:rPr lang="ru-RU" dirty="0" smtClean="0"/>
              <a:t>циклы, функции, преобразование типов, </a:t>
            </a:r>
          </a:p>
          <a:p>
            <a:r>
              <a:rPr lang="ru-RU" dirty="0" smtClean="0"/>
              <a:t>ссылки и указатели, работа с файлами, перечисления и структуры, макросы и препроцессор, перегрузка функций, </a:t>
            </a:r>
          </a:p>
          <a:p>
            <a:r>
              <a:rPr lang="ru-RU" dirty="0" smtClean="0"/>
              <a:t>шаблоны функций, ООП, перегрузка операторов, семантика перемещения, умные указатели, наследование, </a:t>
            </a:r>
          </a:p>
          <a:p>
            <a:r>
              <a:rPr lang="ru-RU" dirty="0" smtClean="0"/>
              <a:t>виртуальные функции, шаблоны классов, </a:t>
            </a:r>
            <a:r>
              <a:rPr lang="en-US" dirty="0" smtClean="0"/>
              <a:t>STL, </a:t>
            </a:r>
            <a:r>
              <a:rPr lang="ru-RU" dirty="0" smtClean="0"/>
              <a:t>многопоточность, исключения, </a:t>
            </a:r>
            <a:r>
              <a:rPr lang="ru-RU" dirty="0" smtClean="0"/>
              <a:t>свойства типов, шаблонное </a:t>
            </a:r>
            <a:r>
              <a:rPr lang="ru-RU" dirty="0" smtClean="0"/>
              <a:t>метапрограммирование</a:t>
            </a: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784" y="5420382"/>
            <a:ext cx="436649" cy="4370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058712" y="5652911"/>
            <a:ext cx="5792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остаточно знаний для описания правил сборки проекта</a:t>
            </a:r>
            <a:endParaRPr lang="ru-RU" dirty="0"/>
          </a:p>
        </p:txBody>
      </p:sp>
      <p:sp>
        <p:nvSpPr>
          <p:cNvPr id="23" name="TextBox 22"/>
          <p:cNvSpPr txBox="1"/>
          <p:nvPr/>
        </p:nvSpPr>
        <p:spPr>
          <a:xfrm>
            <a:off x="1383968" y="5789289"/>
            <a:ext cx="828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CMake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3509999" y="4556941"/>
            <a:ext cx="8115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визуального проектирования графических </a:t>
            </a:r>
            <a:r>
              <a:rPr lang="ru-RU" dirty="0" smtClean="0"/>
              <a:t>интерфейсов</a:t>
            </a:r>
            <a:r>
              <a:rPr lang="en-US" dirty="0" smtClean="0"/>
              <a:t> </a:t>
            </a:r>
            <a:r>
              <a:rPr lang="ru-RU" dirty="0" smtClean="0"/>
              <a:t>без написания кода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3569551" y="4060404"/>
            <a:ext cx="9508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создания кроссплатформенных приложений с графическим интерфейсом пользователя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6221" y="3003848"/>
            <a:ext cx="94574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ля разработки пользовательских интерфейсов</a:t>
            </a:r>
          </a:p>
          <a:p>
            <a:r>
              <a:rPr lang="ru-RU" dirty="0" smtClean="0"/>
              <a:t>элементы, </a:t>
            </a:r>
            <a:r>
              <a:rPr lang="ru-RU" dirty="0"/>
              <a:t>у</a:t>
            </a:r>
            <a:r>
              <a:rPr lang="ru-RU" dirty="0" smtClean="0"/>
              <a:t>правление </a:t>
            </a:r>
            <a:r>
              <a:rPr lang="ru-RU" dirty="0"/>
              <a:t>размещением </a:t>
            </a:r>
            <a:r>
              <a:rPr lang="ru-RU" dirty="0" smtClean="0"/>
              <a:t>элементов, </a:t>
            </a:r>
            <a:r>
              <a:rPr lang="ru-RU" dirty="0"/>
              <a:t>э</a:t>
            </a:r>
            <a:r>
              <a:rPr lang="ru-RU" dirty="0" smtClean="0"/>
              <a:t>лементы графики, </a:t>
            </a:r>
            <a:r>
              <a:rPr lang="ru-RU" dirty="0"/>
              <a:t>п</a:t>
            </a:r>
            <a:r>
              <a:rPr lang="ru-RU" dirty="0" smtClean="0"/>
              <a:t>ользовательский ввод, </a:t>
            </a:r>
          </a:p>
          <a:p>
            <a:r>
              <a:rPr lang="ru-RU" dirty="0"/>
              <a:t>а</a:t>
            </a:r>
            <a:r>
              <a:rPr lang="ru-RU" dirty="0" smtClean="0"/>
              <a:t>нимация, </a:t>
            </a:r>
            <a:r>
              <a:rPr lang="en-US" dirty="0"/>
              <a:t>3D-</a:t>
            </a:r>
            <a:r>
              <a:rPr lang="ru-RU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31543" y="2133141"/>
            <a:ext cx="11005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Концепция межобъектных коммуникаций – сигналы и слоты, </a:t>
            </a:r>
            <a:r>
              <a:rPr lang="en-US" dirty="0" smtClean="0"/>
              <a:t>qmake, </a:t>
            </a:r>
            <a:r>
              <a:rPr lang="ru-RU" dirty="0" smtClean="0"/>
              <a:t>библиотека контейнеров, </a:t>
            </a:r>
          </a:p>
          <a:p>
            <a:r>
              <a:rPr lang="ru-RU" dirty="0"/>
              <a:t>в</a:t>
            </a:r>
            <a:r>
              <a:rPr lang="ru-RU" dirty="0" smtClean="0"/>
              <a:t>иджеты, события, графика, </a:t>
            </a:r>
            <a:r>
              <a:rPr lang="ru-RU" dirty="0"/>
              <a:t>мультимедиа, </a:t>
            </a:r>
            <a:r>
              <a:rPr lang="ru-RU" dirty="0" smtClean="0"/>
              <a:t>анимация, </a:t>
            </a:r>
            <a:r>
              <a:rPr lang="en-US" dirty="0" smtClean="0"/>
              <a:t>SDI- </a:t>
            </a:r>
            <a:r>
              <a:rPr lang="ru-RU" dirty="0"/>
              <a:t>и М</a:t>
            </a:r>
            <a:r>
              <a:rPr lang="en-US" dirty="0"/>
              <a:t>DI-</a:t>
            </a:r>
            <a:r>
              <a:rPr lang="ru-RU" dirty="0" smtClean="0"/>
              <a:t>приложения, </a:t>
            </a:r>
            <a:r>
              <a:rPr lang="ru-RU" dirty="0"/>
              <a:t>р</a:t>
            </a:r>
            <a:r>
              <a:rPr lang="ru-RU" dirty="0" smtClean="0"/>
              <a:t>абота </a:t>
            </a:r>
            <a:r>
              <a:rPr lang="ru-RU" dirty="0"/>
              <a:t>с файлами, каталогами </a:t>
            </a:r>
            <a:endParaRPr lang="ru-RU" dirty="0" smtClean="0"/>
          </a:p>
          <a:p>
            <a:r>
              <a:rPr lang="ru-RU" dirty="0" smtClean="0"/>
              <a:t>и </a:t>
            </a:r>
            <a:r>
              <a:rPr lang="ru-RU" dirty="0"/>
              <a:t>потоками </a:t>
            </a:r>
            <a:r>
              <a:rPr lang="ru-RU" dirty="0" smtClean="0"/>
              <a:t>ввода/вывода, </a:t>
            </a:r>
            <a:r>
              <a:rPr lang="ru-RU" dirty="0"/>
              <a:t>п</a:t>
            </a:r>
            <a:r>
              <a:rPr lang="ru-RU" dirty="0" smtClean="0"/>
              <a:t>роцессы </a:t>
            </a:r>
            <a:r>
              <a:rPr lang="ru-RU" dirty="0"/>
              <a:t>и потоки</a:t>
            </a:r>
          </a:p>
        </p:txBody>
      </p: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30.11.2025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prstGeom prst="roundRect">
            <a:avLst>
              <a:gd name="adj" fmla="val 10000"/>
            </a:avLst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21000" b="-21000"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15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30.11.2025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30.11.2025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46" y="2193706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30.11.2025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30.11.2025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30.11.2025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5678402"/>
              </p:ext>
            </p:extLst>
          </p:nvPr>
        </p:nvGraphicFramePr>
        <p:xfrm>
          <a:off x="1097279" y="1846263"/>
          <a:ext cx="10058083" cy="4044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30.11.2025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22" y="2980774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564" y="3005462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74" y="301498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1937" y="3014983"/>
            <a:ext cx="509065" cy="7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9620" y="2553320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190436" y="2553320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хранит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79" y="2556907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414347" y="2553319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46823" y="2553318"/>
            <a:ext cx="1814301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хранит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776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539559" y="4923827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46" y="2951899"/>
            <a:ext cx="509070" cy="72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69" y="2952141"/>
            <a:ext cx="509070" cy="720000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3987" y="2952141"/>
            <a:ext cx="509070" cy="72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299" y="529201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1091517" y="4270658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kern="1200" dirty="0" smtClean="0"/>
                <a:t>Logger</a:t>
              </a:r>
              <a:endParaRPr lang="ru-RU" sz="2000" b="1" kern="1200" dirty="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2553" y="4806462"/>
            <a:ext cx="1424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Логирует события в лог-файлы и в консоль</a:t>
            </a:r>
            <a:endParaRPr lang="ru-RU" sz="1200" dirty="0"/>
          </a:p>
        </p:txBody>
      </p:sp>
      <p:pic>
        <p:nvPicPr>
          <p:cNvPr id="42" name="Рисунок 4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026" y="5292017"/>
            <a:ext cx="509070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6297" y="5292017"/>
            <a:ext cx="509065" cy="72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10" y="29663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4326" y="2980774"/>
            <a:ext cx="509065" cy="72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836" y="3002040"/>
            <a:ext cx="509065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5346" y="3025732"/>
            <a:ext cx="509065" cy="720000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607" y="3022221"/>
            <a:ext cx="509065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2097" y="5218935"/>
            <a:ext cx="514862" cy="728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30.11.2025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Стрелка вправо 67"/>
          <p:cNvSpPr/>
          <p:nvPr/>
        </p:nvSpPr>
        <p:spPr>
          <a:xfrm>
            <a:off x="2497365" y="-203025"/>
            <a:ext cx="9110227" cy="3960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63448" y="41705"/>
            <a:ext cx="10058400" cy="581647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>
          <a:xfrm>
            <a:off x="1097274" y="6459785"/>
            <a:ext cx="2472271" cy="365125"/>
          </a:xfrm>
        </p:spPr>
        <p:txBody>
          <a:bodyPr/>
          <a:lstStyle/>
          <a:p>
            <a:fld id="{5415850B-FCCB-4950-8D75-8D81D52F3FBD}" type="datetime1">
              <a:rPr lang="ru-RU" smtClean="0"/>
              <a:t>30.11.2025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>
          <a:xfrm>
            <a:off x="3686179" y="6459785"/>
            <a:ext cx="4822804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3236179" y="5213448"/>
            <a:ext cx="900000" cy="90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64467" y="4154088"/>
            <a:ext cx="1375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  <a:p>
            <a:pPr marL="285750" indent="-285750">
              <a:buFontTx/>
              <a:buChar char="-"/>
            </a:pPr>
            <a:r>
              <a:rPr lang="ru-RU" sz="1100" dirty="0" smtClean="0"/>
              <a:t>ответов</a:t>
            </a:r>
            <a:endParaRPr lang="ru-RU" sz="11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330" y="3303385"/>
            <a:ext cx="944416" cy="1335742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4" y="3276746"/>
            <a:ext cx="948137" cy="134100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0" y="3220670"/>
            <a:ext cx="1002898" cy="1418457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23784" y="28767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87385" y="458844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1646850" y="288245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3281347" y="3555668"/>
            <a:ext cx="137569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06746" y="5206213"/>
            <a:ext cx="900000" cy="90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Documents</a:t>
              </a:r>
              <a:endParaRPr lang="ru-RU" sz="110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66905" y="286943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63824" y="289932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134562" y="448562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88882" y="448385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86937" y="5124120"/>
            <a:ext cx="900000" cy="90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3400233" y="289701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3399357" y="456917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52838" y="5102824"/>
            <a:ext cx="900000" cy="900000"/>
            <a:chOff x="5151860" y="405415"/>
            <a:chExt cx="1083633" cy="1083633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04" y="2623849"/>
            <a:ext cx="1250395" cy="1768506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2939" y="2732393"/>
            <a:ext cx="1411202" cy="199594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301" y="3404765"/>
            <a:ext cx="1470499" cy="2079812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9500" y="3424390"/>
            <a:ext cx="1411202" cy="199594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882" y="2849245"/>
            <a:ext cx="1250395" cy="1768506"/>
          </a:xfrm>
          <a:prstGeom prst="rect">
            <a:avLst/>
          </a:prstGeom>
        </p:spPr>
      </p:pic>
      <p:grpSp>
        <p:nvGrpSpPr>
          <p:cNvPr id="91" name="Группа 90"/>
          <p:cNvGrpSpPr>
            <a:grpSpLocks noChangeAspect="1"/>
          </p:cNvGrpSpPr>
          <p:nvPr/>
        </p:nvGrpSpPr>
        <p:grpSpPr>
          <a:xfrm>
            <a:off x="2601602" y="908592"/>
            <a:ext cx="1555226" cy="1692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679" y="1371283"/>
            <a:ext cx="662506" cy="937021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874" y="1320452"/>
            <a:ext cx="707820" cy="100111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83426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841517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2829" y="1614852"/>
            <a:ext cx="450738" cy="637505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7979153" y="838645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832253" y="82450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3069" y="1661057"/>
            <a:ext cx="403126" cy="570165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2641" y="1671102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342791" y="904799"/>
            <a:ext cx="1800000" cy="1800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Search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Engine</a:t>
                </a:r>
                <a:endParaRPr lang="ru-RU" sz="1100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14" y="1251787"/>
            <a:ext cx="1060186" cy="1499483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2806" y="1421535"/>
            <a:ext cx="841102" cy="1189619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624" y="1493642"/>
            <a:ext cx="766243" cy="108374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180" y="1439902"/>
            <a:ext cx="842235" cy="1191221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7377" y="1488732"/>
            <a:ext cx="767313" cy="1085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66800" y="47452"/>
            <a:ext cx="10058400" cy="111824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30.11.2025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149109" y="3074262"/>
            <a:ext cx="21388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путей </a:t>
            </a:r>
            <a:endParaRPr lang="en-US" dirty="0" smtClean="0"/>
          </a:p>
          <a:p>
            <a:r>
              <a:rPr lang="ru-RU" dirty="0" smtClean="0"/>
              <a:t>файлов </a:t>
            </a:r>
            <a:r>
              <a:rPr lang="ru-RU" dirty="0"/>
              <a:t>документов</a:t>
            </a:r>
          </a:p>
        </p:txBody>
      </p:sp>
      <p:sp>
        <p:nvSpPr>
          <p:cNvPr id="15" name="Стрелка вправо 14"/>
          <p:cNvSpPr/>
          <p:nvPr/>
        </p:nvSpPr>
        <p:spPr>
          <a:xfrm>
            <a:off x="272925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095990" y="315746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7621477" y="311505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8214283" y="3061288"/>
            <a:ext cx="1409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 документов</a:t>
            </a:r>
            <a:endParaRPr lang="ru-RU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969960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Стрелка вправо 31"/>
          <p:cNvSpPr/>
          <p:nvPr/>
        </p:nvSpPr>
        <p:spPr>
          <a:xfrm>
            <a:off x="5153954" y="546565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763327" y="1802559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858268" y="1825090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10327154" y="1802559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5766836" y="4128300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0851" y="1625409"/>
            <a:ext cx="1275202" cy="18035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8992" y="1562255"/>
            <a:ext cx="1394439" cy="1972235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065" y="2378449"/>
            <a:ext cx="796407" cy="1126404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17" y="2404602"/>
            <a:ext cx="732847" cy="103650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7287" y="2183403"/>
            <a:ext cx="803376" cy="1136262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4627" y="4863158"/>
            <a:ext cx="450738" cy="637505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9932" y="4532382"/>
            <a:ext cx="804972" cy="113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37279" y="-5435"/>
            <a:ext cx="10058400" cy="1450757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30.11.2025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682124" y="551042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4381984" y="3139672"/>
            <a:ext cx="12934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</a:t>
            </a:r>
          </a:p>
          <a:p>
            <a:r>
              <a:rPr lang="ru-RU" dirty="0" smtClean="0"/>
              <a:t>запросов</a:t>
            </a:r>
            <a:endParaRPr lang="ru-RU" dirty="0"/>
          </a:p>
        </p:txBody>
      </p:sp>
      <p:sp>
        <p:nvSpPr>
          <p:cNvPr id="54" name="Стрелка вправо 53"/>
          <p:cNvSpPr/>
          <p:nvPr/>
        </p:nvSpPr>
        <p:spPr>
          <a:xfrm>
            <a:off x="3517687" y="327521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6014698" y="33013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1527041" y="1934691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6825773" y="1981618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513579" y="4217829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448" y="1735083"/>
            <a:ext cx="1550516" cy="219298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375" y="5058617"/>
            <a:ext cx="403126" cy="570165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311" y="5073027"/>
            <a:ext cx="382749" cy="54134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2550" y="4548192"/>
            <a:ext cx="853430" cy="1207056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173" y="2536914"/>
            <a:ext cx="732847" cy="1036507"/>
          </a:xfrm>
          <a:prstGeom prst="rect">
            <a:avLst/>
          </a:prstGeom>
        </p:spPr>
      </p:pic>
      <p:pic>
        <p:nvPicPr>
          <p:cNvPr id="56" name="Рисунок 5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189" y="2491966"/>
            <a:ext cx="796407" cy="1126404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7738" y="2427406"/>
            <a:ext cx="742716" cy="105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942122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30.11.2025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731707" y="321004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480344" y="328138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850" y="2291852"/>
            <a:ext cx="1349153" cy="190818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0153" y="5205582"/>
            <a:ext cx="207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путь </a:t>
            </a:r>
            <a:r>
              <a:rPr lang="ru-RU" dirty="0"/>
              <a:t>файла ответов</a:t>
            </a:r>
          </a:p>
        </p:txBody>
      </p:sp>
      <p:sp>
        <p:nvSpPr>
          <p:cNvPr id="24" name="Стрелка вправо 23"/>
          <p:cNvSpPr/>
          <p:nvPr/>
        </p:nvSpPr>
        <p:spPr>
          <a:xfrm>
            <a:off x="5652567" y="569435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663836" y="564460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295887" y="5722617"/>
            <a:ext cx="2277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>
            <a:off x="5652567" y="514793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8116284" y="524082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586542" y="19760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5446916" y="1814297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86172" y="4296316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6256393" y="4342257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356703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661635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66163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4966566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496656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271498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271499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576429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576430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881361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88136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294763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590499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898701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05840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09778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07868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87" name="Рисунок 8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557" y="4992124"/>
            <a:ext cx="726596" cy="102766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016" y="4752243"/>
            <a:ext cx="1060129" cy="149940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037" y="4065624"/>
            <a:ext cx="1231779" cy="1742177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210" y="2306263"/>
            <a:ext cx="853430" cy="1207056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66" y="2817814"/>
            <a:ext cx="403452" cy="57062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14" y="2804960"/>
            <a:ext cx="422003" cy="596864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153" y="2437012"/>
            <a:ext cx="732847" cy="1036507"/>
          </a:xfrm>
          <a:prstGeom prst="rect">
            <a:avLst/>
          </a:prstGeom>
        </p:spPr>
      </p:pic>
      <p:pic>
        <p:nvPicPr>
          <p:cNvPr id="92" name="Рисунок 9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228" y="2386915"/>
            <a:ext cx="796407" cy="1126404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635" y="2277912"/>
            <a:ext cx="726596" cy="1027666"/>
          </a:xfrm>
          <a:prstGeom prst="rect">
            <a:avLst/>
          </a:prstGeom>
        </p:spPr>
      </p:pic>
      <p:pic>
        <p:nvPicPr>
          <p:cNvPr id="94" name="Рисунок 9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566" y="4757665"/>
            <a:ext cx="726596" cy="1027666"/>
          </a:xfrm>
          <a:prstGeom prst="rect">
            <a:avLst/>
          </a:prstGeom>
        </p:spPr>
      </p:pic>
      <p:pic>
        <p:nvPicPr>
          <p:cNvPr id="95" name="Рисунок 9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96" y="4938089"/>
            <a:ext cx="732847" cy="1036507"/>
          </a:xfrm>
          <a:prstGeom prst="rect">
            <a:avLst/>
          </a:prstGeom>
        </p:spPr>
      </p:pic>
      <p:pic>
        <p:nvPicPr>
          <p:cNvPr id="96" name="Рисунок 9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01" y="4939670"/>
            <a:ext cx="728042" cy="1029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3214064" y="947774"/>
            <a:ext cx="5615303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>
                  <a:solidFill>
                    <a:schemeClr val="tx1"/>
                  </a:solidFill>
                </a:rPr>
                <a:t>DispatcherOperations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-474202"/>
            <a:ext cx="10058400" cy="111438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Чтение и запись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30.11.2025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084" y="2081260"/>
            <a:ext cx="1908995" cy="270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3704945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5" y="1854991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3704945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4" y="3096414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3704944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3" y="5123567"/>
            <a:ext cx="509065" cy="720000"/>
          </a:xfrm>
          <a:prstGeom prst="rect">
            <a:avLst/>
          </a:prstGeom>
        </p:spPr>
      </p:pic>
      <p:sp>
        <p:nvSpPr>
          <p:cNvPr id="29" name="Овал 28"/>
          <p:cNvSpPr/>
          <p:nvPr/>
        </p:nvSpPr>
        <p:spPr>
          <a:xfrm>
            <a:off x="4351921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351921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351921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608689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613048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603881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4104550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104550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092126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657" y="2076918"/>
            <a:ext cx="1908993" cy="2700000"/>
          </a:xfrm>
          <a:prstGeom prst="rect">
            <a:avLst/>
          </a:prstGeom>
        </p:spPr>
      </p:pic>
      <p:sp>
        <p:nvSpPr>
          <p:cNvPr id="45" name="Прямоугольник 44"/>
          <p:cNvSpPr/>
          <p:nvPr/>
        </p:nvSpPr>
        <p:spPr>
          <a:xfrm>
            <a:off x="7348716" y="1974665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6386864" y="200574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6386864" y="275003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6386864" y="310129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6386864" y="399146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>
            <a:off x="6386864" y="5123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 стрелкой 58"/>
          <p:cNvCxnSpPr/>
          <p:nvPr/>
        </p:nvCxnSpPr>
        <p:spPr>
          <a:xfrm>
            <a:off x="6386864" y="56610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7342273" y="20016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7332441" y="19508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7343868" y="272295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7330904" y="266868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7348114" y="29947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7348114" y="2943943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7346132" y="487408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7355964" y="4823290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7346032" y="539341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7346032" y="53426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7342354" y="387925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7342354" y="38284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6686260" y="212731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6688662" y="246854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6690577" y="2290874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/>
          <p:cNvSpPr/>
          <p:nvPr/>
        </p:nvSpPr>
        <p:spPr>
          <a:xfrm>
            <a:off x="6686260" y="374310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6687919" y="348897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6693508" y="324934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Овал 77"/>
          <p:cNvSpPr/>
          <p:nvPr/>
        </p:nvSpPr>
        <p:spPr>
          <a:xfrm>
            <a:off x="6677968" y="5215147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6684796" y="550825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6686260" y="535259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7483284" y="23471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Овал 81"/>
          <p:cNvSpPr/>
          <p:nvPr/>
        </p:nvSpPr>
        <p:spPr>
          <a:xfrm>
            <a:off x="7484805" y="244828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Овал 82"/>
          <p:cNvSpPr/>
          <p:nvPr/>
        </p:nvSpPr>
        <p:spPr>
          <a:xfrm>
            <a:off x="7483284" y="25712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7483284" y="334457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Овал 84"/>
          <p:cNvSpPr/>
          <p:nvPr/>
        </p:nvSpPr>
        <p:spPr>
          <a:xfrm>
            <a:off x="7490532" y="34847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Овал 85"/>
          <p:cNvSpPr/>
          <p:nvPr/>
        </p:nvSpPr>
        <p:spPr>
          <a:xfrm>
            <a:off x="7456864" y="36479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Овал 86"/>
          <p:cNvSpPr/>
          <p:nvPr/>
        </p:nvSpPr>
        <p:spPr>
          <a:xfrm>
            <a:off x="7511114" y="517637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/>
          <p:cNvSpPr/>
          <p:nvPr/>
        </p:nvSpPr>
        <p:spPr>
          <a:xfrm>
            <a:off x="7475114" y="528981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7662220" y="52349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/>
          <p:cNvSpPr txBox="1"/>
          <p:nvPr/>
        </p:nvSpPr>
        <p:spPr>
          <a:xfrm>
            <a:off x="7139192" y="1384470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  <p:sp>
        <p:nvSpPr>
          <p:cNvPr id="91" name="Стрелка вправо 90"/>
          <p:cNvSpPr/>
          <p:nvPr/>
        </p:nvSpPr>
        <p:spPr>
          <a:xfrm>
            <a:off x="1796588" y="3198155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5" name="Группа 94"/>
          <p:cNvGrpSpPr/>
          <p:nvPr/>
        </p:nvGrpSpPr>
        <p:grpSpPr>
          <a:xfrm>
            <a:off x="1938992" y="3076750"/>
            <a:ext cx="720000" cy="720000"/>
            <a:chOff x="2231630" y="400301"/>
            <a:chExt cx="1069963" cy="1069963"/>
          </a:xfrm>
        </p:grpSpPr>
        <p:sp>
          <p:nvSpPr>
            <p:cNvPr id="96" name="Овал 95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97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8" name="Стрелка вправо 97"/>
          <p:cNvSpPr/>
          <p:nvPr/>
        </p:nvSpPr>
        <p:spPr>
          <a:xfrm>
            <a:off x="9196445" y="3191651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9" name="Группа 98"/>
          <p:cNvGrpSpPr/>
          <p:nvPr/>
        </p:nvGrpSpPr>
        <p:grpSpPr>
          <a:xfrm>
            <a:off x="9338849" y="3070246"/>
            <a:ext cx="720000" cy="720000"/>
            <a:chOff x="2231630" y="400301"/>
            <a:chExt cx="1069963" cy="1069963"/>
          </a:xfrm>
        </p:grpSpPr>
        <p:sp>
          <p:nvSpPr>
            <p:cNvPr id="100" name="Овал 99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1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2" name="Стрелка вправо 91"/>
          <p:cNvSpPr/>
          <p:nvPr/>
        </p:nvSpPr>
        <p:spPr>
          <a:xfrm>
            <a:off x="9146701" y="508872"/>
            <a:ext cx="2520000" cy="1080000"/>
          </a:xfrm>
          <a:prstGeom prst="rightArrow">
            <a:avLst/>
          </a:prstGeom>
          <a:solidFill>
            <a:schemeClr val="bg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err="1" smtClean="0">
                  <a:solidFill>
                    <a:schemeClr val="tx1"/>
                  </a:solidFill>
                </a:rPr>
                <a:t>StartInvertedIndexing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30.11.2025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1" y="1854991"/>
            <a:ext cx="509065" cy="72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218095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0" y="3096414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218095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49" y="5123567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2180950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282792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282792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282792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208469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208905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2079887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580556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580556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2568132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graphicFrame>
        <p:nvGraphicFramePr>
          <p:cNvPr id="92" name="Таблица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281754"/>
              </p:ext>
            </p:extLst>
          </p:nvPr>
        </p:nvGraphicFramePr>
        <p:xfrm>
          <a:off x="4882717" y="1888971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5000703" y="1597360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94" name="Таблица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930662"/>
              </p:ext>
            </p:extLst>
          </p:nvPr>
        </p:nvGraphicFramePr>
        <p:xfrm>
          <a:off x="4877804" y="3113089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995790" y="2821478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103" name="Таблица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643158"/>
              </p:ext>
            </p:extLst>
          </p:nvPr>
        </p:nvGraphicFramePr>
        <p:xfrm>
          <a:off x="4897467" y="5168037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015453" y="4876426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481496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Стрелка вправо 106"/>
          <p:cNvSpPr/>
          <p:nvPr/>
        </p:nvSpPr>
        <p:spPr>
          <a:xfrm>
            <a:off x="9584504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9" name="Скругленный прямоугольник 108"/>
          <p:cNvSpPr/>
          <p:nvPr/>
        </p:nvSpPr>
        <p:spPr>
          <a:xfrm>
            <a:off x="10373032" y="947773"/>
            <a:ext cx="1707883" cy="5344377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12" name="Прямоугольник 111"/>
          <p:cNvSpPr/>
          <p:nvPr/>
        </p:nvSpPr>
        <p:spPr>
          <a:xfrm>
            <a:off x="10947325" y="2230308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Прямоугольник 112"/>
          <p:cNvSpPr/>
          <p:nvPr/>
        </p:nvSpPr>
        <p:spPr>
          <a:xfrm>
            <a:off x="10940882" y="22572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10931050" y="22064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15" name="Прямоугольник 114"/>
          <p:cNvSpPr/>
          <p:nvPr/>
        </p:nvSpPr>
        <p:spPr>
          <a:xfrm>
            <a:off x="10942477" y="297859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TextBox 115"/>
          <p:cNvSpPr txBox="1"/>
          <p:nvPr/>
        </p:nvSpPr>
        <p:spPr>
          <a:xfrm>
            <a:off x="10929513" y="2924323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17" name="Прямоугольник 116"/>
          <p:cNvSpPr/>
          <p:nvPr/>
        </p:nvSpPr>
        <p:spPr>
          <a:xfrm>
            <a:off x="10946723" y="32503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8" name="TextBox 117"/>
          <p:cNvSpPr txBox="1"/>
          <p:nvPr/>
        </p:nvSpPr>
        <p:spPr>
          <a:xfrm>
            <a:off x="10946723" y="3199586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19" name="Прямоугольник 118"/>
          <p:cNvSpPr/>
          <p:nvPr/>
        </p:nvSpPr>
        <p:spPr>
          <a:xfrm>
            <a:off x="10944741" y="512973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TextBox 119"/>
          <p:cNvSpPr txBox="1"/>
          <p:nvPr/>
        </p:nvSpPr>
        <p:spPr>
          <a:xfrm>
            <a:off x="10954573" y="507893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21" name="Прямоугольник 120"/>
          <p:cNvSpPr/>
          <p:nvPr/>
        </p:nvSpPr>
        <p:spPr>
          <a:xfrm>
            <a:off x="10944641" y="5649056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TextBox 121"/>
          <p:cNvSpPr txBox="1"/>
          <p:nvPr/>
        </p:nvSpPr>
        <p:spPr>
          <a:xfrm>
            <a:off x="10944641" y="55982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23" name="Прямоугольник 122"/>
          <p:cNvSpPr/>
          <p:nvPr/>
        </p:nvSpPr>
        <p:spPr>
          <a:xfrm>
            <a:off x="10940963" y="413489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4" name="TextBox 123"/>
          <p:cNvSpPr txBox="1"/>
          <p:nvPr/>
        </p:nvSpPr>
        <p:spPr>
          <a:xfrm>
            <a:off x="10940963" y="408409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25" name="Овал 124"/>
          <p:cNvSpPr/>
          <p:nvPr/>
        </p:nvSpPr>
        <p:spPr>
          <a:xfrm>
            <a:off x="11081893" y="260279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6" name="Овал 125"/>
          <p:cNvSpPr/>
          <p:nvPr/>
        </p:nvSpPr>
        <p:spPr>
          <a:xfrm>
            <a:off x="11083414" y="270392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7" name="Овал 126"/>
          <p:cNvSpPr/>
          <p:nvPr/>
        </p:nvSpPr>
        <p:spPr>
          <a:xfrm>
            <a:off x="11081893" y="282692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8" name="Овал 127"/>
          <p:cNvSpPr/>
          <p:nvPr/>
        </p:nvSpPr>
        <p:spPr>
          <a:xfrm>
            <a:off x="11081893" y="360021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9" name="Овал 128"/>
          <p:cNvSpPr/>
          <p:nvPr/>
        </p:nvSpPr>
        <p:spPr>
          <a:xfrm>
            <a:off x="11089141" y="374037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Овал 129"/>
          <p:cNvSpPr/>
          <p:nvPr/>
        </p:nvSpPr>
        <p:spPr>
          <a:xfrm>
            <a:off x="11055473" y="390356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Овал 130"/>
          <p:cNvSpPr/>
          <p:nvPr/>
        </p:nvSpPr>
        <p:spPr>
          <a:xfrm>
            <a:off x="11109723" y="54320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Овал 131"/>
          <p:cNvSpPr/>
          <p:nvPr/>
        </p:nvSpPr>
        <p:spPr>
          <a:xfrm>
            <a:off x="11073723" y="554545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Овал 132"/>
          <p:cNvSpPr/>
          <p:nvPr/>
        </p:nvSpPr>
        <p:spPr>
          <a:xfrm>
            <a:off x="11260829" y="549058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/>
          <p:cNvSpPr txBox="1"/>
          <p:nvPr/>
        </p:nvSpPr>
        <p:spPr>
          <a:xfrm>
            <a:off x="10726079" y="1149215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35" name="Прямоугольник 134"/>
          <p:cNvSpPr/>
          <p:nvPr/>
        </p:nvSpPr>
        <p:spPr>
          <a:xfrm>
            <a:off x="279298" y="1964833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Прямоугольник 135"/>
          <p:cNvSpPr/>
          <p:nvPr/>
        </p:nvSpPr>
        <p:spPr>
          <a:xfrm>
            <a:off x="272855" y="19918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7" name="TextBox 136"/>
          <p:cNvSpPr txBox="1"/>
          <p:nvPr/>
        </p:nvSpPr>
        <p:spPr>
          <a:xfrm>
            <a:off x="263023" y="19410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38" name="Прямоугольник 137"/>
          <p:cNvSpPr/>
          <p:nvPr/>
        </p:nvSpPr>
        <p:spPr>
          <a:xfrm>
            <a:off x="274450" y="271312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9" name="TextBox 138"/>
          <p:cNvSpPr txBox="1"/>
          <p:nvPr/>
        </p:nvSpPr>
        <p:spPr>
          <a:xfrm>
            <a:off x="261486" y="265884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40" name="Прямоугольник 139"/>
          <p:cNvSpPr/>
          <p:nvPr/>
        </p:nvSpPr>
        <p:spPr>
          <a:xfrm>
            <a:off x="278696" y="29849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278696" y="2934111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42" name="Прямоугольник 141"/>
          <p:cNvSpPr/>
          <p:nvPr/>
        </p:nvSpPr>
        <p:spPr>
          <a:xfrm>
            <a:off x="276714" y="4864257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286546" y="4813458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44" name="Прямоугольник 143"/>
          <p:cNvSpPr/>
          <p:nvPr/>
        </p:nvSpPr>
        <p:spPr>
          <a:xfrm>
            <a:off x="276614" y="538358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5" name="TextBox 144"/>
          <p:cNvSpPr txBox="1"/>
          <p:nvPr/>
        </p:nvSpPr>
        <p:spPr>
          <a:xfrm>
            <a:off x="276614" y="533278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46" name="Прямоугольник 145"/>
          <p:cNvSpPr/>
          <p:nvPr/>
        </p:nvSpPr>
        <p:spPr>
          <a:xfrm>
            <a:off x="272936" y="386942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7" name="TextBox 146"/>
          <p:cNvSpPr txBox="1"/>
          <p:nvPr/>
        </p:nvSpPr>
        <p:spPr>
          <a:xfrm>
            <a:off x="272936" y="381862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48" name="Овал 147"/>
          <p:cNvSpPr/>
          <p:nvPr/>
        </p:nvSpPr>
        <p:spPr>
          <a:xfrm>
            <a:off x="413866" y="233732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Овал 148"/>
          <p:cNvSpPr/>
          <p:nvPr/>
        </p:nvSpPr>
        <p:spPr>
          <a:xfrm>
            <a:off x="415387" y="243845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0" name="Овал 149"/>
          <p:cNvSpPr/>
          <p:nvPr/>
        </p:nvSpPr>
        <p:spPr>
          <a:xfrm>
            <a:off x="413866" y="256144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1" name="Овал 150"/>
          <p:cNvSpPr/>
          <p:nvPr/>
        </p:nvSpPr>
        <p:spPr>
          <a:xfrm>
            <a:off x="413866" y="333474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2" name="Овал 151"/>
          <p:cNvSpPr/>
          <p:nvPr/>
        </p:nvSpPr>
        <p:spPr>
          <a:xfrm>
            <a:off x="421114" y="347489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3" name="Овал 152"/>
          <p:cNvSpPr/>
          <p:nvPr/>
        </p:nvSpPr>
        <p:spPr>
          <a:xfrm>
            <a:off x="387446" y="363809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4" name="Овал 153"/>
          <p:cNvSpPr/>
          <p:nvPr/>
        </p:nvSpPr>
        <p:spPr>
          <a:xfrm>
            <a:off x="441696" y="516654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5" name="Овал 154"/>
          <p:cNvSpPr/>
          <p:nvPr/>
        </p:nvSpPr>
        <p:spPr>
          <a:xfrm>
            <a:off x="405696" y="527998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6" name="Овал 155"/>
          <p:cNvSpPr/>
          <p:nvPr/>
        </p:nvSpPr>
        <p:spPr>
          <a:xfrm>
            <a:off x="592802" y="522510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7" name="TextBox 156"/>
          <p:cNvSpPr txBox="1"/>
          <p:nvPr/>
        </p:nvSpPr>
        <p:spPr>
          <a:xfrm>
            <a:off x="69774" y="1374638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smtClean="0">
                  <a:solidFill>
                    <a:schemeClr val="tx1"/>
                  </a:solidFill>
                </a:rPr>
                <a:t>mergeInvertedIndexBases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5" name="Стрелка вправо 24"/>
          <p:cNvSpPr/>
          <p:nvPr/>
        </p:nvSpPr>
        <p:spPr>
          <a:xfrm>
            <a:off x="391143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трелка вправо 26"/>
          <p:cNvSpPr/>
          <p:nvPr/>
        </p:nvSpPr>
        <p:spPr>
          <a:xfrm>
            <a:off x="3939399" y="494353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30.11.2025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1" name="Стрелка вправо 20"/>
          <p:cNvSpPr/>
          <p:nvPr/>
        </p:nvSpPr>
        <p:spPr>
          <a:xfrm>
            <a:off x="391143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55840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55840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55840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81517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81953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10367" y="4864516"/>
            <a:ext cx="1525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41232" y="2001552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60548" y="3256143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b+1]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750624" y="5314430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1171578" y="7987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357" y="1865107"/>
            <a:ext cx="503826" cy="712591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912" y="3100118"/>
            <a:ext cx="503826" cy="712591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3432" y="5122836"/>
            <a:ext cx="503826" cy="712591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628" y="1424432"/>
            <a:ext cx="993543" cy="1405227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56" y="2702791"/>
            <a:ext cx="993543" cy="1405227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0112" y="4740480"/>
            <a:ext cx="993543" cy="1405227"/>
          </a:xfrm>
          <a:prstGeom prst="rect">
            <a:avLst/>
          </a:prstGeom>
        </p:spPr>
      </p:pic>
      <p:sp>
        <p:nvSpPr>
          <p:cNvPr id="48" name="Прямоугольник 47"/>
          <p:cNvSpPr/>
          <p:nvPr/>
        </p:nvSpPr>
        <p:spPr>
          <a:xfrm>
            <a:off x="2511221" y="1984501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 48"/>
          <p:cNvSpPr/>
          <p:nvPr/>
        </p:nvSpPr>
        <p:spPr>
          <a:xfrm>
            <a:off x="2504778" y="20114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TextBox 49"/>
          <p:cNvSpPr txBox="1"/>
          <p:nvPr/>
        </p:nvSpPr>
        <p:spPr>
          <a:xfrm>
            <a:off x="2494946" y="19606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51" name="Прямоугольник 50"/>
          <p:cNvSpPr/>
          <p:nvPr/>
        </p:nvSpPr>
        <p:spPr>
          <a:xfrm>
            <a:off x="2506373" y="273278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493409" y="267851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2510619" y="30045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2510619" y="2953779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2508637" y="488392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2518469" y="483312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2508537" y="540324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2508537" y="535245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2504859" y="388909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2504859" y="383829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61" name="Овал 60"/>
          <p:cNvSpPr/>
          <p:nvPr/>
        </p:nvSpPr>
        <p:spPr>
          <a:xfrm>
            <a:off x="2645789" y="235698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2647310" y="245812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Овал 62"/>
          <p:cNvSpPr/>
          <p:nvPr/>
        </p:nvSpPr>
        <p:spPr>
          <a:xfrm>
            <a:off x="2645789" y="258111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2645789" y="335441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/>
          <p:cNvSpPr/>
          <p:nvPr/>
        </p:nvSpPr>
        <p:spPr>
          <a:xfrm>
            <a:off x="2653037" y="34945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/>
          <p:cNvSpPr/>
          <p:nvPr/>
        </p:nvSpPr>
        <p:spPr>
          <a:xfrm>
            <a:off x="2619369" y="365775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/>
          <p:cNvSpPr/>
          <p:nvPr/>
        </p:nvSpPr>
        <p:spPr>
          <a:xfrm>
            <a:off x="2673619" y="518621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2637619" y="52996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2824725" y="524477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2289975" y="903408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281499" y="211389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Прямая со стрелкой 71"/>
          <p:cNvCxnSpPr/>
          <p:nvPr/>
        </p:nvCxnSpPr>
        <p:spPr>
          <a:xfrm>
            <a:off x="3281499" y="22792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281499" y="245812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281499" y="332311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281499" y="3494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>
            <a:off x="3281499" y="365775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>
            <a:off x="3278959" y="531308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>
            <a:off x="3269126" y="548636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>
            <a:off x="3269126" y="5661056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359" y="1870697"/>
            <a:ext cx="503826" cy="712591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89" y="3100118"/>
            <a:ext cx="503826" cy="712591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818" y="5127499"/>
            <a:ext cx="503826" cy="712591"/>
          </a:xfrm>
          <a:prstGeom prst="rect">
            <a:avLst/>
          </a:prstGeom>
        </p:spPr>
      </p:pic>
      <p:sp>
        <p:nvSpPr>
          <p:cNvPr id="83" name="Овал 82"/>
          <p:cNvSpPr/>
          <p:nvPr/>
        </p:nvSpPr>
        <p:spPr>
          <a:xfrm>
            <a:off x="4314122" y="229475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62466" y="228498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Прямоугольник 84"/>
          <p:cNvSpPr/>
          <p:nvPr/>
        </p:nvSpPr>
        <p:spPr>
          <a:xfrm>
            <a:off x="8130374" y="2274586"/>
            <a:ext cx="914400" cy="233226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Прямоугольник 85"/>
          <p:cNvSpPr/>
          <p:nvPr/>
        </p:nvSpPr>
        <p:spPr>
          <a:xfrm>
            <a:off x="8123931" y="269482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TextBox 86"/>
          <p:cNvSpPr txBox="1"/>
          <p:nvPr/>
        </p:nvSpPr>
        <p:spPr>
          <a:xfrm>
            <a:off x="8123620" y="22588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90" name="Прямоугольник 89"/>
          <p:cNvSpPr/>
          <p:nvPr/>
        </p:nvSpPr>
        <p:spPr>
          <a:xfrm>
            <a:off x="8117933" y="434777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/>
          <p:cNvSpPr txBox="1"/>
          <p:nvPr/>
        </p:nvSpPr>
        <p:spPr>
          <a:xfrm>
            <a:off x="8099455" y="428153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96" name="TextBox 95"/>
          <p:cNvSpPr txBox="1"/>
          <p:nvPr/>
        </p:nvSpPr>
        <p:spPr>
          <a:xfrm>
            <a:off x="7980305" y="47987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98" name="TextBox 97"/>
          <p:cNvSpPr txBox="1"/>
          <p:nvPr/>
        </p:nvSpPr>
        <p:spPr>
          <a:xfrm>
            <a:off x="7970373" y="531803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01" name="Овал 100"/>
          <p:cNvSpPr/>
          <p:nvPr/>
        </p:nvSpPr>
        <p:spPr>
          <a:xfrm>
            <a:off x="8264942" y="30403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Овал 107"/>
          <p:cNvSpPr/>
          <p:nvPr/>
        </p:nvSpPr>
        <p:spPr>
          <a:xfrm>
            <a:off x="8266463" y="314146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0" name="Овал 109"/>
          <p:cNvSpPr/>
          <p:nvPr/>
        </p:nvSpPr>
        <p:spPr>
          <a:xfrm>
            <a:off x="8264942" y="326446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1" name="Овал 110"/>
          <p:cNvSpPr/>
          <p:nvPr/>
        </p:nvSpPr>
        <p:spPr>
          <a:xfrm>
            <a:off x="8264942" y="403775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Овал 113"/>
          <p:cNvSpPr/>
          <p:nvPr/>
        </p:nvSpPr>
        <p:spPr>
          <a:xfrm>
            <a:off x="8135455" y="515180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Овал 114"/>
          <p:cNvSpPr/>
          <p:nvPr/>
        </p:nvSpPr>
        <p:spPr>
          <a:xfrm>
            <a:off x="8099455" y="52652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Овал 115"/>
          <p:cNvSpPr/>
          <p:nvPr/>
        </p:nvSpPr>
        <p:spPr>
          <a:xfrm>
            <a:off x="8286561" y="521036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TextBox 116"/>
          <p:cNvSpPr txBox="1"/>
          <p:nvPr/>
        </p:nvSpPr>
        <p:spPr>
          <a:xfrm>
            <a:off x="7917259" y="1056306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20" name="Стрелка вправо 119"/>
          <p:cNvSpPr/>
          <p:nvPr/>
        </p:nvSpPr>
        <p:spPr>
          <a:xfrm rot="18848678">
            <a:off x="7167363" y="3010028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Стрелка вправо 120"/>
          <p:cNvSpPr/>
          <p:nvPr/>
        </p:nvSpPr>
        <p:spPr>
          <a:xfrm rot="18411802">
            <a:off x="7052722" y="4930056"/>
            <a:ext cx="1368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Стрелка вправо 121"/>
          <p:cNvSpPr/>
          <p:nvPr/>
        </p:nvSpPr>
        <p:spPr>
          <a:xfrm rot="2131435">
            <a:off x="7162281" y="2138469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3" name="TextBox 122"/>
          <p:cNvSpPr txBox="1"/>
          <p:nvPr/>
        </p:nvSpPr>
        <p:spPr>
          <a:xfrm>
            <a:off x="8130185" y="26377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5824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574850" y="317963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494500" y="319840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598111" y="805442"/>
            <a:ext cx="4848574" cy="2615006"/>
          </a:xfrm>
          <a:prstGeom prst="bentConnector3">
            <a:avLst>
              <a:gd name="adj1" fmla="val 9037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024088" y="805440"/>
            <a:ext cx="5195673" cy="2633369"/>
          </a:xfrm>
          <a:prstGeom prst="bentConnector3">
            <a:avLst>
              <a:gd name="adj1" fmla="val 99975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814" y="1662478"/>
            <a:ext cx="2253552" cy="31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30.11.2025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Процессы</a:t>
            </a:r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268730"/>
            <a:ext cx="0" cy="4935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266519"/>
            <a:ext cx="7621" cy="4937349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26651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268730"/>
            <a:ext cx="1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268730"/>
            <a:ext cx="0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272540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142477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772777" y="1276351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283287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/>
          <p:nvPr/>
        </p:nvGrpSpPr>
        <p:grpSpPr>
          <a:xfrm>
            <a:off x="3977974" y="4130531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MonitorSender</a:t>
                </a: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8437646" y="4130531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MonitorReceiver</a:t>
                </a:r>
                <a:endParaRPr lang="en-US" sz="11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1616960"/>
            <a:ext cx="1800000" cy="180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Вывод сообщения на консоль</a:t>
              </a:r>
            </a:p>
          </p:txBody>
        </p:sp>
      </p:grpSp>
      <p:grpSp>
        <p:nvGrpSpPr>
          <p:cNvPr id="54" name="Группа 53"/>
          <p:cNvGrpSpPr/>
          <p:nvPr/>
        </p:nvGrpSpPr>
        <p:grpSpPr>
          <a:xfrm>
            <a:off x="3289362" y="2011432"/>
            <a:ext cx="1800000" cy="180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011432"/>
            <a:ext cx="1267113" cy="1997692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Записать сообщение уровня debug 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3673" y="3848600"/>
            <a:ext cx="973401" cy="1376738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711681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1706767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35231" y="1680882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1685372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470392" y="3948334"/>
            <a:ext cx="2267430" cy="1245248"/>
          </a:xfrm>
          <a:prstGeom prst="bentConnector4">
            <a:avLst>
              <a:gd name="adj1" fmla="val 23338"/>
              <a:gd name="adj2" fmla="val 149152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8635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904548" y="3191102"/>
            <a:ext cx="371402" cy="963893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8057" y="3191102"/>
            <a:ext cx="1129589" cy="2513571"/>
          </a:xfrm>
          <a:prstGeom prst="bentConnector5">
            <a:avLst>
              <a:gd name="adj1" fmla="val -20237"/>
              <a:gd name="adj2" fmla="val 75035"/>
              <a:gd name="adj3" fmla="val 15940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677270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682184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671184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641129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317" y="4795932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 flipH="1">
            <a:off x="1105317" y="3441214"/>
            <a:ext cx="744420" cy="1800082"/>
          </a:xfrm>
          <a:prstGeom prst="bentConnector5">
            <a:avLst>
              <a:gd name="adj1" fmla="val -30708"/>
              <a:gd name="adj2" fmla="val 53404"/>
              <a:gd name="adj3" fmla="val 16504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1735093" y="3454649"/>
            <a:ext cx="1557778" cy="1786647"/>
          </a:xfrm>
          <a:prstGeom prst="bentConnector3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770617" y="5568244"/>
            <a:ext cx="15520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Контейнер сообщений</a:t>
            </a:r>
            <a:endParaRPr lang="ru-RU" sz="11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878" y="1886974"/>
            <a:ext cx="732558" cy="1036099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>
            <a:endCxn id="133" idx="2"/>
          </p:cNvCxnSpPr>
          <p:nvPr/>
        </p:nvCxnSpPr>
        <p:spPr>
          <a:xfrm flipV="1">
            <a:off x="5099195" y="2923073"/>
            <a:ext cx="548962" cy="531576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677411"/>
            <a:ext cx="1418509" cy="2006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76684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290389295"/>
              </p:ext>
            </p:extLst>
          </p:nvPr>
        </p:nvGraphicFramePr>
        <p:xfrm>
          <a:off x="1096963" y="1846263"/>
          <a:ext cx="4938712" cy="3049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593486488"/>
              </p:ext>
            </p:extLst>
          </p:nvPr>
        </p:nvGraphicFramePr>
        <p:xfrm>
          <a:off x="6218238" y="1846264"/>
          <a:ext cx="4937125" cy="2875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30.11.2025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30.11.2025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216395055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876" y="2374677"/>
            <a:ext cx="936594" cy="662204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9542" y="2846389"/>
            <a:ext cx="1048549" cy="74136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2884" y="3057282"/>
            <a:ext cx="634067" cy="896797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5809" y="3310985"/>
            <a:ext cx="634067" cy="896797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8" y="2256685"/>
            <a:ext cx="815715" cy="57673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965" y="2738718"/>
            <a:ext cx="976306" cy="69028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371" y="5287093"/>
            <a:ext cx="722720" cy="51098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6684" y="5392897"/>
            <a:ext cx="636421" cy="449972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599" y="502982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2350" y="4482354"/>
            <a:ext cx="479615" cy="6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5373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30.11.2025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694041457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" y="4823012"/>
            <a:ext cx="63380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Для вывода сообщений на консоль используется библиотека очереди сообщений </a:t>
            </a:r>
            <a:r>
              <a:rPr lang="ru-RU" dirty="0" smtClean="0">
                <a:hlinkClick r:id="rId7"/>
              </a:rPr>
              <a:t>boost/</a:t>
            </a:r>
            <a:r>
              <a:rPr lang="ru-RU" dirty="0" err="1" smtClean="0">
                <a:hlinkClick r:id="rId7"/>
              </a:rPr>
              <a:t>interprocess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ipc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message_queue</a:t>
            </a:r>
            <a:r>
              <a:rPr lang="ru-RU" dirty="0" smtClean="0"/>
              <a:t> для </a:t>
            </a:r>
            <a:r>
              <a:rPr lang="ru-RU" dirty="0"/>
              <a:t>межпроцессного обмена </a:t>
            </a:r>
            <a:r>
              <a:rPr lang="ru-RU" dirty="0" smtClean="0"/>
              <a:t>данными</a:t>
            </a:r>
            <a:r>
              <a:rPr lang="en-US" dirty="0" smtClean="0"/>
              <a:t>.</a:t>
            </a:r>
            <a:r>
              <a:rPr lang="ru-RU" dirty="0" smtClean="0"/>
              <a:t> Для этого используется вспомогательный класс </a:t>
            </a:r>
            <a:r>
              <a:rPr lang="en-US" b="1" dirty="0"/>
              <a:t>kav::</a:t>
            </a:r>
            <a:r>
              <a:rPr lang="en-US" b="1" dirty="0" smtClean="0"/>
              <a:t>MonitorSender</a:t>
            </a:r>
            <a:r>
              <a:rPr lang="ru-RU" b="1" dirty="0" smtClean="0"/>
              <a:t>.</a:t>
            </a:r>
            <a:endParaRPr lang="en-US" b="1" dirty="0"/>
          </a:p>
          <a:p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3415" y="3658628"/>
            <a:ext cx="436621" cy="61753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477" y="3928461"/>
            <a:ext cx="519745" cy="73510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932" y="2823814"/>
            <a:ext cx="457089" cy="64648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644" y="3204883"/>
            <a:ext cx="475377" cy="672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03" y="1910582"/>
            <a:ext cx="3204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40000"/>
                    <a:lumOff val="6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0000"/>
                </a:solidFill>
              </a:rPr>
              <a:t>error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C00000"/>
                </a:solidFill>
              </a:rPr>
              <a:t>fatal</a:t>
            </a:r>
            <a:endParaRPr lang="ru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30.11.2025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1097280" y="286603"/>
            <a:ext cx="10058400" cy="73537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Класс </a:t>
            </a:r>
            <a:r>
              <a:rPr lang="en-US" dirty="0" smtClean="0"/>
              <a:t>DispatcherOperations</a:t>
            </a:r>
            <a:endParaRPr lang="ru-RU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3022275" y="1951728"/>
            <a:ext cx="8097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4462" y="1704692"/>
            <a:ext cx="608483" cy="86061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607" y="1755078"/>
            <a:ext cx="667339" cy="943856"/>
          </a:xfrm>
          <a:prstGeom prst="rect">
            <a:avLst/>
          </a:prstGeom>
        </p:spPr>
      </p:pic>
      <p:sp>
        <p:nvSpPr>
          <p:cNvPr id="11" name="Стрелка вправо 10"/>
          <p:cNvSpPr/>
          <p:nvPr/>
        </p:nvSpPr>
        <p:spPr>
          <a:xfrm>
            <a:off x="6923852" y="192220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551840"/>
              </p:ext>
            </p:extLst>
          </p:nvPr>
        </p:nvGraphicFramePr>
        <p:xfrm>
          <a:off x="2407359" y="4345671"/>
          <a:ext cx="3359310" cy="1540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</a:t>
                      </a:r>
                      <a:r>
                        <a:rPr lang="ru-RU" dirty="0" err="1" smtClean="0"/>
                        <a:t>логирования</a:t>
                      </a:r>
                      <a:endParaRPr lang="ru-RU" dirty="0"/>
                    </a:p>
                  </a:txBody>
                  <a:tcPr/>
                </a:tc>
              </a:tr>
              <a:tr h="313711">
                <a:tc>
                  <a:txBody>
                    <a:bodyPr/>
                    <a:lstStyle/>
                    <a:p>
                      <a:r>
                        <a:rPr lang="en-US" sz="11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SearchEngine::</a:t>
                      </a:r>
                      <a:endParaRPr lang="ru-RU" sz="1100" b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100" b="1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readDocsFromFiles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ErrorLevel</a:t>
                      </a:r>
                      <a:r>
                        <a:rPr lang="en-US" sz="1100" dirty="0" smtClean="0"/>
                        <a:t>::</a:t>
                      </a:r>
                      <a:r>
                        <a:rPr lang="en-US" sz="1100" b="1" i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fatal</a:t>
                      </a:r>
                      <a:endParaRPr lang="ru-RU" sz="1100" dirty="0"/>
                    </a:p>
                  </a:txBody>
                  <a:tcPr/>
                </a:tc>
              </a:tr>
              <a:tr h="313711">
                <a:tc>
                  <a:txBody>
                    <a:bodyPr/>
                    <a:lstStyle/>
                    <a:p>
                      <a:r>
                        <a:rPr lang="en-US" sz="11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ConverterJSON::</a:t>
                      </a:r>
                      <a:endParaRPr lang="ru-RU" sz="1100" b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100" b="1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checkFilePath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ErrorLevel</a:t>
                      </a:r>
                      <a:r>
                        <a:rPr lang="en-US" sz="1100" dirty="0" smtClean="0"/>
                        <a:t>::</a:t>
                      </a:r>
                      <a:r>
                        <a:rPr lang="en-US" sz="1100" b="1" i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</a:t>
                      </a:r>
                      <a:endParaRPr lang="ru-RU" sz="11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2" name="Стрелка вправо 21"/>
          <p:cNvSpPr/>
          <p:nvPr/>
        </p:nvSpPr>
        <p:spPr>
          <a:xfrm>
            <a:off x="1097280" y="482920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7914209" y="2458404"/>
            <a:ext cx="198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Ошибка операции</a:t>
            </a:r>
            <a:endParaRPr lang="ru-RU" dirty="0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459" y="533225"/>
            <a:ext cx="2212828" cy="3129730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1544" y="1244366"/>
            <a:ext cx="1176748" cy="166434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32459" y="2957129"/>
            <a:ext cx="2324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Операции с файлами </a:t>
            </a:r>
          </a:p>
          <a:p>
            <a:r>
              <a:rPr lang="ru-RU" dirty="0" smtClean="0"/>
              <a:t>и документами</a:t>
            </a:r>
            <a:endParaRPr lang="ru-RU" dirty="0"/>
          </a:p>
        </p:txBody>
      </p:sp>
      <p:sp>
        <p:nvSpPr>
          <p:cNvPr id="35" name="Стрелка вправо 34"/>
          <p:cNvSpPr/>
          <p:nvPr/>
        </p:nvSpPr>
        <p:spPr>
          <a:xfrm>
            <a:off x="10556470" y="173627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Стрелка вправо 35"/>
          <p:cNvSpPr/>
          <p:nvPr/>
        </p:nvSpPr>
        <p:spPr>
          <a:xfrm>
            <a:off x="6698604" y="47716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738892" y="2513984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3" name="TextBox 42"/>
          <p:cNvSpPr txBox="1"/>
          <p:nvPr/>
        </p:nvSpPr>
        <p:spPr>
          <a:xfrm>
            <a:off x="6398857" y="2473217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4" name="TextBox 43"/>
          <p:cNvSpPr txBox="1"/>
          <p:nvPr/>
        </p:nvSpPr>
        <p:spPr>
          <a:xfrm>
            <a:off x="10064481" y="2337520"/>
            <a:ext cx="15089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5" name="TextBox 44"/>
          <p:cNvSpPr txBox="1"/>
          <p:nvPr/>
        </p:nvSpPr>
        <p:spPr>
          <a:xfrm flipH="1">
            <a:off x="582799" y="5403389"/>
            <a:ext cx="15539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6" name="TextBox 45"/>
          <p:cNvSpPr txBox="1"/>
          <p:nvPr/>
        </p:nvSpPr>
        <p:spPr>
          <a:xfrm>
            <a:off x="6233187" y="5439751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4292779"/>
            <a:ext cx="910254" cy="1287425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214" y="5060146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051496" y="5977464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</a:t>
            </a:r>
            <a:r>
              <a:rPr lang="ru-RU" sz="1100" dirty="0" err="1" smtClean="0"/>
              <a:t>логирования</a:t>
            </a:r>
            <a:endParaRPr lang="ru-RU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2550539" y="2746097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7" name="TextBox 26"/>
          <p:cNvSpPr txBox="1"/>
          <p:nvPr/>
        </p:nvSpPr>
        <p:spPr>
          <a:xfrm>
            <a:off x="6186813" y="2683770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8" name="TextBox 27"/>
          <p:cNvSpPr txBox="1"/>
          <p:nvPr/>
        </p:nvSpPr>
        <p:spPr>
          <a:xfrm>
            <a:off x="9909562" y="2592407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9" name="TextBox 28"/>
          <p:cNvSpPr txBox="1"/>
          <p:nvPr/>
        </p:nvSpPr>
        <p:spPr>
          <a:xfrm>
            <a:off x="341547" y="5628543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30" name="TextBox 29"/>
          <p:cNvSpPr txBox="1"/>
          <p:nvPr/>
        </p:nvSpPr>
        <p:spPr>
          <a:xfrm>
            <a:off x="6069652" y="5621975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10268</TotalTime>
  <Words>949</Words>
  <Application>Microsoft Office PowerPoint</Application>
  <PresentationFormat>Широкоэкранный</PresentationFormat>
  <Paragraphs>350</Paragraphs>
  <Slides>24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27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Чтение и запись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Презентация PowerPoint</vt:lpstr>
      <vt:lpstr>Презентация PowerPoint</vt:lpstr>
      <vt:lpstr>Библиотека kav_check</vt:lpstr>
      <vt:lpstr>Библиотека kav_logger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279</cp:revision>
  <dcterms:created xsi:type="dcterms:W3CDTF">2025-10-14T05:54:15Z</dcterms:created>
  <dcterms:modified xsi:type="dcterms:W3CDTF">2025-11-30T16:47:31Z</dcterms:modified>
</cp:coreProperties>
</file>
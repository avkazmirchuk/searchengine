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28"/>
  </p:notesMasterIdLst>
  <p:sldIdLst>
    <p:sldId id="275" r:id="rId2"/>
    <p:sldId id="284" r:id="rId3"/>
    <p:sldId id="286" r:id="rId4"/>
    <p:sldId id="260" r:id="rId5"/>
    <p:sldId id="282" r:id="rId6"/>
    <p:sldId id="264" r:id="rId7"/>
    <p:sldId id="266" r:id="rId8"/>
    <p:sldId id="268" r:id="rId9"/>
    <p:sldId id="279" r:id="rId10"/>
    <p:sldId id="280" r:id="rId11"/>
    <p:sldId id="281" r:id="rId12"/>
    <p:sldId id="283" r:id="rId13"/>
    <p:sldId id="259" r:id="rId14"/>
    <p:sldId id="271" r:id="rId15"/>
    <p:sldId id="272" r:id="rId16"/>
    <p:sldId id="269" r:id="rId17"/>
    <p:sldId id="285" r:id="rId18"/>
    <p:sldId id="287" r:id="rId19"/>
    <p:sldId id="257" r:id="rId20"/>
    <p:sldId id="289" r:id="rId21"/>
    <p:sldId id="278" r:id="rId22"/>
    <p:sldId id="258" r:id="rId23"/>
    <p:sldId id="276" r:id="rId24"/>
    <p:sldId id="277" r:id="rId25"/>
    <p:sldId id="288" r:id="rId26"/>
    <p:sldId id="263" r:id="rId2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4294" userDrawn="1">
          <p15:clr>
            <a:srgbClr val="A4A3A4"/>
          </p15:clr>
        </p15:guide>
        <p15:guide id="3" pos="3863" userDrawn="1">
          <p15:clr>
            <a:srgbClr val="A4A3A4"/>
          </p15:clr>
        </p15:guide>
        <p15:guide id="4" orient="horz" pos="1706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1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72" autoAdjust="0"/>
    <p:restoredTop sz="96400" autoAdjust="0"/>
  </p:normalViewPr>
  <p:slideViewPr>
    <p:cSldViewPr snapToGrid="0">
      <p:cViewPr varScale="1">
        <p:scale>
          <a:sx n="97" d="100"/>
          <a:sy n="97" d="100"/>
        </p:scale>
        <p:origin x="78" y="264"/>
      </p:cViewPr>
      <p:guideLst>
        <p:guide orient="horz" pos="2183"/>
        <p:guide pos="4294"/>
        <p:guide pos="3863"/>
        <p:guide orient="horz" pos="170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baseline="0" dirty="0" smtClean="0"/>
              <a:t>чтение текстовых файлов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1.284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0.318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82624712"/>
        <c:axId val="482625104"/>
      </c:barChart>
      <c:catAx>
        <c:axId val="4826247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2625104"/>
        <c:crosses val="autoZero"/>
        <c:auto val="1"/>
        <c:lblAlgn val="ctr"/>
        <c:lblOffset val="100"/>
        <c:noMultiLvlLbl val="0"/>
      </c:catAx>
      <c:valAx>
        <c:axId val="48262510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26247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формирование базы инвертированного индекса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11.843999999999999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2.6040000000000001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82625888"/>
        <c:axId val="482626672"/>
      </c:barChart>
      <c:catAx>
        <c:axId val="4826258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2626672"/>
        <c:crosses val="autoZero"/>
        <c:auto val="1"/>
        <c:lblAlgn val="ctr"/>
        <c:lblOffset val="100"/>
        <c:noMultiLvlLbl val="0"/>
      </c:catAx>
      <c:valAx>
        <c:axId val="4826266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262588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1" dirty="0" smtClean="0"/>
            <a:t>Search</a:t>
          </a:r>
        </a:p>
        <a:p>
          <a:r>
            <a:rPr lang="en-US" sz="3200" b="1" dirty="0" smtClean="0"/>
            <a:t>Engine</a:t>
          </a:r>
          <a:endParaRPr lang="ru-RU" sz="3200" b="1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2000" b="1" dirty="0" smtClean="0"/>
            <a:t>Converter</a:t>
          </a:r>
        </a:p>
        <a:p>
          <a:r>
            <a:rPr lang="en-US" sz="2000" b="1" dirty="0" smtClean="0"/>
            <a:t>JSON </a:t>
          </a:r>
          <a:endParaRPr lang="ru-RU" sz="2000" b="1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2000" b="1" dirty="0" smtClean="0"/>
            <a:t>Documents </a:t>
          </a:r>
          <a:endParaRPr lang="ru-RU" sz="2000" b="1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2000" b="1" dirty="0" smtClean="0"/>
            <a:t>Requests </a:t>
          </a:r>
          <a:endParaRPr lang="ru-RU" sz="2000" b="1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2000" b="1" dirty="0" smtClean="0"/>
            <a:t>InvertedIndex </a:t>
          </a:r>
          <a:endParaRPr lang="ru-RU" sz="2000" b="1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2000" b="1" dirty="0" smtClean="0"/>
            <a:t>Relevant</a:t>
          </a:r>
        </a:p>
        <a:p>
          <a:r>
            <a:rPr lang="en-US" sz="2000" b="1" dirty="0" smtClean="0"/>
            <a:t>Response </a:t>
          </a:r>
          <a:endParaRPr lang="ru-RU" sz="2000" b="1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2000" b="1" dirty="0" smtClean="0"/>
            <a:t>Dispatcher</a:t>
          </a:r>
        </a:p>
        <a:p>
          <a:r>
            <a:rPr lang="en-US" sz="2000" b="1" dirty="0" smtClean="0"/>
            <a:t>Operations</a:t>
          </a:r>
          <a:endParaRPr lang="ru-RU" sz="2000" b="1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744" custRadScaleInc="15343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0641" custRadScaleInc="-38988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2855" custRadScaleInc="449981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solidFill>
        <a:scrgbClr r="0" g="0" b="0"/>
      </a:solidFill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287E3C62-6D68-4A76-BB1D-B6CBB21BB9EE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C1ED5144-FB7A-46E2-ACE4-1DEF8C16F339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/>
      <dgm:spPr/>
      <dgm:t>
        <a:bodyPr/>
        <a:lstStyle/>
        <a:p>
          <a:r>
            <a:rPr lang="ru-RU" dirty="0" smtClean="0"/>
            <a:t>Проверка при работе с файлами</a:t>
          </a:r>
          <a:endParaRPr lang="ru-RU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F0E2124C-8CCA-471D-943A-B8A9321110B7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целостность</a:t>
          </a:r>
          <a:endParaRPr lang="ru-RU" dirty="0"/>
        </a:p>
      </dgm:t>
    </dgm:pt>
    <dgm:pt modelId="{D19A251A-1BA9-4500-9FB7-8EEA4BC32A72}" type="parTrans" cxnId="{23BCE721-A79D-4BBF-8558-5F1141562632}">
      <dgm:prSet/>
      <dgm:spPr/>
      <dgm:t>
        <a:bodyPr/>
        <a:lstStyle/>
        <a:p>
          <a:endParaRPr lang="ru-RU"/>
        </a:p>
      </dgm:t>
    </dgm:pt>
    <dgm:pt modelId="{0EB1B89D-68F3-4204-9BA3-DFD1C3A4526A}" type="sibTrans" cxnId="{23BCE721-A79D-4BBF-8558-5F114156263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3BCE721-A79D-4BBF-8558-5F1141562632}" srcId="{2E623F1E-8BE3-4C3D-8265-19EDBBBD0197}" destId="{F0E2124C-8CCA-471D-943A-B8A9321110B7}" srcOrd="3" destOrd="0" parTransId="{D19A251A-1BA9-4500-9FB7-8EEA4BC32A72}" sibTransId="{0EB1B89D-68F3-4204-9BA3-DFD1C3A4526A}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4D98B2F0-948C-433F-8FFC-AAC710408A78}" type="presOf" srcId="{F0E2124C-8CCA-471D-943A-B8A9321110B7}" destId="{625A264F-F3DF-4EEC-8B66-102C93BB9818}" srcOrd="0" destOrd="3" presId="urn:microsoft.com/office/officeart/2005/8/layout/vList2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/>
      <dgm:spPr/>
      <dgm:t>
        <a:bodyPr/>
        <a:lstStyle/>
        <a:p>
          <a:r>
            <a:rPr lang="ru-RU" dirty="0" smtClean="0"/>
            <a:t>Внутренние функции</a:t>
          </a:r>
          <a:endParaRPr lang="ru-RU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LinFactNeighborY="-394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22E145B5-E82A-4088-B9C8-A19C1E589F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EA6E4585-6F70-409F-AEF8-6DDFF603097B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EB87C571-E9EA-44FE-AF9E-18063CFD0C39}" type="parTrans" cxnId="{11623C04-D7AE-4604-BF56-F5E5DD861A64}">
      <dgm:prSet/>
      <dgm:spPr/>
      <dgm:t>
        <a:bodyPr/>
        <a:lstStyle/>
        <a:p>
          <a:endParaRPr lang="ru-RU"/>
        </a:p>
      </dgm:t>
    </dgm:pt>
    <dgm:pt modelId="{2A190A93-80C5-4978-A099-572CFD93B6B9}" type="sibTrans" cxnId="{11623C04-D7AE-4604-BF56-F5E5DD861A64}">
      <dgm:prSet/>
      <dgm:spPr/>
      <dgm:t>
        <a:bodyPr/>
        <a:lstStyle/>
        <a:p>
          <a:endParaRPr lang="ru-RU"/>
        </a:p>
      </dgm:t>
    </dgm:pt>
    <dgm:pt modelId="{E74BE7AA-AD2C-478B-B544-897806E38AD1}">
      <dgm:prSet phldrT="[Текст]"/>
      <dgm:spPr/>
      <dgm:t>
        <a:bodyPr/>
        <a:lstStyle/>
        <a:p>
          <a:r>
            <a:rPr lang="en-US" dirty="0" smtClean="0"/>
            <a:t>Inverted</a:t>
          </a:r>
          <a:endParaRPr lang="ru-RU" dirty="0" smtClean="0"/>
        </a:p>
        <a:p>
          <a:r>
            <a:rPr lang="en-US" dirty="0" smtClean="0"/>
            <a:t>Index</a:t>
          </a:r>
          <a:endParaRPr lang="ru-RU" dirty="0"/>
        </a:p>
      </dgm:t>
    </dgm:pt>
    <dgm:pt modelId="{49C289C0-664C-40B2-8678-A2EB77CF65D4}" type="parTrans" cxnId="{DFC1066F-519F-4605-847C-62AE5AF88A45}">
      <dgm:prSet/>
      <dgm:spPr/>
      <dgm:t>
        <a:bodyPr/>
        <a:lstStyle/>
        <a:p>
          <a:endParaRPr lang="ru-RU"/>
        </a:p>
      </dgm:t>
    </dgm:pt>
    <dgm:pt modelId="{61D21387-DAE6-4EDC-AAC6-1B6E0B2B8DE0}" type="sibTrans" cxnId="{DFC1066F-519F-4605-847C-62AE5AF88A45}">
      <dgm:prSet/>
      <dgm:spPr/>
      <dgm:t>
        <a:bodyPr/>
        <a:lstStyle/>
        <a:p>
          <a:endParaRPr lang="ru-RU"/>
        </a:p>
      </dgm:t>
    </dgm:pt>
    <dgm:pt modelId="{0AC6EE5B-94F5-4AF5-A317-22BCDC0A5716}">
      <dgm:prSet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CB42B11A-19DB-4B80-A525-194C04436E70}" type="parTrans" cxnId="{21B0756E-49D9-4E09-B21A-6D2F2639C75F}">
      <dgm:prSet/>
      <dgm:spPr/>
      <dgm:t>
        <a:bodyPr/>
        <a:lstStyle/>
        <a:p>
          <a:endParaRPr lang="ru-RU"/>
        </a:p>
      </dgm:t>
    </dgm:pt>
    <dgm:pt modelId="{E9637C63-B39C-42E1-A7D6-481AB222D018}" type="sibTrans" cxnId="{21B0756E-49D9-4E09-B21A-6D2F2639C75F}">
      <dgm:prSet/>
      <dgm:spPr/>
      <dgm:t>
        <a:bodyPr/>
        <a:lstStyle/>
        <a:p>
          <a:endParaRPr lang="ru-RU"/>
        </a:p>
      </dgm:t>
    </dgm:pt>
    <dgm:pt modelId="{AE6076AB-81D2-4D9E-9485-9A81ACE96751}">
      <dgm:prSet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3F6B56EA-0963-4989-B913-4C2714B96351}" type="parTrans" cxnId="{4E5905B5-6802-493B-AC02-0972B855CCD8}">
      <dgm:prSet/>
      <dgm:spPr/>
      <dgm:t>
        <a:bodyPr/>
        <a:lstStyle/>
        <a:p>
          <a:endParaRPr lang="ru-RU"/>
        </a:p>
      </dgm:t>
    </dgm:pt>
    <dgm:pt modelId="{562D2339-2BDB-4C4B-A1D6-11204852CB25}" type="sibTrans" cxnId="{4E5905B5-6802-493B-AC02-0972B855CCD8}">
      <dgm:prSet/>
      <dgm:spPr/>
      <dgm:t>
        <a:bodyPr/>
        <a:lstStyle/>
        <a:p>
          <a:endParaRPr lang="ru-RU"/>
        </a:p>
      </dgm:t>
    </dgm:pt>
    <dgm:pt modelId="{7788D2E0-1B12-4FD0-962D-537B22CD4366}">
      <dgm:prSet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E582B4CF-9E55-4AD8-8E16-6B2F4B48E951}" type="parTrans" cxnId="{4873B57B-8954-4722-8F6A-8957B71868A7}">
      <dgm:prSet/>
      <dgm:spPr/>
      <dgm:t>
        <a:bodyPr/>
        <a:lstStyle/>
        <a:p>
          <a:endParaRPr lang="ru-RU"/>
        </a:p>
      </dgm:t>
    </dgm:pt>
    <dgm:pt modelId="{CEFE41B2-04AC-4636-B717-B364E7DC6187}" type="sibTrans" cxnId="{4873B57B-8954-4722-8F6A-8957B71868A7}">
      <dgm:prSet/>
      <dgm:spPr/>
      <dgm:t>
        <a:bodyPr/>
        <a:lstStyle/>
        <a:p>
          <a:endParaRPr lang="ru-RU"/>
        </a:p>
      </dgm:t>
    </dgm:pt>
    <dgm:pt modelId="{5D4360AA-390F-403F-A4BA-A7B665FF8967}" type="pres">
      <dgm:prSet presAssocID="{22E145B5-E82A-4088-B9C8-A19C1E589F7B}" presName="CompostProcess" presStyleCnt="0">
        <dgm:presLayoutVars>
          <dgm:dir/>
          <dgm:resizeHandles val="exact"/>
        </dgm:presLayoutVars>
      </dgm:prSet>
      <dgm:spPr/>
    </dgm:pt>
    <dgm:pt modelId="{A10362D1-A377-43A9-BD1F-AD314ADD2D68}" type="pres">
      <dgm:prSet presAssocID="{22E145B5-E82A-4088-B9C8-A19C1E589F7B}" presName="arrow" presStyleLbl="bgShp" presStyleIdx="0" presStyleCnt="1"/>
      <dgm:spPr>
        <a:solidFill>
          <a:srgbClr val="DFE8E8"/>
        </a:solidFill>
      </dgm:spPr>
      <dgm:t>
        <a:bodyPr/>
        <a:lstStyle/>
        <a:p>
          <a:endParaRPr lang="ru-RU"/>
        </a:p>
      </dgm:t>
    </dgm:pt>
    <dgm:pt modelId="{0F39B2D2-3919-49C6-A79D-15ED4305780E}" type="pres">
      <dgm:prSet presAssocID="{22E145B5-E82A-4088-B9C8-A19C1E589F7B}" presName="linearProcess" presStyleCnt="0"/>
      <dgm:spPr/>
    </dgm:pt>
    <dgm:pt modelId="{0A15E6E4-35BF-4314-8C3D-ED211E2F9958}" type="pres">
      <dgm:prSet presAssocID="{EA6E4585-6F70-409F-AEF8-6DDFF603097B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181FE23-3E21-49B3-BC9F-410A92DCFEBD}" type="pres">
      <dgm:prSet presAssocID="{2A190A93-80C5-4978-A099-572CFD93B6B9}" presName="sibTrans" presStyleCnt="0"/>
      <dgm:spPr/>
    </dgm:pt>
    <dgm:pt modelId="{F054BA0B-B3F7-4B6B-BD2F-4AE8F4442468}" type="pres">
      <dgm:prSet presAssocID="{0AC6EE5B-94F5-4AF5-A317-22BCDC0A5716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9B674C4-C6D6-43BD-AA2D-959FB3B7D3FA}" type="pres">
      <dgm:prSet presAssocID="{E9637C63-B39C-42E1-A7D6-481AB222D018}" presName="sibTrans" presStyleCnt="0"/>
      <dgm:spPr/>
    </dgm:pt>
    <dgm:pt modelId="{DC4AEBBC-A52D-40F6-9146-7F10088A6B32}" type="pres">
      <dgm:prSet presAssocID="{E74BE7AA-AD2C-478B-B544-897806E38AD1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65DECA6-36C8-43CE-8D9E-544F5BFE0609}" type="pres">
      <dgm:prSet presAssocID="{61D21387-DAE6-4EDC-AAC6-1B6E0B2B8DE0}" presName="sibTrans" presStyleCnt="0"/>
      <dgm:spPr/>
    </dgm:pt>
    <dgm:pt modelId="{014D856F-0A4A-4760-9506-E63C9F5DE09D}" type="pres">
      <dgm:prSet presAssocID="{AE6076AB-81D2-4D9E-9485-9A81ACE96751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CF8F01A-A651-490E-BEFC-5C1A5DBC1425}" type="pres">
      <dgm:prSet presAssocID="{562D2339-2BDB-4C4B-A1D6-11204852CB25}" presName="sibTrans" presStyleCnt="0"/>
      <dgm:spPr/>
    </dgm:pt>
    <dgm:pt modelId="{2EF5CFF0-CC5C-43EE-B44D-1D53039F8A29}" type="pres">
      <dgm:prSet presAssocID="{7788D2E0-1B12-4FD0-962D-537B22CD4366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B7A34A39-771E-4D17-AB67-B86CAFF7426F}" type="presOf" srcId="{22E145B5-E82A-4088-B9C8-A19C1E589F7B}" destId="{5D4360AA-390F-403F-A4BA-A7B665FF8967}" srcOrd="0" destOrd="0" presId="urn:microsoft.com/office/officeart/2005/8/layout/hProcess9"/>
    <dgm:cxn modelId="{759803FA-91B2-47F5-B533-1244B8012BE0}" type="presOf" srcId="{7788D2E0-1B12-4FD0-962D-537B22CD4366}" destId="{2EF5CFF0-CC5C-43EE-B44D-1D53039F8A29}" srcOrd="0" destOrd="0" presId="urn:microsoft.com/office/officeart/2005/8/layout/hProcess9"/>
    <dgm:cxn modelId="{11623C04-D7AE-4604-BF56-F5E5DD861A64}" srcId="{22E145B5-E82A-4088-B9C8-A19C1E589F7B}" destId="{EA6E4585-6F70-409F-AEF8-6DDFF603097B}" srcOrd="0" destOrd="0" parTransId="{EB87C571-E9EA-44FE-AF9E-18063CFD0C39}" sibTransId="{2A190A93-80C5-4978-A099-572CFD93B6B9}"/>
    <dgm:cxn modelId="{7D44C1DF-6DAA-4194-B40E-62A7694ED93B}" type="presOf" srcId="{0AC6EE5B-94F5-4AF5-A317-22BCDC0A5716}" destId="{F054BA0B-B3F7-4B6B-BD2F-4AE8F4442468}" srcOrd="0" destOrd="0" presId="urn:microsoft.com/office/officeart/2005/8/layout/hProcess9"/>
    <dgm:cxn modelId="{B8B78095-F49D-4B14-AD35-26BB40DAF5C6}" type="presOf" srcId="{EA6E4585-6F70-409F-AEF8-6DDFF603097B}" destId="{0A15E6E4-35BF-4314-8C3D-ED211E2F9958}" srcOrd="0" destOrd="0" presId="urn:microsoft.com/office/officeart/2005/8/layout/hProcess9"/>
    <dgm:cxn modelId="{21B0756E-49D9-4E09-B21A-6D2F2639C75F}" srcId="{22E145B5-E82A-4088-B9C8-A19C1E589F7B}" destId="{0AC6EE5B-94F5-4AF5-A317-22BCDC0A5716}" srcOrd="1" destOrd="0" parTransId="{CB42B11A-19DB-4B80-A525-194C04436E70}" sibTransId="{E9637C63-B39C-42E1-A7D6-481AB222D018}"/>
    <dgm:cxn modelId="{5CD4F533-BDEB-4025-9A6E-2875FE56EE0C}" type="presOf" srcId="{AE6076AB-81D2-4D9E-9485-9A81ACE96751}" destId="{014D856F-0A4A-4760-9506-E63C9F5DE09D}" srcOrd="0" destOrd="0" presId="urn:microsoft.com/office/officeart/2005/8/layout/hProcess9"/>
    <dgm:cxn modelId="{4873B57B-8954-4722-8F6A-8957B71868A7}" srcId="{22E145B5-E82A-4088-B9C8-A19C1E589F7B}" destId="{7788D2E0-1B12-4FD0-962D-537B22CD4366}" srcOrd="4" destOrd="0" parTransId="{E582B4CF-9E55-4AD8-8E16-6B2F4B48E951}" sibTransId="{CEFE41B2-04AC-4636-B717-B364E7DC6187}"/>
    <dgm:cxn modelId="{4E5905B5-6802-493B-AC02-0972B855CCD8}" srcId="{22E145B5-E82A-4088-B9C8-A19C1E589F7B}" destId="{AE6076AB-81D2-4D9E-9485-9A81ACE96751}" srcOrd="3" destOrd="0" parTransId="{3F6B56EA-0963-4989-B913-4C2714B96351}" sibTransId="{562D2339-2BDB-4C4B-A1D6-11204852CB25}"/>
    <dgm:cxn modelId="{DFC1066F-519F-4605-847C-62AE5AF88A45}" srcId="{22E145B5-E82A-4088-B9C8-A19C1E589F7B}" destId="{E74BE7AA-AD2C-478B-B544-897806E38AD1}" srcOrd="2" destOrd="0" parTransId="{49C289C0-664C-40B2-8678-A2EB77CF65D4}" sibTransId="{61D21387-DAE6-4EDC-AAC6-1B6E0B2B8DE0}"/>
    <dgm:cxn modelId="{CFBFF8AF-CC67-4E25-83AA-4CEB29B92D01}" type="presOf" srcId="{E74BE7AA-AD2C-478B-B544-897806E38AD1}" destId="{DC4AEBBC-A52D-40F6-9146-7F10088A6B32}" srcOrd="0" destOrd="0" presId="urn:microsoft.com/office/officeart/2005/8/layout/hProcess9"/>
    <dgm:cxn modelId="{EA43E3AC-777E-4233-8A88-6F6C0E7AB63D}" type="presParOf" srcId="{5D4360AA-390F-403F-A4BA-A7B665FF8967}" destId="{A10362D1-A377-43A9-BD1F-AD314ADD2D68}" srcOrd="0" destOrd="0" presId="urn:microsoft.com/office/officeart/2005/8/layout/hProcess9"/>
    <dgm:cxn modelId="{65EE2737-B8C4-4E92-8857-42F8DD4643E6}" type="presParOf" srcId="{5D4360AA-390F-403F-A4BA-A7B665FF8967}" destId="{0F39B2D2-3919-49C6-A79D-15ED4305780E}" srcOrd="1" destOrd="0" presId="urn:microsoft.com/office/officeart/2005/8/layout/hProcess9"/>
    <dgm:cxn modelId="{3F22A6F3-B75B-4D22-B3AA-D5C0207DA9F9}" type="presParOf" srcId="{0F39B2D2-3919-49C6-A79D-15ED4305780E}" destId="{0A15E6E4-35BF-4314-8C3D-ED211E2F9958}" srcOrd="0" destOrd="0" presId="urn:microsoft.com/office/officeart/2005/8/layout/hProcess9"/>
    <dgm:cxn modelId="{5CA9E1E1-F658-4D60-8DE6-A5C7685388B2}" type="presParOf" srcId="{0F39B2D2-3919-49C6-A79D-15ED4305780E}" destId="{6181FE23-3E21-49B3-BC9F-410A92DCFEBD}" srcOrd="1" destOrd="0" presId="urn:microsoft.com/office/officeart/2005/8/layout/hProcess9"/>
    <dgm:cxn modelId="{3F21F56B-6EC0-46BC-B925-5D2D965D0D1F}" type="presParOf" srcId="{0F39B2D2-3919-49C6-A79D-15ED4305780E}" destId="{F054BA0B-B3F7-4B6B-BD2F-4AE8F4442468}" srcOrd="2" destOrd="0" presId="urn:microsoft.com/office/officeart/2005/8/layout/hProcess9"/>
    <dgm:cxn modelId="{E85A9F5D-FACD-4444-BBBE-727ED73C3120}" type="presParOf" srcId="{0F39B2D2-3919-49C6-A79D-15ED4305780E}" destId="{E9B674C4-C6D6-43BD-AA2D-959FB3B7D3FA}" srcOrd="3" destOrd="0" presId="urn:microsoft.com/office/officeart/2005/8/layout/hProcess9"/>
    <dgm:cxn modelId="{E96F45BF-9DDA-4C98-929F-171319DF99AC}" type="presParOf" srcId="{0F39B2D2-3919-49C6-A79D-15ED4305780E}" destId="{DC4AEBBC-A52D-40F6-9146-7F10088A6B32}" srcOrd="4" destOrd="0" presId="urn:microsoft.com/office/officeart/2005/8/layout/hProcess9"/>
    <dgm:cxn modelId="{EF346BD9-6825-491E-BB84-4BAC0AB257F1}" type="presParOf" srcId="{0F39B2D2-3919-49C6-A79D-15ED4305780E}" destId="{565DECA6-36C8-43CE-8D9E-544F5BFE0609}" srcOrd="5" destOrd="0" presId="urn:microsoft.com/office/officeart/2005/8/layout/hProcess9"/>
    <dgm:cxn modelId="{8438F71D-9E72-40FD-9207-1CDFE6A92EED}" type="presParOf" srcId="{0F39B2D2-3919-49C6-A79D-15ED4305780E}" destId="{014D856F-0A4A-4760-9506-E63C9F5DE09D}" srcOrd="6" destOrd="0" presId="urn:microsoft.com/office/officeart/2005/8/layout/hProcess9"/>
    <dgm:cxn modelId="{19B4CBE0-314E-4CC2-AB84-A8BCBE12888D}" type="presParOf" srcId="{0F39B2D2-3919-49C6-A79D-15ED4305780E}" destId="{FCF8F01A-A651-490E-BEFC-5C1A5DBC1425}" srcOrd="7" destOrd="0" presId="urn:microsoft.com/office/officeart/2005/8/layout/hProcess9"/>
    <dgm:cxn modelId="{C434FDF4-0C56-4BA5-9466-C230AA5A91D7}" type="presParOf" srcId="{0F39B2D2-3919-49C6-A79D-15ED4305780E}" destId="{2EF5CFF0-CC5C-43EE-B44D-1D53039F8A2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8E21F9-F946-457A-B5D6-7107E4B5B54D}">
      <dsp:nvSpPr>
        <dsp:cNvPr id="0" name=""/>
        <dsp:cNvSpPr/>
      </dsp:nvSpPr>
      <dsp:spPr>
        <a:xfrm>
          <a:off x="4036898" y="2064675"/>
          <a:ext cx="1980274" cy="198027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1280" tIns="81280" rIns="81280" bIns="81280" numCol="1" spcCol="1270" anchor="t" anchorCtr="0">
          <a:noAutofit/>
        </a:bodyPr>
        <a:lstStyle/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1" kern="1200" dirty="0" smtClean="0"/>
            <a:t>Search</a:t>
          </a:r>
        </a:p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1" kern="1200" dirty="0" smtClean="0"/>
            <a:t>Engine</a:t>
          </a:r>
          <a:endParaRPr lang="ru-RU" sz="3200" b="1" kern="1200" dirty="0"/>
        </a:p>
      </dsp:txBody>
      <dsp:txXfrm>
        <a:off x="4133567" y="2161344"/>
        <a:ext cx="1786936" cy="1786936"/>
      </dsp:txXfrm>
    </dsp:sp>
    <dsp:sp modelId="{667DE06D-C223-4C57-8F2C-DDC107791A47}">
      <dsp:nvSpPr>
        <dsp:cNvPr id="0" name=""/>
        <dsp:cNvSpPr/>
      </dsp:nvSpPr>
      <dsp:spPr>
        <a:xfrm rot="12462626">
          <a:off x="1655368" y="1947355"/>
          <a:ext cx="2526408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526408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headEnd type="none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29DD78D-084E-44BB-95B2-65781CA7A531}">
      <dsp:nvSpPr>
        <dsp:cNvPr id="0" name=""/>
        <dsp:cNvSpPr/>
      </dsp:nvSpPr>
      <dsp:spPr>
        <a:xfrm>
          <a:off x="0" y="-12946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Converter</a:t>
          </a:r>
        </a:p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JSON </a:t>
          </a:r>
          <a:endParaRPr lang="ru-RU" sz="2000" b="1" kern="1200" dirty="0"/>
        </a:p>
      </dsp:txBody>
      <dsp:txXfrm>
        <a:off x="87881" y="74935"/>
        <a:ext cx="1624484" cy="1624484"/>
      </dsp:txXfrm>
    </dsp:sp>
    <dsp:sp modelId="{65390B38-AF76-4E62-872B-309581DF08C7}">
      <dsp:nvSpPr>
        <dsp:cNvPr id="0" name=""/>
        <dsp:cNvSpPr/>
      </dsp:nvSpPr>
      <dsp:spPr>
        <a:xfrm rot="146520">
          <a:off x="6016071" y="3148663"/>
          <a:ext cx="2423204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423204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EC1B40-97B8-4A97-A728-C57093596661}">
      <dsp:nvSpPr>
        <dsp:cNvPr id="0" name=""/>
        <dsp:cNvSpPr/>
      </dsp:nvSpPr>
      <dsp:spPr>
        <a:xfrm>
          <a:off x="8438175" y="2424724"/>
          <a:ext cx="1620224" cy="162022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Dispatcher</a:t>
          </a:r>
        </a:p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Operations</a:t>
          </a:r>
          <a:endParaRPr lang="ru-RU" sz="2000" b="1" kern="1200" dirty="0"/>
        </a:p>
      </dsp:txBody>
      <dsp:txXfrm>
        <a:off x="8517268" y="2503817"/>
        <a:ext cx="1462038" cy="1462038"/>
      </dsp:txXfrm>
    </dsp:sp>
    <dsp:sp modelId="{8F086A69-6FE7-48AB-8D4E-831F6AAADB3F}">
      <dsp:nvSpPr>
        <dsp:cNvPr id="0" name=""/>
        <dsp:cNvSpPr/>
      </dsp:nvSpPr>
      <dsp:spPr>
        <a:xfrm rot="13495766">
          <a:off x="3723735" y="1937621"/>
          <a:ext cx="36670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6670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5C3917E-2284-4E85-847C-82C5C871E472}">
      <dsp:nvSpPr>
        <dsp:cNvPr id="0" name=""/>
        <dsp:cNvSpPr/>
      </dsp:nvSpPr>
      <dsp:spPr>
        <a:xfrm>
          <a:off x="1977032" y="10100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Documents </a:t>
          </a:r>
          <a:endParaRPr lang="ru-RU" sz="2000" b="1" kern="1200" dirty="0"/>
        </a:p>
      </dsp:txBody>
      <dsp:txXfrm>
        <a:off x="2064913" y="97981"/>
        <a:ext cx="1624484" cy="1624484"/>
      </dsp:txXfrm>
    </dsp:sp>
    <dsp:sp modelId="{1503B29C-C796-4217-A6E0-D8D0E4C12287}">
      <dsp:nvSpPr>
        <dsp:cNvPr id="0" name=""/>
        <dsp:cNvSpPr/>
      </dsp:nvSpPr>
      <dsp:spPr>
        <a:xfrm rot="18928235">
          <a:off x="5960573" y="1942563"/>
          <a:ext cx="394267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94267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784C24-975E-4373-9AB0-0D36214A64F1}">
      <dsp:nvSpPr>
        <dsp:cNvPr id="0" name=""/>
        <dsp:cNvSpPr/>
      </dsp:nvSpPr>
      <dsp:spPr>
        <a:xfrm>
          <a:off x="6298241" y="18737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b="1" kern="1200" dirty="0" smtClean="0"/>
            <a:t>Requests </a:t>
          </a:r>
          <a:endParaRPr lang="ru-RU" sz="2000" b="1" kern="1200" dirty="0"/>
        </a:p>
      </dsp:txBody>
      <dsp:txXfrm>
        <a:off x="6386122" y="106618"/>
        <a:ext cx="1624484" cy="1624484"/>
      </dsp:txXfrm>
    </dsp:sp>
    <dsp:sp modelId="{B23D5C2B-B6D2-4298-9DAF-A69442F1C2D7}">
      <dsp:nvSpPr>
        <dsp:cNvPr id="0" name=""/>
        <dsp:cNvSpPr/>
      </dsp:nvSpPr>
      <dsp:spPr>
        <a:xfrm rot="16184308">
          <a:off x="4889697" y="1932462"/>
          <a:ext cx="264429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64429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35D6D0E-E44D-465D-9B55-5006A2372644}">
      <dsp:nvSpPr>
        <dsp:cNvPr id="0" name=""/>
        <dsp:cNvSpPr/>
      </dsp:nvSpPr>
      <dsp:spPr>
        <a:xfrm>
          <a:off x="4117076" y="3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InvertedIndex </a:t>
          </a:r>
          <a:endParaRPr lang="ru-RU" sz="2000" b="1" kern="1200" dirty="0"/>
        </a:p>
      </dsp:txBody>
      <dsp:txXfrm>
        <a:off x="4204957" y="87884"/>
        <a:ext cx="1624484" cy="1624484"/>
      </dsp:txXfrm>
    </dsp:sp>
    <dsp:sp modelId="{645660FC-29F0-4ECD-9736-2F09D9960928}">
      <dsp:nvSpPr>
        <dsp:cNvPr id="0" name=""/>
        <dsp:cNvSpPr/>
      </dsp:nvSpPr>
      <dsp:spPr>
        <a:xfrm rot="19953010">
          <a:off x="5876740" y="1965495"/>
          <a:ext cx="2494666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494666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F6A00EF-2BA3-4AAD-B69B-A8E8767F6738}">
      <dsp:nvSpPr>
        <dsp:cNvPr id="0" name=""/>
        <dsp:cNvSpPr/>
      </dsp:nvSpPr>
      <dsp:spPr>
        <a:xfrm>
          <a:off x="8230975" y="22813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Relevant</a:t>
          </a:r>
        </a:p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Response </a:t>
          </a:r>
          <a:endParaRPr lang="ru-RU" sz="2000" b="1" kern="1200" dirty="0"/>
        </a:p>
      </dsp:txBody>
      <dsp:txXfrm>
        <a:off x="8318856" y="110694"/>
        <a:ext cx="1624484" cy="162448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E4810E-52F3-40F0-9593-6C037BA1D12A}">
      <dsp:nvSpPr>
        <dsp:cNvPr id="0" name=""/>
        <dsp:cNvSpPr/>
      </dsp:nvSpPr>
      <dsp:spPr>
        <a:xfrm>
          <a:off x="0" y="3417"/>
          <a:ext cx="8208085" cy="6715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lvl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800" kern="1200" dirty="0" smtClean="0"/>
            <a:t>Функции библиотеки</a:t>
          </a:r>
          <a:endParaRPr lang="ru-RU" sz="2800" kern="1200" dirty="0"/>
        </a:p>
      </dsp:txBody>
      <dsp:txXfrm>
        <a:off x="32784" y="36201"/>
        <a:ext cx="8142517" cy="606012"/>
      </dsp:txXfrm>
    </dsp:sp>
    <dsp:sp modelId="{625A264F-F3DF-4EEC-8B66-102C93BB9818}">
      <dsp:nvSpPr>
        <dsp:cNvPr id="0" name=""/>
        <dsp:cNvSpPr/>
      </dsp:nvSpPr>
      <dsp:spPr>
        <a:xfrm>
          <a:off x="0" y="674997"/>
          <a:ext cx="8208085" cy="15069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0607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Прочитать/записать текстовый файл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Прочитать/записать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файл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Проверить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структуру на соответствие шаблону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Проверить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структуру на целостность</a:t>
          </a:r>
          <a:endParaRPr lang="ru-RU" sz="2200" kern="1200" dirty="0"/>
        </a:p>
      </dsp:txBody>
      <dsp:txXfrm>
        <a:off x="0" y="674997"/>
        <a:ext cx="8208085" cy="1506960"/>
      </dsp:txXfrm>
    </dsp:sp>
    <dsp:sp modelId="{557F1F5C-6D75-4492-8EF1-6580ED92ACAF}">
      <dsp:nvSpPr>
        <dsp:cNvPr id="0" name=""/>
        <dsp:cNvSpPr/>
      </dsp:nvSpPr>
      <dsp:spPr>
        <a:xfrm>
          <a:off x="0" y="2181957"/>
          <a:ext cx="8208085" cy="6715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lvl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800" kern="1200" dirty="0" smtClean="0"/>
            <a:t>Проверка при работе с файлами</a:t>
          </a:r>
          <a:endParaRPr lang="ru-RU" sz="2800" kern="1200" dirty="0"/>
        </a:p>
      </dsp:txBody>
      <dsp:txXfrm>
        <a:off x="32784" y="2214741"/>
        <a:ext cx="8142517" cy="606012"/>
      </dsp:txXfrm>
    </dsp:sp>
    <dsp:sp modelId="{657A1B8A-9783-4C29-9201-29A02D448FA4}">
      <dsp:nvSpPr>
        <dsp:cNvPr id="0" name=""/>
        <dsp:cNvSpPr/>
      </dsp:nvSpPr>
      <dsp:spPr>
        <a:xfrm>
          <a:off x="0" y="2853537"/>
          <a:ext cx="8208085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0607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существование файла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открытие файла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ошибки во время чтения/записи файла</a:t>
          </a:r>
          <a:endParaRPr lang="ru-RU" sz="2200" kern="1200" dirty="0"/>
        </a:p>
      </dsp:txBody>
      <dsp:txXfrm>
        <a:off x="0" y="2853537"/>
        <a:ext cx="8208085" cy="113022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4F0C9A-3648-4916-982F-AF9587978149}">
      <dsp:nvSpPr>
        <dsp:cNvPr id="0" name=""/>
        <dsp:cNvSpPr/>
      </dsp:nvSpPr>
      <dsp:spPr>
        <a:xfrm>
          <a:off x="0" y="5575"/>
          <a:ext cx="7868458" cy="69556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lvl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900" kern="1200" dirty="0" smtClean="0"/>
            <a:t>Функции библиотеки</a:t>
          </a:r>
          <a:endParaRPr lang="ru-RU" sz="2900" kern="1200" dirty="0"/>
        </a:p>
      </dsp:txBody>
      <dsp:txXfrm>
        <a:off x="33955" y="39530"/>
        <a:ext cx="7800548" cy="627655"/>
      </dsp:txXfrm>
    </dsp:sp>
    <dsp:sp modelId="{F2725D4B-59A7-40CF-AA8E-A27EC37530B2}">
      <dsp:nvSpPr>
        <dsp:cNvPr id="0" name=""/>
        <dsp:cNvSpPr/>
      </dsp:nvSpPr>
      <dsp:spPr>
        <a:xfrm>
          <a:off x="0" y="720105"/>
          <a:ext cx="7868458" cy="4802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9824" tIns="36830" rIns="206248" bIns="3683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Предоставляет 5 уровней логирования</a:t>
          </a:r>
          <a:endParaRPr lang="ru-RU" sz="2300" kern="1200" dirty="0"/>
        </a:p>
      </dsp:txBody>
      <dsp:txXfrm>
        <a:off x="0" y="720105"/>
        <a:ext cx="7868458" cy="480240"/>
      </dsp:txXfrm>
    </dsp:sp>
    <dsp:sp modelId="{6C5C9815-44A2-4551-A509-FE6F0947C3DB}">
      <dsp:nvSpPr>
        <dsp:cNvPr id="0" name=""/>
        <dsp:cNvSpPr/>
      </dsp:nvSpPr>
      <dsp:spPr>
        <a:xfrm>
          <a:off x="0" y="1200345"/>
          <a:ext cx="7868458" cy="69556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lvl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900" kern="1200" dirty="0" smtClean="0"/>
            <a:t>Внутренние функции</a:t>
          </a:r>
          <a:endParaRPr lang="ru-RU" sz="2900" kern="1200" dirty="0"/>
        </a:p>
      </dsp:txBody>
      <dsp:txXfrm>
        <a:off x="33955" y="1234300"/>
        <a:ext cx="7800548" cy="627655"/>
      </dsp:txXfrm>
    </dsp:sp>
    <dsp:sp modelId="{84271FDF-D644-48A5-8BBB-391AF85E26F5}">
      <dsp:nvSpPr>
        <dsp:cNvPr id="0" name=""/>
        <dsp:cNvSpPr/>
      </dsp:nvSpPr>
      <dsp:spPr>
        <a:xfrm>
          <a:off x="0" y="1895910"/>
          <a:ext cx="7868458" cy="19809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9824" tIns="36830" rIns="206248" bIns="3683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Записывает сообщения в лог-файлы в другом потоке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Выводит события в консоль в другом потоке и процессе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Регулирует интервал времени использования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Регулирует интервал времени хранения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endParaRPr lang="ru-RU" sz="2300" kern="1200" dirty="0"/>
        </a:p>
      </dsp:txBody>
      <dsp:txXfrm>
        <a:off x="0" y="1895910"/>
        <a:ext cx="7868458" cy="1980989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03.12.2025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39874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03.12.2025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03.12.2025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03.12.2025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03.12.2025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03.12.2025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03.12.2025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03.12.2025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03.12.2025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03.12.2025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03.12.2025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03.12.2025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03.12.2025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18" Type="http://schemas.openxmlformats.org/officeDocument/2006/relationships/image" Target="../media/image30.png"/><Relationship Id="rId3" Type="http://schemas.openxmlformats.org/officeDocument/2006/relationships/diagramLayout" Target="../diagrams/layout1.xml"/><Relationship Id="rId21" Type="http://schemas.openxmlformats.org/officeDocument/2006/relationships/image" Target="../media/image33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17" Type="http://schemas.openxmlformats.org/officeDocument/2006/relationships/image" Target="../media/image29.png"/><Relationship Id="rId2" Type="http://schemas.openxmlformats.org/officeDocument/2006/relationships/diagramData" Target="../diagrams/data1.xml"/><Relationship Id="rId16" Type="http://schemas.openxmlformats.org/officeDocument/2006/relationships/image" Target="../media/image28.png"/><Relationship Id="rId20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11" Type="http://schemas.openxmlformats.org/officeDocument/2006/relationships/image" Target="../media/image23.png"/><Relationship Id="rId5" Type="http://schemas.openxmlformats.org/officeDocument/2006/relationships/diagramColors" Target="../diagrams/colors1.xml"/><Relationship Id="rId15" Type="http://schemas.openxmlformats.org/officeDocument/2006/relationships/image" Target="../media/image27.png"/><Relationship Id="rId10" Type="http://schemas.openxmlformats.org/officeDocument/2006/relationships/image" Target="../media/image22.png"/><Relationship Id="rId19" Type="http://schemas.openxmlformats.org/officeDocument/2006/relationships/image" Target="../media/image31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21.png"/><Relationship Id="rId14" Type="http://schemas.openxmlformats.org/officeDocument/2006/relationships/image" Target="../media/image26.png"/><Relationship Id="rId22" Type="http://schemas.openxmlformats.org/officeDocument/2006/relationships/image" Target="../media/image3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17" Type="http://schemas.openxmlformats.org/officeDocument/2006/relationships/image" Target="../media/image50.png"/><Relationship Id="rId2" Type="http://schemas.openxmlformats.org/officeDocument/2006/relationships/image" Target="../media/image35.png"/><Relationship Id="rId16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5" Type="http://schemas.openxmlformats.org/officeDocument/2006/relationships/image" Target="../media/image4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Relationship Id="rId14" Type="http://schemas.openxmlformats.org/officeDocument/2006/relationships/image" Target="../media/image4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13" Type="http://schemas.openxmlformats.org/officeDocument/2006/relationships/image" Target="../media/image61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12" Type="http://schemas.openxmlformats.org/officeDocument/2006/relationships/image" Target="../media/image60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5.png"/><Relationship Id="rId11" Type="http://schemas.openxmlformats.org/officeDocument/2006/relationships/image" Target="../media/image59.png"/><Relationship Id="rId5" Type="http://schemas.openxmlformats.org/officeDocument/2006/relationships/image" Target="../media/image54.png"/><Relationship Id="rId10" Type="http://schemas.openxmlformats.org/officeDocument/2006/relationships/image" Target="../media/image58.png"/><Relationship Id="rId4" Type="http://schemas.openxmlformats.org/officeDocument/2006/relationships/image" Target="../media/image53.png"/><Relationship Id="rId9" Type="http://schemas.openxmlformats.org/officeDocument/2006/relationships/image" Target="../media/image5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62.png"/><Relationship Id="rId7" Type="http://schemas.openxmlformats.org/officeDocument/2006/relationships/image" Target="../media/image55.png"/><Relationship Id="rId12" Type="http://schemas.openxmlformats.org/officeDocument/2006/relationships/image" Target="../media/image67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3.png"/><Relationship Id="rId11" Type="http://schemas.openxmlformats.org/officeDocument/2006/relationships/image" Target="../media/image66.png"/><Relationship Id="rId5" Type="http://schemas.openxmlformats.org/officeDocument/2006/relationships/image" Target="../media/image45.png"/><Relationship Id="rId10" Type="http://schemas.openxmlformats.org/officeDocument/2006/relationships/image" Target="../media/image65.png"/><Relationship Id="rId4" Type="http://schemas.openxmlformats.org/officeDocument/2006/relationships/image" Target="../media/image44.png"/><Relationship Id="rId9" Type="http://schemas.openxmlformats.org/officeDocument/2006/relationships/image" Target="../media/image6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13" Type="http://schemas.openxmlformats.org/officeDocument/2006/relationships/image" Target="../media/image75.png"/><Relationship Id="rId3" Type="http://schemas.openxmlformats.org/officeDocument/2006/relationships/image" Target="../media/image51.png"/><Relationship Id="rId7" Type="http://schemas.openxmlformats.org/officeDocument/2006/relationships/image" Target="../media/image63.png"/><Relationship Id="rId12" Type="http://schemas.openxmlformats.org/officeDocument/2006/relationships/image" Target="../media/image74.png"/><Relationship Id="rId2" Type="http://schemas.openxmlformats.org/officeDocument/2006/relationships/image" Target="../media/image68.png"/><Relationship Id="rId16" Type="http://schemas.openxmlformats.org/officeDocument/2006/relationships/image" Target="../media/image7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1.png"/><Relationship Id="rId11" Type="http://schemas.openxmlformats.org/officeDocument/2006/relationships/image" Target="../media/image54.png"/><Relationship Id="rId5" Type="http://schemas.openxmlformats.org/officeDocument/2006/relationships/image" Target="../media/image70.png"/><Relationship Id="rId15" Type="http://schemas.openxmlformats.org/officeDocument/2006/relationships/image" Target="../media/image77.png"/><Relationship Id="rId10" Type="http://schemas.openxmlformats.org/officeDocument/2006/relationships/image" Target="../media/image55.png"/><Relationship Id="rId4" Type="http://schemas.openxmlformats.org/officeDocument/2006/relationships/image" Target="../media/image69.png"/><Relationship Id="rId9" Type="http://schemas.openxmlformats.org/officeDocument/2006/relationships/image" Target="../media/image73.png"/><Relationship Id="rId14" Type="http://schemas.openxmlformats.org/officeDocument/2006/relationships/image" Target="../media/image7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79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8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7" Type="http://schemas.openxmlformats.org/officeDocument/2006/relationships/image" Target="../media/image80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6.png"/><Relationship Id="rId5" Type="http://schemas.openxmlformats.org/officeDocument/2006/relationships/image" Target="../media/image85.png"/><Relationship Id="rId4" Type="http://schemas.openxmlformats.org/officeDocument/2006/relationships/image" Target="../media/image8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7" Type="http://schemas.openxmlformats.org/officeDocument/2006/relationships/image" Target="../media/image92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6.png"/><Relationship Id="rId4" Type="http://schemas.openxmlformats.org/officeDocument/2006/relationships/image" Target="../media/image95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png"/><Relationship Id="rId13" Type="http://schemas.openxmlformats.org/officeDocument/2006/relationships/image" Target="../media/image102.png"/><Relationship Id="rId3" Type="http://schemas.openxmlformats.org/officeDocument/2006/relationships/diagramLayout" Target="../diagrams/layout4.xml"/><Relationship Id="rId7" Type="http://schemas.openxmlformats.org/officeDocument/2006/relationships/image" Target="../media/image97.png"/><Relationship Id="rId12" Type="http://schemas.openxmlformats.org/officeDocument/2006/relationships/image" Target="../media/image101.png"/><Relationship Id="rId2" Type="http://schemas.openxmlformats.org/officeDocument/2006/relationships/diagramData" Target="../diagrams/data4.xml"/><Relationship Id="rId16" Type="http://schemas.openxmlformats.org/officeDocument/2006/relationships/image" Target="../media/image105.png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4.xml"/><Relationship Id="rId11" Type="http://schemas.openxmlformats.org/officeDocument/2006/relationships/image" Target="../media/image58.png"/><Relationship Id="rId5" Type="http://schemas.openxmlformats.org/officeDocument/2006/relationships/diagramColors" Target="../diagrams/colors4.xml"/><Relationship Id="rId15" Type="http://schemas.openxmlformats.org/officeDocument/2006/relationships/image" Target="../media/image104.png"/><Relationship Id="rId10" Type="http://schemas.openxmlformats.org/officeDocument/2006/relationships/image" Target="../media/image100.png"/><Relationship Id="rId4" Type="http://schemas.openxmlformats.org/officeDocument/2006/relationships/diagramQuickStyle" Target="../diagrams/quickStyle4.xml"/><Relationship Id="rId9" Type="http://schemas.openxmlformats.org/officeDocument/2006/relationships/image" Target="../media/image99.png"/><Relationship Id="rId14" Type="http://schemas.openxmlformats.org/officeDocument/2006/relationships/image" Target="../media/image10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3" Type="http://schemas.openxmlformats.org/officeDocument/2006/relationships/diagramLayout" Target="../diagrams/layout5.xml"/><Relationship Id="rId7" Type="http://schemas.openxmlformats.org/officeDocument/2006/relationships/image" Target="../media/image106.png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10" Type="http://schemas.openxmlformats.org/officeDocument/2006/relationships/image" Target="../media/image109.png"/><Relationship Id="rId4" Type="http://schemas.openxmlformats.org/officeDocument/2006/relationships/diagramQuickStyle" Target="../diagrams/quickStyle5.xml"/><Relationship Id="rId9" Type="http://schemas.openxmlformats.org/officeDocument/2006/relationships/image" Target="../media/image10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5.png"/><Relationship Id="rId3" Type="http://schemas.openxmlformats.org/officeDocument/2006/relationships/image" Target="../media/image110.png"/><Relationship Id="rId7" Type="http://schemas.openxmlformats.org/officeDocument/2006/relationships/image" Target="../media/image1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3.png"/><Relationship Id="rId5" Type="http://schemas.openxmlformats.org/officeDocument/2006/relationships/image" Target="../media/image112.png"/><Relationship Id="rId4" Type="http://schemas.openxmlformats.org/officeDocument/2006/relationships/image" Target="../media/image111.png"/><Relationship Id="rId9" Type="http://schemas.openxmlformats.org/officeDocument/2006/relationships/image" Target="../media/image116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2.png"/><Relationship Id="rId3" Type="http://schemas.openxmlformats.org/officeDocument/2006/relationships/image" Target="../media/image117.png"/><Relationship Id="rId7" Type="http://schemas.openxmlformats.org/officeDocument/2006/relationships/image" Target="../media/image12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0.png"/><Relationship Id="rId5" Type="http://schemas.openxmlformats.org/officeDocument/2006/relationships/image" Target="../media/image119.png"/><Relationship Id="rId10" Type="http://schemas.openxmlformats.org/officeDocument/2006/relationships/image" Target="../media/image124.png"/><Relationship Id="rId4" Type="http://schemas.openxmlformats.org/officeDocument/2006/relationships/image" Target="../media/image118.png"/><Relationship Id="rId9" Type="http://schemas.openxmlformats.org/officeDocument/2006/relationships/image" Target="../media/image123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1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3.png"/><Relationship Id="rId3" Type="http://schemas.openxmlformats.org/officeDocument/2006/relationships/diagramLayout" Target="../diagrams/layout6.xml"/><Relationship Id="rId7" Type="http://schemas.openxmlformats.org/officeDocument/2006/relationships/image" Target="../media/image132.png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Relationship Id="rId9" Type="http://schemas.openxmlformats.org/officeDocument/2006/relationships/image" Target="../media/image1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03.12.2025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</a:t>
            </a:fld>
            <a:endParaRPr lang="ru-RU"/>
          </a:p>
        </p:txBody>
      </p:sp>
      <p:pic>
        <p:nvPicPr>
          <p:cNvPr id="12" name="Объект 11"/>
          <p:cNvPicPr>
            <a:picLocks noGrp="1" noChangeAspect="1"/>
          </p:cNvPicPr>
          <p:nvPr>
            <p:ph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5450" y="1471613"/>
            <a:ext cx="2876550" cy="900112"/>
          </a:xfr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80" y="1573309"/>
            <a:ext cx="3384959" cy="451327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3399863"/>
            <a:ext cx="2876084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5373187"/>
            <a:ext cx="2876083" cy="9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6" y="2435573"/>
            <a:ext cx="2876085" cy="90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4390217"/>
            <a:ext cx="2876084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03.12.2025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9031" y="156884"/>
            <a:ext cx="1789957" cy="978996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8297" y="47006"/>
            <a:ext cx="2077058" cy="110246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3962" y="2628696"/>
            <a:ext cx="1415007" cy="828211"/>
          </a:xfrm>
          <a:prstGeom prst="rect">
            <a:avLst/>
          </a:prstGeom>
        </p:spPr>
      </p:pic>
      <p:sp>
        <p:nvSpPr>
          <p:cNvPr id="12" name="Прямоугольник с двумя усеченными противолежащими углами 11"/>
          <p:cNvSpPr/>
          <p:nvPr/>
        </p:nvSpPr>
        <p:spPr>
          <a:xfrm rot="5400000">
            <a:off x="1553935" y="1163727"/>
            <a:ext cx="1102466" cy="1848465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/>
        </p:nvSpPr>
        <p:spPr>
          <a:xfrm>
            <a:off x="1442713" y="1320333"/>
            <a:ext cx="1244251" cy="132343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8000" b="1" cap="none" spc="0" dirty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Qt</a:t>
            </a:r>
            <a:endParaRPr lang="ru-RU" sz="80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14" name="Прямоугольник с двумя усеченными противолежащими углами 13"/>
          <p:cNvSpPr/>
          <p:nvPr/>
        </p:nvSpPr>
        <p:spPr>
          <a:xfrm rot="5400000">
            <a:off x="1663469" y="2398204"/>
            <a:ext cx="776776" cy="1340630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1376893" y="2809639"/>
            <a:ext cx="1349927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400" b="1" cap="none" spc="0" dirty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QML</a:t>
            </a:r>
            <a:endParaRPr lang="ru-RU" sz="24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16" name="Прямоугольник с двумя усеченными противолежащими углами 15"/>
          <p:cNvSpPr/>
          <p:nvPr/>
        </p:nvSpPr>
        <p:spPr>
          <a:xfrm rot="5400000">
            <a:off x="1728753" y="3769050"/>
            <a:ext cx="795777" cy="1848465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/>
          <p:cNvSpPr/>
          <p:nvPr/>
        </p:nvSpPr>
        <p:spPr>
          <a:xfrm>
            <a:off x="1278494" y="4425175"/>
            <a:ext cx="1696297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b="1" cap="none" spc="0" dirty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Qt Designer</a:t>
            </a:r>
            <a:endParaRPr lang="ru-RU" sz="24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18" name="Прямоугольник с двумя усеченными противолежащими углами 17"/>
          <p:cNvSpPr/>
          <p:nvPr/>
        </p:nvSpPr>
        <p:spPr>
          <a:xfrm rot="5400000">
            <a:off x="1758351" y="2816636"/>
            <a:ext cx="795777" cy="1848465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1467756" y="3465517"/>
            <a:ext cx="1525033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b="1" cap="none" spc="0" dirty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Qt Creator</a:t>
            </a:r>
            <a:endParaRPr lang="ru-RU" sz="24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106994" y="1035782"/>
            <a:ext cx="1299336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 типы</a:t>
            </a:r>
            <a:r>
              <a:rPr lang="en-US" dirty="0"/>
              <a:t> </a:t>
            </a:r>
            <a:r>
              <a:rPr lang="ru-RU" dirty="0"/>
              <a:t>данных</a:t>
            </a:r>
            <a:r>
              <a:rPr lang="ru-RU" dirty="0" smtClean="0"/>
              <a:t>, константы и строки, массивы, </a:t>
            </a:r>
            <a:r>
              <a:rPr lang="ru-RU" dirty="0"/>
              <a:t>ветвления, </a:t>
            </a:r>
            <a:r>
              <a:rPr lang="ru-RU" dirty="0" smtClean="0"/>
              <a:t>циклы, функции, преобразование типов, </a:t>
            </a:r>
          </a:p>
          <a:p>
            <a:r>
              <a:rPr lang="ru-RU" dirty="0" smtClean="0"/>
              <a:t>ссылки и указатели, работа с файлами, перечисления и структуры, макросы и препроцессор, перегрузка функций, </a:t>
            </a:r>
          </a:p>
          <a:p>
            <a:r>
              <a:rPr lang="ru-RU" dirty="0" smtClean="0"/>
              <a:t>шаблоны функций, ООП, перегрузка операторов, семантика перемещения, умные указатели, наследование, </a:t>
            </a:r>
          </a:p>
          <a:p>
            <a:r>
              <a:rPr lang="ru-RU" dirty="0" smtClean="0"/>
              <a:t>виртуальные функции, шаблоны классов, </a:t>
            </a:r>
            <a:r>
              <a:rPr lang="en-US" dirty="0" smtClean="0"/>
              <a:t>STL, </a:t>
            </a:r>
            <a:r>
              <a:rPr lang="ru-RU" dirty="0" smtClean="0"/>
              <a:t>многопоточность, исключения, свойства типов, шаблонное метапрограммирование</a:t>
            </a:r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2784" y="5420382"/>
            <a:ext cx="436649" cy="43707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058712" y="5652911"/>
            <a:ext cx="5792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</a:t>
            </a:r>
            <a:r>
              <a:rPr lang="ru-RU" dirty="0" smtClean="0"/>
              <a:t>остаточно знаний для описания правил сборки проекта</a:t>
            </a:r>
            <a:endParaRPr lang="ru-RU" dirty="0"/>
          </a:p>
        </p:txBody>
      </p:sp>
      <p:sp>
        <p:nvSpPr>
          <p:cNvPr id="23" name="TextBox 22"/>
          <p:cNvSpPr txBox="1"/>
          <p:nvPr/>
        </p:nvSpPr>
        <p:spPr>
          <a:xfrm>
            <a:off x="1383968" y="5789289"/>
            <a:ext cx="828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CMake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3509999" y="4556941"/>
            <a:ext cx="8115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для визуального проектирования графических </a:t>
            </a:r>
            <a:r>
              <a:rPr lang="ru-RU" dirty="0" smtClean="0"/>
              <a:t>интерфейсов</a:t>
            </a:r>
            <a:r>
              <a:rPr lang="en-US" dirty="0" smtClean="0"/>
              <a:t> </a:t>
            </a:r>
            <a:r>
              <a:rPr lang="ru-RU" dirty="0" smtClean="0"/>
              <a:t>без написания кода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3569551" y="4060404"/>
            <a:ext cx="95088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для создания кроссплатформенных приложений с графическим интерфейсом пользователя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16221" y="3003848"/>
            <a:ext cx="945746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</a:t>
            </a:r>
            <a:r>
              <a:rPr lang="ru-RU" dirty="0" smtClean="0"/>
              <a:t>ля разработки пользовательских интерфейсов</a:t>
            </a:r>
          </a:p>
          <a:p>
            <a:r>
              <a:rPr lang="ru-RU" dirty="0" smtClean="0"/>
              <a:t>элементы, </a:t>
            </a:r>
            <a:r>
              <a:rPr lang="ru-RU" dirty="0"/>
              <a:t>у</a:t>
            </a:r>
            <a:r>
              <a:rPr lang="ru-RU" dirty="0" smtClean="0"/>
              <a:t>правление </a:t>
            </a:r>
            <a:r>
              <a:rPr lang="ru-RU" dirty="0"/>
              <a:t>размещением </a:t>
            </a:r>
            <a:r>
              <a:rPr lang="ru-RU" dirty="0" smtClean="0"/>
              <a:t>элементов, </a:t>
            </a:r>
            <a:r>
              <a:rPr lang="ru-RU" dirty="0"/>
              <a:t>э</a:t>
            </a:r>
            <a:r>
              <a:rPr lang="ru-RU" dirty="0" smtClean="0"/>
              <a:t>лементы графики, </a:t>
            </a:r>
            <a:r>
              <a:rPr lang="ru-RU" dirty="0"/>
              <a:t>п</a:t>
            </a:r>
            <a:r>
              <a:rPr lang="ru-RU" dirty="0" smtClean="0"/>
              <a:t>ользовательский ввод, </a:t>
            </a:r>
          </a:p>
          <a:p>
            <a:r>
              <a:rPr lang="ru-RU" dirty="0"/>
              <a:t>а</a:t>
            </a:r>
            <a:r>
              <a:rPr lang="ru-RU" dirty="0" smtClean="0"/>
              <a:t>нимация, </a:t>
            </a:r>
            <a:r>
              <a:rPr lang="en-US" dirty="0"/>
              <a:t>3D-</a:t>
            </a:r>
            <a:r>
              <a:rPr lang="ru-RU" dirty="0"/>
              <a:t>графика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31543" y="2133141"/>
            <a:ext cx="110056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Концепция межобъектных коммуникаций – сигналы и слоты, </a:t>
            </a:r>
            <a:r>
              <a:rPr lang="en-US" dirty="0" smtClean="0"/>
              <a:t>qmake, </a:t>
            </a:r>
            <a:r>
              <a:rPr lang="ru-RU" dirty="0" smtClean="0"/>
              <a:t>библиотека контейнеров, </a:t>
            </a:r>
          </a:p>
          <a:p>
            <a:r>
              <a:rPr lang="ru-RU" dirty="0"/>
              <a:t>в</a:t>
            </a:r>
            <a:r>
              <a:rPr lang="ru-RU" dirty="0" smtClean="0"/>
              <a:t>иджеты, события, графика, </a:t>
            </a:r>
            <a:r>
              <a:rPr lang="ru-RU" dirty="0"/>
              <a:t>мультимедиа, </a:t>
            </a:r>
            <a:r>
              <a:rPr lang="ru-RU" dirty="0" smtClean="0"/>
              <a:t>анимация, </a:t>
            </a:r>
            <a:r>
              <a:rPr lang="en-US" dirty="0" smtClean="0"/>
              <a:t>SDI- </a:t>
            </a:r>
            <a:r>
              <a:rPr lang="ru-RU" dirty="0"/>
              <a:t>и М</a:t>
            </a:r>
            <a:r>
              <a:rPr lang="en-US" dirty="0"/>
              <a:t>DI-</a:t>
            </a:r>
            <a:r>
              <a:rPr lang="ru-RU" dirty="0" smtClean="0"/>
              <a:t>приложения, </a:t>
            </a:r>
            <a:r>
              <a:rPr lang="ru-RU" dirty="0"/>
              <a:t>р</a:t>
            </a:r>
            <a:r>
              <a:rPr lang="ru-RU" dirty="0" smtClean="0"/>
              <a:t>абота </a:t>
            </a:r>
            <a:r>
              <a:rPr lang="ru-RU" dirty="0"/>
              <a:t>с файлами, каталогами </a:t>
            </a:r>
            <a:endParaRPr lang="ru-RU" dirty="0" smtClean="0"/>
          </a:p>
          <a:p>
            <a:r>
              <a:rPr lang="ru-RU" dirty="0" smtClean="0"/>
              <a:t>и </a:t>
            </a:r>
            <a:r>
              <a:rPr lang="ru-RU" dirty="0"/>
              <a:t>потоками </a:t>
            </a:r>
            <a:r>
              <a:rPr lang="ru-RU" dirty="0" smtClean="0"/>
              <a:t>ввода/вывода, </a:t>
            </a:r>
            <a:r>
              <a:rPr lang="ru-RU" dirty="0"/>
              <a:t>п</a:t>
            </a:r>
            <a:r>
              <a:rPr lang="ru-RU" dirty="0" smtClean="0"/>
              <a:t>роцессы </a:t>
            </a:r>
            <a:r>
              <a:rPr lang="ru-RU" dirty="0"/>
              <a:t>и потоки</a:t>
            </a:r>
          </a:p>
        </p:txBody>
      </p:sp>
    </p:spTree>
    <p:extLst>
      <p:ext uri="{BB962C8B-B14F-4D97-AF65-F5344CB8AC3E}">
        <p14:creationId xmlns:p14="http://schemas.microsoft.com/office/powerpoint/2010/main" val="3841080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03.12.2025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sp>
        <p:nvSpPr>
          <p:cNvPr id="5" name="Стрелка вправо 4"/>
          <p:cNvSpPr/>
          <p:nvPr/>
        </p:nvSpPr>
        <p:spPr>
          <a:xfrm rot="5400000">
            <a:off x="1149561" y="3368528"/>
            <a:ext cx="576576" cy="179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трелка вправо 5"/>
          <p:cNvSpPr/>
          <p:nvPr/>
        </p:nvSpPr>
        <p:spPr>
          <a:xfrm>
            <a:off x="2073461" y="3935834"/>
            <a:ext cx="603483" cy="52048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1955436" y="2159776"/>
            <a:ext cx="27937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Файл</a:t>
            </a:r>
            <a:r>
              <a:rPr lang="ru-RU" dirty="0"/>
              <a:t> </a:t>
            </a:r>
            <a:r>
              <a:rPr lang="ru-RU" dirty="0" smtClean="0"/>
              <a:t>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02236" y="4481147"/>
            <a:ext cx="12712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Текстовые  файлы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041" y="1958482"/>
            <a:ext cx="849172" cy="1201033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491" y="3185607"/>
            <a:ext cx="1372970" cy="1941871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5124" y="2962168"/>
            <a:ext cx="1887399" cy="2669458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643" y="277534"/>
            <a:ext cx="754265" cy="1066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72034" y="626268"/>
            <a:ext cx="1653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</a:t>
            </a:r>
          </a:p>
        </p:txBody>
      </p:sp>
      <p:sp>
        <p:nvSpPr>
          <p:cNvPr id="17" name="Стрелка вправо 16"/>
          <p:cNvSpPr/>
          <p:nvPr/>
        </p:nvSpPr>
        <p:spPr>
          <a:xfrm rot="5400000">
            <a:off x="5899709" y="1449818"/>
            <a:ext cx="596131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643" y="1778424"/>
            <a:ext cx="723441" cy="102320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710284" y="2105360"/>
            <a:ext cx="1376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Список слов</a:t>
            </a:r>
          </a:p>
        </p:txBody>
      </p:sp>
      <p:sp>
        <p:nvSpPr>
          <p:cNvPr id="20" name="Стрелка вправо 19"/>
          <p:cNvSpPr/>
          <p:nvPr/>
        </p:nvSpPr>
        <p:spPr>
          <a:xfrm rot="5400000">
            <a:off x="5899709" y="2957084"/>
            <a:ext cx="596131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4795288" y="3896300"/>
            <a:ext cx="595800" cy="52048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6331" y="2575201"/>
            <a:ext cx="2362414" cy="3341299"/>
          </a:xfrm>
          <a:prstGeom prst="rect">
            <a:avLst/>
          </a:prstGeom>
        </p:spPr>
      </p:pic>
      <p:sp>
        <p:nvSpPr>
          <p:cNvPr id="23" name="Стрелка вправо 22"/>
          <p:cNvSpPr/>
          <p:nvPr/>
        </p:nvSpPr>
        <p:spPr>
          <a:xfrm>
            <a:off x="7329070" y="3931366"/>
            <a:ext cx="603483" cy="52048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2580" y="3082033"/>
            <a:ext cx="1569016" cy="221915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232821" y="4416784"/>
            <a:ext cx="15052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427967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03.12.2025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635678402"/>
              </p:ext>
            </p:extLst>
          </p:nvPr>
        </p:nvGraphicFramePr>
        <p:xfrm>
          <a:off x="2133600" y="1846263"/>
          <a:ext cx="10058400" cy="40449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0822" y="2980774"/>
            <a:ext cx="509065" cy="72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5564" y="3005462"/>
            <a:ext cx="509065" cy="72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6074" y="3014983"/>
            <a:ext cx="509065" cy="72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01937" y="3014983"/>
            <a:ext cx="509065" cy="72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149620" y="2553320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190436" y="2553320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хранит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97279" y="2556907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414347" y="2553319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46823" y="2553318"/>
            <a:ext cx="1814301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хранит базу релевантности</a:t>
            </a:r>
            <a:endParaRPr lang="ru-RU" sz="1200" dirty="0"/>
          </a:p>
        </p:txBody>
      </p:sp>
      <p:sp>
        <p:nvSpPr>
          <p:cNvPr id="17" name="TextBox 16"/>
          <p:cNvSpPr txBox="1"/>
          <p:nvPr/>
        </p:nvSpPr>
        <p:spPr>
          <a:xfrm>
            <a:off x="5152252" y="5129628"/>
            <a:ext cx="17768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9539559" y="4923827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946" y="2951899"/>
            <a:ext cx="509070" cy="720000"/>
          </a:xfrm>
          <a:prstGeom prst="rect">
            <a:avLst/>
          </a:prstGeom>
        </p:spPr>
      </p:pic>
      <p:pic>
        <p:nvPicPr>
          <p:cNvPr id="30" name="Рисунок 29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4669" y="2952141"/>
            <a:ext cx="509070" cy="720000"/>
          </a:xfrm>
          <a:prstGeom prst="rect">
            <a:avLst/>
          </a:prstGeom>
        </p:spPr>
      </p:pic>
      <p:pic>
        <p:nvPicPr>
          <p:cNvPr id="31" name="Рисунок 30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3987" y="2952141"/>
            <a:ext cx="509070" cy="72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299" y="5292017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1091517" y="4270658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000" b="1" kern="1200" dirty="0" smtClean="0"/>
                <a:t>Logger</a:t>
              </a:r>
              <a:endParaRPr lang="ru-RU" sz="2000" b="1" kern="1200" dirty="0"/>
            </a:p>
          </p:txBody>
        </p:sp>
      </p:grpSp>
      <p:sp>
        <p:nvSpPr>
          <p:cNvPr id="40" name="TextBox 39"/>
          <p:cNvSpPr txBox="1"/>
          <p:nvPr/>
        </p:nvSpPr>
        <p:spPr>
          <a:xfrm>
            <a:off x="1062553" y="4806462"/>
            <a:ext cx="1424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Логирует события в лог-файлы и в консоль</a:t>
            </a:r>
            <a:endParaRPr lang="ru-RU" sz="1200" dirty="0"/>
          </a:p>
        </p:txBody>
      </p:sp>
      <p:pic>
        <p:nvPicPr>
          <p:cNvPr id="42" name="Рисунок 4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8026" y="5292017"/>
            <a:ext cx="509070" cy="72000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3310" y="2966363"/>
            <a:ext cx="509065" cy="720000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4327" y="3005264"/>
            <a:ext cx="491750" cy="695510"/>
          </a:xfrm>
          <a:prstGeom prst="rect">
            <a:avLst/>
          </a:prstGeom>
        </p:spPr>
      </p:pic>
      <p:pic>
        <p:nvPicPr>
          <p:cNvPr id="28" name="Рисунок 27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4836" y="3002040"/>
            <a:ext cx="509065" cy="72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5346" y="3025732"/>
            <a:ext cx="509065" cy="720000"/>
          </a:xfrm>
          <a:prstGeom prst="rect">
            <a:avLst/>
          </a:prstGeom>
        </p:spPr>
      </p:pic>
      <p:pic>
        <p:nvPicPr>
          <p:cNvPr id="44" name="Рисунок 43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607" y="3022221"/>
            <a:ext cx="509065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2097" y="5218935"/>
            <a:ext cx="514862" cy="728199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6138" y="5331014"/>
            <a:ext cx="476195" cy="673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Стрелка вправо 67"/>
          <p:cNvSpPr/>
          <p:nvPr/>
        </p:nvSpPr>
        <p:spPr>
          <a:xfrm>
            <a:off x="2497365" y="-203025"/>
            <a:ext cx="9110227" cy="3960000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03.12.2025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3236179" y="5213448"/>
            <a:ext cx="900000" cy="90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564467" y="4154088"/>
            <a:ext cx="1375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запросов</a:t>
            </a:r>
            <a:r>
              <a:rPr lang="ru-RU" sz="1100" dirty="0"/>
              <a:t>;</a:t>
            </a:r>
            <a:r>
              <a:rPr lang="en-US" sz="1100" dirty="0" smtClean="0"/>
              <a:t> </a:t>
            </a:r>
            <a:endParaRPr lang="ru-RU" sz="1100" dirty="0" smtClean="0"/>
          </a:p>
          <a:p>
            <a:pPr marL="285750" indent="-285750">
              <a:buFontTx/>
              <a:buChar char="-"/>
            </a:pPr>
            <a:r>
              <a:rPr lang="ru-RU" sz="1100" dirty="0" smtClean="0"/>
              <a:t>ответов</a:t>
            </a:r>
            <a:endParaRPr lang="ru-RU" sz="1100" dirty="0"/>
          </a:p>
        </p:txBody>
      </p:sp>
      <p:pic>
        <p:nvPicPr>
          <p:cNvPr id="28" name="Рисунок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2330" y="3303385"/>
            <a:ext cx="944416" cy="1335742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6774" y="3276746"/>
            <a:ext cx="948137" cy="1341005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9940" y="3220670"/>
            <a:ext cx="1002898" cy="1418457"/>
          </a:xfrm>
          <a:prstGeom prst="rect">
            <a:avLst/>
          </a:prstGeom>
        </p:spPr>
      </p:pic>
      <p:sp>
        <p:nvSpPr>
          <p:cNvPr id="53" name="Стрелка вправо 52"/>
          <p:cNvSpPr/>
          <p:nvPr/>
        </p:nvSpPr>
        <p:spPr>
          <a:xfrm rot="16200000">
            <a:off x="11023784" y="287673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87385" y="4588444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1646850" y="288245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3281347" y="3555668"/>
            <a:ext cx="1375698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запросов</a:t>
            </a:r>
            <a:r>
              <a:rPr lang="ru-RU" sz="1100" dirty="0"/>
              <a:t>;</a:t>
            </a:r>
            <a:r>
              <a:rPr lang="en-US" sz="1100" dirty="0" smtClean="0"/>
              <a:t> </a:t>
            </a:r>
            <a:endParaRPr lang="ru-RU" sz="11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06746" y="5206213"/>
            <a:ext cx="900000" cy="90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4032250" y="470359"/>
              <a:ext cx="690074" cy="63890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Documents</a:t>
              </a:r>
              <a:endParaRPr lang="ru-RU" sz="110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66905" y="286943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63824" y="289932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134562" y="448562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88882" y="448385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86937" y="5124120"/>
            <a:ext cx="900000" cy="90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3400233" y="289701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3399357" y="456917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52838" y="5102824"/>
            <a:ext cx="900000" cy="900000"/>
            <a:chOff x="5151860" y="405415"/>
            <a:chExt cx="1083633" cy="1083633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204" y="2623849"/>
            <a:ext cx="1250395" cy="1768506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2939" y="2732393"/>
            <a:ext cx="1411202" cy="199594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301" y="3404765"/>
            <a:ext cx="1470499" cy="2079812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9500" y="3424390"/>
            <a:ext cx="1411202" cy="1995945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0882" y="2849245"/>
            <a:ext cx="1250395" cy="1768506"/>
          </a:xfrm>
          <a:prstGeom prst="rect">
            <a:avLst/>
          </a:prstGeom>
        </p:spPr>
      </p:pic>
      <p:grpSp>
        <p:nvGrpSpPr>
          <p:cNvPr id="91" name="Группа 90"/>
          <p:cNvGrpSpPr>
            <a:grpSpLocks noChangeAspect="1"/>
          </p:cNvGrpSpPr>
          <p:nvPr/>
        </p:nvGrpSpPr>
        <p:grpSpPr>
          <a:xfrm>
            <a:off x="2601602" y="908592"/>
            <a:ext cx="1555226" cy="1692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5679" y="1371283"/>
            <a:ext cx="662506" cy="937021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874" y="1320452"/>
            <a:ext cx="707820" cy="100111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83426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Documents</a:t>
                </a:r>
                <a:endParaRPr lang="ru-RU" sz="1100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841517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Inverted</a:t>
                </a:r>
              </a:p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Index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2" name="Рисунок 101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2829" y="1614852"/>
            <a:ext cx="450738" cy="637505"/>
          </a:xfrm>
          <a:prstGeom prst="rect">
            <a:avLst/>
          </a:prstGeom>
        </p:spPr>
      </p:pic>
      <p:grpSp>
        <p:nvGrpSpPr>
          <p:cNvPr id="104" name="Группа 103"/>
          <p:cNvGrpSpPr/>
          <p:nvPr/>
        </p:nvGrpSpPr>
        <p:grpSpPr>
          <a:xfrm>
            <a:off x="7979153" y="838645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Requests</a:t>
                </a:r>
                <a:endParaRPr lang="ru-RU" sz="1100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832253" y="82450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Response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15" name="Рисунок 1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3069" y="1661057"/>
            <a:ext cx="403126" cy="570165"/>
          </a:xfrm>
          <a:prstGeom prst="rect">
            <a:avLst/>
          </a:prstGeom>
        </p:spPr>
      </p:pic>
      <p:pic>
        <p:nvPicPr>
          <p:cNvPr id="116" name="Рисунок 11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2641" y="1671102"/>
            <a:ext cx="382749" cy="541344"/>
          </a:xfrm>
          <a:prstGeom prst="rect">
            <a:avLst/>
          </a:prstGeom>
        </p:spPr>
      </p:pic>
      <p:grpSp>
        <p:nvGrpSpPr>
          <p:cNvPr id="118" name="Группа 117"/>
          <p:cNvGrpSpPr/>
          <p:nvPr/>
        </p:nvGrpSpPr>
        <p:grpSpPr>
          <a:xfrm>
            <a:off x="342791" y="904799"/>
            <a:ext cx="1800000" cy="1800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Search</a:t>
                </a:r>
              </a:p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Engine</a:t>
                </a:r>
                <a:endParaRPr lang="ru-RU" sz="1100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414" y="1251787"/>
            <a:ext cx="1060186" cy="1499483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2806" y="1421535"/>
            <a:ext cx="841102" cy="1189619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3624" y="1493642"/>
            <a:ext cx="766243" cy="1083742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3180" y="1439902"/>
            <a:ext cx="842235" cy="1191221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7377" y="1488732"/>
            <a:ext cx="767313" cy="1085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03.12.2025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149109" y="3074262"/>
            <a:ext cx="21388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 путей </a:t>
            </a:r>
            <a:endParaRPr lang="en-US" dirty="0" smtClean="0"/>
          </a:p>
          <a:p>
            <a:r>
              <a:rPr lang="ru-RU" dirty="0" smtClean="0"/>
              <a:t>файлов </a:t>
            </a:r>
            <a:r>
              <a:rPr lang="ru-RU" dirty="0"/>
              <a:t>документов</a:t>
            </a:r>
          </a:p>
        </p:txBody>
      </p:sp>
      <p:sp>
        <p:nvSpPr>
          <p:cNvPr id="15" name="Стрелка вправо 14"/>
          <p:cNvSpPr/>
          <p:nvPr/>
        </p:nvSpPr>
        <p:spPr>
          <a:xfrm>
            <a:off x="2729251" y="312474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5095990" y="315746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7621477" y="311505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/>
          <p:cNvSpPr txBox="1"/>
          <p:nvPr/>
        </p:nvSpPr>
        <p:spPr>
          <a:xfrm>
            <a:off x="8214283" y="3061288"/>
            <a:ext cx="14094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 документов</a:t>
            </a:r>
            <a:endParaRPr lang="ru-RU" dirty="0"/>
          </a:p>
        </p:txBody>
      </p:sp>
      <p:sp>
        <p:nvSpPr>
          <p:cNvPr id="23" name="Стрелка вправо 22"/>
          <p:cNvSpPr/>
          <p:nvPr/>
        </p:nvSpPr>
        <p:spPr>
          <a:xfrm>
            <a:off x="9699601" y="312474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763327" y="1802559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Dispatcher</a:t>
                </a:r>
                <a:endParaRPr lang="ru-RU" sz="1100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Operations</a:t>
                </a:r>
                <a:endParaRPr lang="ru-RU" sz="1100" b="1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858268" y="1825090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10274727" y="1809381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Documents</a:t>
                </a:r>
                <a:endParaRPr lang="ru-RU" sz="1100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1066800" y="4069357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Inverted</a:t>
                </a:r>
              </a:p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Index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0851" y="1625409"/>
            <a:ext cx="1275202" cy="18035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8992" y="1562255"/>
            <a:ext cx="1394439" cy="1972235"/>
          </a:xfrm>
          <a:prstGeom prst="rect">
            <a:avLst/>
          </a:prstGeom>
        </p:spPr>
      </p:pic>
      <p:pic>
        <p:nvPicPr>
          <p:cNvPr id="65" name="Рисунок 6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065" y="2378449"/>
            <a:ext cx="796407" cy="1126404"/>
          </a:xfrm>
          <a:prstGeom prst="rect">
            <a:avLst/>
          </a:prstGeom>
        </p:spPr>
      </p:pic>
      <p:pic>
        <p:nvPicPr>
          <p:cNvPr id="66" name="Рисунок 6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117" y="2404602"/>
            <a:ext cx="732847" cy="103650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4249" y="2132992"/>
            <a:ext cx="803376" cy="1136262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955" y="4882773"/>
            <a:ext cx="429863" cy="60798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1772" y="4415613"/>
            <a:ext cx="804972" cy="1138518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233735" y="2345924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4" name="Прямоугольник 73"/>
          <p:cNvSpPr/>
          <p:nvPr/>
        </p:nvSpPr>
        <p:spPr>
          <a:xfrm>
            <a:off x="298806" y="450931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9730" y="3425767"/>
            <a:ext cx="442447" cy="312825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77975" y="3266236"/>
            <a:ext cx="406677" cy="575187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936" y="5479012"/>
            <a:ext cx="471798" cy="667291"/>
          </a:xfrm>
          <a:prstGeom prst="rect">
            <a:avLst/>
          </a:prstGeom>
        </p:spPr>
      </p:pic>
      <p:graphicFrame>
        <p:nvGraphicFramePr>
          <p:cNvPr id="76" name="Таблица 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6330016"/>
              </p:ext>
            </p:extLst>
          </p:nvPr>
        </p:nvGraphicFramePr>
        <p:xfrm>
          <a:off x="4400929" y="5399093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4400929" y="4940338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2727" y="3479857"/>
            <a:ext cx="580393" cy="410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03.12.2025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53" name="TextBox 52"/>
          <p:cNvSpPr txBox="1"/>
          <p:nvPr/>
        </p:nvSpPr>
        <p:spPr>
          <a:xfrm>
            <a:off x="4381984" y="3139672"/>
            <a:ext cx="12934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 </a:t>
            </a:r>
          </a:p>
          <a:p>
            <a:r>
              <a:rPr lang="ru-RU" dirty="0" smtClean="0"/>
              <a:t>запросов</a:t>
            </a:r>
            <a:endParaRPr lang="ru-RU" dirty="0"/>
          </a:p>
        </p:txBody>
      </p:sp>
      <p:sp>
        <p:nvSpPr>
          <p:cNvPr id="54" name="Стрелка вправо 53"/>
          <p:cNvSpPr/>
          <p:nvPr/>
        </p:nvSpPr>
        <p:spPr>
          <a:xfrm>
            <a:off x="3517687" y="327521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6014698" y="330137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1527041" y="1934691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6825773" y="1981618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Requests</a:t>
                </a:r>
                <a:endParaRPr lang="ru-RU" sz="1100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1557850" y="4141081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Response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1448" y="1735083"/>
            <a:ext cx="1550516" cy="2192985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9189" y="4973216"/>
            <a:ext cx="403126" cy="570165"/>
          </a:xfrm>
          <a:prstGeom prst="rect">
            <a:avLst/>
          </a:prstGeom>
        </p:spPr>
      </p:pic>
      <p:pic>
        <p:nvPicPr>
          <p:cNvPr id="51" name="Рисунок 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3125" y="4987626"/>
            <a:ext cx="382749" cy="541344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7381" y="4438272"/>
            <a:ext cx="853430" cy="1207056"/>
          </a:xfrm>
          <a:prstGeom prst="rect">
            <a:avLst/>
          </a:prstGeom>
        </p:spPr>
      </p:pic>
      <p:pic>
        <p:nvPicPr>
          <p:cNvPr id="52" name="Рисунок 5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9173" y="2536914"/>
            <a:ext cx="732847" cy="1036507"/>
          </a:xfrm>
          <a:prstGeom prst="rect">
            <a:avLst/>
          </a:prstGeom>
        </p:spPr>
      </p:pic>
      <p:pic>
        <p:nvPicPr>
          <p:cNvPr id="56" name="Рисунок 5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9189" y="2491966"/>
            <a:ext cx="796407" cy="1126404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7738" y="2427406"/>
            <a:ext cx="742716" cy="1050466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590715" y="2359645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7" name="Прямоугольник 56"/>
          <p:cNvSpPr/>
          <p:nvPr/>
        </p:nvSpPr>
        <p:spPr>
          <a:xfrm>
            <a:off x="743115" y="457941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9096" y="3458097"/>
            <a:ext cx="479870" cy="678708"/>
          </a:xfrm>
          <a:prstGeom prst="rect">
            <a:avLst/>
          </a:prstGeom>
        </p:spPr>
      </p:pic>
      <p:graphicFrame>
        <p:nvGraphicFramePr>
          <p:cNvPr id="58" name="Таблица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4290062"/>
              </p:ext>
            </p:extLst>
          </p:nvPr>
        </p:nvGraphicFramePr>
        <p:xfrm>
          <a:off x="3879822" y="4560104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878910" y="4108268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3878910" y="5544024"/>
            <a:ext cx="32735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Относительная релевантность: 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3878910" y="5919768"/>
            <a:ext cx="297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Абсолютная релевантность: </a:t>
            </a:r>
            <a:endParaRPr lang="ru-RU" dirty="0"/>
          </a:p>
        </p:txBody>
      </p:sp>
      <p:pic>
        <p:nvPicPr>
          <p:cNvPr id="13" name="Рисунок 12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2256" y="3645370"/>
            <a:ext cx="430192" cy="304161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5188" y="5624314"/>
            <a:ext cx="424789" cy="600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03.12.2025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731707" y="321004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480344" y="328138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8850" y="2291852"/>
            <a:ext cx="1349153" cy="190818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0153" y="5205582"/>
            <a:ext cx="2075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путь </a:t>
            </a:r>
            <a:r>
              <a:rPr lang="ru-RU" dirty="0"/>
              <a:t>файла ответов</a:t>
            </a:r>
          </a:p>
        </p:txBody>
      </p:sp>
      <p:sp>
        <p:nvSpPr>
          <p:cNvPr id="24" name="Стрелка вправо 23"/>
          <p:cNvSpPr/>
          <p:nvPr/>
        </p:nvSpPr>
        <p:spPr>
          <a:xfrm>
            <a:off x="5652567" y="569435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663836" y="564460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3295887" y="5722617"/>
            <a:ext cx="2277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JSON-</a:t>
            </a:r>
            <a:r>
              <a:rPr lang="ru-RU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>
            <a:off x="5652567" y="514793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8116284" y="524082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586542" y="19760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Response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5446916" y="1814297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86172" y="4296316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6256393" y="4342257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Dispatcher</a:t>
                </a:r>
                <a:endParaRPr lang="ru-RU" sz="1100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Operations</a:t>
                </a:r>
                <a:endParaRPr lang="ru-RU" sz="1100" b="1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356703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661635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66163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4966566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496656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271498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271499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576429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576430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881361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88136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294763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590499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898701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05840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09778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07868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87" name="Рисунок 8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3557" y="4992124"/>
            <a:ext cx="726596" cy="102766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8016" y="4752243"/>
            <a:ext cx="1060129" cy="1499402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6037" y="4065624"/>
            <a:ext cx="1231779" cy="1742177"/>
          </a:xfrm>
          <a:prstGeom prst="rect">
            <a:avLst/>
          </a:prstGeom>
        </p:spPr>
      </p:pic>
      <p:pic>
        <p:nvPicPr>
          <p:cNvPr id="88" name="Рисунок 8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210" y="2306263"/>
            <a:ext cx="853430" cy="1207056"/>
          </a:xfrm>
          <a:prstGeom prst="rect">
            <a:avLst/>
          </a:prstGeom>
        </p:spPr>
      </p:pic>
      <p:pic>
        <p:nvPicPr>
          <p:cNvPr id="89" name="Рисунок 8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666" y="2817814"/>
            <a:ext cx="403452" cy="570625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914" y="2804960"/>
            <a:ext cx="422003" cy="596864"/>
          </a:xfrm>
          <a:prstGeom prst="rect">
            <a:avLst/>
          </a:prstGeom>
        </p:spPr>
      </p:pic>
      <p:pic>
        <p:nvPicPr>
          <p:cNvPr id="91" name="Рисунок 9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3153" y="2437012"/>
            <a:ext cx="732847" cy="1036507"/>
          </a:xfrm>
          <a:prstGeom prst="rect">
            <a:avLst/>
          </a:prstGeom>
        </p:spPr>
      </p:pic>
      <p:pic>
        <p:nvPicPr>
          <p:cNvPr id="92" name="Рисунок 9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4228" y="2386915"/>
            <a:ext cx="796407" cy="1126404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0635" y="2277912"/>
            <a:ext cx="726596" cy="1027666"/>
          </a:xfrm>
          <a:prstGeom prst="rect">
            <a:avLst/>
          </a:prstGeom>
        </p:spPr>
      </p:pic>
      <p:pic>
        <p:nvPicPr>
          <p:cNvPr id="94" name="Рисунок 9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0566" y="4757665"/>
            <a:ext cx="726596" cy="1027666"/>
          </a:xfrm>
          <a:prstGeom prst="rect">
            <a:avLst/>
          </a:prstGeom>
        </p:spPr>
      </p:pic>
      <p:pic>
        <p:nvPicPr>
          <p:cNvPr id="95" name="Рисунок 9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096" y="4938089"/>
            <a:ext cx="732847" cy="1036507"/>
          </a:xfrm>
          <a:prstGeom prst="rect">
            <a:avLst/>
          </a:prstGeom>
        </p:spPr>
      </p:pic>
      <p:pic>
        <p:nvPicPr>
          <p:cNvPr id="96" name="Рисунок 9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701" y="4939670"/>
            <a:ext cx="728042" cy="1029711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36533" y="2550189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71636" y="4883914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323526" y="6000730"/>
            <a:ext cx="1489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</a:t>
            </a:r>
            <a:endParaRPr lang="ru-RU" dirty="0"/>
          </a:p>
        </p:txBody>
      </p:sp>
      <p:pic>
        <p:nvPicPr>
          <p:cNvPr id="98" name="Рисунок 97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0010" y="5886916"/>
            <a:ext cx="601341" cy="42516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7125" y="3694672"/>
            <a:ext cx="567280" cy="401087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4806" y="3495697"/>
            <a:ext cx="554399" cy="391979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418" y="5953015"/>
            <a:ext cx="470973" cy="332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3214064" y="947774"/>
            <a:ext cx="5615303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>
                  <a:solidFill>
                    <a:schemeClr val="tx1"/>
                  </a:solidFill>
                </a:rPr>
                <a:t>DispatcherOperations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03.12.2025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2133600" y="-474663"/>
            <a:ext cx="10058400" cy="1114426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Чтение и запись документов в отдельных потоках без использования мьютексов</a:t>
            </a:r>
            <a:endParaRPr lang="ru-RU" dirty="0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2133600" y="4289425"/>
          <a:ext cx="10058400" cy="15795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9" name="Рисунок 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9084" y="2081260"/>
            <a:ext cx="1908995" cy="2700000"/>
          </a:xfrm>
          <a:prstGeom prst="rect">
            <a:avLst/>
          </a:prstGeom>
        </p:spPr>
      </p:pic>
      <p:sp>
        <p:nvSpPr>
          <p:cNvPr id="21" name="Стрелка вправо 20"/>
          <p:cNvSpPr/>
          <p:nvPr/>
        </p:nvSpPr>
        <p:spPr>
          <a:xfrm>
            <a:off x="3704945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5" y="1854991"/>
            <a:ext cx="509065" cy="720000"/>
          </a:xfrm>
          <a:prstGeom prst="rect">
            <a:avLst/>
          </a:prstGeom>
        </p:spPr>
      </p:pic>
      <p:sp>
        <p:nvSpPr>
          <p:cNvPr id="25" name="Стрелка вправо 24"/>
          <p:cNvSpPr/>
          <p:nvPr/>
        </p:nvSpPr>
        <p:spPr>
          <a:xfrm>
            <a:off x="3704945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4" y="3096414"/>
            <a:ext cx="509065" cy="720000"/>
          </a:xfrm>
          <a:prstGeom prst="rect">
            <a:avLst/>
          </a:prstGeom>
        </p:spPr>
      </p:pic>
      <p:sp>
        <p:nvSpPr>
          <p:cNvPr id="27" name="Стрелка вправо 26"/>
          <p:cNvSpPr/>
          <p:nvPr/>
        </p:nvSpPr>
        <p:spPr>
          <a:xfrm>
            <a:off x="3704944" y="494678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3" y="5123567"/>
            <a:ext cx="509065" cy="720000"/>
          </a:xfrm>
          <a:prstGeom prst="rect">
            <a:avLst/>
          </a:prstGeom>
        </p:spPr>
      </p:pic>
      <p:sp>
        <p:nvSpPr>
          <p:cNvPr id="29" name="Овал 28"/>
          <p:cNvSpPr/>
          <p:nvPr/>
        </p:nvSpPr>
        <p:spPr>
          <a:xfrm>
            <a:off x="4351921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351921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351921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3608689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3613048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603881" y="486451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4104550" y="2008195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i]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104550" y="3251042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[i+1, k]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4092126" y="5325816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[m+1, n]</a:t>
            </a:r>
            <a:endParaRPr lang="ru-RU" dirty="0"/>
          </a:p>
        </p:txBody>
      </p:sp>
      <p:pic>
        <p:nvPicPr>
          <p:cNvPr id="43" name="Рисунок 4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2657" y="2076918"/>
            <a:ext cx="1908993" cy="2700000"/>
          </a:xfrm>
          <a:prstGeom prst="rect">
            <a:avLst/>
          </a:prstGeom>
        </p:spPr>
      </p:pic>
      <p:sp>
        <p:nvSpPr>
          <p:cNvPr id="45" name="Прямоугольник 44"/>
          <p:cNvSpPr/>
          <p:nvPr/>
        </p:nvSpPr>
        <p:spPr>
          <a:xfrm>
            <a:off x="7348716" y="1974665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6386864" y="2005743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/>
          <p:nvPr/>
        </p:nvCxnSpPr>
        <p:spPr>
          <a:xfrm>
            <a:off x="6386864" y="275003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Прямая со стрелкой 55"/>
          <p:cNvCxnSpPr/>
          <p:nvPr/>
        </p:nvCxnSpPr>
        <p:spPr>
          <a:xfrm>
            <a:off x="6386864" y="310129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Прямая со стрелкой 56"/>
          <p:cNvCxnSpPr/>
          <p:nvPr/>
        </p:nvCxnSpPr>
        <p:spPr>
          <a:xfrm>
            <a:off x="6386864" y="399146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Прямая со стрелкой 57"/>
          <p:cNvCxnSpPr/>
          <p:nvPr/>
        </p:nvCxnSpPr>
        <p:spPr>
          <a:xfrm>
            <a:off x="6386864" y="512356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Прямая со стрелкой 58"/>
          <p:cNvCxnSpPr/>
          <p:nvPr/>
        </p:nvCxnSpPr>
        <p:spPr>
          <a:xfrm>
            <a:off x="6386864" y="56610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/>
          <p:cNvSpPr/>
          <p:nvPr/>
        </p:nvSpPr>
        <p:spPr>
          <a:xfrm>
            <a:off x="7342273" y="200164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7332441" y="195084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62" name="Прямоугольник 61"/>
          <p:cNvSpPr/>
          <p:nvPr/>
        </p:nvSpPr>
        <p:spPr>
          <a:xfrm>
            <a:off x="7343868" y="272295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TextBox 62"/>
          <p:cNvSpPr txBox="1"/>
          <p:nvPr/>
        </p:nvSpPr>
        <p:spPr>
          <a:xfrm>
            <a:off x="7330904" y="2668680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64" name="Прямоугольник 63"/>
          <p:cNvSpPr/>
          <p:nvPr/>
        </p:nvSpPr>
        <p:spPr>
          <a:xfrm>
            <a:off x="7348114" y="299474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TextBox 64"/>
          <p:cNvSpPr txBox="1"/>
          <p:nvPr/>
        </p:nvSpPr>
        <p:spPr>
          <a:xfrm>
            <a:off x="7348114" y="2943943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66" name="Прямоугольник 65"/>
          <p:cNvSpPr/>
          <p:nvPr/>
        </p:nvSpPr>
        <p:spPr>
          <a:xfrm>
            <a:off x="7346132" y="4874089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7355964" y="4823290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68" name="Прямоугольник 67"/>
          <p:cNvSpPr/>
          <p:nvPr/>
        </p:nvSpPr>
        <p:spPr>
          <a:xfrm>
            <a:off x="7346032" y="5393413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TextBox 68"/>
          <p:cNvSpPr txBox="1"/>
          <p:nvPr/>
        </p:nvSpPr>
        <p:spPr>
          <a:xfrm>
            <a:off x="7346032" y="534261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70" name="Прямоугольник 69"/>
          <p:cNvSpPr/>
          <p:nvPr/>
        </p:nvSpPr>
        <p:spPr>
          <a:xfrm>
            <a:off x="7342354" y="387925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TextBox 70"/>
          <p:cNvSpPr txBox="1"/>
          <p:nvPr/>
        </p:nvSpPr>
        <p:spPr>
          <a:xfrm>
            <a:off x="7342354" y="3828456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72" name="Овал 71"/>
          <p:cNvSpPr/>
          <p:nvPr/>
        </p:nvSpPr>
        <p:spPr>
          <a:xfrm>
            <a:off x="6686260" y="2127311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Овал 72"/>
          <p:cNvSpPr/>
          <p:nvPr/>
        </p:nvSpPr>
        <p:spPr>
          <a:xfrm>
            <a:off x="6688662" y="246854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Овал 73"/>
          <p:cNvSpPr/>
          <p:nvPr/>
        </p:nvSpPr>
        <p:spPr>
          <a:xfrm>
            <a:off x="6690577" y="2290874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Овал 74"/>
          <p:cNvSpPr/>
          <p:nvPr/>
        </p:nvSpPr>
        <p:spPr>
          <a:xfrm>
            <a:off x="6686260" y="3743100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Овал 75"/>
          <p:cNvSpPr/>
          <p:nvPr/>
        </p:nvSpPr>
        <p:spPr>
          <a:xfrm>
            <a:off x="6687919" y="348897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7" name="Овал 76"/>
          <p:cNvSpPr/>
          <p:nvPr/>
        </p:nvSpPr>
        <p:spPr>
          <a:xfrm>
            <a:off x="6693508" y="3249341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Овал 77"/>
          <p:cNvSpPr/>
          <p:nvPr/>
        </p:nvSpPr>
        <p:spPr>
          <a:xfrm>
            <a:off x="6677968" y="5215147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9" name="Овал 78"/>
          <p:cNvSpPr/>
          <p:nvPr/>
        </p:nvSpPr>
        <p:spPr>
          <a:xfrm>
            <a:off x="6684796" y="5508250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0" name="Овал 79"/>
          <p:cNvSpPr/>
          <p:nvPr/>
        </p:nvSpPr>
        <p:spPr>
          <a:xfrm>
            <a:off x="6686260" y="535259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1" name="Овал 80"/>
          <p:cNvSpPr/>
          <p:nvPr/>
        </p:nvSpPr>
        <p:spPr>
          <a:xfrm>
            <a:off x="7483284" y="234715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2" name="Овал 81"/>
          <p:cNvSpPr/>
          <p:nvPr/>
        </p:nvSpPr>
        <p:spPr>
          <a:xfrm>
            <a:off x="7484805" y="244828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3" name="Овал 82"/>
          <p:cNvSpPr/>
          <p:nvPr/>
        </p:nvSpPr>
        <p:spPr>
          <a:xfrm>
            <a:off x="7483284" y="257128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7483284" y="3344576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5" name="Овал 84"/>
          <p:cNvSpPr/>
          <p:nvPr/>
        </p:nvSpPr>
        <p:spPr>
          <a:xfrm>
            <a:off x="7490532" y="348473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Овал 85"/>
          <p:cNvSpPr/>
          <p:nvPr/>
        </p:nvSpPr>
        <p:spPr>
          <a:xfrm>
            <a:off x="7456864" y="364792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7" name="Овал 86"/>
          <p:cNvSpPr/>
          <p:nvPr/>
        </p:nvSpPr>
        <p:spPr>
          <a:xfrm>
            <a:off x="7511114" y="517637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8" name="Овал 87"/>
          <p:cNvSpPr/>
          <p:nvPr/>
        </p:nvSpPr>
        <p:spPr>
          <a:xfrm>
            <a:off x="7475114" y="5289816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Овал 88"/>
          <p:cNvSpPr/>
          <p:nvPr/>
        </p:nvSpPr>
        <p:spPr>
          <a:xfrm>
            <a:off x="7662220" y="523493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0" name="TextBox 89"/>
          <p:cNvSpPr txBox="1"/>
          <p:nvPr/>
        </p:nvSpPr>
        <p:spPr>
          <a:xfrm>
            <a:off x="7139192" y="1384470"/>
            <a:ext cx="13565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документов</a:t>
            </a:r>
            <a:endParaRPr lang="ru-RU" dirty="0"/>
          </a:p>
        </p:txBody>
      </p:sp>
      <p:sp>
        <p:nvSpPr>
          <p:cNvPr id="91" name="Стрелка вправо 90"/>
          <p:cNvSpPr/>
          <p:nvPr/>
        </p:nvSpPr>
        <p:spPr>
          <a:xfrm>
            <a:off x="1796588" y="3198155"/>
            <a:ext cx="126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5" name="Группа 94"/>
          <p:cNvGrpSpPr/>
          <p:nvPr/>
        </p:nvGrpSpPr>
        <p:grpSpPr>
          <a:xfrm>
            <a:off x="1938992" y="3076750"/>
            <a:ext cx="720000" cy="720000"/>
            <a:chOff x="2231630" y="400301"/>
            <a:chExt cx="1069963" cy="1069963"/>
          </a:xfrm>
        </p:grpSpPr>
        <p:sp>
          <p:nvSpPr>
            <p:cNvPr id="96" name="Овал 95"/>
            <p:cNvSpPr/>
            <p:nvPr/>
          </p:nvSpPr>
          <p:spPr>
            <a:xfrm>
              <a:off x="2231630" y="400301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97" name="Овал 4"/>
            <p:cNvSpPr/>
            <p:nvPr/>
          </p:nvSpPr>
          <p:spPr>
            <a:xfrm>
              <a:off x="2388322" y="556993"/>
              <a:ext cx="7200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Search</a:t>
              </a:r>
              <a:endParaRPr lang="ru-RU" sz="1200" kern="1200" dirty="0" smtClean="0"/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Engine</a:t>
              </a:r>
              <a:endParaRPr lang="ru-RU" sz="1200" kern="1200" dirty="0"/>
            </a:p>
          </p:txBody>
        </p:sp>
      </p:grpSp>
      <p:sp>
        <p:nvSpPr>
          <p:cNvPr id="98" name="Стрелка вправо 97"/>
          <p:cNvSpPr/>
          <p:nvPr/>
        </p:nvSpPr>
        <p:spPr>
          <a:xfrm>
            <a:off x="9196445" y="3191651"/>
            <a:ext cx="126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9" name="Группа 98"/>
          <p:cNvGrpSpPr/>
          <p:nvPr/>
        </p:nvGrpSpPr>
        <p:grpSpPr>
          <a:xfrm>
            <a:off x="9338849" y="3070246"/>
            <a:ext cx="720000" cy="720000"/>
            <a:chOff x="2231630" y="400301"/>
            <a:chExt cx="1069963" cy="1069963"/>
          </a:xfrm>
        </p:grpSpPr>
        <p:sp>
          <p:nvSpPr>
            <p:cNvPr id="100" name="Овал 99"/>
            <p:cNvSpPr/>
            <p:nvPr/>
          </p:nvSpPr>
          <p:spPr>
            <a:xfrm>
              <a:off x="2231630" y="400301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01" name="Овал 4"/>
            <p:cNvSpPr/>
            <p:nvPr/>
          </p:nvSpPr>
          <p:spPr>
            <a:xfrm>
              <a:off x="2388322" y="556993"/>
              <a:ext cx="7200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Search</a:t>
              </a:r>
              <a:endParaRPr lang="ru-RU" sz="1200" kern="1200" dirty="0" smtClean="0"/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Engine</a:t>
              </a:r>
              <a:endParaRPr lang="ru-RU" sz="1200" kern="1200" dirty="0"/>
            </a:p>
          </p:txBody>
        </p:sp>
      </p:grpSp>
      <p:sp>
        <p:nvSpPr>
          <p:cNvPr id="92" name="Стрелка вправо 91"/>
          <p:cNvSpPr/>
          <p:nvPr/>
        </p:nvSpPr>
        <p:spPr>
          <a:xfrm>
            <a:off x="9146701" y="508872"/>
            <a:ext cx="2520000" cy="1080000"/>
          </a:xfrm>
          <a:prstGeom prst="rightArrow">
            <a:avLst/>
          </a:prstGeom>
          <a:solidFill>
            <a:schemeClr val="bg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1749063" y="947774"/>
            <a:ext cx="7739075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dirty="0" err="1" smtClean="0">
                  <a:solidFill>
                    <a:schemeClr val="tx1"/>
                  </a:solidFill>
                </a:rPr>
                <a:t>StartInvertedIndexing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03.12.2025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2133600" y="287338"/>
            <a:ext cx="10058400" cy="66040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Инвертированная индексация документов в отдельных потоках без использования мьютексов</a:t>
            </a:r>
            <a:endParaRPr lang="ru-RU" dirty="0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2133600" y="4289425"/>
          <a:ext cx="10058400" cy="15795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51" y="1854991"/>
            <a:ext cx="509065" cy="720000"/>
          </a:xfrm>
          <a:prstGeom prst="rect">
            <a:avLst/>
          </a:prstGeom>
        </p:spPr>
      </p:pic>
      <p:sp>
        <p:nvSpPr>
          <p:cNvPr id="21" name="Стрелка вправо 20"/>
          <p:cNvSpPr/>
          <p:nvPr/>
        </p:nvSpPr>
        <p:spPr>
          <a:xfrm>
            <a:off x="2180951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50" y="3096414"/>
            <a:ext cx="509065" cy="720000"/>
          </a:xfrm>
          <a:prstGeom prst="rect">
            <a:avLst/>
          </a:prstGeom>
        </p:spPr>
      </p:pic>
      <p:sp>
        <p:nvSpPr>
          <p:cNvPr id="25" name="Стрелка вправо 24"/>
          <p:cNvSpPr/>
          <p:nvPr/>
        </p:nvSpPr>
        <p:spPr>
          <a:xfrm>
            <a:off x="2180951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49" y="5123567"/>
            <a:ext cx="509065" cy="720000"/>
          </a:xfrm>
          <a:prstGeom prst="rect">
            <a:avLst/>
          </a:prstGeom>
        </p:spPr>
      </p:pic>
      <p:sp>
        <p:nvSpPr>
          <p:cNvPr id="27" name="Стрелка вправо 26"/>
          <p:cNvSpPr/>
          <p:nvPr/>
        </p:nvSpPr>
        <p:spPr>
          <a:xfrm>
            <a:off x="2180950" y="494678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2827927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2827927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2827927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2084695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2089054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2079887" y="486451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2580556" y="2008195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i]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2580556" y="3251042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[i+1, k]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2568132" y="5325816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[m+1, n]</a:t>
            </a:r>
            <a:endParaRPr lang="ru-RU" dirty="0"/>
          </a:p>
        </p:txBody>
      </p:sp>
      <p:graphicFrame>
        <p:nvGraphicFramePr>
          <p:cNvPr id="92" name="Таблица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3281754"/>
              </p:ext>
            </p:extLst>
          </p:nvPr>
        </p:nvGraphicFramePr>
        <p:xfrm>
          <a:off x="4882717" y="1888971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3" name="TextBox 92"/>
          <p:cNvSpPr txBox="1"/>
          <p:nvPr/>
        </p:nvSpPr>
        <p:spPr>
          <a:xfrm>
            <a:off x="5000703" y="1597360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graphicFrame>
        <p:nvGraphicFramePr>
          <p:cNvPr id="94" name="Таблица 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6930662"/>
              </p:ext>
            </p:extLst>
          </p:nvPr>
        </p:nvGraphicFramePr>
        <p:xfrm>
          <a:off x="4877804" y="3113089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2" name="TextBox 101"/>
          <p:cNvSpPr txBox="1"/>
          <p:nvPr/>
        </p:nvSpPr>
        <p:spPr>
          <a:xfrm>
            <a:off x="4995790" y="2821478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graphicFrame>
        <p:nvGraphicFramePr>
          <p:cNvPr id="103" name="Таблица 1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1643158"/>
              </p:ext>
            </p:extLst>
          </p:nvPr>
        </p:nvGraphicFramePr>
        <p:xfrm>
          <a:off x="4897467" y="5168037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4" name="TextBox 103"/>
          <p:cNvSpPr txBox="1"/>
          <p:nvPr/>
        </p:nvSpPr>
        <p:spPr>
          <a:xfrm>
            <a:off x="5015453" y="4876426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106" name="Стрелка вправо 105"/>
          <p:cNvSpPr/>
          <p:nvPr/>
        </p:nvSpPr>
        <p:spPr>
          <a:xfrm>
            <a:off x="1481496" y="319849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Стрелка вправо 106"/>
          <p:cNvSpPr/>
          <p:nvPr/>
        </p:nvSpPr>
        <p:spPr>
          <a:xfrm>
            <a:off x="9584504" y="319849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9" name="Скругленный прямоугольник 108"/>
          <p:cNvSpPr/>
          <p:nvPr/>
        </p:nvSpPr>
        <p:spPr>
          <a:xfrm>
            <a:off x="10373032" y="947773"/>
            <a:ext cx="1707883" cy="5344377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12" name="Прямоугольник 111"/>
          <p:cNvSpPr/>
          <p:nvPr/>
        </p:nvSpPr>
        <p:spPr>
          <a:xfrm>
            <a:off x="10947325" y="2230308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Прямоугольник 112"/>
          <p:cNvSpPr/>
          <p:nvPr/>
        </p:nvSpPr>
        <p:spPr>
          <a:xfrm>
            <a:off x="10940882" y="225728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TextBox 113"/>
          <p:cNvSpPr txBox="1"/>
          <p:nvPr/>
        </p:nvSpPr>
        <p:spPr>
          <a:xfrm>
            <a:off x="10931050" y="22064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15" name="Прямоугольник 114"/>
          <p:cNvSpPr/>
          <p:nvPr/>
        </p:nvSpPr>
        <p:spPr>
          <a:xfrm>
            <a:off x="10942477" y="297859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TextBox 115"/>
          <p:cNvSpPr txBox="1"/>
          <p:nvPr/>
        </p:nvSpPr>
        <p:spPr>
          <a:xfrm>
            <a:off x="10929513" y="2924323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117" name="Прямоугольник 116"/>
          <p:cNvSpPr/>
          <p:nvPr/>
        </p:nvSpPr>
        <p:spPr>
          <a:xfrm>
            <a:off x="10946723" y="325038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8" name="TextBox 117"/>
          <p:cNvSpPr txBox="1"/>
          <p:nvPr/>
        </p:nvSpPr>
        <p:spPr>
          <a:xfrm>
            <a:off x="10946723" y="3199586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119" name="Прямоугольник 118"/>
          <p:cNvSpPr/>
          <p:nvPr/>
        </p:nvSpPr>
        <p:spPr>
          <a:xfrm>
            <a:off x="10944741" y="512973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TextBox 119"/>
          <p:cNvSpPr txBox="1"/>
          <p:nvPr/>
        </p:nvSpPr>
        <p:spPr>
          <a:xfrm>
            <a:off x="10954573" y="5078933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121" name="Прямоугольник 120"/>
          <p:cNvSpPr/>
          <p:nvPr/>
        </p:nvSpPr>
        <p:spPr>
          <a:xfrm>
            <a:off x="10944641" y="5649056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2" name="TextBox 121"/>
          <p:cNvSpPr txBox="1"/>
          <p:nvPr/>
        </p:nvSpPr>
        <p:spPr>
          <a:xfrm>
            <a:off x="10944641" y="559825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23" name="Прямоугольник 122"/>
          <p:cNvSpPr/>
          <p:nvPr/>
        </p:nvSpPr>
        <p:spPr>
          <a:xfrm>
            <a:off x="10940963" y="413489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4" name="TextBox 123"/>
          <p:cNvSpPr txBox="1"/>
          <p:nvPr/>
        </p:nvSpPr>
        <p:spPr>
          <a:xfrm>
            <a:off x="10940963" y="4084099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125" name="Овал 124"/>
          <p:cNvSpPr/>
          <p:nvPr/>
        </p:nvSpPr>
        <p:spPr>
          <a:xfrm>
            <a:off x="11081893" y="260279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6" name="Овал 125"/>
          <p:cNvSpPr/>
          <p:nvPr/>
        </p:nvSpPr>
        <p:spPr>
          <a:xfrm>
            <a:off x="11083414" y="270392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7" name="Овал 126"/>
          <p:cNvSpPr/>
          <p:nvPr/>
        </p:nvSpPr>
        <p:spPr>
          <a:xfrm>
            <a:off x="11081893" y="282692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8" name="Овал 127"/>
          <p:cNvSpPr/>
          <p:nvPr/>
        </p:nvSpPr>
        <p:spPr>
          <a:xfrm>
            <a:off x="11081893" y="360021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9" name="Овал 128"/>
          <p:cNvSpPr/>
          <p:nvPr/>
        </p:nvSpPr>
        <p:spPr>
          <a:xfrm>
            <a:off x="11089141" y="374037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0" name="Овал 129"/>
          <p:cNvSpPr/>
          <p:nvPr/>
        </p:nvSpPr>
        <p:spPr>
          <a:xfrm>
            <a:off x="11055473" y="390356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1" name="Овал 130"/>
          <p:cNvSpPr/>
          <p:nvPr/>
        </p:nvSpPr>
        <p:spPr>
          <a:xfrm>
            <a:off x="11109723" y="543202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2" name="Овал 131"/>
          <p:cNvSpPr/>
          <p:nvPr/>
        </p:nvSpPr>
        <p:spPr>
          <a:xfrm>
            <a:off x="11073723" y="554545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Овал 132"/>
          <p:cNvSpPr/>
          <p:nvPr/>
        </p:nvSpPr>
        <p:spPr>
          <a:xfrm>
            <a:off x="11260829" y="549058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4" name="TextBox 133"/>
          <p:cNvSpPr txBox="1"/>
          <p:nvPr/>
        </p:nvSpPr>
        <p:spPr>
          <a:xfrm>
            <a:off x="10726079" y="1149215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sp>
        <p:nvSpPr>
          <p:cNvPr id="135" name="Прямоугольник 134"/>
          <p:cNvSpPr/>
          <p:nvPr/>
        </p:nvSpPr>
        <p:spPr>
          <a:xfrm>
            <a:off x="279298" y="1964833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6" name="Прямоугольник 135"/>
          <p:cNvSpPr/>
          <p:nvPr/>
        </p:nvSpPr>
        <p:spPr>
          <a:xfrm>
            <a:off x="272855" y="199181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7" name="TextBox 136"/>
          <p:cNvSpPr txBox="1"/>
          <p:nvPr/>
        </p:nvSpPr>
        <p:spPr>
          <a:xfrm>
            <a:off x="263023" y="19410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38" name="Прямоугольник 137"/>
          <p:cNvSpPr/>
          <p:nvPr/>
        </p:nvSpPr>
        <p:spPr>
          <a:xfrm>
            <a:off x="274450" y="271312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9" name="TextBox 138"/>
          <p:cNvSpPr txBox="1"/>
          <p:nvPr/>
        </p:nvSpPr>
        <p:spPr>
          <a:xfrm>
            <a:off x="261486" y="2658848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140" name="Прямоугольник 139"/>
          <p:cNvSpPr/>
          <p:nvPr/>
        </p:nvSpPr>
        <p:spPr>
          <a:xfrm>
            <a:off x="278696" y="298491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1" name="TextBox 140"/>
          <p:cNvSpPr txBox="1"/>
          <p:nvPr/>
        </p:nvSpPr>
        <p:spPr>
          <a:xfrm>
            <a:off x="278696" y="2934111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142" name="Прямоугольник 141"/>
          <p:cNvSpPr/>
          <p:nvPr/>
        </p:nvSpPr>
        <p:spPr>
          <a:xfrm>
            <a:off x="276714" y="4864257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3" name="TextBox 142"/>
          <p:cNvSpPr txBox="1"/>
          <p:nvPr/>
        </p:nvSpPr>
        <p:spPr>
          <a:xfrm>
            <a:off x="286546" y="4813458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144" name="Прямоугольник 143"/>
          <p:cNvSpPr/>
          <p:nvPr/>
        </p:nvSpPr>
        <p:spPr>
          <a:xfrm>
            <a:off x="276614" y="538358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5" name="TextBox 144"/>
          <p:cNvSpPr txBox="1"/>
          <p:nvPr/>
        </p:nvSpPr>
        <p:spPr>
          <a:xfrm>
            <a:off x="276614" y="533278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46" name="Прямоугольник 145"/>
          <p:cNvSpPr/>
          <p:nvPr/>
        </p:nvSpPr>
        <p:spPr>
          <a:xfrm>
            <a:off x="272936" y="3869423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7" name="TextBox 146"/>
          <p:cNvSpPr txBox="1"/>
          <p:nvPr/>
        </p:nvSpPr>
        <p:spPr>
          <a:xfrm>
            <a:off x="272936" y="3818624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148" name="Овал 147"/>
          <p:cNvSpPr/>
          <p:nvPr/>
        </p:nvSpPr>
        <p:spPr>
          <a:xfrm>
            <a:off x="413866" y="233732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9" name="Овал 148"/>
          <p:cNvSpPr/>
          <p:nvPr/>
        </p:nvSpPr>
        <p:spPr>
          <a:xfrm>
            <a:off x="415387" y="2438453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0" name="Овал 149"/>
          <p:cNvSpPr/>
          <p:nvPr/>
        </p:nvSpPr>
        <p:spPr>
          <a:xfrm>
            <a:off x="413866" y="256144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1" name="Овал 150"/>
          <p:cNvSpPr/>
          <p:nvPr/>
        </p:nvSpPr>
        <p:spPr>
          <a:xfrm>
            <a:off x="413866" y="333474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2" name="Овал 151"/>
          <p:cNvSpPr/>
          <p:nvPr/>
        </p:nvSpPr>
        <p:spPr>
          <a:xfrm>
            <a:off x="421114" y="347489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3" name="Овал 152"/>
          <p:cNvSpPr/>
          <p:nvPr/>
        </p:nvSpPr>
        <p:spPr>
          <a:xfrm>
            <a:off x="387446" y="363809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4" name="Овал 153"/>
          <p:cNvSpPr/>
          <p:nvPr/>
        </p:nvSpPr>
        <p:spPr>
          <a:xfrm>
            <a:off x="441696" y="516654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5" name="Овал 154"/>
          <p:cNvSpPr/>
          <p:nvPr/>
        </p:nvSpPr>
        <p:spPr>
          <a:xfrm>
            <a:off x="405696" y="527998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6" name="Овал 155"/>
          <p:cNvSpPr/>
          <p:nvPr/>
        </p:nvSpPr>
        <p:spPr>
          <a:xfrm>
            <a:off x="592802" y="522510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7" name="TextBox 156"/>
          <p:cNvSpPr txBox="1"/>
          <p:nvPr/>
        </p:nvSpPr>
        <p:spPr>
          <a:xfrm>
            <a:off x="69774" y="1374638"/>
            <a:ext cx="13565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документов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Скругленный прямоугольник 37"/>
          <p:cNvSpPr/>
          <p:nvPr/>
        </p:nvSpPr>
        <p:spPr>
          <a:xfrm>
            <a:off x="1781270" y="1974410"/>
            <a:ext cx="7360630" cy="4334603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04.12.2025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0" y="-14615"/>
            <a:ext cx="12192000" cy="922287"/>
          </a:xfrm>
        </p:spPr>
        <p:txBody>
          <a:bodyPr anchor="ctr" anchorCtr="1">
            <a:normAutofit/>
          </a:bodyPr>
          <a:lstStyle/>
          <a:p>
            <a:r>
              <a:rPr lang="ru-RU" sz="4000" dirty="0" smtClean="0"/>
              <a:t>Индексация </a:t>
            </a:r>
            <a:r>
              <a:rPr lang="ru-RU" sz="4000" dirty="0" smtClean="0"/>
              <a:t>документов в </a:t>
            </a:r>
            <a:r>
              <a:rPr lang="ru-RU" sz="4000" dirty="0" smtClean="0"/>
              <a:t>отдельных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sp>
        <p:nvSpPr>
          <p:cNvPr id="21" name="Стрелка вправо 20"/>
          <p:cNvSpPr/>
          <p:nvPr/>
        </p:nvSpPr>
        <p:spPr>
          <a:xfrm>
            <a:off x="3948271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558407" y="4217988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558407" y="470556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558407" y="4458268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4762988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4085328" y="4333897"/>
            <a:ext cx="15253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(n+1)/b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041232" y="2807803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7357" y="2671358"/>
            <a:ext cx="503826" cy="712591"/>
          </a:xfrm>
          <a:prstGeom prst="rect">
            <a:avLst/>
          </a:prstGeom>
        </p:spPr>
      </p:pic>
      <p:pic>
        <p:nvPicPr>
          <p:cNvPr id="45" name="Рисунок 4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7948" y="2536331"/>
            <a:ext cx="763599" cy="1080000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7948" y="3256142"/>
            <a:ext cx="763598" cy="1080000"/>
          </a:xfrm>
          <a:prstGeom prst="rect">
            <a:avLst/>
          </a:prstGeom>
        </p:spPr>
      </p:pic>
      <p:pic>
        <p:nvPicPr>
          <p:cNvPr id="47" name="Рисунок 4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9472" y="4863247"/>
            <a:ext cx="763598" cy="1080000"/>
          </a:xfrm>
          <a:prstGeom prst="rect">
            <a:avLst/>
          </a:prstGeom>
        </p:spPr>
      </p:pic>
      <p:sp>
        <p:nvSpPr>
          <p:cNvPr id="53" name="Прямоугольник 52"/>
          <p:cNvSpPr/>
          <p:nvPr/>
        </p:nvSpPr>
        <p:spPr>
          <a:xfrm>
            <a:off x="-81926" y="2102242"/>
            <a:ext cx="914400" cy="25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Прямоугольник 54"/>
          <p:cNvSpPr/>
          <p:nvPr/>
        </p:nvSpPr>
        <p:spPr>
          <a:xfrm>
            <a:off x="177411" y="5807228"/>
            <a:ext cx="914400" cy="25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2203837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sp>
        <p:nvSpPr>
          <p:cNvPr id="57" name="Прямоугольник 56"/>
          <p:cNvSpPr/>
          <p:nvPr/>
        </p:nvSpPr>
        <p:spPr>
          <a:xfrm>
            <a:off x="396028" y="5209285"/>
            <a:ext cx="914400" cy="25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9" name="Прямоугольник 58"/>
          <p:cNvSpPr/>
          <p:nvPr/>
        </p:nvSpPr>
        <p:spPr>
          <a:xfrm>
            <a:off x="884149" y="6045669"/>
            <a:ext cx="914400" cy="25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538778" y="5456394"/>
            <a:ext cx="64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  <a:r>
              <a:rPr lang="en-US" dirty="0" smtClean="0"/>
              <a:t> + 1</a:t>
            </a:r>
            <a:endParaRPr lang="ru-RU" dirty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219383" y="285276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219402" y="332900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212672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212672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Рисунок 7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0359" y="2676948"/>
            <a:ext cx="503826" cy="712591"/>
          </a:xfrm>
          <a:prstGeom prst="rect">
            <a:avLst/>
          </a:prstGeom>
        </p:spPr>
      </p:pic>
      <p:sp>
        <p:nvSpPr>
          <p:cNvPr id="83" name="Овал 82"/>
          <p:cNvSpPr/>
          <p:nvPr/>
        </p:nvSpPr>
        <p:spPr>
          <a:xfrm>
            <a:off x="4314122" y="3101009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4462466" y="3091239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5" name="Прямоугольник 84"/>
          <p:cNvSpPr/>
          <p:nvPr/>
        </p:nvSpPr>
        <p:spPr>
          <a:xfrm>
            <a:off x="47548" y="166460"/>
            <a:ext cx="914400" cy="233226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Прямоугольник 85"/>
          <p:cNvSpPr/>
          <p:nvPr/>
        </p:nvSpPr>
        <p:spPr>
          <a:xfrm>
            <a:off x="9604831" y="5931519"/>
            <a:ext cx="914400" cy="25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0" name="Прямоугольник 89"/>
          <p:cNvSpPr/>
          <p:nvPr/>
        </p:nvSpPr>
        <p:spPr>
          <a:xfrm>
            <a:off x="10901053" y="599973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TextBox 90"/>
          <p:cNvSpPr txBox="1"/>
          <p:nvPr/>
        </p:nvSpPr>
        <p:spPr>
          <a:xfrm>
            <a:off x="10939772" y="5699076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(n+1)/b</a:t>
            </a:r>
            <a:endParaRPr lang="ru-RU" dirty="0"/>
          </a:p>
        </p:txBody>
      </p:sp>
      <p:sp>
        <p:nvSpPr>
          <p:cNvPr id="101" name="Овал 100"/>
          <p:cNvSpPr/>
          <p:nvPr/>
        </p:nvSpPr>
        <p:spPr>
          <a:xfrm>
            <a:off x="10988483" y="531159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Овал 107"/>
          <p:cNvSpPr/>
          <p:nvPr/>
        </p:nvSpPr>
        <p:spPr>
          <a:xfrm>
            <a:off x="10990004" y="5412723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0" name="Овал 109"/>
          <p:cNvSpPr/>
          <p:nvPr/>
        </p:nvSpPr>
        <p:spPr>
          <a:xfrm>
            <a:off x="10988483" y="553571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1" name="Овал 110"/>
          <p:cNvSpPr/>
          <p:nvPr/>
        </p:nvSpPr>
        <p:spPr>
          <a:xfrm>
            <a:off x="10988483" y="630901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7" name="TextBox 116"/>
          <p:cNvSpPr txBox="1"/>
          <p:nvPr/>
        </p:nvSpPr>
        <p:spPr>
          <a:xfrm>
            <a:off x="7956025" y="2610680"/>
            <a:ext cx="96096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Контейнер</a:t>
            </a:r>
          </a:p>
          <a:p>
            <a:r>
              <a:rPr lang="ru-RU" sz="1200" dirty="0"/>
              <a:t>результатов</a:t>
            </a:r>
          </a:p>
          <a:p>
            <a:r>
              <a:rPr lang="ru-RU" sz="1200" dirty="0"/>
              <a:t>работы</a:t>
            </a:r>
          </a:p>
          <a:p>
            <a:r>
              <a:rPr lang="ru-RU" sz="1200" dirty="0"/>
              <a:t>потоков</a:t>
            </a:r>
          </a:p>
          <a:p>
            <a:endParaRPr lang="ru-RU" sz="1200" dirty="0" smtClean="0"/>
          </a:p>
        </p:txBody>
      </p:sp>
      <p:sp>
        <p:nvSpPr>
          <p:cNvPr id="123" name="TextBox 122"/>
          <p:cNvSpPr txBox="1"/>
          <p:nvPr/>
        </p:nvSpPr>
        <p:spPr>
          <a:xfrm>
            <a:off x="9545575" y="550607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5824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702666" y="3897385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140540" y="390632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653554" y="1682592"/>
            <a:ext cx="4132361" cy="2467588"/>
          </a:xfrm>
          <a:prstGeom prst="bentConnector3">
            <a:avLst>
              <a:gd name="adj1" fmla="val 1938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060662" y="1682591"/>
            <a:ext cx="4771036" cy="2325497"/>
          </a:xfrm>
          <a:prstGeom prst="bentConnector3">
            <a:avLst>
              <a:gd name="adj1" fmla="val 100078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8" name="Рисунок 15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7791" y="2503414"/>
            <a:ext cx="2253552" cy="3187329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1264437" y="682866"/>
            <a:ext cx="64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r>
              <a:rPr lang="ru-RU" dirty="0" smtClean="0"/>
              <a:t> = 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97" name="TextBox 96"/>
          <p:cNvSpPr txBox="1"/>
          <p:nvPr/>
        </p:nvSpPr>
        <p:spPr>
          <a:xfrm>
            <a:off x="528591" y="436991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05" name="Стрелка вправо 104"/>
          <p:cNvSpPr/>
          <p:nvPr/>
        </p:nvSpPr>
        <p:spPr>
          <a:xfrm>
            <a:off x="3958021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Прямоугольник 106"/>
          <p:cNvSpPr/>
          <p:nvPr/>
        </p:nvSpPr>
        <p:spPr>
          <a:xfrm>
            <a:off x="-226143" y="2933899"/>
            <a:ext cx="914400" cy="25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9" name="Прямоугольник 108"/>
          <p:cNvSpPr/>
          <p:nvPr/>
        </p:nvSpPr>
        <p:spPr>
          <a:xfrm>
            <a:off x="-224394" y="2531301"/>
            <a:ext cx="914400" cy="25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1" name="Рисунок 8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2706" y="3463402"/>
            <a:ext cx="503826" cy="712591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0167" y="3483146"/>
            <a:ext cx="503826" cy="712591"/>
          </a:xfrm>
          <a:prstGeom prst="rect">
            <a:avLst/>
          </a:prstGeom>
        </p:spPr>
      </p:pic>
      <p:sp>
        <p:nvSpPr>
          <p:cNvPr id="149" name="Стрелка вправо 148"/>
          <p:cNvSpPr/>
          <p:nvPr/>
        </p:nvSpPr>
        <p:spPr>
          <a:xfrm>
            <a:off x="3961678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4973451" y="3638757"/>
            <a:ext cx="1228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b+1]</a:t>
            </a:r>
            <a:endParaRPr lang="ru-RU" dirty="0"/>
          </a:p>
        </p:txBody>
      </p:sp>
      <p:grpSp>
        <p:nvGrpSpPr>
          <p:cNvPr id="17" name="Группа 16"/>
          <p:cNvGrpSpPr/>
          <p:nvPr/>
        </p:nvGrpSpPr>
        <p:grpSpPr>
          <a:xfrm>
            <a:off x="2182552" y="2699560"/>
            <a:ext cx="907136" cy="3105218"/>
            <a:chOff x="2192842" y="1902553"/>
            <a:chExt cx="907136" cy="3105218"/>
          </a:xfrm>
        </p:grpSpPr>
        <p:sp>
          <p:nvSpPr>
            <p:cNvPr id="48" name="Прямоугольник 47"/>
            <p:cNvSpPr/>
            <p:nvPr/>
          </p:nvSpPr>
          <p:spPr>
            <a:xfrm>
              <a:off x="2196589" y="1915677"/>
              <a:ext cx="900000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" name="Прямоугольник 48"/>
            <p:cNvSpPr/>
            <p:nvPr/>
          </p:nvSpPr>
          <p:spPr>
            <a:xfrm>
              <a:off x="2199978" y="1913158"/>
              <a:ext cx="900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1" name="Прямоугольник 50"/>
            <p:cNvSpPr/>
            <p:nvPr/>
          </p:nvSpPr>
          <p:spPr>
            <a:xfrm>
              <a:off x="2199978" y="2408658"/>
              <a:ext cx="900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6" name="Группа 1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67" name="Овал 6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Овал 6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9" name="Овал 6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99" name="Рисунок 9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42991" y="1902553"/>
              <a:ext cx="203626" cy="288000"/>
            </a:xfrm>
            <a:prstGeom prst="rect">
              <a:avLst/>
            </a:prstGeom>
          </p:spPr>
        </p:pic>
        <p:pic>
          <p:nvPicPr>
            <p:cNvPr id="102" name="Рисунок 101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38077" y="2399089"/>
              <a:ext cx="208539" cy="288000"/>
            </a:xfrm>
            <a:prstGeom prst="rect">
              <a:avLst/>
            </a:prstGeom>
          </p:spPr>
        </p:pic>
        <p:sp>
          <p:nvSpPr>
            <p:cNvPr id="103" name="Прямоугольник 102"/>
            <p:cNvSpPr/>
            <p:nvPr/>
          </p:nvSpPr>
          <p:spPr>
            <a:xfrm>
              <a:off x="2198813" y="2159635"/>
              <a:ext cx="900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" name="Группа 14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61" name="Овал 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3" name="Овал 6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Овал 99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1" name="Прямоугольник 130"/>
            <p:cNvSpPr/>
            <p:nvPr/>
          </p:nvSpPr>
          <p:spPr>
            <a:xfrm>
              <a:off x="2198922" y="4233845"/>
              <a:ext cx="900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2" name="Прямоугольник 131"/>
            <p:cNvSpPr/>
            <p:nvPr/>
          </p:nvSpPr>
          <p:spPr>
            <a:xfrm>
              <a:off x="2198922" y="4729345"/>
              <a:ext cx="900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33" name="Рисунок 13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41935" y="4223234"/>
              <a:ext cx="203626" cy="288000"/>
            </a:xfrm>
            <a:prstGeom prst="rect">
              <a:avLst/>
            </a:prstGeom>
          </p:spPr>
        </p:pic>
        <p:pic>
          <p:nvPicPr>
            <p:cNvPr id="134" name="Рисунок 13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37021" y="4719771"/>
              <a:ext cx="208539" cy="288000"/>
            </a:xfrm>
            <a:prstGeom prst="rect">
              <a:avLst/>
            </a:prstGeom>
          </p:spPr>
        </p:pic>
        <p:sp>
          <p:nvSpPr>
            <p:cNvPr id="135" name="Прямоугольник 134"/>
            <p:cNvSpPr/>
            <p:nvPr/>
          </p:nvSpPr>
          <p:spPr>
            <a:xfrm>
              <a:off x="2197757" y="4480322"/>
              <a:ext cx="900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40" name="Прямоугольник 139"/>
            <p:cNvSpPr/>
            <p:nvPr/>
          </p:nvSpPr>
          <p:spPr>
            <a:xfrm>
              <a:off x="2194007" y="2655767"/>
              <a:ext cx="900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1" name="Прямоугольник 140"/>
            <p:cNvSpPr/>
            <p:nvPr/>
          </p:nvSpPr>
          <p:spPr>
            <a:xfrm>
              <a:off x="2194007" y="3151267"/>
              <a:ext cx="900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42" name="Рисунок 14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37020" y="2645156"/>
              <a:ext cx="203626" cy="288000"/>
            </a:xfrm>
            <a:prstGeom prst="rect">
              <a:avLst/>
            </a:prstGeom>
          </p:spPr>
        </p:pic>
        <p:pic>
          <p:nvPicPr>
            <p:cNvPr id="143" name="Рисунок 142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32106" y="3141693"/>
              <a:ext cx="208539" cy="288000"/>
            </a:xfrm>
            <a:prstGeom prst="rect">
              <a:avLst/>
            </a:prstGeom>
          </p:spPr>
        </p:pic>
        <p:sp>
          <p:nvSpPr>
            <p:cNvPr id="144" name="Прямоугольник 143"/>
            <p:cNvSpPr/>
            <p:nvPr/>
          </p:nvSpPr>
          <p:spPr>
            <a:xfrm>
              <a:off x="2192842" y="2902244"/>
              <a:ext cx="900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45" name="Группа 144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50" name="Прямая со стрелкой 149"/>
          <p:cNvCxnSpPr/>
          <p:nvPr/>
        </p:nvCxnSpPr>
        <p:spPr>
          <a:xfrm>
            <a:off x="3217588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Прямая со стрелкой 151"/>
          <p:cNvCxnSpPr/>
          <p:nvPr/>
        </p:nvCxnSpPr>
        <p:spPr>
          <a:xfrm>
            <a:off x="3212672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Рисунок 4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3015" y="5093363"/>
            <a:ext cx="503826" cy="712591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0624" y="5100823"/>
            <a:ext cx="503826" cy="712591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4956808" y="526499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sp>
        <p:nvSpPr>
          <p:cNvPr id="156" name="Прямоугольник 155"/>
          <p:cNvSpPr/>
          <p:nvPr/>
        </p:nvSpPr>
        <p:spPr>
          <a:xfrm>
            <a:off x="10248847" y="1682592"/>
            <a:ext cx="900000" cy="25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4" name="Прямоугольник 163"/>
          <p:cNvSpPr/>
          <p:nvPr/>
        </p:nvSpPr>
        <p:spPr>
          <a:xfrm>
            <a:off x="9967437" y="2106081"/>
            <a:ext cx="900000" cy="25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6" name="Рисунок 16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31042" y="166460"/>
            <a:ext cx="208539" cy="288000"/>
          </a:xfrm>
          <a:prstGeom prst="rect">
            <a:avLst/>
          </a:prstGeom>
        </p:spPr>
      </p:pic>
      <p:sp>
        <p:nvSpPr>
          <p:cNvPr id="167" name="Прямоугольник 166"/>
          <p:cNvSpPr/>
          <p:nvPr/>
        </p:nvSpPr>
        <p:spPr>
          <a:xfrm>
            <a:off x="8934745" y="968373"/>
            <a:ext cx="900000" cy="25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68" name="Группа 167"/>
          <p:cNvGrpSpPr/>
          <p:nvPr/>
        </p:nvGrpSpPr>
        <p:grpSpPr>
          <a:xfrm>
            <a:off x="10121037" y="5625359"/>
            <a:ext cx="360000" cy="74369"/>
            <a:chOff x="1224000" y="2173076"/>
            <a:chExt cx="360000" cy="74369"/>
          </a:xfrm>
        </p:grpSpPr>
        <p:sp>
          <p:nvSpPr>
            <p:cNvPr id="178" name="Овал 177"/>
            <p:cNvSpPr/>
            <p:nvPr/>
          </p:nvSpPr>
          <p:spPr>
            <a:xfrm>
              <a:off x="1512000" y="2174477"/>
              <a:ext cx="72000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9" name="Овал 178"/>
            <p:cNvSpPr/>
            <p:nvPr/>
          </p:nvSpPr>
          <p:spPr>
            <a:xfrm>
              <a:off x="1224000" y="2175445"/>
              <a:ext cx="72000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0" name="Овал 179"/>
            <p:cNvSpPr/>
            <p:nvPr/>
          </p:nvSpPr>
          <p:spPr>
            <a:xfrm>
              <a:off x="1368000" y="2173076"/>
              <a:ext cx="72000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69" name="Прямоугольник 168"/>
          <p:cNvSpPr/>
          <p:nvPr/>
        </p:nvSpPr>
        <p:spPr>
          <a:xfrm>
            <a:off x="10368791" y="984159"/>
            <a:ext cx="900000" cy="25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0" name="Прямоугольник 169"/>
          <p:cNvSpPr/>
          <p:nvPr/>
        </p:nvSpPr>
        <p:spPr>
          <a:xfrm>
            <a:off x="11264587" y="1935217"/>
            <a:ext cx="900000" cy="25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1" name="Рисунок 17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52248" y="1292504"/>
            <a:ext cx="203626" cy="288000"/>
          </a:xfrm>
          <a:prstGeom prst="rect">
            <a:avLst/>
          </a:prstGeom>
        </p:spPr>
      </p:pic>
      <p:pic>
        <p:nvPicPr>
          <p:cNvPr id="172" name="Рисунок 17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47978" y="132232"/>
            <a:ext cx="208539" cy="288000"/>
          </a:xfrm>
          <a:prstGeom prst="rect">
            <a:avLst/>
          </a:prstGeom>
        </p:spPr>
      </p:pic>
      <p:sp>
        <p:nvSpPr>
          <p:cNvPr id="173" name="Прямоугольник 172"/>
          <p:cNvSpPr/>
          <p:nvPr/>
        </p:nvSpPr>
        <p:spPr>
          <a:xfrm>
            <a:off x="10446685" y="347877"/>
            <a:ext cx="900000" cy="25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74" name="Группа 173"/>
          <p:cNvGrpSpPr/>
          <p:nvPr/>
        </p:nvGrpSpPr>
        <p:grpSpPr>
          <a:xfrm>
            <a:off x="10273437" y="1471222"/>
            <a:ext cx="360000" cy="74369"/>
            <a:chOff x="1224000" y="2173076"/>
            <a:chExt cx="360000" cy="74369"/>
          </a:xfrm>
        </p:grpSpPr>
        <p:sp>
          <p:nvSpPr>
            <p:cNvPr id="175" name="Овал 174"/>
            <p:cNvSpPr/>
            <p:nvPr/>
          </p:nvSpPr>
          <p:spPr>
            <a:xfrm>
              <a:off x="1512000" y="2174477"/>
              <a:ext cx="72000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6" name="Овал 175"/>
            <p:cNvSpPr/>
            <p:nvPr/>
          </p:nvSpPr>
          <p:spPr>
            <a:xfrm>
              <a:off x="1224000" y="2175445"/>
              <a:ext cx="72000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7" name="Овал 176"/>
            <p:cNvSpPr/>
            <p:nvPr/>
          </p:nvSpPr>
          <p:spPr>
            <a:xfrm>
              <a:off x="1368000" y="2173076"/>
              <a:ext cx="72000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8" name="Группа 17"/>
          <p:cNvGrpSpPr/>
          <p:nvPr/>
        </p:nvGrpSpPr>
        <p:grpSpPr>
          <a:xfrm>
            <a:off x="7991455" y="3437206"/>
            <a:ext cx="903389" cy="1625451"/>
            <a:chOff x="8276594" y="2286832"/>
            <a:chExt cx="903389" cy="1625451"/>
          </a:xfrm>
        </p:grpSpPr>
        <p:sp>
          <p:nvSpPr>
            <p:cNvPr id="154" name="Прямоугольник 153"/>
            <p:cNvSpPr/>
            <p:nvPr/>
          </p:nvSpPr>
          <p:spPr>
            <a:xfrm>
              <a:off x="8276594" y="2305201"/>
              <a:ext cx="900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5" name="Прямоугольник 154"/>
            <p:cNvSpPr/>
            <p:nvPr/>
          </p:nvSpPr>
          <p:spPr>
            <a:xfrm>
              <a:off x="8279983" y="2297437"/>
              <a:ext cx="900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7" name="Группа 156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184" name="Овал 183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5" name="Овал 184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6" name="Овал 185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159" name="Рисунок 15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22996" y="2286832"/>
              <a:ext cx="203626" cy="288000"/>
            </a:xfrm>
            <a:prstGeom prst="rect">
              <a:avLst/>
            </a:prstGeom>
          </p:spPr>
        </p:pic>
        <p:sp>
          <p:nvSpPr>
            <p:cNvPr id="161" name="Прямоугольник 160"/>
            <p:cNvSpPr/>
            <p:nvPr/>
          </p:nvSpPr>
          <p:spPr>
            <a:xfrm>
              <a:off x="8278818" y="2543914"/>
              <a:ext cx="900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Прямоугольник 162"/>
            <p:cNvSpPr/>
            <p:nvPr/>
          </p:nvSpPr>
          <p:spPr>
            <a:xfrm>
              <a:off x="8278927" y="3634892"/>
              <a:ext cx="900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65" name="Рисунок 16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21940" y="3624283"/>
              <a:ext cx="203626" cy="288000"/>
            </a:xfrm>
            <a:prstGeom prst="rect">
              <a:avLst/>
            </a:prstGeom>
          </p:spPr>
        </p:pic>
        <p:pic>
          <p:nvPicPr>
            <p:cNvPr id="160" name="Рисунок 159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27914" y="2527733"/>
              <a:ext cx="208539" cy="288000"/>
            </a:xfrm>
            <a:prstGeom prst="rect">
              <a:avLst/>
            </a:prstGeom>
          </p:spPr>
        </p:pic>
      </p:grpSp>
      <p:cxnSp>
        <p:nvCxnSpPr>
          <p:cNvPr id="187" name="Прямая со стрелкой 186"/>
          <p:cNvCxnSpPr/>
          <p:nvPr/>
        </p:nvCxnSpPr>
        <p:spPr>
          <a:xfrm>
            <a:off x="7272346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 стрелкой 187"/>
          <p:cNvCxnSpPr/>
          <p:nvPr/>
        </p:nvCxnSpPr>
        <p:spPr>
          <a:xfrm flipV="1">
            <a:off x="7200000" y="3827035"/>
            <a:ext cx="721039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Прямая со стрелкой 188"/>
          <p:cNvCxnSpPr/>
          <p:nvPr/>
        </p:nvCxnSpPr>
        <p:spPr>
          <a:xfrm flipV="1">
            <a:off x="7245534" y="4918657"/>
            <a:ext cx="656994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0" y="906781"/>
            <a:ext cx="12192000" cy="523220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800" dirty="0" smtClean="0"/>
              <a:t>Слияние баз</a:t>
            </a:r>
            <a:endParaRPr lang="ru-RU" sz="2800" dirty="0"/>
          </a:p>
        </p:txBody>
      </p:sp>
      <p:sp>
        <p:nvSpPr>
          <p:cNvPr id="190" name="TextBox 189"/>
          <p:cNvSpPr txBox="1"/>
          <p:nvPr/>
        </p:nvSpPr>
        <p:spPr>
          <a:xfrm>
            <a:off x="2189918" y="1859336"/>
            <a:ext cx="96096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Контейнер</a:t>
            </a:r>
          </a:p>
          <a:p>
            <a:r>
              <a:rPr lang="ru-RU" sz="1200" dirty="0"/>
              <a:t>результатов</a:t>
            </a:r>
          </a:p>
          <a:p>
            <a:r>
              <a:rPr lang="ru-RU" sz="1200" dirty="0"/>
              <a:t>работы</a:t>
            </a:r>
          </a:p>
          <a:p>
            <a:r>
              <a:rPr lang="ru-RU" sz="1200" dirty="0"/>
              <a:t>потоков</a:t>
            </a:r>
          </a:p>
          <a:p>
            <a:endParaRPr lang="ru-RU" sz="1200" dirty="0" smtClean="0"/>
          </a:p>
        </p:txBody>
      </p:sp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03.12.2025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1097280" y="286603"/>
            <a:ext cx="10058400" cy="73537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 smtClean="0"/>
              <a:t>Класс </a:t>
            </a:r>
            <a:r>
              <a:rPr lang="en-US" dirty="0" smtClean="0"/>
              <a:t>DispatcherOperations</a:t>
            </a:r>
            <a:endParaRPr lang="ru-RU" dirty="0"/>
          </a:p>
        </p:txBody>
      </p:sp>
      <p:sp>
        <p:nvSpPr>
          <p:cNvPr id="6" name="Стрелка вправо 5"/>
          <p:cNvSpPr/>
          <p:nvPr/>
        </p:nvSpPr>
        <p:spPr>
          <a:xfrm>
            <a:off x="3022275" y="1951728"/>
            <a:ext cx="8097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4462" y="1704692"/>
            <a:ext cx="608483" cy="860612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607" y="1755078"/>
            <a:ext cx="667339" cy="943856"/>
          </a:xfrm>
          <a:prstGeom prst="rect">
            <a:avLst/>
          </a:prstGeom>
        </p:spPr>
      </p:pic>
      <p:sp>
        <p:nvSpPr>
          <p:cNvPr id="11" name="Стрелка вправо 10"/>
          <p:cNvSpPr/>
          <p:nvPr/>
        </p:nvSpPr>
        <p:spPr>
          <a:xfrm>
            <a:off x="6923852" y="192220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6551840"/>
              </p:ext>
            </p:extLst>
          </p:nvPr>
        </p:nvGraphicFramePr>
        <p:xfrm>
          <a:off x="2407359" y="4345671"/>
          <a:ext cx="3359310" cy="1540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9655"/>
                <a:gridCol w="1679655"/>
              </a:tblGrid>
              <a:tr h="686599">
                <a:tc>
                  <a:txBody>
                    <a:bodyPr/>
                    <a:lstStyle/>
                    <a:p>
                      <a:r>
                        <a:rPr lang="ru-RU" dirty="0" smtClean="0"/>
                        <a:t>Имя функции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Уровень </a:t>
                      </a:r>
                      <a:r>
                        <a:rPr lang="ru-RU" dirty="0" err="1" smtClean="0"/>
                        <a:t>логирования</a:t>
                      </a:r>
                      <a:endParaRPr lang="ru-RU" dirty="0"/>
                    </a:p>
                  </a:txBody>
                  <a:tcPr/>
                </a:tc>
              </a:tr>
              <a:tr h="313711">
                <a:tc>
                  <a:txBody>
                    <a:bodyPr/>
                    <a:lstStyle/>
                    <a:p>
                      <a:r>
                        <a:rPr lang="en-US" sz="11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SearchEngine::</a:t>
                      </a:r>
                      <a:endParaRPr lang="ru-RU" sz="1100" b="1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sz="1100" b="1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readDocsFromFiles</a:t>
                      </a:r>
                      <a:endParaRPr lang="ru-R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ErrorLevel</a:t>
                      </a:r>
                      <a:r>
                        <a:rPr lang="en-US" sz="1100" dirty="0" smtClean="0"/>
                        <a:t>::</a:t>
                      </a:r>
                      <a:r>
                        <a:rPr lang="en-US" sz="1100" b="1" i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fatal</a:t>
                      </a:r>
                      <a:endParaRPr lang="ru-RU" sz="1100" dirty="0"/>
                    </a:p>
                  </a:txBody>
                  <a:tcPr/>
                </a:tc>
              </a:tr>
              <a:tr h="313711">
                <a:tc>
                  <a:txBody>
                    <a:bodyPr/>
                    <a:lstStyle/>
                    <a:p>
                      <a:r>
                        <a:rPr lang="en-US" sz="11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ConverterJSON::</a:t>
                      </a:r>
                      <a:endParaRPr lang="ru-RU" sz="1100" b="1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sz="1100" b="1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checkFilePath</a:t>
                      </a:r>
                      <a:endParaRPr lang="ru-R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ErrorLevel</a:t>
                      </a:r>
                      <a:r>
                        <a:rPr lang="en-US" sz="1100" dirty="0" smtClean="0"/>
                        <a:t>::</a:t>
                      </a:r>
                      <a:r>
                        <a:rPr lang="en-US" sz="1100" b="1" i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error</a:t>
                      </a:r>
                      <a:endParaRPr lang="ru-RU" sz="110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2" name="Стрелка вправо 21"/>
          <p:cNvSpPr/>
          <p:nvPr/>
        </p:nvSpPr>
        <p:spPr>
          <a:xfrm>
            <a:off x="1097280" y="482920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7914209" y="2458404"/>
            <a:ext cx="19862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Ошибка операции</a:t>
            </a:r>
            <a:endParaRPr lang="ru-RU" dirty="0"/>
          </a:p>
        </p:txBody>
      </p:sp>
      <p:pic>
        <p:nvPicPr>
          <p:cNvPr id="33" name="Рисунок 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1544" y="1244366"/>
            <a:ext cx="1176748" cy="1664343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132459" y="2957129"/>
            <a:ext cx="23246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Операции с файлами </a:t>
            </a:r>
          </a:p>
          <a:p>
            <a:r>
              <a:rPr lang="ru-RU" dirty="0" smtClean="0"/>
              <a:t>и документами</a:t>
            </a:r>
            <a:endParaRPr lang="ru-RU" dirty="0"/>
          </a:p>
        </p:txBody>
      </p:sp>
      <p:sp>
        <p:nvSpPr>
          <p:cNvPr id="35" name="Стрелка вправо 34"/>
          <p:cNvSpPr/>
          <p:nvPr/>
        </p:nvSpPr>
        <p:spPr>
          <a:xfrm>
            <a:off x="10556470" y="173627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6" name="Стрелка вправо 35"/>
          <p:cNvSpPr/>
          <p:nvPr/>
        </p:nvSpPr>
        <p:spPr>
          <a:xfrm>
            <a:off x="6698604" y="477167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2738892" y="2513984"/>
            <a:ext cx="145584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sp>
        <p:nvSpPr>
          <p:cNvPr id="43" name="TextBox 42"/>
          <p:cNvSpPr txBox="1"/>
          <p:nvPr/>
        </p:nvSpPr>
        <p:spPr>
          <a:xfrm>
            <a:off x="6398857" y="2473217"/>
            <a:ext cx="145584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sp>
        <p:nvSpPr>
          <p:cNvPr id="44" name="TextBox 43"/>
          <p:cNvSpPr txBox="1"/>
          <p:nvPr/>
        </p:nvSpPr>
        <p:spPr>
          <a:xfrm>
            <a:off x="10064481" y="2337520"/>
            <a:ext cx="15089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sp>
        <p:nvSpPr>
          <p:cNvPr id="45" name="TextBox 44"/>
          <p:cNvSpPr txBox="1"/>
          <p:nvPr/>
        </p:nvSpPr>
        <p:spPr>
          <a:xfrm flipH="1">
            <a:off x="582799" y="5403389"/>
            <a:ext cx="155397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sp>
        <p:nvSpPr>
          <p:cNvPr id="46" name="TextBox 45"/>
          <p:cNvSpPr txBox="1"/>
          <p:nvPr/>
        </p:nvSpPr>
        <p:spPr>
          <a:xfrm>
            <a:off x="6233187" y="5439751"/>
            <a:ext cx="145584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pic>
        <p:nvPicPr>
          <p:cNvPr id="47" name="Рисунок 4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989" y="4292779"/>
            <a:ext cx="910254" cy="1287425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214" y="5060146"/>
            <a:ext cx="1118671" cy="1582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29264" y="4031169"/>
            <a:ext cx="41889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Таблица соответствия вызывающей функции уровню </a:t>
            </a:r>
            <a:r>
              <a:rPr lang="ru-RU" sz="1100" dirty="0" err="1" smtClean="0"/>
              <a:t>логирования</a:t>
            </a:r>
            <a:endParaRPr lang="ru-RU" sz="1100" dirty="0"/>
          </a:p>
        </p:txBody>
      </p:sp>
      <p:sp>
        <p:nvSpPr>
          <p:cNvPr id="8" name="TextBox 7"/>
          <p:cNvSpPr txBox="1"/>
          <p:nvPr/>
        </p:nvSpPr>
        <p:spPr>
          <a:xfrm>
            <a:off x="2550539" y="2746097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  <p:sp>
        <p:nvSpPr>
          <p:cNvPr id="27" name="TextBox 26"/>
          <p:cNvSpPr txBox="1"/>
          <p:nvPr/>
        </p:nvSpPr>
        <p:spPr>
          <a:xfrm>
            <a:off x="6186813" y="2683770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  <p:sp>
        <p:nvSpPr>
          <p:cNvPr id="28" name="TextBox 27"/>
          <p:cNvSpPr txBox="1"/>
          <p:nvPr/>
        </p:nvSpPr>
        <p:spPr>
          <a:xfrm>
            <a:off x="9909562" y="2592407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  <p:sp>
        <p:nvSpPr>
          <p:cNvPr id="29" name="TextBox 28"/>
          <p:cNvSpPr txBox="1"/>
          <p:nvPr/>
        </p:nvSpPr>
        <p:spPr>
          <a:xfrm>
            <a:off x="341547" y="5628543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  <p:sp>
        <p:nvSpPr>
          <p:cNvPr id="30" name="TextBox 29"/>
          <p:cNvSpPr txBox="1"/>
          <p:nvPr/>
        </p:nvSpPr>
        <p:spPr>
          <a:xfrm>
            <a:off x="6069652" y="5621975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  <p:pic>
        <p:nvPicPr>
          <p:cNvPr id="13" name="Рисунок 1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3355" y="558544"/>
            <a:ext cx="2102065" cy="2973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03.12.2025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 smtClean="0"/>
              <a:t>Процессы</a:t>
            </a:r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268730"/>
            <a:ext cx="0" cy="493513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266519"/>
            <a:ext cx="7621" cy="4937349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26651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268730"/>
            <a:ext cx="1" cy="494613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268730"/>
            <a:ext cx="0" cy="494613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272540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142477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772777" y="1276351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283287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/>
          <p:nvPr/>
        </p:nvGrpSpPr>
        <p:grpSpPr>
          <a:xfrm>
            <a:off x="3977974" y="4130531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 smtClean="0"/>
                  <a:t>MonitorSender</a:t>
                </a:r>
                <a:endParaRPr lang="ru-RU" sz="11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8437646" y="4130531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 smtClean="0"/>
                  <a:t>MonitorReceiver</a:t>
                </a:r>
                <a:endParaRPr lang="en-US" sz="11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1616960"/>
            <a:ext cx="1800000" cy="180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Вывод сообщения на консоль</a:t>
              </a:r>
            </a:p>
          </p:txBody>
        </p:sp>
      </p:grpSp>
      <p:grpSp>
        <p:nvGrpSpPr>
          <p:cNvPr id="54" name="Группа 53"/>
          <p:cNvGrpSpPr/>
          <p:nvPr/>
        </p:nvGrpSpPr>
        <p:grpSpPr>
          <a:xfrm>
            <a:off x="3289362" y="2011432"/>
            <a:ext cx="1800000" cy="180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011432"/>
            <a:ext cx="1267113" cy="1997692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Записать сообщение уровня debug 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3673" y="3848600"/>
            <a:ext cx="973401" cy="1376738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711681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1706767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35231" y="1680882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1685372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470392" y="3948334"/>
            <a:ext cx="2267430" cy="1245248"/>
          </a:xfrm>
          <a:prstGeom prst="bentConnector4">
            <a:avLst>
              <a:gd name="adj1" fmla="val 23338"/>
              <a:gd name="adj2" fmla="val 149152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8635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904548" y="3191102"/>
            <a:ext cx="371402" cy="963893"/>
          </a:xfrm>
          <a:prstGeom prst="bentConnector2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8057" y="3191102"/>
            <a:ext cx="1129589" cy="2513571"/>
          </a:xfrm>
          <a:prstGeom prst="bentConnector5">
            <a:avLst>
              <a:gd name="adj1" fmla="val -20237"/>
              <a:gd name="adj2" fmla="val 75035"/>
              <a:gd name="adj3" fmla="val 15940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677270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682184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671184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641129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5317" y="4795932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 flipH="1">
            <a:off x="1105317" y="3441214"/>
            <a:ext cx="744420" cy="1800082"/>
          </a:xfrm>
          <a:prstGeom prst="bentConnector5">
            <a:avLst>
              <a:gd name="adj1" fmla="val -30708"/>
              <a:gd name="adj2" fmla="val 53404"/>
              <a:gd name="adj3" fmla="val 16504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1735093" y="3454649"/>
            <a:ext cx="1557778" cy="1786647"/>
          </a:xfrm>
          <a:prstGeom prst="bentConnector3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770617" y="5568244"/>
            <a:ext cx="155202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Контейнер сообщений</a:t>
            </a:r>
            <a:endParaRPr lang="ru-RU" sz="11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878" y="1886974"/>
            <a:ext cx="732558" cy="1036099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>
            <a:endCxn id="133" idx="2"/>
          </p:cNvCxnSpPr>
          <p:nvPr/>
        </p:nvCxnSpPr>
        <p:spPr>
          <a:xfrm flipV="1">
            <a:off x="5099195" y="2923073"/>
            <a:ext cx="548962" cy="531576"/>
          </a:xfrm>
          <a:prstGeom prst="bentConnector2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77" y="3677411"/>
            <a:ext cx="1418509" cy="2006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03.12.2025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2133600" y="287338"/>
            <a:ext cx="10058400" cy="1449387"/>
          </a:xfrm>
        </p:spPr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kav_check</a:t>
            </a:r>
            <a:endParaRPr lang="ru-RU" dirty="0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2216395055"/>
              </p:ext>
            </p:extLst>
          </p:nvPr>
        </p:nvGraphicFramePr>
        <p:xfrm>
          <a:off x="2947595" y="1855694"/>
          <a:ext cx="8208085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9876" y="2374677"/>
            <a:ext cx="936594" cy="662204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9542" y="2846389"/>
            <a:ext cx="1048549" cy="741361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2884" y="3057282"/>
            <a:ext cx="634067" cy="896797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5809" y="3310985"/>
            <a:ext cx="634067" cy="896797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988" y="2256685"/>
            <a:ext cx="815715" cy="576739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1965" y="2738718"/>
            <a:ext cx="976306" cy="690282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5371" y="5287093"/>
            <a:ext cx="722720" cy="510988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6684" y="5392897"/>
            <a:ext cx="636421" cy="449972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599" y="5029826"/>
            <a:ext cx="362540" cy="512761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2350" y="4482354"/>
            <a:ext cx="479615" cy="678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03.12.2025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2133600" y="287338"/>
            <a:ext cx="10058400" cy="735012"/>
          </a:xfrm>
        </p:spPr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kav_logger</a:t>
            </a:r>
            <a:endParaRPr lang="ru-RU" dirty="0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694041457"/>
              </p:ext>
            </p:extLst>
          </p:nvPr>
        </p:nvGraphicFramePr>
        <p:xfrm>
          <a:off x="3287222" y="1104599"/>
          <a:ext cx="7868458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8" name="Рисунок 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3415" y="3658628"/>
            <a:ext cx="436621" cy="617538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7477" y="3928461"/>
            <a:ext cx="519745" cy="735106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8932" y="2823814"/>
            <a:ext cx="457089" cy="64648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644" y="3204883"/>
            <a:ext cx="475377" cy="67235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203" y="1910582"/>
            <a:ext cx="32040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5">
                    <a:lumMod val="40000"/>
                    <a:lumOff val="60000"/>
                  </a:schemeClr>
                </a:solidFill>
              </a:rPr>
              <a:t>debug</a:t>
            </a:r>
            <a:r>
              <a:rPr lang="en-US" dirty="0" smtClean="0"/>
              <a:t>, </a:t>
            </a:r>
            <a:r>
              <a:rPr lang="en-US" dirty="0" smtClean="0">
                <a:solidFill>
                  <a:schemeClr val="bg1"/>
                </a:solidFill>
              </a:rPr>
              <a:t>info</a:t>
            </a:r>
            <a:r>
              <a:rPr lang="en-US" dirty="0" smtClean="0"/>
              <a:t>, </a:t>
            </a:r>
            <a:r>
              <a:rPr lang="en-US" dirty="0" smtClean="0">
                <a:solidFill>
                  <a:srgbClr val="FFFF00"/>
                </a:solidFill>
              </a:rPr>
              <a:t>warning</a:t>
            </a:r>
            <a:r>
              <a:rPr lang="en-US" dirty="0" smtClean="0"/>
              <a:t>, </a:t>
            </a:r>
            <a:r>
              <a:rPr lang="en-US" dirty="0" smtClean="0">
                <a:solidFill>
                  <a:srgbClr val="FF0000"/>
                </a:solidFill>
              </a:rPr>
              <a:t>error</a:t>
            </a:r>
            <a:r>
              <a:rPr lang="en-US" dirty="0" smtClean="0"/>
              <a:t>, </a:t>
            </a:r>
            <a:r>
              <a:rPr lang="en-US" dirty="0" smtClean="0">
                <a:solidFill>
                  <a:srgbClr val="C00000"/>
                </a:solidFill>
              </a:rPr>
              <a:t>fatal</a:t>
            </a:r>
            <a:endParaRPr lang="ru-RU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03.12.2025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4290389295"/>
              </p:ext>
            </p:extLst>
          </p:nvPr>
        </p:nvGraphicFramePr>
        <p:xfrm>
          <a:off x="0" y="1846263"/>
          <a:ext cx="4938713" cy="304958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3" name="Объект 12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3593486488"/>
              </p:ext>
            </p:extLst>
          </p:nvPr>
        </p:nvGraphicFramePr>
        <p:xfrm>
          <a:off x="7254875" y="1846263"/>
          <a:ext cx="4937125" cy="28749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74110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03.12.2025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3686185" y="3743893"/>
            <a:ext cx="5557483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Ключи запуска приложения: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пути файлов конфигурации, запросов и ответов;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ути файлов конфигурации логгера;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оказывать консоль сообщений;</a:t>
            </a:r>
          </a:p>
          <a:p>
            <a:pPr marL="285750" indent="-285750">
              <a:buFontTx/>
              <a:buChar char="-"/>
            </a:pPr>
            <a:r>
              <a:rPr lang="ru-RU" dirty="0"/>
              <a:t>ж</a:t>
            </a:r>
            <a:r>
              <a:rPr lang="ru-RU" dirty="0" smtClean="0"/>
              <a:t>елаемое количество потоков;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м</a:t>
            </a:r>
            <a:r>
              <a:rPr lang="ru-RU" dirty="0" smtClean="0"/>
              <a:t>аксимальное количество непрочитанных файлов;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омощь;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4297945" y="3158837"/>
            <a:ext cx="2831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  <a:r>
              <a:rPr lang="en-US" dirty="0" smtClean="0"/>
              <a:t>earch_engine.exe /… /… /…</a:t>
            </a:r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852" y="250941"/>
            <a:ext cx="1877575" cy="2655563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212" y="1136656"/>
            <a:ext cx="1843407" cy="2607237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099" y="2225809"/>
            <a:ext cx="1518987" cy="2148391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365" y="295502"/>
            <a:ext cx="1958257" cy="2769676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3451" y="1351594"/>
            <a:ext cx="1698281" cy="2401977"/>
          </a:xfrm>
          <a:prstGeom prst="rect">
            <a:avLst/>
          </a:prstGeom>
        </p:spPr>
      </p:pic>
      <p:sp>
        <p:nvSpPr>
          <p:cNvPr id="14" name="Стрелка вправо 13"/>
          <p:cNvSpPr/>
          <p:nvPr/>
        </p:nvSpPr>
        <p:spPr>
          <a:xfrm>
            <a:off x="3504523" y="186747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9565" y="295502"/>
            <a:ext cx="2567857" cy="3631868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9174" y="1048484"/>
            <a:ext cx="1492093" cy="2110353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7328709" y="186747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8122077" y="2782662"/>
            <a:ext cx="1489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ответов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1808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03.12.2025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47609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Заголовок 2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03.12.2025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165" y="1884268"/>
            <a:ext cx="2452061" cy="34680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637" y="2770900"/>
            <a:ext cx="1121068" cy="1585591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3706269" y="33902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499" y="2363007"/>
            <a:ext cx="1726332" cy="2441651"/>
          </a:xfrm>
          <a:prstGeom prst="rect">
            <a:avLst/>
          </a:prstGeom>
        </p:spPr>
      </p:pic>
      <p:sp>
        <p:nvSpPr>
          <p:cNvPr id="16" name="Стрелка вправо 15"/>
          <p:cNvSpPr/>
          <p:nvPr/>
        </p:nvSpPr>
        <p:spPr>
          <a:xfrm>
            <a:off x="5330074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479" y="2206531"/>
            <a:ext cx="1919123" cy="2714326"/>
          </a:xfrm>
          <a:prstGeom prst="rect">
            <a:avLst/>
          </a:prstGeom>
        </p:spPr>
      </p:pic>
      <p:sp>
        <p:nvSpPr>
          <p:cNvPr id="18" name="Стрелка вправо 17"/>
          <p:cNvSpPr/>
          <p:nvPr/>
        </p:nvSpPr>
        <p:spPr>
          <a:xfrm>
            <a:off x="853443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671535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 вправо 19"/>
          <p:cNvSpPr/>
          <p:nvPr/>
        </p:nvSpPr>
        <p:spPr>
          <a:xfrm>
            <a:off x="8466450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3" y="2085149"/>
            <a:ext cx="2119244" cy="2997369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0297172" y="34535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694" y="2499352"/>
            <a:ext cx="1505053" cy="2128683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216850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0854" y="2675759"/>
            <a:ext cx="1255327" cy="1775482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0535" y="2522442"/>
            <a:ext cx="1424188" cy="2014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03.12.2025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09565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03.12.2025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1097280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086274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80" y="1884266"/>
            <a:ext cx="1908994" cy="27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36285" y="4633485"/>
            <a:ext cx="2190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</a:t>
            </a:r>
          </a:p>
          <a:p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4723435" y="4649008"/>
            <a:ext cx="28060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с</a:t>
            </a:r>
            <a:r>
              <a:rPr lang="ru-RU" dirty="0" smtClean="0"/>
              <a:t>тепень релевантности </a:t>
            </a:r>
          </a:p>
          <a:p>
            <a:r>
              <a:rPr lang="ru-RU" dirty="0"/>
              <a:t>д</a:t>
            </a:r>
            <a:r>
              <a:rPr lang="ru-RU" dirty="0" smtClean="0"/>
              <a:t>окументов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170" y="1834209"/>
            <a:ext cx="1947160" cy="275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235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03.12.2025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551" y="1805147"/>
            <a:ext cx="1908994" cy="2700000"/>
          </a:xfrm>
          <a:prstGeom prst="rect">
            <a:avLst/>
          </a:prstGeom>
        </p:spPr>
      </p:pic>
      <p:sp>
        <p:nvSpPr>
          <p:cNvPr id="10" name="Стрелка вправо 9"/>
          <p:cNvSpPr/>
          <p:nvPr/>
        </p:nvSpPr>
        <p:spPr>
          <a:xfrm>
            <a:off x="2537467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5478543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20303" y="4505147"/>
            <a:ext cx="26211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</a:t>
            </a:r>
            <a:r>
              <a:rPr lang="ru-RU" dirty="0"/>
              <a:t> </a:t>
            </a:r>
            <a:r>
              <a:rPr lang="ru-RU" dirty="0" smtClean="0"/>
              <a:t>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3438205" y="4526811"/>
            <a:ext cx="2381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Текстовые  документы</a:t>
            </a:r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58" y="2133468"/>
            <a:ext cx="1590607" cy="224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730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147484"/>
            <a:ext cx="10058400" cy="89473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03.12.2025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23</a:t>
            </a:fld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6856803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809" y="1279335"/>
            <a:ext cx="1908994" cy="2700000"/>
          </a:xfrm>
          <a:prstGeom prst="rect">
            <a:avLst/>
          </a:prstGeom>
        </p:spPr>
      </p:pic>
      <p:sp>
        <p:nvSpPr>
          <p:cNvPr id="15" name="Стрелка вправо 14"/>
          <p:cNvSpPr/>
          <p:nvPr/>
        </p:nvSpPr>
        <p:spPr>
          <a:xfrm>
            <a:off x="3993312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318" y="1279335"/>
            <a:ext cx="1908994" cy="2700000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1129821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2342406" y="3886845"/>
            <a:ext cx="1392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</a:t>
            </a:r>
          </a:p>
          <a:p>
            <a:r>
              <a:rPr lang="ru-RU" dirty="0" smtClean="0"/>
              <a:t>документам</a:t>
            </a:r>
            <a:endParaRPr lang="ru-RU" dirty="0"/>
          </a:p>
        </p:txBody>
      </p:sp>
      <p:sp>
        <p:nvSpPr>
          <p:cNvPr id="19" name="TextBox 18"/>
          <p:cNvSpPr txBox="1"/>
          <p:nvPr/>
        </p:nvSpPr>
        <p:spPr>
          <a:xfrm>
            <a:off x="4647796" y="3886845"/>
            <a:ext cx="2509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</a:t>
            </a:r>
          </a:p>
          <a:p>
            <a:r>
              <a:rPr lang="ru-RU" dirty="0" smtClean="0"/>
              <a:t>индексов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47523"/>
              </p:ext>
            </p:extLst>
          </p:nvPr>
        </p:nvGraphicFramePr>
        <p:xfrm>
          <a:off x="7802900" y="5585904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02900" y="5127149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4455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6652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03.12.2025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24</a:t>
            </a:fld>
            <a:endParaRPr lang="ru-RU"/>
          </a:p>
        </p:txBody>
      </p:sp>
      <p:sp>
        <p:nvSpPr>
          <p:cNvPr id="12" name="Стрелка вправо 11"/>
          <p:cNvSpPr/>
          <p:nvPr/>
        </p:nvSpPr>
        <p:spPr>
          <a:xfrm>
            <a:off x="4235752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7148898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10012389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5752" y="1451099"/>
            <a:ext cx="1908994" cy="270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395" y="1451099"/>
            <a:ext cx="1908994" cy="2700000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372261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2000095" y="4094057"/>
            <a:ext cx="27140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н</a:t>
            </a:r>
            <a:r>
              <a:rPr lang="ru-RU" dirty="0" smtClean="0"/>
              <a:t>абор слов для поиска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4966273" y="4094056"/>
            <a:ext cx="2884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базе </a:t>
            </a:r>
          </a:p>
          <a:p>
            <a:r>
              <a:rPr lang="ru-RU" dirty="0" smtClean="0"/>
              <a:t>инвертированного индекса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7826390" y="414552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259596"/>
              </p:ext>
            </p:extLst>
          </p:nvPr>
        </p:nvGraphicFramePr>
        <p:xfrm>
          <a:off x="6544370" y="5572828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737837"/>
            <a:ext cx="7507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543458" y="5120992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639" y="1729933"/>
            <a:ext cx="1497226" cy="2117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006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03.12.2025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61231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па 16"/>
          <p:cNvGrpSpPr/>
          <p:nvPr/>
        </p:nvGrpSpPr>
        <p:grpSpPr>
          <a:xfrm>
            <a:off x="3213296" y="1949116"/>
            <a:ext cx="7844304" cy="4153736"/>
            <a:chOff x="3408461" y="590301"/>
            <a:chExt cx="1296590" cy="1296590"/>
          </a:xfrm>
          <a:solidFill>
            <a:schemeClr val="accent1">
              <a:hueOff val="0"/>
              <a:satOff val="0"/>
              <a:lumOff val="0"/>
            </a:schemeClr>
          </a:solidFill>
        </p:grpSpPr>
        <p:sp>
          <p:nvSpPr>
            <p:cNvPr id="18" name="Скругленный прямоугольник 1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9" name="Скругленный прямоугольник 4"/>
            <p:cNvSpPr/>
            <p:nvPr/>
          </p:nvSpPr>
          <p:spPr>
            <a:xfrm>
              <a:off x="3467347" y="649562"/>
              <a:ext cx="1170002" cy="1170002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SearchEngine</a:t>
              </a:r>
              <a:endParaRPr lang="ru-RU" sz="1900" kern="1200" dirty="0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8" name="Объект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4023417"/>
              </p:ext>
            </p:extLst>
          </p:nvPr>
        </p:nvGraphicFramePr>
        <p:xfrm>
          <a:off x="5021247" y="1949116"/>
          <a:ext cx="6036352" cy="41436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03.12.2025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26</a:t>
            </a:fld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550696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993954" y="5015622"/>
            <a:ext cx="31134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 smtClean="0"/>
              <a:t>пути к файлам документов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запросы</a:t>
            </a:r>
          </a:p>
          <a:p>
            <a:pPr marL="285750" indent="-285750">
              <a:buFontTx/>
              <a:buChar char="-"/>
            </a:pP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4073529" y="2398917"/>
            <a:ext cx="1834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</a:t>
            </a:r>
            <a:r>
              <a:rPr lang="ru-RU" dirty="0" smtClean="0"/>
              <a:t>бъекты классов</a:t>
            </a:r>
            <a:endParaRPr lang="ru-RU" dirty="0"/>
          </a:p>
        </p:txBody>
      </p:sp>
      <p:grpSp>
        <p:nvGrpSpPr>
          <p:cNvPr id="12" name="Группа 11"/>
          <p:cNvGrpSpPr/>
          <p:nvPr/>
        </p:nvGrpSpPr>
        <p:grpSpPr>
          <a:xfrm>
            <a:off x="3270165" y="3317427"/>
            <a:ext cx="1296590" cy="1296590"/>
            <a:chOff x="3408461" y="590301"/>
            <a:chExt cx="1296590" cy="1296590"/>
          </a:xfrm>
        </p:grpSpPr>
        <p:sp>
          <p:nvSpPr>
            <p:cNvPr id="13" name="Скругленный прямоугольник 12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ctr" anchorCtr="0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Dispatcher</a:t>
              </a:r>
              <a:endParaRPr lang="ru-RU" sz="1900" kern="1200" dirty="0" smtClean="0"/>
            </a:p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Operations</a:t>
              </a:r>
              <a:endParaRPr lang="ru-RU" sz="1900" kern="1200" dirty="0"/>
            </a:p>
          </p:txBody>
        </p:sp>
      </p:grpSp>
      <p:sp>
        <p:nvSpPr>
          <p:cNvPr id="15" name="Стрелка вправо 14"/>
          <p:cNvSpPr/>
          <p:nvPr/>
        </p:nvSpPr>
        <p:spPr>
          <a:xfrm>
            <a:off x="4544097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8" y="1949116"/>
            <a:ext cx="1464861" cy="207183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44" y="3364033"/>
            <a:ext cx="1417094" cy="200427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434" y="1828276"/>
            <a:ext cx="1605413" cy="227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293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13682</TotalTime>
  <Words>1090</Words>
  <Application>Microsoft Office PowerPoint</Application>
  <PresentationFormat>Широкоэкранный</PresentationFormat>
  <Paragraphs>404</Paragraphs>
  <Slides>26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26</vt:i4>
      </vt:variant>
    </vt:vector>
  </HeadingPairs>
  <TitlesOfParts>
    <vt:vector size="29" baseType="lpstr">
      <vt:lpstr>Calibri</vt:lpstr>
      <vt:lpstr>Calibri Light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Чтение и запись документов в отдельных потоках без использования мьютексов</vt:lpstr>
      <vt:lpstr>Инвертированная индексация документов в отдельных потоках без использования мьютексов</vt:lpstr>
      <vt:lpstr>Индексация документов в отдельных потоках</vt:lpstr>
      <vt:lpstr>Презентация PowerPoint</vt:lpstr>
      <vt:lpstr>Презентация PowerPoint</vt:lpstr>
      <vt:lpstr>Библиотека kav_check</vt:lpstr>
      <vt:lpstr>Библиотека kav_logger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Казмирчук Александр Владимирович</cp:lastModifiedBy>
  <cp:revision>327</cp:revision>
  <dcterms:created xsi:type="dcterms:W3CDTF">2025-10-14T05:54:15Z</dcterms:created>
  <dcterms:modified xsi:type="dcterms:W3CDTF">2025-12-04T13:42:33Z</dcterms:modified>
</cp:coreProperties>
</file>
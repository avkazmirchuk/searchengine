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1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31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301" r:id="rId11"/>
    <p:sldId id="302" r:id="rId12"/>
    <p:sldId id="291" r:id="rId13"/>
    <p:sldId id="279" r:id="rId14"/>
    <p:sldId id="292" r:id="rId15"/>
    <p:sldId id="293" r:id="rId16"/>
    <p:sldId id="280" r:id="rId17"/>
    <p:sldId id="281" r:id="rId18"/>
    <p:sldId id="294" r:id="rId19"/>
    <p:sldId id="295" r:id="rId20"/>
    <p:sldId id="296" r:id="rId21"/>
    <p:sldId id="300" r:id="rId22"/>
    <p:sldId id="298" r:id="rId23"/>
    <p:sldId id="283" r:id="rId24"/>
    <p:sldId id="272" r:id="rId25"/>
    <p:sldId id="259" r:id="rId26"/>
    <p:sldId id="271" r:id="rId27"/>
    <p:sldId id="287" r:id="rId28"/>
    <p:sldId id="285" r:id="rId29"/>
    <p:sldId id="290" r:id="rId3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85" userDrawn="1">
          <p15:clr>
            <a:srgbClr val="A4A3A4"/>
          </p15:clr>
        </p15:guide>
        <p15:guide id="2" pos="5541" userDrawn="1">
          <p15:clr>
            <a:srgbClr val="A4A3A4"/>
          </p15:clr>
        </p15:guide>
        <p15:guide id="3" pos="4089" userDrawn="1">
          <p15:clr>
            <a:srgbClr val="A4A3A4"/>
          </p15:clr>
        </p15:guide>
        <p15:guide id="4" orient="horz" pos="247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4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12" autoAdjust="0"/>
    <p:restoredTop sz="96400" autoAdjust="0"/>
  </p:normalViewPr>
  <p:slideViewPr>
    <p:cSldViewPr snapToGrid="0">
      <p:cViewPr varScale="1">
        <p:scale>
          <a:sx n="112" d="100"/>
          <a:sy n="112" d="100"/>
        </p:scale>
        <p:origin x="144" y="108"/>
      </p:cViewPr>
      <p:guideLst>
        <p:guide orient="horz" pos="3385"/>
        <p:guide pos="5541"/>
        <p:guide pos="4089"/>
        <p:guide orient="horz" pos="247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227249672"/>
        <c:axId val="227245752"/>
      </c:barChart>
      <c:catAx>
        <c:axId val="2272496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27245752"/>
        <c:crosses val="autoZero"/>
        <c:auto val="1"/>
        <c:lblAlgn val="ctr"/>
        <c:lblOffset val="100"/>
        <c:noMultiLvlLbl val="0"/>
      </c:catAx>
      <c:valAx>
        <c:axId val="2272457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272496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843 файла (100'000 </a:t>
            </a:r>
            <a:r>
              <a:rPr lang="ru-RU" dirty="0" smtClean="0"/>
              <a:t>слов)</a:t>
            </a:r>
            <a:endParaRPr lang="ru-RU" dirty="0"/>
          </a:p>
        </c:rich>
      </c:tx>
      <c:layout>
        <c:manualLayout>
          <c:xMode val="edge"/>
          <c:yMode val="edge"/>
          <c:x val="0.12686053132247357"/>
          <c:y val="2.292058000978907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227250064"/>
        <c:axId val="227242616"/>
      </c:barChart>
      <c:catAx>
        <c:axId val="2272500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27242616"/>
        <c:crosses val="autoZero"/>
        <c:auto val="1"/>
        <c:lblAlgn val="ctr"/>
        <c:lblOffset val="100"/>
        <c:noMultiLvlLbl val="0"/>
      </c:catAx>
      <c:valAx>
        <c:axId val="2272426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272500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1885376"/>
        <c:axId val="601883808"/>
      </c:barChart>
      <c:catAx>
        <c:axId val="601885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83808"/>
        <c:crosses val="autoZero"/>
        <c:auto val="1"/>
        <c:lblAlgn val="ctr"/>
        <c:lblOffset val="100"/>
        <c:noMultiLvlLbl val="0"/>
      </c:catAx>
      <c:valAx>
        <c:axId val="6018838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85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1884200"/>
        <c:axId val="601886944"/>
      </c:barChart>
      <c:catAx>
        <c:axId val="6018842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86944"/>
        <c:crosses val="autoZero"/>
        <c:auto val="1"/>
        <c:lblAlgn val="ctr"/>
        <c:lblOffset val="100"/>
        <c:noMultiLvlLbl val="0"/>
      </c:catAx>
      <c:valAx>
        <c:axId val="6018869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842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1890472"/>
        <c:axId val="601889688"/>
      </c:barChart>
      <c:catAx>
        <c:axId val="6018904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89688"/>
        <c:crosses val="autoZero"/>
        <c:auto val="1"/>
        <c:lblAlgn val="ctr"/>
        <c:lblOffset val="100"/>
        <c:noMultiLvlLbl val="0"/>
      </c:catAx>
      <c:valAx>
        <c:axId val="601889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904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4123024"/>
        <c:axId val="604122240"/>
      </c:barChart>
      <c:catAx>
        <c:axId val="6041230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4122240"/>
        <c:crosses val="autoZero"/>
        <c:auto val="1"/>
        <c:lblAlgn val="ctr"/>
        <c:lblOffset val="100"/>
        <c:noMultiLvlLbl val="0"/>
      </c:catAx>
      <c:valAx>
        <c:axId val="6041222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41230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4098504"/>
        <c:axId val="604104776"/>
      </c:barChart>
      <c:catAx>
        <c:axId val="6040985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4104776"/>
        <c:crosses val="autoZero"/>
        <c:auto val="1"/>
        <c:lblAlgn val="ctr"/>
        <c:lblOffset val="100"/>
        <c:noMultiLvlLbl val="0"/>
      </c:catAx>
      <c:valAx>
        <c:axId val="604104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40985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4104384"/>
        <c:axId val="604101248"/>
      </c:barChart>
      <c:catAx>
        <c:axId val="604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4101248"/>
        <c:crosses val="autoZero"/>
        <c:auto val="1"/>
        <c:lblAlgn val="ctr"/>
        <c:lblOffset val="100"/>
        <c:noMultiLvlLbl val="0"/>
      </c:catAx>
      <c:valAx>
        <c:axId val="6041012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4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4102816"/>
        <c:axId val="604105168"/>
      </c:barChart>
      <c:catAx>
        <c:axId val="6041028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4105168"/>
        <c:crosses val="autoZero"/>
        <c:auto val="1"/>
        <c:lblAlgn val="ctr"/>
        <c:lblOffset val="100"/>
        <c:noMultiLvlLbl val="0"/>
      </c:catAx>
      <c:valAx>
        <c:axId val="604105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41028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4099288"/>
        <c:axId val="604100072"/>
      </c:barChart>
      <c:catAx>
        <c:axId val="6040992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4100072"/>
        <c:crosses val="autoZero"/>
        <c:auto val="1"/>
        <c:lblAlgn val="ctr"/>
        <c:lblOffset val="100"/>
        <c:noMultiLvlLbl val="0"/>
      </c:catAx>
      <c:valAx>
        <c:axId val="604100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40992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4103992"/>
        <c:axId val="604100856"/>
      </c:barChart>
      <c:catAx>
        <c:axId val="6041039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4100856"/>
        <c:crosses val="autoZero"/>
        <c:auto val="1"/>
        <c:lblAlgn val="ctr"/>
        <c:lblOffset val="100"/>
        <c:noMultiLvlLbl val="0"/>
      </c:catAx>
      <c:valAx>
        <c:axId val="6041008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41039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4103600"/>
        <c:axId val="604102424"/>
      </c:barChart>
      <c:catAx>
        <c:axId val="6041036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4102424"/>
        <c:crosses val="autoZero"/>
        <c:auto val="1"/>
        <c:lblAlgn val="ctr"/>
        <c:lblOffset val="100"/>
        <c:noMultiLvlLbl val="0"/>
      </c:catAx>
      <c:valAx>
        <c:axId val="6041024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41036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5687272"/>
        <c:axId val="605691584"/>
      </c:barChart>
      <c:catAx>
        <c:axId val="6056872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5691584"/>
        <c:crosses val="autoZero"/>
        <c:auto val="1"/>
        <c:lblAlgn val="ctr"/>
        <c:lblOffset val="100"/>
        <c:noMultiLvlLbl val="0"/>
      </c:catAx>
      <c:valAx>
        <c:axId val="60569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56872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5684528"/>
        <c:axId val="605685704"/>
      </c:barChart>
      <c:catAx>
        <c:axId val="6056845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5685704"/>
        <c:crosses val="autoZero"/>
        <c:auto val="1"/>
        <c:lblAlgn val="ctr"/>
        <c:lblOffset val="100"/>
        <c:noMultiLvlLbl val="0"/>
      </c:catAx>
      <c:valAx>
        <c:axId val="6056857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56845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5686880"/>
        <c:axId val="605687664"/>
      </c:barChart>
      <c:catAx>
        <c:axId val="6056868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5687664"/>
        <c:crosses val="autoZero"/>
        <c:auto val="1"/>
        <c:lblAlgn val="ctr"/>
        <c:lblOffset val="100"/>
        <c:noMultiLvlLbl val="0"/>
      </c:catAx>
      <c:valAx>
        <c:axId val="60568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56868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Общие функции использования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 custT="1"/>
      <dgm:spPr/>
      <dgm:t>
        <a:bodyPr/>
        <a:lstStyle/>
        <a:p>
          <a:r>
            <a:rPr lang="ru-RU" sz="2000" dirty="0" smtClean="0"/>
            <a:t>Предоставляет 5 уровней логирования</a:t>
          </a:r>
          <a:endParaRPr lang="ru-RU" sz="2000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Особенности устройства библиотеки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 custT="1"/>
      <dgm:spPr/>
      <dgm:t>
        <a:bodyPr/>
        <a:lstStyle/>
        <a:p>
          <a:r>
            <a:rPr lang="ru-RU" sz="2000" dirty="0" smtClean="0"/>
            <a:t>Записывает сообщения в лог-файлы в другом потоке</a:t>
          </a:r>
          <a:endParaRPr lang="ru-RU" sz="2000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 custT="1"/>
      <dgm:spPr/>
      <dgm:t>
        <a:bodyPr/>
        <a:lstStyle/>
        <a:p>
          <a:r>
            <a:rPr lang="ru-RU" sz="2000" dirty="0" smtClean="0"/>
            <a:t>Выводит события в консоль в другом потоке и процессе</a:t>
          </a:r>
          <a:endParaRPr lang="ru-RU" sz="2000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CB3FC929-0C35-47D5-99D1-FD9C71888538}">
      <dgm:prSet phldrT="[Текст]" custT="1"/>
      <dgm:spPr/>
      <dgm:t>
        <a:bodyPr/>
        <a:lstStyle/>
        <a:p>
          <a:r>
            <a:rPr lang="ru-RU" sz="2000" dirty="0" smtClean="0"/>
            <a:t>Выбор вывода событий в консоль</a:t>
          </a:r>
          <a:endParaRPr lang="ru-RU" sz="2000" dirty="0"/>
        </a:p>
      </dgm:t>
    </dgm:pt>
    <dgm:pt modelId="{F58825EB-7363-44A2-B0AD-148D97EB70C3}" type="parTrans" cxnId="{A7CC131B-3344-4ED6-A0E4-C7472D872E05}">
      <dgm:prSet/>
      <dgm:spPr/>
      <dgm:t>
        <a:bodyPr/>
        <a:lstStyle/>
        <a:p>
          <a:endParaRPr lang="ru-RU"/>
        </a:p>
      </dgm:t>
    </dgm:pt>
    <dgm:pt modelId="{5D115292-2957-40E0-BC82-53225AEC8AF7}" type="sibTrans" cxnId="{A7CC131B-3344-4ED6-A0E4-C7472D872E05}">
      <dgm:prSet/>
      <dgm:spPr/>
      <dgm:t>
        <a:bodyPr/>
        <a:lstStyle/>
        <a:p>
          <a:endParaRPr lang="ru-RU"/>
        </a:p>
      </dgm:t>
    </dgm:pt>
    <dgm:pt modelId="{05520103-2F2D-4EFF-AB75-8FD6D7147D3F}">
      <dgm:prSet phldrT="[Текст]" custT="1"/>
      <dgm:spPr/>
      <dgm:t>
        <a:bodyPr/>
        <a:lstStyle/>
        <a:p>
          <a:r>
            <a:rPr lang="ru-RU" sz="2000" dirty="0" smtClean="0"/>
            <a:t>Регулирование интервала времени использования файла</a:t>
          </a:r>
          <a:endParaRPr lang="ru-RU" sz="2000" dirty="0"/>
        </a:p>
      </dgm:t>
    </dgm:pt>
    <dgm:pt modelId="{7C4702F5-D88E-4CAC-80AB-E35CCD58F0B4}" type="parTrans" cxnId="{E3CD5BD1-5D0A-423B-A7EF-BB263265A0C4}">
      <dgm:prSet/>
      <dgm:spPr/>
      <dgm:t>
        <a:bodyPr/>
        <a:lstStyle/>
        <a:p>
          <a:endParaRPr lang="ru-RU"/>
        </a:p>
      </dgm:t>
    </dgm:pt>
    <dgm:pt modelId="{D120839A-389A-44AB-A41F-B26B76DB82AF}" type="sibTrans" cxnId="{E3CD5BD1-5D0A-423B-A7EF-BB263265A0C4}">
      <dgm:prSet/>
      <dgm:spPr/>
      <dgm:t>
        <a:bodyPr/>
        <a:lstStyle/>
        <a:p>
          <a:endParaRPr lang="ru-RU"/>
        </a:p>
      </dgm:t>
    </dgm:pt>
    <dgm:pt modelId="{97DC81DA-439E-464D-9124-98CA41504BAB}">
      <dgm:prSet phldrT="[Текст]" custT="1"/>
      <dgm:spPr/>
      <dgm:t>
        <a:bodyPr/>
        <a:lstStyle/>
        <a:p>
          <a:r>
            <a:rPr lang="ru-RU" sz="2000" dirty="0" smtClean="0"/>
            <a:t>Регулирование интервала времени хранения файла</a:t>
          </a:r>
          <a:endParaRPr lang="ru-RU" sz="2000" dirty="0"/>
        </a:p>
      </dgm:t>
    </dgm:pt>
    <dgm:pt modelId="{EF3CEE56-7D45-441D-A504-60B580408250}" type="parTrans" cxnId="{88F132A6-ACF6-4488-94BE-05D0AD0EF33E}">
      <dgm:prSet/>
      <dgm:spPr/>
      <dgm:t>
        <a:bodyPr/>
        <a:lstStyle/>
        <a:p>
          <a:endParaRPr lang="ru-RU"/>
        </a:p>
      </dgm:t>
    </dgm:pt>
    <dgm:pt modelId="{6AA1DE12-B356-45A7-8DF3-D226C21795ED}" type="sibTrans" cxnId="{88F132A6-ACF6-4488-94BE-05D0AD0EF33E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450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450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E01C0C4C-CDA1-4258-AA06-F10E41D78FE7}" type="presOf" srcId="{05520103-2F2D-4EFF-AB75-8FD6D7147D3F}" destId="{F2725D4B-59A7-40CF-AA8E-A27EC37530B2}" srcOrd="0" destOrd="2" presId="urn:microsoft.com/office/officeart/2005/8/layout/vList2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9390319C-051C-41D4-9C5D-61E412295047}" type="presOf" srcId="{CB3FC929-0C35-47D5-99D1-FD9C71888538}" destId="{F2725D4B-59A7-40CF-AA8E-A27EC37530B2}" srcOrd="0" destOrd="1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3CD5BD1-5D0A-423B-A7EF-BB263265A0C4}" srcId="{48CC3452-B333-4F90-887E-97722077E109}" destId="{05520103-2F2D-4EFF-AB75-8FD6D7147D3F}" srcOrd="2" destOrd="0" parTransId="{7C4702F5-D88E-4CAC-80AB-E35CCD58F0B4}" sibTransId="{D120839A-389A-44AB-A41F-B26B76DB82AF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7CC131B-3344-4ED6-A0E4-C7472D872E05}" srcId="{48CC3452-B333-4F90-887E-97722077E109}" destId="{CB3FC929-0C35-47D5-99D1-FD9C71888538}" srcOrd="1" destOrd="0" parTransId="{F58825EB-7363-44A2-B0AD-148D97EB70C3}" sibTransId="{5D115292-2957-40E0-BC82-53225AEC8AF7}"/>
    <dgm:cxn modelId="{88F132A6-ACF6-4488-94BE-05D0AD0EF33E}" srcId="{48CC3452-B333-4F90-887E-97722077E109}" destId="{97DC81DA-439E-464D-9124-98CA41504BAB}" srcOrd="3" destOrd="0" parTransId="{EF3CEE56-7D45-441D-A504-60B580408250}" sibTransId="{6AA1DE12-B356-45A7-8DF3-D226C21795ED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C4FDDC7E-B2FF-47A9-B181-E0E2C6160F48}" type="presOf" srcId="{97DC81DA-439E-464D-9124-98CA41504BAB}" destId="{F2725D4B-59A7-40CF-AA8E-A27EC37530B2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Общие функции использования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 custT="1"/>
      <dgm:spPr/>
      <dgm:t>
        <a:bodyPr/>
        <a:lstStyle/>
        <a:p>
          <a:r>
            <a:rPr lang="ru-RU" sz="2000" dirty="0" smtClean="0"/>
            <a:t>Прочитать/записать текстовый файл</a:t>
          </a:r>
          <a:endParaRPr lang="ru-RU" sz="2000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 custT="1"/>
      <dgm:spPr/>
      <dgm:t>
        <a:bodyPr/>
        <a:lstStyle/>
        <a:p>
          <a:r>
            <a:rPr lang="ru-RU" sz="2000" dirty="0" smtClean="0"/>
            <a:t>Проверка на существование файла</a:t>
          </a:r>
          <a:endParaRPr lang="ru-RU" sz="2000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 custT="1"/>
      <dgm:spPr/>
      <dgm:t>
        <a:bodyPr/>
        <a:lstStyle/>
        <a:p>
          <a:r>
            <a:rPr lang="ru-RU" sz="2000" dirty="0" smtClean="0"/>
            <a:t>Прочитать/записать </a:t>
          </a:r>
          <a:r>
            <a:rPr lang="en-US" sz="2000" dirty="0" smtClean="0"/>
            <a:t>JSON-</a:t>
          </a:r>
          <a:r>
            <a:rPr lang="ru-RU" sz="2000" dirty="0" smtClean="0"/>
            <a:t>файл</a:t>
          </a:r>
          <a:endParaRPr lang="ru-RU" sz="2000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 custT="1"/>
      <dgm:spPr/>
      <dgm:t>
        <a:bodyPr/>
        <a:lstStyle/>
        <a:p>
          <a:r>
            <a:rPr lang="ru-RU" sz="2000" dirty="0" smtClean="0"/>
            <a:t>Проверить </a:t>
          </a:r>
          <a:r>
            <a:rPr lang="en-US" sz="2000" dirty="0" smtClean="0"/>
            <a:t>JSON-</a:t>
          </a:r>
          <a:r>
            <a:rPr lang="ru-RU" sz="2000" dirty="0" smtClean="0"/>
            <a:t>структуру на соответствие шаблону</a:t>
          </a:r>
          <a:endParaRPr lang="ru-RU" sz="2000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 custT="1"/>
      <dgm:spPr/>
      <dgm:t>
        <a:bodyPr/>
        <a:lstStyle/>
        <a:p>
          <a:r>
            <a:rPr lang="ru-RU" sz="2000" dirty="0" smtClean="0"/>
            <a:t>Проверка на открытие файла</a:t>
          </a:r>
          <a:endParaRPr lang="ru-RU" sz="2000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 custT="1"/>
      <dgm:spPr/>
      <dgm:t>
        <a:bodyPr/>
        <a:lstStyle/>
        <a:p>
          <a:r>
            <a:rPr lang="ru-RU" sz="2000" dirty="0" smtClean="0"/>
            <a:t>Проверка на ошибки во время чтения/записи файла</a:t>
          </a:r>
          <a:endParaRPr lang="ru-RU" sz="2000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 custT="1"/>
      <dgm:spPr/>
      <dgm:t>
        <a:bodyPr/>
        <a:lstStyle/>
        <a:p>
          <a:r>
            <a:rPr lang="ru-RU" sz="2000" dirty="0" smtClean="0"/>
            <a:t>Проверить </a:t>
          </a:r>
          <a:r>
            <a:rPr lang="en-US" sz="2000" dirty="0" smtClean="0"/>
            <a:t>JSON-</a:t>
          </a:r>
          <a:r>
            <a:rPr lang="ru-RU" sz="2000" dirty="0" smtClean="0"/>
            <a:t>структуру на целостность</a:t>
          </a:r>
          <a:endParaRPr lang="ru-RU" sz="2000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45072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45072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0"/>
          <a:ext cx="7920000" cy="49781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Общие функции использования</a:t>
          </a:r>
          <a:endParaRPr lang="ru-RU" sz="2400" kern="1200" dirty="0"/>
        </a:p>
      </dsp:txBody>
      <dsp:txXfrm>
        <a:off x="24301" y="24301"/>
        <a:ext cx="7871398" cy="449209"/>
      </dsp:txXfrm>
    </dsp:sp>
    <dsp:sp modelId="{F2725D4B-59A7-40CF-AA8E-A27EC37530B2}">
      <dsp:nvSpPr>
        <dsp:cNvPr id="0" name=""/>
        <dsp:cNvSpPr/>
      </dsp:nvSpPr>
      <dsp:spPr>
        <a:xfrm>
          <a:off x="0" y="510152"/>
          <a:ext cx="7920000" cy="13739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Предоставляет 5 уровней логирования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Выбор вывода событий в консоль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Регулирование интервала времени использования файла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Регулирование интервала времени хранения файла</a:t>
          </a:r>
          <a:endParaRPr lang="ru-RU" sz="2000" kern="1200" dirty="0"/>
        </a:p>
      </dsp:txBody>
      <dsp:txXfrm>
        <a:off x="0" y="510152"/>
        <a:ext cx="7920000" cy="1373962"/>
      </dsp:txXfrm>
    </dsp:sp>
    <dsp:sp modelId="{6C5C9815-44A2-4551-A509-FE6F0947C3DB}">
      <dsp:nvSpPr>
        <dsp:cNvPr id="0" name=""/>
        <dsp:cNvSpPr/>
      </dsp:nvSpPr>
      <dsp:spPr>
        <a:xfrm>
          <a:off x="0" y="1884114"/>
          <a:ext cx="7920000" cy="49781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Особенности устройства библиотеки</a:t>
          </a:r>
          <a:endParaRPr lang="ru-RU" sz="2400" kern="1200" dirty="0"/>
        </a:p>
      </dsp:txBody>
      <dsp:txXfrm>
        <a:off x="24301" y="1908415"/>
        <a:ext cx="7871398" cy="449209"/>
      </dsp:txXfrm>
    </dsp:sp>
    <dsp:sp modelId="{84271FDF-D644-48A5-8BBB-391AF85E26F5}">
      <dsp:nvSpPr>
        <dsp:cNvPr id="0" name=""/>
        <dsp:cNvSpPr/>
      </dsp:nvSpPr>
      <dsp:spPr>
        <a:xfrm>
          <a:off x="0" y="2381925"/>
          <a:ext cx="7920000" cy="977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Записывает сообщения в лог-файлы в другом потоке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Выводит события в консоль в другом потоке и процессе</a:t>
          </a:r>
          <a:endParaRPr lang="ru-RU" sz="2000" kern="1200" dirty="0"/>
        </a:p>
      </dsp:txBody>
      <dsp:txXfrm>
        <a:off x="0" y="2381925"/>
        <a:ext cx="7920000" cy="9770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179080"/>
          <a:ext cx="7920000" cy="53999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Общие функции использования</a:t>
          </a:r>
          <a:endParaRPr lang="ru-RU" sz="2400" kern="1200" dirty="0"/>
        </a:p>
      </dsp:txBody>
      <dsp:txXfrm>
        <a:off x="26361" y="205441"/>
        <a:ext cx="7867278" cy="487276"/>
      </dsp:txXfrm>
    </dsp:sp>
    <dsp:sp modelId="{625A264F-F3DF-4EEC-8B66-102C93BB9818}">
      <dsp:nvSpPr>
        <dsp:cNvPr id="0" name=""/>
        <dsp:cNvSpPr/>
      </dsp:nvSpPr>
      <dsp:spPr>
        <a:xfrm>
          <a:off x="0" y="784707"/>
          <a:ext cx="7920000" cy="1357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Прочитать/записать текстовый файл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Прочитать/записать </a:t>
          </a:r>
          <a:r>
            <a:rPr lang="en-US" sz="2000" kern="1200" dirty="0" smtClean="0"/>
            <a:t>JSON-</a:t>
          </a:r>
          <a:r>
            <a:rPr lang="ru-RU" sz="2000" kern="1200" dirty="0" smtClean="0"/>
            <a:t>файл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Проверить </a:t>
          </a:r>
          <a:r>
            <a:rPr lang="en-US" sz="2000" kern="1200" dirty="0" smtClean="0"/>
            <a:t>JSON-</a:t>
          </a:r>
          <a:r>
            <a:rPr lang="ru-RU" sz="2000" kern="1200" dirty="0" smtClean="0"/>
            <a:t>структуру на соответствие шаблону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Проверить </a:t>
          </a:r>
          <a:r>
            <a:rPr lang="en-US" sz="2000" kern="1200" dirty="0" smtClean="0"/>
            <a:t>JSON-</a:t>
          </a:r>
          <a:r>
            <a:rPr lang="ru-RU" sz="2000" kern="1200" dirty="0" smtClean="0"/>
            <a:t>структуру на целостность</a:t>
          </a:r>
          <a:endParaRPr lang="ru-RU" sz="2000" kern="1200" dirty="0"/>
        </a:p>
      </dsp:txBody>
      <dsp:txXfrm>
        <a:off x="0" y="784707"/>
        <a:ext cx="7920000" cy="1357920"/>
      </dsp:txXfrm>
    </dsp:sp>
    <dsp:sp modelId="{557F1F5C-6D75-4492-8EF1-6580ED92ACAF}">
      <dsp:nvSpPr>
        <dsp:cNvPr id="0" name=""/>
        <dsp:cNvSpPr/>
      </dsp:nvSpPr>
      <dsp:spPr>
        <a:xfrm>
          <a:off x="0" y="2142627"/>
          <a:ext cx="7920000" cy="53999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Проверка при работе с файлами</a:t>
          </a:r>
          <a:endParaRPr lang="ru-RU" sz="2400" kern="1200" dirty="0"/>
        </a:p>
      </dsp:txBody>
      <dsp:txXfrm>
        <a:off x="26361" y="2168988"/>
        <a:ext cx="7867278" cy="487276"/>
      </dsp:txXfrm>
    </dsp:sp>
    <dsp:sp modelId="{657A1B8A-9783-4C29-9201-29A02D448FA4}">
      <dsp:nvSpPr>
        <dsp:cNvPr id="0" name=""/>
        <dsp:cNvSpPr/>
      </dsp:nvSpPr>
      <dsp:spPr>
        <a:xfrm>
          <a:off x="0" y="2682626"/>
          <a:ext cx="7920000" cy="10598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Проверка на существование файла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Проверка на открытие файла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Проверка на ошибки во время чтения/записи файла</a:t>
          </a:r>
          <a:endParaRPr lang="ru-RU" sz="2000" kern="1200" dirty="0"/>
        </a:p>
      </dsp:txBody>
      <dsp:txXfrm>
        <a:off x="0" y="2682626"/>
        <a:ext cx="7920000" cy="10598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794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4422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559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43441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1876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18.02.2026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18.02.2026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18.02.2026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18.02.2026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0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8.png"/><Relationship Id="rId16" Type="http://schemas.openxmlformats.org/officeDocument/2006/relationships/image" Target="../media/image40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35.png"/><Relationship Id="rId5" Type="http://schemas.openxmlformats.org/officeDocument/2006/relationships/image" Target="../media/image22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19" Type="http://schemas.openxmlformats.org/officeDocument/2006/relationships/image" Target="../media/image43.png"/><Relationship Id="rId4" Type="http://schemas.openxmlformats.org/officeDocument/2006/relationships/image" Target="../media/image30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0.png"/><Relationship Id="rId18" Type="http://schemas.openxmlformats.org/officeDocument/2006/relationships/image" Target="../media/image35.png"/><Relationship Id="rId3" Type="http://schemas.openxmlformats.org/officeDocument/2006/relationships/image" Target="../media/image45.png"/><Relationship Id="rId7" Type="http://schemas.openxmlformats.org/officeDocument/2006/relationships/image" Target="../media/image22.png"/><Relationship Id="rId12" Type="http://schemas.openxmlformats.org/officeDocument/2006/relationships/image" Target="../media/image49.png"/><Relationship Id="rId17" Type="http://schemas.openxmlformats.org/officeDocument/2006/relationships/image" Target="../media/image5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34.png"/><Relationship Id="rId5" Type="http://schemas.openxmlformats.org/officeDocument/2006/relationships/image" Target="../media/image47.png"/><Relationship Id="rId15" Type="http://schemas.openxmlformats.org/officeDocument/2006/relationships/image" Target="../media/image51.png"/><Relationship Id="rId10" Type="http://schemas.openxmlformats.org/officeDocument/2006/relationships/image" Target="../media/image33.png"/><Relationship Id="rId4" Type="http://schemas.openxmlformats.org/officeDocument/2006/relationships/image" Target="../media/image46.png"/><Relationship Id="rId9" Type="http://schemas.openxmlformats.org/officeDocument/2006/relationships/image" Target="../media/image32.png"/><Relationship Id="rId1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33.png"/><Relationship Id="rId12" Type="http://schemas.openxmlformats.org/officeDocument/2006/relationships/image" Target="../media/image58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57.png"/><Relationship Id="rId5" Type="http://schemas.openxmlformats.org/officeDocument/2006/relationships/image" Target="../media/image23.png"/><Relationship Id="rId15" Type="http://schemas.openxmlformats.org/officeDocument/2006/relationships/image" Target="../media/image37.png"/><Relationship Id="rId10" Type="http://schemas.openxmlformats.org/officeDocument/2006/relationships/image" Target="../media/image56.png"/><Relationship Id="rId4" Type="http://schemas.openxmlformats.org/officeDocument/2006/relationships/image" Target="../media/image22.png"/><Relationship Id="rId9" Type="http://schemas.openxmlformats.org/officeDocument/2006/relationships/image" Target="../media/image55.png"/><Relationship Id="rId1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33.png"/><Relationship Id="rId18" Type="http://schemas.openxmlformats.org/officeDocument/2006/relationships/image" Target="../media/image37.png"/><Relationship Id="rId3" Type="http://schemas.openxmlformats.org/officeDocument/2006/relationships/image" Target="../media/image45.png"/><Relationship Id="rId7" Type="http://schemas.openxmlformats.org/officeDocument/2006/relationships/image" Target="../media/image63.png"/><Relationship Id="rId12" Type="http://schemas.openxmlformats.org/officeDocument/2006/relationships/image" Target="../media/image32.png"/><Relationship Id="rId17" Type="http://schemas.openxmlformats.org/officeDocument/2006/relationships/image" Target="../media/image36.png"/><Relationship Id="rId2" Type="http://schemas.openxmlformats.org/officeDocument/2006/relationships/image" Target="../media/image60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3.png"/><Relationship Id="rId5" Type="http://schemas.openxmlformats.org/officeDocument/2006/relationships/image" Target="../media/image62.png"/><Relationship Id="rId15" Type="http://schemas.openxmlformats.org/officeDocument/2006/relationships/image" Target="../media/image20.png"/><Relationship Id="rId10" Type="http://schemas.openxmlformats.org/officeDocument/2006/relationships/image" Target="../media/image22.png"/><Relationship Id="rId19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Relationship Id="rId14" Type="http://schemas.openxmlformats.org/officeDocument/2006/relationships/image" Target="../media/image6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86.png"/><Relationship Id="rId5" Type="http://schemas.openxmlformats.org/officeDocument/2006/relationships/image" Target="../media/image83.png"/><Relationship Id="rId10" Type="http://schemas.openxmlformats.org/officeDocument/2006/relationships/image" Target="../media/image85.png"/><Relationship Id="rId4" Type="http://schemas.openxmlformats.org/officeDocument/2006/relationships/image" Target="../media/image88.png"/><Relationship Id="rId9" Type="http://schemas.openxmlformats.org/officeDocument/2006/relationships/image" Target="../media/image8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9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96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8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8.png"/><Relationship Id="rId4" Type="http://schemas.openxmlformats.org/officeDocument/2006/relationships/image" Target="../media/image9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100.png"/><Relationship Id="rId18" Type="http://schemas.openxmlformats.org/officeDocument/2006/relationships/image" Target="../media/image35.png"/><Relationship Id="rId3" Type="http://schemas.openxmlformats.org/officeDocument/2006/relationships/image" Target="../media/image47.png"/><Relationship Id="rId7" Type="http://schemas.openxmlformats.org/officeDocument/2006/relationships/image" Target="../media/image33.png"/><Relationship Id="rId12" Type="http://schemas.openxmlformats.org/officeDocument/2006/relationships/image" Target="../media/image99.png"/><Relationship Id="rId17" Type="http://schemas.openxmlformats.org/officeDocument/2006/relationships/image" Target="../media/image53.png"/><Relationship Id="rId2" Type="http://schemas.openxmlformats.org/officeDocument/2006/relationships/image" Target="../media/image45.png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20.png"/><Relationship Id="rId5" Type="http://schemas.openxmlformats.org/officeDocument/2006/relationships/image" Target="../media/image23.png"/><Relationship Id="rId15" Type="http://schemas.openxmlformats.org/officeDocument/2006/relationships/image" Target="../media/image51.png"/><Relationship Id="rId10" Type="http://schemas.openxmlformats.org/officeDocument/2006/relationships/image" Target="../media/image48.png"/><Relationship Id="rId4" Type="http://schemas.openxmlformats.org/officeDocument/2006/relationships/image" Target="../media/image22.png"/><Relationship Id="rId9" Type="http://schemas.openxmlformats.org/officeDocument/2006/relationships/image" Target="../media/image49.png"/><Relationship Id="rId14" Type="http://schemas.openxmlformats.org/officeDocument/2006/relationships/image" Target="../media/image5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10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09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10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13" Type="http://schemas.openxmlformats.org/officeDocument/2006/relationships/image" Target="../media/image122.png"/><Relationship Id="rId18" Type="http://schemas.openxmlformats.org/officeDocument/2006/relationships/image" Target="../media/image8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48.png"/><Relationship Id="rId17" Type="http://schemas.openxmlformats.org/officeDocument/2006/relationships/image" Target="../media/image126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21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24.png"/><Relationship Id="rId10" Type="http://schemas.openxmlformats.org/officeDocument/2006/relationships/image" Target="../media/image120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19.png"/><Relationship Id="rId14" Type="http://schemas.openxmlformats.org/officeDocument/2006/relationships/image" Target="../media/image1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35.png"/><Relationship Id="rId3" Type="http://schemas.openxmlformats.org/officeDocument/2006/relationships/image" Target="../media/image127.png"/><Relationship Id="rId7" Type="http://schemas.openxmlformats.org/officeDocument/2006/relationships/image" Target="../media/image129.png"/><Relationship Id="rId12" Type="http://schemas.openxmlformats.org/officeDocument/2006/relationships/image" Target="../media/image1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.png"/><Relationship Id="rId11" Type="http://schemas.openxmlformats.org/officeDocument/2006/relationships/image" Target="../media/image133.png"/><Relationship Id="rId5" Type="http://schemas.openxmlformats.org/officeDocument/2006/relationships/image" Target="../media/image113.png"/><Relationship Id="rId10" Type="http://schemas.openxmlformats.org/officeDocument/2006/relationships/image" Target="../media/image132.png"/><Relationship Id="rId4" Type="http://schemas.openxmlformats.org/officeDocument/2006/relationships/image" Target="../media/image128.png"/><Relationship Id="rId9" Type="http://schemas.openxmlformats.org/officeDocument/2006/relationships/image" Target="../media/image131.png"/><Relationship Id="rId14" Type="http://schemas.openxmlformats.org/officeDocument/2006/relationships/image" Target="../media/image13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 smtClean="0"/>
              <a:t>файл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путей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пути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14178" y="2856559"/>
            <a:ext cx="2241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2093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070964" y="2533656"/>
            <a:ext cx="13282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окументов</a:t>
            </a:r>
            <a:r>
              <a:rPr lang="en-US" sz="1200" dirty="0" smtClean="0"/>
              <a:t> </a:t>
            </a:r>
            <a:r>
              <a:rPr lang="ru-RU" sz="1200" dirty="0" smtClean="0"/>
              <a:t>или пути файлов 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 smtClean="0"/>
                <a:t>fileOperations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3310" y="2888812"/>
            <a:ext cx="636330" cy="90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963" y="2884424"/>
            <a:ext cx="636330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106" y="2878033"/>
            <a:ext cx="636330" cy="90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1337" y="2887244"/>
            <a:ext cx="63633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18.02.2026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Общий 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91650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21" name="Рисунок 2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142" name="Рисунок 14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698" y="2429161"/>
            <a:ext cx="381798" cy="540000"/>
          </a:xfrm>
          <a:prstGeom prst="rect">
            <a:avLst/>
          </a:prstGeom>
        </p:spPr>
      </p:pic>
      <p:pic>
        <p:nvPicPr>
          <p:cNvPr id="143" name="Рисунок 14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8784" y="2426584"/>
            <a:ext cx="381798" cy="540000"/>
          </a:xfrm>
          <a:prstGeom prst="rect">
            <a:avLst/>
          </a:prstGeom>
        </p:spPr>
      </p:pic>
      <p:pic>
        <p:nvPicPr>
          <p:cNvPr id="144" name="Рисунок 14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222" y="2428061"/>
            <a:ext cx="381798" cy="540000"/>
          </a:xfrm>
          <a:prstGeom prst="rect">
            <a:avLst/>
          </a:prstGeom>
        </p:spPr>
      </p:pic>
      <p:pic>
        <p:nvPicPr>
          <p:cNvPr id="145" name="Рисунок 14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599" y="3776156"/>
            <a:ext cx="890858" cy="1260000"/>
          </a:xfrm>
          <a:prstGeom prst="rect">
            <a:avLst/>
          </a:prstGeom>
        </p:spPr>
      </p:pic>
      <p:pic>
        <p:nvPicPr>
          <p:cNvPr id="146" name="Рисунок 14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9991" y="3769661"/>
            <a:ext cx="890858" cy="1260000"/>
          </a:xfrm>
          <a:prstGeom prst="rect">
            <a:avLst/>
          </a:prstGeom>
        </p:spPr>
      </p:pic>
      <p:pic>
        <p:nvPicPr>
          <p:cNvPr id="147" name="Рисунок 14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8846" y="3776156"/>
            <a:ext cx="890858" cy="126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8859" y="1995092"/>
            <a:ext cx="763597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095" y="1990754"/>
            <a:ext cx="763597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6434" y="2006590"/>
            <a:ext cx="763597" cy="10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4163" y="1995345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ая выноска 6"/>
          <p:cNvSpPr/>
          <p:nvPr/>
        </p:nvSpPr>
        <p:spPr>
          <a:xfrm>
            <a:off x="6246460" y="3796381"/>
            <a:ext cx="2733144" cy="1461842"/>
          </a:xfrm>
          <a:prstGeom prst="wedgeRectCallou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727311"/>
              </p:ext>
            </p:extLst>
          </p:nvPr>
        </p:nvGraphicFramePr>
        <p:xfrm>
          <a:off x="3221060" y="5598718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5228451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</a:t>
            </a:r>
            <a:r>
              <a:rPr lang="ru-RU" sz="4000" dirty="0" smtClean="0"/>
              <a:t>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886" y="1996680"/>
            <a:ext cx="763597" cy="108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6695" y="30691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8561" y="4512402"/>
            <a:ext cx="763597" cy="108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03" y="5588957"/>
            <a:ext cx="509065" cy="720000"/>
          </a:xfrm>
          <a:prstGeom prst="rect">
            <a:avLst/>
          </a:prstGeom>
        </p:spPr>
      </p:pic>
      <p:pic>
        <p:nvPicPr>
          <p:cNvPr id="29" name="Рисунок 28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673" y="4932593"/>
            <a:ext cx="381798" cy="5400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6370300" y="3932492"/>
            <a:ext cx="1178434" cy="861774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документов: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{milk, water, milk}, </a:t>
            </a:r>
          </a:p>
          <a:p>
            <a:r>
              <a:rPr lang="en-US" sz="1000" dirty="0" smtClean="0"/>
              <a:t>{milk, tea</a:t>
            </a:r>
            <a:r>
              <a:rPr lang="en-US" sz="1000" dirty="0"/>
              <a:t>, </a:t>
            </a:r>
            <a:r>
              <a:rPr lang="en-US" sz="1000" dirty="0" smtClean="0"/>
              <a:t>coffee},</a:t>
            </a:r>
          </a:p>
          <a:p>
            <a:r>
              <a:rPr lang="en-US" sz="1000" dirty="0" smtClean="0"/>
              <a:t>{juice, water, tea}</a:t>
            </a:r>
            <a:endParaRPr lang="ru-RU" sz="1000" dirty="0"/>
          </a:p>
        </p:txBody>
      </p:sp>
      <p:sp>
        <p:nvSpPr>
          <p:cNvPr id="81" name="TextBox 80"/>
          <p:cNvSpPr txBox="1"/>
          <p:nvPr/>
        </p:nvSpPr>
        <p:spPr>
          <a:xfrm>
            <a:off x="7674794" y="3939776"/>
            <a:ext cx="1171247" cy="116955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индексов: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coffee: {1, </a:t>
            </a:r>
            <a:r>
              <a:rPr lang="ru-RU" sz="1000" dirty="0" smtClean="0"/>
              <a:t>1</a:t>
            </a:r>
            <a:r>
              <a:rPr lang="en-US" sz="1000" dirty="0" smtClean="0"/>
              <a:t>}</a:t>
            </a:r>
          </a:p>
          <a:p>
            <a:r>
              <a:rPr lang="en-US" sz="1000" dirty="0" smtClean="0"/>
              <a:t>juice: {2, 1}</a:t>
            </a:r>
          </a:p>
          <a:p>
            <a:r>
              <a:rPr lang="en-US" sz="1000" dirty="0"/>
              <a:t>m</a:t>
            </a:r>
            <a:r>
              <a:rPr lang="en-US" sz="1000" dirty="0" smtClean="0"/>
              <a:t>ilk: {0, 2}, {1, 1}</a:t>
            </a:r>
          </a:p>
          <a:p>
            <a:r>
              <a:rPr lang="en-US" sz="1000" dirty="0"/>
              <a:t>t</a:t>
            </a:r>
            <a:r>
              <a:rPr lang="en-US" sz="1000" dirty="0" smtClean="0"/>
              <a:t>ea: {1, 1}, {2, 1}</a:t>
            </a:r>
          </a:p>
          <a:p>
            <a:r>
              <a:rPr lang="en-US" sz="1000" dirty="0" smtClean="0"/>
              <a:t>water: {0, 1}, {2, 1}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ая выноска 8"/>
          <p:cNvSpPr/>
          <p:nvPr/>
        </p:nvSpPr>
        <p:spPr>
          <a:xfrm>
            <a:off x="6914505" y="1495694"/>
            <a:ext cx="4618755" cy="2506667"/>
          </a:xfrm>
          <a:prstGeom prst="wedgeRectCallout">
            <a:avLst/>
          </a:prstGeom>
          <a:solidFill>
            <a:schemeClr val="accent3">
              <a:lumMod val="20000"/>
              <a:lumOff val="80000"/>
            </a:schemeClr>
          </a:solidFill>
          <a:ln w="15875">
            <a:solidFill>
              <a:schemeClr val="bg1"/>
            </a:solidFill>
            <a:prstDash val="solid"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41438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u="sng" dirty="0" smtClean="0"/>
              <a:t>Относительная релевантность</a:t>
            </a:r>
            <a:r>
              <a:rPr lang="ru-RU" sz="1200" dirty="0" smtClean="0"/>
              <a:t>: абсолютная релевантность / </a:t>
            </a:r>
          </a:p>
          <a:p>
            <a:r>
              <a:rPr lang="ru-RU" sz="1200" dirty="0" smtClean="0"/>
              <a:t> максимальная абсолютная релевантность</a:t>
            </a:r>
            <a:endParaRPr lang="ru-RU" sz="1200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427834"/>
            <a:ext cx="53950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u="sng" dirty="0" smtClean="0"/>
              <a:t>Абсолютная релевантность</a:t>
            </a:r>
            <a:r>
              <a:rPr lang="ru-RU" sz="1200" dirty="0" smtClean="0"/>
              <a:t>: в каждом запросе</a:t>
            </a:r>
            <a:r>
              <a:rPr lang="ru-RU" sz="1200" dirty="0"/>
              <a:t>, для </a:t>
            </a:r>
            <a:r>
              <a:rPr lang="ru-RU" sz="1200" dirty="0" smtClean="0"/>
              <a:t>каждого документа, сумма </a:t>
            </a:r>
          </a:p>
          <a:p>
            <a:r>
              <a:rPr lang="ru-RU" sz="1200" dirty="0" smtClean="0"/>
              <a:t>вхождений слов</a:t>
            </a:r>
            <a:endParaRPr lang="ru-RU" sz="1200" dirty="0"/>
          </a:p>
        </p:txBody>
      </p:sp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7105" y="1995349"/>
            <a:ext cx="763597" cy="10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4194" y="3062529"/>
            <a:ext cx="509065" cy="720000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4772" y="4509477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860" y="5591120"/>
            <a:ext cx="509065" cy="720000"/>
          </a:xfrm>
          <a:prstGeom prst="rect">
            <a:avLst/>
          </a:prstGeom>
        </p:spPr>
      </p:pic>
      <p:pic>
        <p:nvPicPr>
          <p:cNvPr id="78" name="Рисунок 7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4942421"/>
            <a:ext cx="381798" cy="540000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4943898"/>
            <a:ext cx="381798" cy="54000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3228712" y="5847359"/>
            <a:ext cx="56668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u="sng" dirty="0" smtClean="0"/>
              <a:t>Максимальная абсолютная релевантность</a:t>
            </a:r>
            <a:r>
              <a:rPr lang="ru-RU" sz="1200" dirty="0" smtClean="0"/>
              <a:t>: наибольшая абсолютная релевантность</a:t>
            </a:r>
          </a:p>
          <a:p>
            <a:r>
              <a:rPr lang="ru-RU" sz="1200" dirty="0"/>
              <a:t>и</a:t>
            </a:r>
            <a:r>
              <a:rPr lang="ru-RU" sz="1200" dirty="0" smtClean="0"/>
              <a:t>з всех запросов</a:t>
            </a:r>
            <a:endParaRPr lang="ru-RU" sz="1200" dirty="0"/>
          </a:p>
        </p:txBody>
      </p:sp>
      <p:sp>
        <p:nvSpPr>
          <p:cNvPr id="86" name="TextBox 85"/>
          <p:cNvSpPr txBox="1"/>
          <p:nvPr/>
        </p:nvSpPr>
        <p:spPr>
          <a:xfrm>
            <a:off x="7017572" y="1598434"/>
            <a:ext cx="1222301" cy="861774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документов: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{milk, water, milk}, </a:t>
            </a:r>
          </a:p>
          <a:p>
            <a:r>
              <a:rPr lang="en-US" sz="1000" dirty="0" smtClean="0"/>
              <a:t>{milk, tea</a:t>
            </a:r>
            <a:r>
              <a:rPr lang="en-US" sz="1000" dirty="0"/>
              <a:t>, </a:t>
            </a:r>
            <a:r>
              <a:rPr lang="en-US" sz="1000" dirty="0" smtClean="0"/>
              <a:t>coffee},</a:t>
            </a:r>
          </a:p>
          <a:p>
            <a:r>
              <a:rPr lang="en-US" sz="1000" dirty="0" smtClean="0"/>
              <a:t>{juice, water, tea}</a:t>
            </a:r>
            <a:endParaRPr lang="ru-RU" sz="1000" dirty="0"/>
          </a:p>
        </p:txBody>
      </p:sp>
      <p:sp>
        <p:nvSpPr>
          <p:cNvPr id="87" name="TextBox 86"/>
          <p:cNvSpPr txBox="1"/>
          <p:nvPr/>
        </p:nvSpPr>
        <p:spPr>
          <a:xfrm>
            <a:off x="8722760" y="1595444"/>
            <a:ext cx="1191800" cy="116955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индексов: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coffee: {1, </a:t>
            </a:r>
            <a:r>
              <a:rPr lang="ru-RU" sz="1000" dirty="0" smtClean="0"/>
              <a:t>1</a:t>
            </a:r>
            <a:r>
              <a:rPr lang="en-US" sz="1000" dirty="0" smtClean="0"/>
              <a:t>}</a:t>
            </a:r>
          </a:p>
          <a:p>
            <a:r>
              <a:rPr lang="en-US" sz="1000" dirty="0" smtClean="0"/>
              <a:t>juice: {2, 1}</a:t>
            </a:r>
          </a:p>
          <a:p>
            <a:r>
              <a:rPr lang="en-US" sz="1000" dirty="0"/>
              <a:t>m</a:t>
            </a:r>
            <a:r>
              <a:rPr lang="en-US" sz="1000" dirty="0" smtClean="0"/>
              <a:t>ilk: {0, 2}, {1, 1}</a:t>
            </a:r>
          </a:p>
          <a:p>
            <a:r>
              <a:rPr lang="en-US" sz="1000" dirty="0"/>
              <a:t>t</a:t>
            </a:r>
            <a:r>
              <a:rPr lang="en-US" sz="1000" dirty="0" smtClean="0"/>
              <a:t>ea: {1, 1}, {2, 1}</a:t>
            </a:r>
          </a:p>
          <a:p>
            <a:r>
              <a:rPr lang="en-US" sz="1000" dirty="0" smtClean="0"/>
              <a:t>water: {0, 1}, {2, 1}</a:t>
            </a:r>
            <a:endParaRPr lang="ru-RU" sz="1000" dirty="0"/>
          </a:p>
        </p:txBody>
      </p:sp>
      <p:sp>
        <p:nvSpPr>
          <p:cNvPr id="88" name="TextBox 87"/>
          <p:cNvSpPr txBox="1"/>
          <p:nvPr/>
        </p:nvSpPr>
        <p:spPr>
          <a:xfrm>
            <a:off x="10403418" y="1597162"/>
            <a:ext cx="1021440" cy="707886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запросов: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{milk, water}, </a:t>
            </a:r>
          </a:p>
          <a:p>
            <a:r>
              <a:rPr lang="en-US" sz="1000" dirty="0" smtClean="0"/>
              <a:t>{juice, tea}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464876" y="2881771"/>
            <a:ext cx="1959988" cy="707886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релевантности: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/>
              <a:t>0 request</a:t>
            </a:r>
            <a:r>
              <a:rPr lang="en-US" sz="1000" dirty="0" smtClean="0"/>
              <a:t>: {0, 1}, {1, 1/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/>
              <a:t>}, {2, 1/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/>
              <a:t>} </a:t>
            </a:r>
          </a:p>
          <a:p>
            <a:r>
              <a:rPr lang="en-US" sz="1000" dirty="0"/>
              <a:t>1 request</a:t>
            </a:r>
            <a:r>
              <a:rPr lang="en-US" sz="1000" dirty="0" smtClean="0"/>
              <a:t>: {1, 1/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/>
              <a:t>}, {2, 2/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/>
              <a:t>}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17575" y="2884053"/>
            <a:ext cx="2340901" cy="101566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u="sng" dirty="0" smtClean="0"/>
              <a:t>Суммирование индексов слов запроса:</a:t>
            </a:r>
            <a:endParaRPr lang="en-US" sz="1000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0 request: {{</a:t>
            </a:r>
            <a:r>
              <a:rPr lang="en-US" sz="1000" dirty="0"/>
              <a:t>0, 2}, {1, 1</a:t>
            </a:r>
            <a:r>
              <a:rPr lang="en-US" sz="1000" dirty="0" smtClean="0"/>
              <a:t>}} + {</a:t>
            </a:r>
            <a:r>
              <a:rPr lang="en-US" sz="1000" dirty="0"/>
              <a:t>{0, 1}, {2, 1</a:t>
            </a:r>
            <a:r>
              <a:rPr lang="en-US" sz="1000" dirty="0" smtClean="0"/>
              <a:t>}} = </a:t>
            </a:r>
          </a:p>
          <a:p>
            <a:r>
              <a:rPr lang="en-US" sz="1000" dirty="0" smtClean="0"/>
              <a:t>                   </a:t>
            </a:r>
            <a:r>
              <a:rPr lang="en-US" sz="1000" dirty="0" smtClean="0">
                <a:solidFill>
                  <a:srgbClr val="00B050"/>
                </a:solidFill>
              </a:rPr>
              <a:t>{{0, 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>
                <a:solidFill>
                  <a:srgbClr val="00B050"/>
                </a:solidFill>
              </a:rPr>
              <a:t>}, {1, 1}, {2, 1}}</a:t>
            </a:r>
            <a:r>
              <a:rPr lang="en-US" sz="1000" dirty="0" smtClean="0"/>
              <a:t> </a:t>
            </a:r>
            <a:endParaRPr lang="en-US" sz="1000" dirty="0"/>
          </a:p>
          <a:p>
            <a:r>
              <a:rPr lang="en-US" sz="1000" dirty="0" smtClean="0"/>
              <a:t>1 request</a:t>
            </a:r>
            <a:r>
              <a:rPr lang="en-US" sz="1000" dirty="0"/>
              <a:t>: {{2, 1</a:t>
            </a:r>
            <a:r>
              <a:rPr lang="en-US" sz="1000" dirty="0" smtClean="0"/>
              <a:t>}} </a:t>
            </a:r>
            <a:r>
              <a:rPr lang="en-US" sz="1000" dirty="0"/>
              <a:t>+ </a:t>
            </a:r>
            <a:r>
              <a:rPr lang="en-US" sz="1000" dirty="0" smtClean="0"/>
              <a:t>{{</a:t>
            </a:r>
            <a:r>
              <a:rPr lang="en-US" sz="1000" dirty="0"/>
              <a:t>1, 1}, {2, 1</a:t>
            </a:r>
            <a:r>
              <a:rPr lang="en-US" sz="1000" dirty="0" smtClean="0"/>
              <a:t>}} = </a:t>
            </a:r>
          </a:p>
          <a:p>
            <a:r>
              <a:rPr lang="en-US" sz="1000" dirty="0" smtClean="0"/>
              <a:t>                   </a:t>
            </a:r>
            <a:r>
              <a:rPr lang="en-US" sz="1000" dirty="0" smtClean="0">
                <a:solidFill>
                  <a:srgbClr val="00B050"/>
                </a:solidFill>
              </a:rPr>
              <a:t>{{1, 1}, {2, 2}} </a:t>
            </a:r>
            <a:endParaRPr lang="ru-RU" sz="1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0123" y="1996918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2425260"/>
            <a:ext cx="381798" cy="54000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2426737"/>
            <a:ext cx="381798" cy="54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493" y="1869890"/>
            <a:ext cx="1399928" cy="19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Соединительная линия уступом 118"/>
          <p:cNvCxnSpPr>
            <a:stCxn id="104" idx="2"/>
            <a:endCxn id="111" idx="0"/>
          </p:cNvCxnSpPr>
          <p:nvPr/>
        </p:nvCxnSpPr>
        <p:spPr>
          <a:xfrm rot="16200000" flipH="1">
            <a:off x="8202795" y="3456124"/>
            <a:ext cx="753309" cy="65702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97" y="4416718"/>
            <a:ext cx="1080000" cy="1527507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510445" y="2516018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435" y="1940839"/>
            <a:ext cx="540000" cy="763753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157897" y="3886836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860155" y="1634370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3503599" y="2517097"/>
            <a:ext cx="17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155473" y="3475708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лово</a:t>
            </a:r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sp>
        <p:nvSpPr>
          <p:cNvPr id="48" name="TextBox 47"/>
          <p:cNvSpPr txBox="1"/>
          <p:nvPr/>
        </p:nvSpPr>
        <p:spPr>
          <a:xfrm>
            <a:off x="6514909" y="2309866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слово</a:t>
            </a:r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53" name="TextBox 52"/>
          <p:cNvSpPr txBox="1"/>
          <p:nvPr/>
        </p:nvSpPr>
        <p:spPr>
          <a:xfrm>
            <a:off x="8775721" y="2310468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en-US" sz="1000" dirty="0" smtClean="0"/>
          </a:p>
        </p:txBody>
      </p:sp>
      <p:cxnSp>
        <p:nvCxnSpPr>
          <p:cNvPr id="76" name="Соединительная линия уступом 75"/>
          <p:cNvCxnSpPr>
            <a:stCxn id="108" idx="2"/>
            <a:endCxn id="96" idx="2"/>
          </p:cNvCxnSpPr>
          <p:nvPr/>
        </p:nvCxnSpPr>
        <p:spPr>
          <a:xfrm rot="5400000">
            <a:off x="6805836" y="-713854"/>
            <a:ext cx="131348" cy="8154544"/>
          </a:xfrm>
          <a:prstGeom prst="bentConnector3">
            <a:avLst>
              <a:gd name="adj1" fmla="val 217480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Соединительная линия уступом 66"/>
          <p:cNvCxnSpPr>
            <a:stCxn id="16" idx="1"/>
            <a:endCxn id="90" idx="0"/>
          </p:cNvCxnSpPr>
          <p:nvPr/>
        </p:nvCxnSpPr>
        <p:spPr>
          <a:xfrm rot="10800000">
            <a:off x="872557" y="2356783"/>
            <a:ext cx="2631043" cy="394314"/>
          </a:xfrm>
          <a:prstGeom prst="bentConnector4">
            <a:avLst>
              <a:gd name="adj1" fmla="val -4779"/>
              <a:gd name="adj2" fmla="val 20748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Соединительная линия уступом 94"/>
          <p:cNvCxnSpPr>
            <a:stCxn id="115" idx="2"/>
          </p:cNvCxnSpPr>
          <p:nvPr/>
        </p:nvCxnSpPr>
        <p:spPr>
          <a:xfrm rot="5400000">
            <a:off x="5533483" y="5705947"/>
            <a:ext cx="936055" cy="1594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>
            <a:stCxn id="111" idx="2"/>
          </p:cNvCxnSpPr>
          <p:nvPr/>
        </p:nvCxnSpPr>
        <p:spPr>
          <a:xfrm rot="16200000" flipH="1">
            <a:off x="8441225" y="5708033"/>
            <a:ext cx="933480" cy="2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4087" y="5671195"/>
            <a:ext cx="14814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инвертированного</a:t>
            </a:r>
          </a:p>
          <a:p>
            <a:r>
              <a:rPr lang="ru-RU" sz="1000" dirty="0" smtClean="0"/>
              <a:t>индекса</a:t>
            </a:r>
            <a:endParaRPr lang="ru-RU" sz="1000" dirty="0"/>
          </a:p>
        </p:txBody>
      </p:sp>
      <p:grpSp>
        <p:nvGrpSpPr>
          <p:cNvPr id="31" name="Группа 30"/>
          <p:cNvGrpSpPr/>
          <p:nvPr/>
        </p:nvGrpSpPr>
        <p:grpSpPr>
          <a:xfrm>
            <a:off x="3756659" y="2270280"/>
            <a:ext cx="1152036" cy="277177"/>
            <a:chOff x="3901044" y="3386772"/>
            <a:chExt cx="1294911" cy="266589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01044" y="3386772"/>
              <a:ext cx="58241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32529" y="3386772"/>
              <a:ext cx="66342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  <p:cxnSp>
          <p:nvCxnSpPr>
            <p:cNvPr id="30" name="Прямая соединительная линия 2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TextBox 77"/>
          <p:cNvSpPr txBox="1"/>
          <p:nvPr/>
        </p:nvSpPr>
        <p:spPr>
          <a:xfrm>
            <a:off x="7408946" y="3476652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en-US" sz="1000" dirty="0" smtClean="0"/>
          </a:p>
        </p:txBody>
      </p:sp>
      <p:grpSp>
        <p:nvGrpSpPr>
          <p:cNvPr id="66" name="Группа 65"/>
          <p:cNvGrpSpPr/>
          <p:nvPr/>
        </p:nvGrpSpPr>
        <p:grpSpPr>
          <a:xfrm>
            <a:off x="302781" y="2356783"/>
            <a:ext cx="1289135" cy="1205690"/>
            <a:chOff x="57796" y="1752187"/>
            <a:chExt cx="1289135" cy="1205690"/>
          </a:xfrm>
        </p:grpSpPr>
        <p:sp>
          <p:nvSpPr>
            <p:cNvPr id="90" name="Блок-схема: процесс 89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57796" y="2557767"/>
              <a:ext cx="12891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документ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документов</a:t>
              </a:r>
              <a:endParaRPr lang="ru-RU" sz="1000" dirty="0"/>
            </a:p>
          </p:txBody>
        </p:sp>
      </p:grpSp>
      <p:grpSp>
        <p:nvGrpSpPr>
          <p:cNvPr id="17" name="Группа 16"/>
          <p:cNvGrpSpPr/>
          <p:nvPr/>
        </p:nvGrpSpPr>
        <p:grpSpPr>
          <a:xfrm>
            <a:off x="2302757" y="2374538"/>
            <a:ext cx="1109775" cy="1054554"/>
            <a:chOff x="3833917" y="3574756"/>
            <a:chExt cx="1109775" cy="1054554"/>
          </a:xfrm>
        </p:grpSpPr>
        <p:grpSp>
          <p:nvGrpSpPr>
            <p:cNvPr id="93" name="Группа 92"/>
            <p:cNvGrpSpPr/>
            <p:nvPr/>
          </p:nvGrpSpPr>
          <p:grpSpPr>
            <a:xfrm>
              <a:off x="3833917" y="3577509"/>
              <a:ext cx="1109775" cy="1051801"/>
              <a:chOff x="57796" y="1752187"/>
              <a:chExt cx="1109775" cy="1051801"/>
            </a:xfrm>
          </p:grpSpPr>
          <p:sp>
            <p:nvSpPr>
              <p:cNvPr id="94" name="Блок-схема: процесс 93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57796" y="2557767"/>
                <a:ext cx="98296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слово</a:t>
                </a:r>
              </a:p>
            </p:txBody>
          </p:sp>
        </p:grpSp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7635" y="3574756"/>
              <a:ext cx="1008000" cy="712700"/>
            </a:xfrm>
            <a:prstGeom prst="rect">
              <a:avLst/>
            </a:prstGeom>
          </p:spPr>
        </p:pic>
      </p:grpSp>
      <p:grpSp>
        <p:nvGrpSpPr>
          <p:cNvPr id="97" name="Группа 96"/>
          <p:cNvGrpSpPr/>
          <p:nvPr/>
        </p:nvGrpSpPr>
        <p:grpSpPr>
          <a:xfrm>
            <a:off x="5334714" y="2076725"/>
            <a:ext cx="1332000" cy="1332000"/>
            <a:chOff x="7425120" y="1638785"/>
            <a:chExt cx="1332000" cy="1332000"/>
          </a:xfrm>
        </p:grpSpPr>
        <p:sp>
          <p:nvSpPr>
            <p:cNvPr id="99" name="Блок-схема: решение 98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7575866" y="2545196"/>
              <a:ext cx="1029449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 smtClean="0"/>
                <a:t>“word”</a:t>
              </a:r>
              <a:endParaRPr lang="ru-RU" sz="1000" dirty="0"/>
            </a:p>
            <a:p>
              <a:r>
                <a:rPr lang="ru-RU" sz="1000" dirty="0" smtClean="0"/>
                <a:t>в базе индекса </a:t>
              </a:r>
            </a:p>
          </p:txBody>
        </p:sp>
      </p:grpSp>
      <p:grpSp>
        <p:nvGrpSpPr>
          <p:cNvPr id="103" name="Группа 102"/>
          <p:cNvGrpSpPr/>
          <p:nvPr/>
        </p:nvGrpSpPr>
        <p:grpSpPr>
          <a:xfrm>
            <a:off x="7525186" y="2075985"/>
            <a:ext cx="1440790" cy="1332000"/>
            <a:chOff x="7365371" y="1638785"/>
            <a:chExt cx="1440790" cy="1332000"/>
          </a:xfrm>
        </p:grpSpPr>
        <p:sp>
          <p:nvSpPr>
            <p:cNvPr id="104" name="Блок-схема: решение 103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365371" y="2545196"/>
              <a:ext cx="1440790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</a:t>
              </a:r>
              <a:r>
                <a:rPr lang="en-US" sz="1000" dirty="0" smtClean="0"/>
                <a:t>” </a:t>
              </a:r>
              <a:r>
                <a:rPr lang="ru-RU" sz="1000" dirty="0" smtClean="0"/>
                <a:t>по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базе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индекса </a:t>
              </a:r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9868782" y="2181744"/>
            <a:ext cx="2160000" cy="1116000"/>
            <a:chOff x="3404221" y="3272340"/>
            <a:chExt cx="2160000" cy="1116000"/>
          </a:xfrm>
        </p:grpSpPr>
        <p:sp>
          <p:nvSpPr>
            <p:cNvPr id="108" name="Блок-схема: процесс 107"/>
            <p:cNvSpPr/>
            <p:nvPr/>
          </p:nvSpPr>
          <p:spPr>
            <a:xfrm>
              <a:off x="3404221" y="3272340"/>
              <a:ext cx="2160000" cy="1116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71" name="Группа 70"/>
            <p:cNvGrpSpPr/>
            <p:nvPr/>
          </p:nvGrpSpPr>
          <p:grpSpPr>
            <a:xfrm>
              <a:off x="3787745" y="3436157"/>
              <a:ext cx="1744552" cy="288119"/>
              <a:chOff x="3901044" y="3386658"/>
              <a:chExt cx="1136885" cy="277113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3901044" y="3401361"/>
                <a:ext cx="1083709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3901044" y="3386772"/>
                <a:ext cx="51815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word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5" name="TextBox 74"/>
              <p:cNvSpPr txBox="1"/>
              <p:nvPr/>
            </p:nvSpPr>
            <p:spPr>
              <a:xfrm>
                <a:off x="4274613" y="3386658"/>
                <a:ext cx="7633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{ID doc</a:t>
                </a:r>
                <a:r>
                  <a:rPr lang="ru-RU" sz="1200" b="1" dirty="0" smtClean="0">
                    <a:solidFill>
                      <a:schemeClr val="bg1"/>
                    </a:solidFill>
                  </a:rPr>
                  <a:t>, </a:t>
                </a:r>
                <a:r>
                  <a:rPr lang="en-US" sz="1200" b="1" dirty="0" smtClean="0"/>
                  <a:t>++N</a:t>
                </a:r>
                <a:r>
                  <a:rPr lang="en-US" sz="1200" b="1" dirty="0" smtClean="0">
                    <a:solidFill>
                      <a:schemeClr val="bg1"/>
                    </a:solidFill>
                  </a:rPr>
                  <a:t>}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7" name="Прямая соединительная линия 76"/>
              <p:cNvCxnSpPr/>
              <p:nvPr/>
            </p:nvCxnSpPr>
            <p:spPr>
              <a:xfrm>
                <a:off x="4255468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TextBox 106"/>
            <p:cNvSpPr txBox="1"/>
            <p:nvPr/>
          </p:nvSpPr>
          <p:spPr>
            <a:xfrm>
              <a:off x="3418147" y="3778909"/>
              <a:ext cx="2146074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увеличить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</a:t>
              </a:r>
              <a:endParaRPr lang="en-US" sz="1000" dirty="0" smtClean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7539964" y="4161294"/>
            <a:ext cx="2736000" cy="1080000"/>
            <a:chOff x="8047264" y="3812669"/>
            <a:chExt cx="2736000" cy="1080000"/>
          </a:xfrm>
        </p:grpSpPr>
        <p:sp>
          <p:nvSpPr>
            <p:cNvPr id="111" name="Блок-схема: процесс 110"/>
            <p:cNvSpPr/>
            <p:nvPr/>
          </p:nvSpPr>
          <p:spPr>
            <a:xfrm>
              <a:off x="8047264" y="3812669"/>
              <a:ext cx="273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5" name="Группа 34"/>
            <p:cNvGrpSpPr/>
            <p:nvPr/>
          </p:nvGrpSpPr>
          <p:grpSpPr>
            <a:xfrm>
              <a:off x="8070359" y="3974134"/>
              <a:ext cx="2702790" cy="890216"/>
              <a:chOff x="8070359" y="3974134"/>
              <a:chExt cx="2702790" cy="890216"/>
            </a:xfrm>
          </p:grpSpPr>
          <p:grpSp>
            <p:nvGrpSpPr>
              <p:cNvPr id="79" name="Группа 78"/>
              <p:cNvGrpSpPr/>
              <p:nvPr/>
            </p:nvGrpSpPr>
            <p:grpSpPr>
              <a:xfrm>
                <a:off x="8440965" y="3974134"/>
                <a:ext cx="2332184" cy="288000"/>
                <a:chOff x="3901044" y="3386772"/>
                <a:chExt cx="980731" cy="276999"/>
              </a:xfrm>
            </p:grpSpPr>
            <p:sp>
              <p:nvSpPr>
                <p:cNvPr id="82" name="Прямоугольник 81"/>
                <p:cNvSpPr/>
                <p:nvPr/>
              </p:nvSpPr>
              <p:spPr>
                <a:xfrm>
                  <a:off x="3901044" y="3401361"/>
                  <a:ext cx="935290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3" name="TextBox 82"/>
                <p:cNvSpPr txBox="1"/>
                <p:nvPr/>
              </p:nvSpPr>
              <p:spPr>
                <a:xfrm>
                  <a:off x="3901044" y="3386772"/>
                  <a:ext cx="5181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word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84" name="TextBox 83"/>
                <p:cNvSpPr txBox="1"/>
                <p:nvPr/>
              </p:nvSpPr>
              <p:spPr>
                <a:xfrm>
                  <a:off x="4138951" y="3387436"/>
                  <a:ext cx="742824" cy="2664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>
                      <a:solidFill>
                        <a:schemeClr val="bg1"/>
                      </a:solidFill>
                    </a:rPr>
                    <a:t>{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r>
                    <a:rPr lang="ru-RU" sz="1200" b="1" dirty="0" smtClean="0">
                      <a:solidFill>
                        <a:schemeClr val="bg1"/>
                      </a:solidFill>
                    </a:rPr>
                    <a:t>, 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n}, </a:t>
                  </a:r>
                  <a:r>
                    <a:rPr lang="en-US" sz="1200" b="1" dirty="0" smtClean="0"/>
                    <a:t>{ID doc, 1}</a:t>
                  </a:r>
                  <a:endParaRPr lang="ru-RU" sz="1200" b="1" dirty="0"/>
                </a:p>
              </p:txBody>
            </p:sp>
            <p:cxnSp>
              <p:nvCxnSpPr>
                <p:cNvPr id="85" name="Прямая соединительная линия 84"/>
                <p:cNvCxnSpPr/>
                <p:nvPr/>
              </p:nvCxnSpPr>
              <p:spPr>
                <a:xfrm>
                  <a:off x="4125830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0" name="TextBox 109"/>
              <p:cNvSpPr txBox="1"/>
              <p:nvPr/>
            </p:nvSpPr>
            <p:spPr>
              <a:xfrm>
                <a:off x="8070359" y="4310352"/>
                <a:ext cx="269761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 базе индекса, по слову, добавить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 и количество вхождений слова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документ равное 1</a:t>
                </a:r>
                <a:endParaRPr lang="en-US" sz="1000" dirty="0" smtClean="0"/>
              </a:p>
            </p:txBody>
          </p:sp>
        </p:grpSp>
      </p:grpSp>
      <p:grpSp>
        <p:nvGrpSpPr>
          <p:cNvPr id="43" name="Группа 42"/>
          <p:cNvGrpSpPr/>
          <p:nvPr/>
        </p:nvGrpSpPr>
        <p:grpSpPr>
          <a:xfrm>
            <a:off x="4814307" y="4084288"/>
            <a:ext cx="2376000" cy="1154429"/>
            <a:chOff x="3743564" y="3673870"/>
            <a:chExt cx="2376000" cy="11544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3743564" y="3748299"/>
              <a:ext cx="237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63" name="Группа 62"/>
            <p:cNvGrpSpPr/>
            <p:nvPr/>
          </p:nvGrpSpPr>
          <p:grpSpPr>
            <a:xfrm>
              <a:off x="4529221" y="3896709"/>
              <a:ext cx="1517215" cy="294660"/>
              <a:chOff x="3901044" y="3380367"/>
              <a:chExt cx="1249151" cy="283404"/>
            </a:xfrm>
          </p:grpSpPr>
          <p:sp>
            <p:nvSpPr>
              <p:cNvPr id="64" name="Прямоугольник 63"/>
              <p:cNvSpPr/>
              <p:nvPr/>
            </p:nvSpPr>
            <p:spPr>
              <a:xfrm>
                <a:off x="3901044" y="3401361"/>
                <a:ext cx="1217540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3901044" y="3386772"/>
                <a:ext cx="49688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word</a:t>
                </a:r>
                <a:endParaRPr lang="ru-RU" sz="1200" b="1" dirty="0"/>
              </a:p>
            </p:txBody>
          </p:sp>
          <p:sp>
            <p:nvSpPr>
              <p:cNvPr id="69" name="TextBox 68"/>
              <p:cNvSpPr txBox="1"/>
              <p:nvPr/>
            </p:nvSpPr>
            <p:spPr>
              <a:xfrm>
                <a:off x="4374381" y="3380367"/>
                <a:ext cx="77581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/>
                  <a:t>{ID doc</a:t>
                </a:r>
                <a:r>
                  <a:rPr lang="ru-RU" sz="1200" b="1" dirty="0" smtClean="0"/>
                  <a:t>, 1</a:t>
                </a:r>
                <a:r>
                  <a:rPr lang="en-US" sz="1200" b="1" dirty="0" smtClean="0"/>
                  <a:t>}</a:t>
                </a:r>
                <a:endParaRPr lang="ru-RU" sz="1200" b="1" dirty="0"/>
              </a:p>
            </p:txBody>
          </p:sp>
          <p:cxnSp>
            <p:nvCxnSpPr>
              <p:cNvPr id="70" name="Прямая соединительная линия 69"/>
              <p:cNvCxnSpPr/>
              <p:nvPr/>
            </p:nvCxnSpPr>
            <p:spPr>
              <a:xfrm>
                <a:off x="4349641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3" name="Прямоугольник 112"/>
            <p:cNvSpPr>
              <a:spLocks noChangeAspect="1"/>
            </p:cNvSpPr>
            <p:nvPr/>
          </p:nvSpPr>
          <p:spPr>
            <a:xfrm>
              <a:off x="4130687" y="3673870"/>
              <a:ext cx="335299" cy="540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4000" b="0" cap="none" spc="0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+</a:t>
              </a:r>
              <a:endParaRPr lang="ru-RU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46386" y="4216056"/>
              <a:ext cx="217332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добавить слово,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 и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 равное 1</a:t>
              </a:r>
              <a:endParaRPr lang="en-US" sz="1000" dirty="0" smtClean="0"/>
            </a:p>
          </p:txBody>
        </p:sp>
      </p:grpSp>
      <p:cxnSp>
        <p:nvCxnSpPr>
          <p:cNvPr id="116" name="Соединительная линия уступом 115"/>
          <p:cNvCxnSpPr>
            <a:stCxn id="99" idx="3"/>
            <a:endCxn id="104" idx="1"/>
          </p:cNvCxnSpPr>
          <p:nvPr/>
        </p:nvCxnSpPr>
        <p:spPr>
          <a:xfrm flipV="1">
            <a:off x="6666714" y="2741985"/>
            <a:ext cx="918221" cy="74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Соединительная линия уступом 116"/>
          <p:cNvCxnSpPr>
            <a:stCxn id="104" idx="3"/>
            <a:endCxn id="108" idx="1"/>
          </p:cNvCxnSpPr>
          <p:nvPr/>
        </p:nvCxnSpPr>
        <p:spPr>
          <a:xfrm flipV="1">
            <a:off x="8916935" y="2739744"/>
            <a:ext cx="951847" cy="2241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Соединительная линия уступом 117"/>
          <p:cNvCxnSpPr>
            <a:stCxn id="99" idx="2"/>
            <a:endCxn id="115" idx="0"/>
          </p:cNvCxnSpPr>
          <p:nvPr/>
        </p:nvCxnSpPr>
        <p:spPr>
          <a:xfrm rot="16200000" flipH="1">
            <a:off x="5626514" y="3782924"/>
            <a:ext cx="749992" cy="159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101251" y="5864404"/>
            <a:ext cx="25362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екущие слово и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обработаны</a:t>
            </a:r>
            <a:endParaRPr lang="ru-RU" sz="1000" dirty="0"/>
          </a:p>
        </p:txBody>
      </p:sp>
      <p:sp>
        <p:nvSpPr>
          <p:cNvPr id="154" name="Прямоугольник 153"/>
          <p:cNvSpPr/>
          <p:nvPr/>
        </p:nvSpPr>
        <p:spPr>
          <a:xfrm>
            <a:off x="129917" y="205110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5" name="Прямоугольник 154"/>
          <p:cNvSpPr/>
          <p:nvPr/>
        </p:nvSpPr>
        <p:spPr>
          <a:xfrm>
            <a:off x="2132327" y="207991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6" name="Прямоугольник 155"/>
          <p:cNvSpPr/>
          <p:nvPr/>
        </p:nvSpPr>
        <p:spPr>
          <a:xfrm>
            <a:off x="5803143" y="178422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7" name="Прямоугольник 156"/>
          <p:cNvSpPr/>
          <p:nvPr/>
        </p:nvSpPr>
        <p:spPr>
          <a:xfrm>
            <a:off x="8045176" y="180316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8" name="Прямоугольник 157"/>
          <p:cNvSpPr/>
          <p:nvPr/>
        </p:nvSpPr>
        <p:spPr>
          <a:xfrm>
            <a:off x="9686179" y="187554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9" name="Прямоугольник 158"/>
          <p:cNvSpPr/>
          <p:nvPr/>
        </p:nvSpPr>
        <p:spPr>
          <a:xfrm>
            <a:off x="4615623" y="386837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0" name="Прямоугольник 159"/>
          <p:cNvSpPr/>
          <p:nvPr/>
        </p:nvSpPr>
        <p:spPr>
          <a:xfrm>
            <a:off x="7341702" y="386810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857" y="2364950"/>
            <a:ext cx="1008000" cy="712692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0518" y="2367057"/>
            <a:ext cx="1008000" cy="712694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7885" y="2373583"/>
            <a:ext cx="1008000" cy="712691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335" y="4150697"/>
            <a:ext cx="432704" cy="612000"/>
          </a:xfrm>
          <a:prstGeom prst="rect">
            <a:avLst/>
          </a:prstGeom>
        </p:spPr>
      </p:pic>
      <p:pic>
        <p:nvPicPr>
          <p:cNvPr id="100" name="Рисунок 9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9143" y="4160587"/>
            <a:ext cx="432704" cy="612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0939" y="2183412"/>
            <a:ext cx="432704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Соединительная линия уступом 37"/>
          <p:cNvCxnSpPr>
            <a:stCxn id="25" idx="1"/>
            <a:endCxn id="17" idx="2"/>
          </p:cNvCxnSpPr>
          <p:nvPr/>
        </p:nvCxnSpPr>
        <p:spPr>
          <a:xfrm rot="10800000" flipV="1">
            <a:off x="2982530" y="2281830"/>
            <a:ext cx="2749504" cy="828241"/>
          </a:xfrm>
          <a:prstGeom prst="bentConnector4">
            <a:avLst>
              <a:gd name="adj1" fmla="val -7889"/>
              <a:gd name="adj2" fmla="val 1412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Соединительная линия уступом 300"/>
          <p:cNvCxnSpPr>
            <a:stCxn id="23" idx="1"/>
            <a:endCxn id="49" idx="0"/>
          </p:cNvCxnSpPr>
          <p:nvPr/>
        </p:nvCxnSpPr>
        <p:spPr>
          <a:xfrm rot="10800000">
            <a:off x="987181" y="1895210"/>
            <a:ext cx="2643888" cy="389784"/>
          </a:xfrm>
          <a:prstGeom prst="bentConnector4">
            <a:avLst>
              <a:gd name="adj1" fmla="val -5987"/>
              <a:gd name="adj2" fmla="val 2276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Группа 32"/>
          <p:cNvGrpSpPr/>
          <p:nvPr/>
        </p:nvGrpSpPr>
        <p:grpSpPr>
          <a:xfrm>
            <a:off x="4631443" y="4668036"/>
            <a:ext cx="1332000" cy="1332000"/>
            <a:chOff x="7425120" y="1649059"/>
            <a:chExt cx="1332000" cy="1332000"/>
          </a:xfrm>
        </p:grpSpPr>
        <p:sp>
          <p:nvSpPr>
            <p:cNvPr id="101" name="Блок-схема: решение 100"/>
            <p:cNvSpPr>
              <a:spLocks noChangeAspect="1"/>
            </p:cNvSpPr>
            <p:nvPr/>
          </p:nvSpPr>
          <p:spPr>
            <a:xfrm>
              <a:off x="7425120" y="1649059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586140" y="2545196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cxnSp>
        <p:nvCxnSpPr>
          <p:cNvPr id="226" name="Соединительная линия уступом 225"/>
          <p:cNvCxnSpPr>
            <a:stCxn id="222" idx="3"/>
          </p:cNvCxnSpPr>
          <p:nvPr/>
        </p:nvCxnSpPr>
        <p:spPr>
          <a:xfrm flipH="1" flipV="1">
            <a:off x="5064722" y="1756309"/>
            <a:ext cx="6459396" cy="2962597"/>
          </a:xfrm>
          <a:prstGeom prst="bentConnector4">
            <a:avLst>
              <a:gd name="adj1" fmla="val -1948"/>
              <a:gd name="adj2" fmla="val 111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релевантности (релевантности ответов)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635143" y="2051536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3631069" y="205099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5732034" y="2047831"/>
            <a:ext cx="118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stCxn id="153" idx="3"/>
          </p:cNvCxnSpPr>
          <p:nvPr/>
        </p:nvCxnSpPr>
        <p:spPr>
          <a:xfrm flipH="1" flipV="1">
            <a:off x="5064722" y="1756309"/>
            <a:ext cx="6477003" cy="716057"/>
          </a:xfrm>
          <a:prstGeom prst="bentConnector4">
            <a:avLst>
              <a:gd name="adj1" fmla="val -1625"/>
              <a:gd name="adj2" fmla="val 1491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Стрелка вправо 62"/>
          <p:cNvSpPr/>
          <p:nvPr/>
        </p:nvSpPr>
        <p:spPr>
          <a:xfrm rot="5400000">
            <a:off x="782844" y="3028970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2877347" y="430710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051" y="1469470"/>
            <a:ext cx="540000" cy="763750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2446610" y="1905529"/>
            <a:ext cx="1080000" cy="1204543"/>
            <a:chOff x="2254103" y="1736622"/>
            <a:chExt cx="1080000" cy="1204543"/>
          </a:xfrm>
        </p:grpSpPr>
        <p:sp>
          <p:nvSpPr>
            <p:cNvPr id="17" name="TextBox 16"/>
            <p:cNvSpPr txBox="1"/>
            <p:nvPr/>
          </p:nvSpPr>
          <p:spPr>
            <a:xfrm>
              <a:off x="2298542" y="2541055"/>
              <a:ext cx="9829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слово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запроса</a:t>
              </a:r>
              <a:endParaRPr lang="ru-RU" sz="1000" dirty="0"/>
            </a:p>
          </p:txBody>
        </p:sp>
        <p:grpSp>
          <p:nvGrpSpPr>
            <p:cNvPr id="27" name="Группа 26"/>
            <p:cNvGrpSpPr/>
            <p:nvPr/>
          </p:nvGrpSpPr>
          <p:grpSpPr>
            <a:xfrm>
              <a:off x="2254103" y="1736622"/>
              <a:ext cx="1080000" cy="792000"/>
              <a:chOff x="2254103" y="1736622"/>
              <a:chExt cx="1080000" cy="792000"/>
            </a:xfrm>
          </p:grpSpPr>
          <p:sp>
            <p:nvSpPr>
              <p:cNvPr id="59" name="Блок-схема: процесс 58"/>
              <p:cNvSpPr/>
              <p:nvPr/>
            </p:nvSpPr>
            <p:spPr>
              <a:xfrm>
                <a:off x="2254103" y="1736622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28" name="Рисунок 27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62864" y="1742962"/>
                <a:ext cx="1008000" cy="712699"/>
              </a:xfrm>
              <a:prstGeom prst="rect">
                <a:avLst/>
              </a:prstGeom>
            </p:spPr>
          </p:pic>
        </p:grpSp>
      </p:grpSp>
      <p:grpSp>
        <p:nvGrpSpPr>
          <p:cNvPr id="37" name="Группа 36"/>
          <p:cNvGrpSpPr/>
          <p:nvPr/>
        </p:nvGrpSpPr>
        <p:grpSpPr>
          <a:xfrm>
            <a:off x="3626297" y="1797974"/>
            <a:ext cx="540000" cy="277176"/>
            <a:chOff x="4111934" y="2883423"/>
            <a:chExt cx="1188000" cy="277176"/>
          </a:xfrm>
        </p:grpSpPr>
        <p:sp>
          <p:nvSpPr>
            <p:cNvPr id="66" name="Прямоугольник 65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111934" y="2883423"/>
              <a:ext cx="11399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</p:grpSp>
      <p:grpSp>
        <p:nvGrpSpPr>
          <p:cNvPr id="47" name="Группа 46"/>
          <p:cNvGrpSpPr/>
          <p:nvPr/>
        </p:nvGrpSpPr>
        <p:grpSpPr>
          <a:xfrm>
            <a:off x="5729539" y="1811008"/>
            <a:ext cx="900000" cy="277534"/>
            <a:chOff x="6369282" y="1767075"/>
            <a:chExt cx="969877" cy="277534"/>
          </a:xfrm>
        </p:grpSpPr>
        <p:grpSp>
          <p:nvGrpSpPr>
            <p:cNvPr id="71" name="Группа 70"/>
            <p:cNvGrpSpPr/>
            <p:nvPr/>
          </p:nvGrpSpPr>
          <p:grpSpPr>
            <a:xfrm>
              <a:off x="6369282" y="1767610"/>
              <a:ext cx="969877" cy="276999"/>
              <a:chOff x="4158024" y="2850118"/>
              <a:chExt cx="1188000" cy="276999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4158024" y="2856828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4161798" y="2850118"/>
                <a:ext cx="7790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ID doc</a:t>
                </a:r>
                <a:endParaRPr lang="ru-RU" sz="1200" b="1" dirty="0"/>
              </a:p>
            </p:txBody>
          </p:sp>
          <p:cxnSp>
            <p:nvCxnSpPr>
              <p:cNvPr id="74" name="Прямая соединительная линия 73"/>
              <p:cNvCxnSpPr/>
              <p:nvPr/>
            </p:nvCxnSpPr>
            <p:spPr>
              <a:xfrm>
                <a:off x="4938011" y="285440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TextBox 43"/>
            <p:cNvSpPr txBox="1"/>
            <p:nvPr/>
          </p:nvSpPr>
          <p:spPr>
            <a:xfrm>
              <a:off x="7031534" y="1767075"/>
              <a:ext cx="2888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n</a:t>
              </a:r>
              <a:endParaRPr lang="ru-RU" sz="1200" b="1" dirty="0"/>
            </a:p>
          </p:txBody>
        </p:sp>
      </p:grpSp>
      <p:grpSp>
        <p:nvGrpSpPr>
          <p:cNvPr id="43" name="Группа 42"/>
          <p:cNvGrpSpPr/>
          <p:nvPr/>
        </p:nvGrpSpPr>
        <p:grpSpPr>
          <a:xfrm>
            <a:off x="2457618" y="4878531"/>
            <a:ext cx="1422184" cy="1203129"/>
            <a:chOff x="4430768" y="4683566"/>
            <a:chExt cx="1422184" cy="12031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4581717" y="4683566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430768" y="5486585"/>
              <a:ext cx="14221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</a:t>
              </a:r>
              <a:r>
                <a:rPr lang="en-US" sz="1000" dirty="0" smtClean="0"/>
                <a:t> </a:t>
              </a:r>
              <a:endParaRPr lang="ru-RU" sz="1000" dirty="0" smtClean="0"/>
            </a:p>
            <a:p>
              <a:r>
                <a:rPr lang="ru-RU" sz="1000" dirty="0" smtClean="0"/>
                <a:t>из базы документов</a:t>
              </a:r>
              <a:endParaRPr lang="ru-RU" sz="1000" dirty="0"/>
            </a:p>
          </p:txBody>
        </p:sp>
      </p:grpSp>
      <p:sp>
        <p:nvSpPr>
          <p:cNvPr id="117" name="Стрелка вправо 116"/>
          <p:cNvSpPr/>
          <p:nvPr/>
        </p:nvSpPr>
        <p:spPr>
          <a:xfrm>
            <a:off x="3759537" y="510393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8" name="Группа 117"/>
          <p:cNvGrpSpPr/>
          <p:nvPr/>
        </p:nvGrpSpPr>
        <p:grpSpPr>
          <a:xfrm>
            <a:off x="3757833" y="4847084"/>
            <a:ext cx="576000" cy="277176"/>
            <a:chOff x="4111934" y="2883423"/>
            <a:chExt cx="1217341" cy="277176"/>
          </a:xfrm>
        </p:grpSpPr>
        <p:sp>
          <p:nvSpPr>
            <p:cNvPr id="119" name="Прямоугольник 118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111934" y="2883423"/>
              <a:ext cx="1217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</p:grpSp>
      <p:sp>
        <p:nvSpPr>
          <p:cNvPr id="132" name="TextBox 131"/>
          <p:cNvSpPr txBox="1"/>
          <p:nvPr/>
        </p:nvSpPr>
        <p:spPr>
          <a:xfrm>
            <a:off x="6869531" y="28798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41" name="Группа 40"/>
          <p:cNvGrpSpPr/>
          <p:nvPr/>
        </p:nvGrpSpPr>
        <p:grpSpPr>
          <a:xfrm>
            <a:off x="4343800" y="1748283"/>
            <a:ext cx="1544012" cy="1615211"/>
            <a:chOff x="4771901" y="1870780"/>
            <a:chExt cx="1544012" cy="161521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4937737" y="1870780"/>
              <a:ext cx="1206505" cy="1044000"/>
              <a:chOff x="4950950" y="1840422"/>
              <a:chExt cx="1206505" cy="1044000"/>
            </a:xfrm>
          </p:grpSpPr>
          <p:sp>
            <p:nvSpPr>
              <p:cNvPr id="70" name="Блок-схема: процесс 69"/>
              <p:cNvSpPr/>
              <p:nvPr/>
            </p:nvSpPr>
            <p:spPr>
              <a:xfrm>
                <a:off x="4991327" y="1840422"/>
                <a:ext cx="1080000" cy="1044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4950950" y="2475177"/>
                <a:ext cx="120650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в базе</a:t>
                </a:r>
              </a:p>
              <a:p>
                <a:r>
                  <a:rPr lang="ru-RU" sz="1000" dirty="0" smtClean="0"/>
                  <a:t>индекса по </a:t>
                </a:r>
                <a:r>
                  <a:rPr lang="en-US" sz="1000" dirty="0" smtClean="0"/>
                  <a:t>“word”</a:t>
                </a:r>
                <a:endParaRPr lang="ru-RU" sz="1000" dirty="0" smtClean="0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4771901" y="2931993"/>
              <a:ext cx="154401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выбрать </a:t>
              </a:r>
              <a:r>
                <a:rPr lang="en-US" sz="1000" dirty="0"/>
                <a:t>ID </a:t>
              </a:r>
              <a:r>
                <a:rPr lang="ru-RU" sz="1000" dirty="0"/>
                <a:t>документа и </a:t>
              </a:r>
            </a:p>
            <a:p>
              <a:r>
                <a:rPr lang="ru-RU" sz="1000" dirty="0"/>
                <a:t>количество вхождений</a:t>
              </a:r>
            </a:p>
            <a:p>
              <a:r>
                <a:rPr lang="ru-RU" sz="1000" dirty="0" smtClean="0"/>
                <a:t>слова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документ</a:t>
              </a:r>
              <a:endParaRPr lang="ru-RU" sz="1000" dirty="0"/>
            </a:p>
          </p:txBody>
        </p:sp>
      </p:grpSp>
      <p:grpSp>
        <p:nvGrpSpPr>
          <p:cNvPr id="39" name="Группа 38"/>
          <p:cNvGrpSpPr/>
          <p:nvPr/>
        </p:nvGrpSpPr>
        <p:grpSpPr>
          <a:xfrm>
            <a:off x="417406" y="1895210"/>
            <a:ext cx="1135247" cy="1205690"/>
            <a:chOff x="57796" y="1752187"/>
            <a:chExt cx="1135247" cy="1205690"/>
          </a:xfrm>
        </p:grpSpPr>
        <p:sp>
          <p:nvSpPr>
            <p:cNvPr id="49" name="Блок-схема: процесс 48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7796" y="2557767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запрос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запросов</a:t>
              </a:r>
              <a:endParaRPr lang="ru-RU" sz="1000" dirty="0"/>
            </a:p>
          </p:txBody>
        </p:sp>
      </p:grpSp>
      <p:sp>
        <p:nvSpPr>
          <p:cNvPr id="111" name="TextBox 110"/>
          <p:cNvSpPr txBox="1"/>
          <p:nvPr/>
        </p:nvSpPr>
        <p:spPr>
          <a:xfrm>
            <a:off x="8161081" y="1835119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182" name="Стрелка вправо 181"/>
          <p:cNvSpPr/>
          <p:nvPr/>
        </p:nvSpPr>
        <p:spPr>
          <a:xfrm>
            <a:off x="1969735" y="51064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7" name="TextBox 186"/>
          <p:cNvSpPr txBox="1"/>
          <p:nvPr/>
        </p:nvSpPr>
        <p:spPr>
          <a:xfrm>
            <a:off x="5661383" y="4773020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195" name="Группа 194"/>
          <p:cNvGrpSpPr/>
          <p:nvPr/>
        </p:nvGrpSpPr>
        <p:grpSpPr>
          <a:xfrm>
            <a:off x="7019643" y="1621845"/>
            <a:ext cx="1332000" cy="1332000"/>
            <a:chOff x="7425120" y="1638785"/>
            <a:chExt cx="1332000" cy="1332000"/>
          </a:xfrm>
        </p:grpSpPr>
        <p:sp>
          <p:nvSpPr>
            <p:cNvPr id="196" name="Блок-схема: решение 195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8" name="TextBox 197"/>
            <p:cNvSpPr txBox="1"/>
            <p:nvPr/>
          </p:nvSpPr>
          <p:spPr>
            <a:xfrm>
              <a:off x="7586140" y="2534922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grpSp>
        <p:nvGrpSpPr>
          <p:cNvPr id="69" name="Группа 68"/>
          <p:cNvGrpSpPr/>
          <p:nvPr/>
        </p:nvGrpSpPr>
        <p:grpSpPr>
          <a:xfrm>
            <a:off x="6397654" y="4689758"/>
            <a:ext cx="2393389" cy="1160486"/>
            <a:chOff x="9200791" y="4929821"/>
            <a:chExt cx="2393389" cy="1160486"/>
          </a:xfrm>
        </p:grpSpPr>
        <p:sp>
          <p:nvSpPr>
            <p:cNvPr id="194" name="Блок-схема: процесс 193"/>
            <p:cNvSpPr/>
            <p:nvPr/>
          </p:nvSpPr>
          <p:spPr>
            <a:xfrm>
              <a:off x="9200791" y="5070649"/>
              <a:ext cx="2376000" cy="1019658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50" name="Группа 49"/>
            <p:cNvGrpSpPr/>
            <p:nvPr/>
          </p:nvGrpSpPr>
          <p:grpSpPr>
            <a:xfrm>
              <a:off x="9218180" y="4929821"/>
              <a:ext cx="2376000" cy="1159801"/>
              <a:chOff x="9228455" y="4909273"/>
              <a:chExt cx="2371067" cy="1159801"/>
            </a:xfrm>
          </p:grpSpPr>
          <p:sp>
            <p:nvSpPr>
              <p:cNvPr id="163" name="TextBox 162"/>
              <p:cNvSpPr txBox="1"/>
              <p:nvPr/>
            </p:nvSpPr>
            <p:spPr>
              <a:xfrm>
                <a:off x="9228455" y="5515076"/>
                <a:ext cx="237106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д</a:t>
                </a:r>
                <a:r>
                  <a:rPr lang="ru-RU" sz="1000" dirty="0" smtClean="0"/>
                  <a:t>обавить в базу ответов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</a:t>
                </a:r>
              </a:p>
              <a:p>
                <a:r>
                  <a:rPr lang="ru-RU" sz="1000" dirty="0" smtClean="0"/>
                  <a:t>и нулевое количество вхождений </a:t>
                </a:r>
                <a:r>
                  <a:rPr lang="ru-RU" sz="1000" b="1" u="sng" dirty="0" smtClean="0"/>
                  <a:t>слов</a:t>
                </a:r>
              </a:p>
              <a:p>
                <a:r>
                  <a:rPr lang="ru-RU" sz="1000" dirty="0" smtClean="0"/>
                  <a:t>в документ</a:t>
                </a:r>
                <a:endParaRPr lang="ru-RU" sz="1000" dirty="0"/>
              </a:p>
            </p:txBody>
          </p:sp>
          <p:grpSp>
            <p:nvGrpSpPr>
              <p:cNvPr id="199" name="Группа 198"/>
              <p:cNvGrpSpPr/>
              <p:nvPr/>
            </p:nvGrpSpPr>
            <p:grpSpPr>
              <a:xfrm>
                <a:off x="9895822" y="4909273"/>
                <a:ext cx="1241691" cy="540000"/>
                <a:chOff x="10038614" y="3163833"/>
                <a:chExt cx="1241691" cy="540000"/>
              </a:xfrm>
            </p:grpSpPr>
            <p:sp>
              <p:nvSpPr>
                <p:cNvPr id="201" name="Прямоугольник 200"/>
                <p:cNvSpPr>
                  <a:spLocks noChangeAspect="1"/>
                </p:cNvSpPr>
                <p:nvPr/>
              </p:nvSpPr>
              <p:spPr>
                <a:xfrm>
                  <a:off x="10038614" y="3163833"/>
                  <a:ext cx="335299" cy="540000"/>
                </a:xfrm>
                <a:prstGeom prst="rect">
                  <a:avLst/>
                </a:prstGeom>
                <a:noFill/>
              </p:spPr>
              <p:txBody>
                <a:bodyPr wrap="none" lIns="91440" tIns="45720" rIns="91440" bIns="45720">
                  <a:spAutoFit/>
                </a:bodyPr>
                <a:lstStyle/>
                <a:p>
                  <a:pPr algn="ctr"/>
                  <a:r>
                    <a:rPr lang="ru-RU" sz="4000" b="0" cap="none" spc="0" dirty="0" smtClean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rPr>
                    <a:t>+</a:t>
                  </a:r>
                  <a:endParaRPr lang="ru-RU" sz="40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endParaRPr>
                </a:p>
              </p:txBody>
            </p:sp>
            <p:grpSp>
              <p:nvGrpSpPr>
                <p:cNvPr id="202" name="Группа 201"/>
                <p:cNvGrpSpPr/>
                <p:nvPr/>
              </p:nvGrpSpPr>
              <p:grpSpPr>
                <a:xfrm>
                  <a:off x="10390922" y="3395741"/>
                  <a:ext cx="889383" cy="277433"/>
                  <a:chOff x="6369280" y="1767176"/>
                  <a:chExt cx="864000" cy="277433"/>
                </a:xfrm>
              </p:grpSpPr>
              <p:grpSp>
                <p:nvGrpSpPr>
                  <p:cNvPr id="203" name="Группа 202"/>
                  <p:cNvGrpSpPr/>
                  <p:nvPr/>
                </p:nvGrpSpPr>
                <p:grpSpPr>
                  <a:xfrm>
                    <a:off x="6369280" y="1767610"/>
                    <a:ext cx="864000" cy="276999"/>
                    <a:chOff x="4158024" y="2850118"/>
                    <a:chExt cx="1058312" cy="276999"/>
                  </a:xfrm>
                </p:grpSpPr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4158024" y="2856828"/>
                      <a:ext cx="1058312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206" name="TextBox 205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ID doc</a:t>
                      </a:r>
                      <a:endParaRPr lang="ru-RU" sz="1200" b="1" dirty="0"/>
                    </a:p>
                  </p:txBody>
                </p:sp>
                <p:cxnSp>
                  <p:nvCxnSpPr>
                    <p:cNvPr id="207" name="Прямая соединительная линия 206"/>
                    <p:cNvCxnSpPr/>
                    <p:nvPr/>
                  </p:nvCxnSpPr>
                  <p:spPr>
                    <a:xfrm>
                      <a:off x="4845752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4" name="TextBox 203"/>
                  <p:cNvSpPr txBox="1"/>
                  <p:nvPr/>
                </p:nvSpPr>
                <p:spPr>
                  <a:xfrm>
                    <a:off x="6947998" y="1767176"/>
                    <a:ext cx="222735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1200" b="1" dirty="0"/>
                      <a:t>0</a:t>
                    </a:r>
                  </a:p>
                </p:txBody>
              </p:sp>
            </p:grpSp>
          </p:grpSp>
        </p:grpSp>
      </p:grpSp>
      <p:grpSp>
        <p:nvGrpSpPr>
          <p:cNvPr id="77" name="Группа 76"/>
          <p:cNvGrpSpPr/>
          <p:nvPr/>
        </p:nvGrpSpPr>
        <p:grpSpPr>
          <a:xfrm>
            <a:off x="9009643" y="1654578"/>
            <a:ext cx="2532082" cy="2016000"/>
            <a:chOff x="9456553" y="648782"/>
            <a:chExt cx="2532082" cy="2016000"/>
          </a:xfrm>
        </p:grpSpPr>
        <p:grpSp>
          <p:nvGrpSpPr>
            <p:cNvPr id="68" name="Группа 67"/>
            <p:cNvGrpSpPr/>
            <p:nvPr/>
          </p:nvGrpSpPr>
          <p:grpSpPr>
            <a:xfrm>
              <a:off x="9527402" y="723974"/>
              <a:ext cx="2461233" cy="1019658"/>
              <a:chOff x="9488296" y="1227171"/>
              <a:chExt cx="2461233" cy="1019658"/>
            </a:xfrm>
          </p:grpSpPr>
          <p:sp>
            <p:nvSpPr>
              <p:cNvPr id="213" name="Блок-схема: процесс 212"/>
              <p:cNvSpPr/>
              <p:nvPr/>
            </p:nvSpPr>
            <p:spPr>
              <a:xfrm>
                <a:off x="9488296" y="1227171"/>
                <a:ext cx="2376000" cy="1019658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2" name="Группа 51"/>
              <p:cNvGrpSpPr/>
              <p:nvPr/>
            </p:nvGrpSpPr>
            <p:grpSpPr>
              <a:xfrm>
                <a:off x="9738170" y="1366949"/>
                <a:ext cx="2211359" cy="879817"/>
                <a:chOff x="9645202" y="1594707"/>
                <a:chExt cx="2291531" cy="879817"/>
              </a:xfrm>
            </p:grpSpPr>
            <p:sp>
              <p:nvSpPr>
                <p:cNvPr id="153" name="TextBox 152"/>
                <p:cNvSpPr txBox="1"/>
                <p:nvPr/>
              </p:nvSpPr>
              <p:spPr>
                <a:xfrm>
                  <a:off x="9645202" y="1920526"/>
                  <a:ext cx="2291531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в</a:t>
                  </a:r>
                  <a:r>
                    <a:rPr lang="ru-RU" sz="1000" dirty="0" smtClean="0"/>
                    <a:t> базе ответов, увеличить количество вхождений </a:t>
                  </a:r>
                  <a:r>
                    <a:rPr lang="ru-RU" sz="1000" b="1" u="sng" dirty="0" smtClean="0"/>
                    <a:t>слов</a:t>
                  </a:r>
                  <a:r>
                    <a:rPr lang="en-US" sz="1000" dirty="0" smtClean="0"/>
                    <a:t> </a:t>
                  </a:r>
                  <a:r>
                    <a:rPr lang="ru-RU" sz="1000" dirty="0" smtClean="0"/>
                    <a:t>в документ</a:t>
                  </a:r>
                  <a:endParaRPr lang="en-US" sz="1000" dirty="0" smtClean="0"/>
                </a:p>
              </p:txBody>
            </p:sp>
            <p:grpSp>
              <p:nvGrpSpPr>
                <p:cNvPr id="35" name="Группа 34"/>
                <p:cNvGrpSpPr/>
                <p:nvPr/>
              </p:nvGrpSpPr>
              <p:grpSpPr>
                <a:xfrm>
                  <a:off x="10122879" y="1594707"/>
                  <a:ext cx="1199589" cy="277433"/>
                  <a:chOff x="10027817" y="1677793"/>
                  <a:chExt cx="1199589" cy="277433"/>
                </a:xfrm>
              </p:grpSpPr>
              <p:grpSp>
                <p:nvGrpSpPr>
                  <p:cNvPr id="122" name="Группа 121"/>
                  <p:cNvGrpSpPr/>
                  <p:nvPr/>
                </p:nvGrpSpPr>
                <p:grpSpPr>
                  <a:xfrm>
                    <a:off x="10027817" y="1678227"/>
                    <a:ext cx="1124988" cy="276999"/>
                    <a:chOff x="4158024" y="2850118"/>
                    <a:chExt cx="1188000" cy="276999"/>
                  </a:xfrm>
                </p:grpSpPr>
                <p:sp>
                  <p:nvSpPr>
                    <p:cNvPr id="150" name="Прямоугольник 149"/>
                    <p:cNvSpPr/>
                    <p:nvPr/>
                  </p:nvSpPr>
                  <p:spPr>
                    <a:xfrm>
                      <a:off x="4158024" y="2856828"/>
                      <a:ext cx="1188000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151" name="TextBox 150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</a:rPr>
                        <a:t>ID doc</a:t>
                      </a:r>
                      <a:endParaRPr lang="ru-RU" sz="1200" b="1" dirty="0">
                        <a:solidFill>
                          <a:schemeClr val="bg1"/>
                        </a:solidFill>
                      </a:endParaRPr>
                    </a:p>
                  </p:txBody>
                </p:sp>
                <p:cxnSp>
                  <p:nvCxnSpPr>
                    <p:cNvPr id="152" name="Прямая соединительная линия 151"/>
                    <p:cNvCxnSpPr/>
                    <p:nvPr/>
                  </p:nvCxnSpPr>
                  <p:spPr>
                    <a:xfrm>
                      <a:off x="4797726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26" name="TextBox 125"/>
                  <p:cNvSpPr txBox="1"/>
                  <p:nvPr/>
                </p:nvSpPr>
                <p:spPr>
                  <a:xfrm>
                    <a:off x="10628317" y="1677793"/>
                    <a:ext cx="599089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N</a:t>
                    </a:r>
                    <a:r>
                      <a:rPr lang="en-US" sz="1200" b="1" dirty="0" smtClean="0"/>
                      <a:t> + n</a:t>
                    </a:r>
                    <a:endParaRPr lang="ru-RU" sz="1200" b="1" dirty="0"/>
                  </a:p>
                </p:txBody>
              </p:sp>
            </p:grpSp>
          </p:grpSp>
        </p:grpSp>
        <p:grpSp>
          <p:nvGrpSpPr>
            <p:cNvPr id="75" name="Группа 74"/>
            <p:cNvGrpSpPr/>
            <p:nvPr/>
          </p:nvGrpSpPr>
          <p:grpSpPr>
            <a:xfrm>
              <a:off x="9527461" y="1793968"/>
              <a:ext cx="2376000" cy="792000"/>
              <a:chOff x="3108276" y="3428385"/>
              <a:chExt cx="2376000" cy="792000"/>
            </a:xfrm>
          </p:grpSpPr>
          <p:sp>
            <p:nvSpPr>
              <p:cNvPr id="214" name="Блок-схема: процесс 213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6" name="Группа 5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62" name="TextBox 61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147" name="TextBox 146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149" name="Блок-схема: процесс 148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1" name="Блок-схема: процесс 220"/>
            <p:cNvSpPr/>
            <p:nvPr/>
          </p:nvSpPr>
          <p:spPr>
            <a:xfrm>
              <a:off x="9456553" y="648782"/>
              <a:ext cx="2520000" cy="2016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9004118" y="3728906"/>
            <a:ext cx="2520000" cy="1980000"/>
            <a:chOff x="9441303" y="3093773"/>
            <a:chExt cx="2520000" cy="1980000"/>
          </a:xfrm>
        </p:grpSpPr>
        <p:grpSp>
          <p:nvGrpSpPr>
            <p:cNvPr id="65" name="Группа 64"/>
            <p:cNvGrpSpPr/>
            <p:nvPr/>
          </p:nvGrpSpPr>
          <p:grpSpPr>
            <a:xfrm>
              <a:off x="9495254" y="3105833"/>
              <a:ext cx="2439000" cy="1047331"/>
              <a:chOff x="9452773" y="3197372"/>
              <a:chExt cx="2439000" cy="1047331"/>
            </a:xfrm>
          </p:grpSpPr>
          <p:sp>
            <p:nvSpPr>
              <p:cNvPr id="212" name="Блок-схема: процесс 211"/>
              <p:cNvSpPr/>
              <p:nvPr/>
            </p:nvSpPr>
            <p:spPr>
              <a:xfrm>
                <a:off x="9474706" y="3272703"/>
                <a:ext cx="2376000" cy="97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5" name="Группа 54"/>
              <p:cNvGrpSpPr/>
              <p:nvPr/>
            </p:nvGrpSpPr>
            <p:grpSpPr>
              <a:xfrm>
                <a:off x="9452773" y="3197372"/>
                <a:ext cx="2439000" cy="996514"/>
                <a:chOff x="9418704" y="3163833"/>
                <a:chExt cx="2439000" cy="996514"/>
              </a:xfrm>
            </p:grpSpPr>
            <p:grpSp>
              <p:nvGrpSpPr>
                <p:cNvPr id="45" name="Группа 44"/>
                <p:cNvGrpSpPr/>
                <p:nvPr/>
              </p:nvGrpSpPr>
              <p:grpSpPr>
                <a:xfrm>
                  <a:off x="10038614" y="3163833"/>
                  <a:ext cx="1241691" cy="540000"/>
                  <a:chOff x="10038614" y="3163833"/>
                  <a:chExt cx="1241691" cy="540000"/>
                </a:xfrm>
              </p:grpSpPr>
              <p:sp>
                <p:nvSpPr>
                  <p:cNvPr id="159" name="Прямоугольник 158"/>
                  <p:cNvSpPr>
                    <a:spLocks noChangeAspect="1"/>
                  </p:cNvSpPr>
                  <p:nvPr/>
                </p:nvSpPr>
                <p:spPr>
                  <a:xfrm>
                    <a:off x="10038614" y="3163833"/>
                    <a:ext cx="335299" cy="540000"/>
                  </a:xfrm>
                  <a:prstGeom prst="rect">
                    <a:avLst/>
                  </a:prstGeom>
                  <a:noFill/>
                </p:spPr>
                <p:txBody>
                  <a:bodyPr wrap="none" lIns="91440" tIns="45720" rIns="91440" bIns="45720">
                    <a:spAutoFit/>
                  </a:bodyPr>
                  <a:lstStyle/>
                  <a:p>
                    <a:pPr algn="ctr"/>
                    <a:r>
                      <a:rPr lang="ru-RU" sz="4000" b="0" cap="none" spc="0" dirty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+</a:t>
                    </a:r>
                    <a:endParaRPr lang="ru-RU" sz="4000" b="0" cap="none" spc="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endParaRPr>
                  </a:p>
                </p:txBody>
              </p:sp>
              <p:grpSp>
                <p:nvGrpSpPr>
                  <p:cNvPr id="160" name="Группа 159"/>
                  <p:cNvGrpSpPr/>
                  <p:nvPr/>
                </p:nvGrpSpPr>
                <p:grpSpPr>
                  <a:xfrm>
                    <a:off x="10390922" y="3395741"/>
                    <a:ext cx="889383" cy="277433"/>
                    <a:chOff x="6369280" y="1767176"/>
                    <a:chExt cx="864000" cy="277433"/>
                  </a:xfrm>
                </p:grpSpPr>
                <p:grpSp>
                  <p:nvGrpSpPr>
                    <p:cNvPr id="161" name="Группа 160"/>
                    <p:cNvGrpSpPr/>
                    <p:nvPr/>
                  </p:nvGrpSpPr>
                  <p:grpSpPr>
                    <a:xfrm>
                      <a:off x="6369280" y="1767610"/>
                      <a:ext cx="864000" cy="276999"/>
                      <a:chOff x="4158024" y="2850118"/>
                      <a:chExt cx="1058312" cy="276999"/>
                    </a:xfrm>
                  </p:grpSpPr>
                  <p:sp>
                    <p:nvSpPr>
                      <p:cNvPr id="174" name="Прямоугольник 173"/>
                      <p:cNvSpPr/>
                      <p:nvPr/>
                    </p:nvSpPr>
                    <p:spPr>
                      <a:xfrm>
                        <a:off x="4158024" y="2856828"/>
                        <a:ext cx="1058312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75" name="TextBox 174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/>
                          <a:t>ID doc</a:t>
                        </a:r>
                        <a:endParaRPr lang="ru-RU" sz="1200" b="1" dirty="0"/>
                      </a:p>
                    </p:txBody>
                  </p:sp>
                  <p:cxnSp>
                    <p:nvCxnSpPr>
                      <p:cNvPr id="176" name="Прямая соединительная линия 175"/>
                      <p:cNvCxnSpPr/>
                      <p:nvPr/>
                    </p:nvCxnSpPr>
                    <p:spPr>
                      <a:xfrm>
                        <a:off x="4845752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72" name="TextBox 171"/>
                    <p:cNvSpPr txBox="1"/>
                    <p:nvPr/>
                  </p:nvSpPr>
                  <p:spPr>
                    <a:xfrm>
                      <a:off x="6947998" y="1767176"/>
                      <a:ext cx="22273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n</a:t>
                      </a:r>
                      <a:endParaRPr lang="ru-RU" sz="1200" b="1" dirty="0"/>
                    </a:p>
                  </p:txBody>
                </p:sp>
              </p:grpSp>
            </p:grpSp>
            <p:sp>
              <p:nvSpPr>
                <p:cNvPr id="177" name="TextBox 176"/>
                <p:cNvSpPr txBox="1"/>
                <p:nvPr/>
              </p:nvSpPr>
              <p:spPr>
                <a:xfrm>
                  <a:off x="9418704" y="3760237"/>
                  <a:ext cx="243900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д</a:t>
                  </a:r>
                  <a:r>
                    <a:rPr lang="ru-RU" sz="1000" dirty="0" smtClean="0"/>
                    <a:t>обавить в базу ответов </a:t>
                  </a:r>
                  <a:r>
                    <a:rPr lang="en-US" sz="1000" dirty="0"/>
                    <a:t>ID </a:t>
                  </a:r>
                  <a:r>
                    <a:rPr lang="ru-RU" sz="1000" dirty="0"/>
                    <a:t>документа </a:t>
                  </a:r>
                  <a:r>
                    <a:rPr lang="ru-RU" sz="1000" dirty="0" smtClean="0"/>
                    <a:t>и количество вхождений слова </a:t>
                  </a:r>
                  <a:r>
                    <a:rPr lang="ru-RU" sz="1000" dirty="0"/>
                    <a:t>в </a:t>
                  </a:r>
                  <a:r>
                    <a:rPr lang="ru-RU" sz="1000" dirty="0" smtClean="0"/>
                    <a:t>документ</a:t>
                  </a:r>
                  <a:endParaRPr lang="ru-RU" sz="1000" dirty="0"/>
                </a:p>
              </p:txBody>
            </p:sp>
          </p:grpSp>
        </p:grpSp>
        <p:grpSp>
          <p:nvGrpSpPr>
            <p:cNvPr id="215" name="Группа 214"/>
            <p:cNvGrpSpPr/>
            <p:nvPr/>
          </p:nvGrpSpPr>
          <p:grpSpPr>
            <a:xfrm>
              <a:off x="9517187" y="4196799"/>
              <a:ext cx="2376000" cy="792000"/>
              <a:chOff x="3108276" y="3428385"/>
              <a:chExt cx="2376000" cy="792000"/>
            </a:xfrm>
          </p:grpSpPr>
          <p:sp>
            <p:nvSpPr>
              <p:cNvPr id="217" name="Блок-схема: процесс 216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216" name="Группа 21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218" name="TextBox 217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219" name="TextBox 218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220" name="Блок-схема: процесс 219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2" name="Блок-схема: процесс 221"/>
            <p:cNvSpPr/>
            <p:nvPr/>
          </p:nvSpPr>
          <p:spPr>
            <a:xfrm>
              <a:off x="9441303" y="3093773"/>
              <a:ext cx="2520000" cy="1980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241" name="Соединительная линия уступом 240"/>
          <p:cNvCxnSpPr>
            <a:stCxn id="196" idx="3"/>
            <a:endCxn id="221" idx="1"/>
          </p:cNvCxnSpPr>
          <p:nvPr/>
        </p:nvCxnSpPr>
        <p:spPr>
          <a:xfrm>
            <a:off x="8351643" y="2287845"/>
            <a:ext cx="658000" cy="374733"/>
          </a:xfrm>
          <a:prstGeom prst="bentConnector3">
            <a:avLst>
              <a:gd name="adj1" fmla="val 46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Соединительная линия уступом 244"/>
          <p:cNvCxnSpPr>
            <a:stCxn id="196" idx="2"/>
            <a:endCxn id="222" idx="1"/>
          </p:cNvCxnSpPr>
          <p:nvPr/>
        </p:nvCxnSpPr>
        <p:spPr>
          <a:xfrm rot="16200000" flipH="1">
            <a:off x="7462350" y="3177137"/>
            <a:ext cx="1765061" cy="1318475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Соединительная линия уступом 247"/>
          <p:cNvCxnSpPr>
            <a:stCxn id="101" idx="2"/>
            <a:endCxn id="116" idx="2"/>
          </p:cNvCxnSpPr>
          <p:nvPr/>
        </p:nvCxnSpPr>
        <p:spPr>
          <a:xfrm rot="5400000">
            <a:off x="4192265" y="4976482"/>
            <a:ext cx="81624" cy="2128733"/>
          </a:xfrm>
          <a:prstGeom prst="bentConnector3">
            <a:avLst>
              <a:gd name="adj1" fmla="val 38006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Группа 269"/>
          <p:cNvGrpSpPr/>
          <p:nvPr/>
        </p:nvGrpSpPr>
        <p:grpSpPr>
          <a:xfrm>
            <a:off x="456814" y="3493135"/>
            <a:ext cx="1924271" cy="1032560"/>
            <a:chOff x="25306" y="4006835"/>
            <a:chExt cx="1924271" cy="1032560"/>
          </a:xfrm>
        </p:grpSpPr>
        <p:sp>
          <p:nvSpPr>
            <p:cNvPr id="208" name="Блок-схема: процесс 207"/>
            <p:cNvSpPr/>
            <p:nvPr/>
          </p:nvSpPr>
          <p:spPr>
            <a:xfrm>
              <a:off x="25306" y="4006835"/>
              <a:ext cx="1800000" cy="97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48" name="Группа 47"/>
            <p:cNvGrpSpPr/>
            <p:nvPr/>
          </p:nvGrpSpPr>
          <p:grpSpPr>
            <a:xfrm>
              <a:off x="77031" y="4192386"/>
              <a:ext cx="1872546" cy="847009"/>
              <a:chOff x="205921" y="3650153"/>
              <a:chExt cx="1872546" cy="847009"/>
            </a:xfrm>
          </p:grpSpPr>
          <p:sp>
            <p:nvSpPr>
              <p:cNvPr id="87" name="TextBox 86"/>
              <p:cNvSpPr txBox="1"/>
              <p:nvPr/>
            </p:nvSpPr>
            <p:spPr>
              <a:xfrm>
                <a:off x="205921" y="3943164"/>
                <a:ext cx="1644845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 smtClean="0"/>
                  <a:t>рассчитать относительную</a:t>
                </a:r>
              </a:p>
              <a:p>
                <a:r>
                  <a:rPr lang="ru-RU" sz="1000" dirty="0" smtClean="0"/>
                  <a:t>релевантность (</a:t>
                </a:r>
                <a:r>
                  <a:rPr lang="en-US" sz="1000" dirty="0" smtClean="0"/>
                  <a:t>RR</a:t>
                </a:r>
                <a:r>
                  <a:rPr lang="ru-RU" sz="1000" dirty="0" smtClean="0"/>
                  <a:t>) для каждой записи</a:t>
                </a:r>
                <a:endParaRPr lang="ru-RU" sz="1000" dirty="0"/>
              </a:p>
            </p:txBody>
          </p:sp>
          <p:grpSp>
            <p:nvGrpSpPr>
              <p:cNvPr id="165" name="Группа 164"/>
              <p:cNvGrpSpPr/>
              <p:nvPr/>
            </p:nvGrpSpPr>
            <p:grpSpPr>
              <a:xfrm>
                <a:off x="486398" y="3650153"/>
                <a:ext cx="1592069" cy="288419"/>
                <a:chOff x="3901044" y="3386772"/>
                <a:chExt cx="1510974" cy="277402"/>
              </a:xfrm>
            </p:grpSpPr>
            <p:sp>
              <p:nvSpPr>
                <p:cNvPr id="166" name="Прямоугольник 165"/>
                <p:cNvSpPr/>
                <p:nvPr/>
              </p:nvSpPr>
              <p:spPr>
                <a:xfrm>
                  <a:off x="3901044" y="3401361"/>
                  <a:ext cx="1294871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67" name="TextBox 166"/>
                <p:cNvSpPr txBox="1"/>
                <p:nvPr/>
              </p:nvSpPr>
              <p:spPr>
                <a:xfrm>
                  <a:off x="3901044" y="3386772"/>
                  <a:ext cx="485944" cy="26641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68" name="TextBox 167"/>
                <p:cNvSpPr txBox="1"/>
                <p:nvPr/>
              </p:nvSpPr>
              <p:spPr>
                <a:xfrm>
                  <a:off x="4471854" y="3387175"/>
                  <a:ext cx="9401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</a:t>
                  </a:r>
                  <a:r>
                    <a:rPr lang="ru-RU" sz="1200" b="1" dirty="0" smtClean="0"/>
                    <a:t> </a:t>
                  </a:r>
                  <a:r>
                    <a:rPr lang="en-US" sz="1200" b="1" dirty="0" smtClean="0"/>
                    <a:t>/ mAR</a:t>
                  </a:r>
                  <a:endParaRPr lang="ru-RU" sz="1200" b="1" dirty="0"/>
                </a:p>
              </p:txBody>
            </p:sp>
            <p:cxnSp>
              <p:nvCxnSpPr>
                <p:cNvPr id="169" name="Прямая соединительная линия 168"/>
                <p:cNvCxnSpPr/>
                <p:nvPr/>
              </p:nvCxnSpPr>
              <p:spPr>
                <a:xfrm>
                  <a:off x="4451853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79" name="Группа 278"/>
          <p:cNvGrpSpPr/>
          <p:nvPr/>
        </p:nvGrpSpPr>
        <p:grpSpPr>
          <a:xfrm>
            <a:off x="508539" y="4888925"/>
            <a:ext cx="1387730" cy="1114587"/>
            <a:chOff x="1186957" y="5567845"/>
            <a:chExt cx="1386543" cy="766421"/>
          </a:xfrm>
        </p:grpSpPr>
        <p:sp>
          <p:nvSpPr>
            <p:cNvPr id="209" name="Блок-схема: процесс 208"/>
            <p:cNvSpPr/>
            <p:nvPr/>
          </p:nvSpPr>
          <p:spPr>
            <a:xfrm>
              <a:off x="1206670" y="5591626"/>
              <a:ext cx="1366830" cy="74264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86957" y="5943501"/>
              <a:ext cx="1375602" cy="380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с</a:t>
              </a:r>
              <a:r>
                <a:rPr lang="ru-RU" sz="1000" dirty="0" smtClean="0"/>
                <a:t>ортировать базу ответов по убыванию </a:t>
              </a:r>
            </a:p>
            <a:p>
              <a:r>
                <a:rPr lang="ru-RU" sz="1000" dirty="0" smtClean="0"/>
                <a:t>релевантности</a:t>
              </a:r>
              <a:endParaRPr lang="ru-RU" sz="1000" dirty="0"/>
            </a:p>
          </p:txBody>
        </p:sp>
        <p:grpSp>
          <p:nvGrpSpPr>
            <p:cNvPr id="278" name="Группа 277"/>
            <p:cNvGrpSpPr/>
            <p:nvPr/>
          </p:nvGrpSpPr>
          <p:grpSpPr>
            <a:xfrm>
              <a:off x="1460678" y="5567845"/>
              <a:ext cx="351378" cy="346464"/>
              <a:chOff x="1192126" y="6143551"/>
              <a:chExt cx="351378" cy="346464"/>
            </a:xfrm>
          </p:grpSpPr>
          <p:sp>
            <p:nvSpPr>
              <p:cNvPr id="29" name="Стрелка вправо 28"/>
              <p:cNvSpPr/>
              <p:nvPr/>
            </p:nvSpPr>
            <p:spPr>
              <a:xfrm rot="5400000">
                <a:off x="1273122" y="6354996"/>
                <a:ext cx="198038" cy="72000"/>
              </a:xfrm>
              <a:prstGeom prst="rightArrow">
                <a:avLst/>
              </a:prstGeom>
              <a:ln w="158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3" name="TextBox 82"/>
              <p:cNvSpPr txBox="1">
                <a:spLocks/>
              </p:cNvSpPr>
              <p:nvPr/>
            </p:nvSpPr>
            <p:spPr>
              <a:xfrm>
                <a:off x="1192126" y="6143551"/>
                <a:ext cx="3513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 smtClean="0"/>
                  <a:t>RR</a:t>
                </a:r>
                <a:endParaRPr lang="ru-RU" sz="1200" dirty="0"/>
              </a:p>
            </p:txBody>
          </p:sp>
        </p:grpSp>
      </p:grpSp>
      <p:sp>
        <p:nvSpPr>
          <p:cNvPr id="210" name="Стрелка вправо 209"/>
          <p:cNvSpPr/>
          <p:nvPr/>
        </p:nvSpPr>
        <p:spPr>
          <a:xfrm>
            <a:off x="3149101" y="389105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0" name="TextBox 279"/>
          <p:cNvSpPr txBox="1"/>
          <p:nvPr/>
        </p:nvSpPr>
        <p:spPr>
          <a:xfrm>
            <a:off x="3191647" y="4555005"/>
            <a:ext cx="17455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релевантности ответов</a:t>
            </a:r>
            <a:endParaRPr lang="ru-RU" sz="1000" dirty="0"/>
          </a:p>
        </p:txBody>
      </p:sp>
      <p:sp>
        <p:nvSpPr>
          <p:cNvPr id="223" name="Прямоугольник 222"/>
          <p:cNvSpPr/>
          <p:nvPr/>
        </p:nvSpPr>
        <p:spPr>
          <a:xfrm>
            <a:off x="2239063" y="160563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8" name="Прямоугольник 287"/>
          <p:cNvSpPr/>
          <p:nvPr/>
        </p:nvSpPr>
        <p:spPr>
          <a:xfrm>
            <a:off x="4347229" y="144685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9" name="Прямоугольник 288"/>
          <p:cNvSpPr/>
          <p:nvPr/>
        </p:nvSpPr>
        <p:spPr>
          <a:xfrm>
            <a:off x="7490448" y="133156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0" name="Прямоугольник 289"/>
          <p:cNvSpPr/>
          <p:nvPr/>
        </p:nvSpPr>
        <p:spPr>
          <a:xfrm>
            <a:off x="8648758" y="1333085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1" name="Прямоугольник 290"/>
          <p:cNvSpPr/>
          <p:nvPr/>
        </p:nvSpPr>
        <p:spPr>
          <a:xfrm>
            <a:off x="8646518" y="3427650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5.2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2" name="Прямоугольник 291"/>
          <p:cNvSpPr/>
          <p:nvPr/>
        </p:nvSpPr>
        <p:spPr>
          <a:xfrm>
            <a:off x="324487" y="461888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3" name="Прямоугольник 292"/>
          <p:cNvSpPr/>
          <p:nvPr/>
        </p:nvSpPr>
        <p:spPr>
          <a:xfrm>
            <a:off x="2413713" y="458539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4" name="Прямоугольник 293"/>
          <p:cNvSpPr/>
          <p:nvPr/>
        </p:nvSpPr>
        <p:spPr>
          <a:xfrm>
            <a:off x="5096911" y="437743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5" name="Прямоугольник 294"/>
          <p:cNvSpPr/>
          <p:nvPr/>
        </p:nvSpPr>
        <p:spPr>
          <a:xfrm>
            <a:off x="6106755" y="4526879"/>
            <a:ext cx="601447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10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98" name="Соединительная линия уступом 297"/>
          <p:cNvCxnSpPr>
            <a:stCxn id="194" idx="3"/>
            <a:endCxn id="116" idx="2"/>
          </p:cNvCxnSpPr>
          <p:nvPr/>
        </p:nvCxnSpPr>
        <p:spPr>
          <a:xfrm flipH="1">
            <a:off x="3168710" y="5340415"/>
            <a:ext cx="5604944" cy="741245"/>
          </a:xfrm>
          <a:prstGeom prst="bentConnector4">
            <a:avLst>
              <a:gd name="adj1" fmla="val -2063"/>
              <a:gd name="adj2" fmla="val 13084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Соединительная линия уступом 298"/>
          <p:cNvCxnSpPr>
            <a:stCxn id="101" idx="3"/>
            <a:endCxn id="194" idx="1"/>
          </p:cNvCxnSpPr>
          <p:nvPr/>
        </p:nvCxnSpPr>
        <p:spPr>
          <a:xfrm>
            <a:off x="5963443" y="5334036"/>
            <a:ext cx="434211" cy="637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TextBox 319"/>
          <p:cNvSpPr txBox="1"/>
          <p:nvPr/>
        </p:nvSpPr>
        <p:spPr>
          <a:xfrm>
            <a:off x="4406820" y="582041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323" name="TextBox 322"/>
          <p:cNvSpPr txBox="1"/>
          <p:nvPr/>
        </p:nvSpPr>
        <p:spPr>
          <a:xfrm>
            <a:off x="5703242" y="1272616"/>
            <a:ext cx="44662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текущие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и количество вхождений слова в документ обработаны</a:t>
            </a:r>
            <a:endParaRPr lang="ru-RU" sz="1000" dirty="0"/>
          </a:p>
        </p:txBody>
      </p:sp>
      <p:sp>
        <p:nvSpPr>
          <p:cNvPr id="324" name="TextBox 323"/>
          <p:cNvSpPr txBox="1"/>
          <p:nvPr/>
        </p:nvSpPr>
        <p:spPr>
          <a:xfrm>
            <a:off x="5013425" y="6163738"/>
            <a:ext cx="20136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</a:t>
            </a:r>
            <a:endParaRPr lang="ru-RU" sz="1000" dirty="0"/>
          </a:p>
        </p:txBody>
      </p:sp>
      <p:sp>
        <p:nvSpPr>
          <p:cNvPr id="325" name="TextBox 324"/>
          <p:cNvSpPr txBox="1"/>
          <p:nvPr/>
        </p:nvSpPr>
        <p:spPr>
          <a:xfrm>
            <a:off x="3253105" y="3316809"/>
            <a:ext cx="167385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текущее слово обработано</a:t>
            </a:r>
            <a:endParaRPr lang="ru-RU" sz="1000" dirty="0"/>
          </a:p>
        </p:txBody>
      </p:sp>
      <p:sp>
        <p:nvSpPr>
          <p:cNvPr id="326" name="TextBox 325"/>
          <p:cNvSpPr txBox="1"/>
          <p:nvPr/>
        </p:nvSpPr>
        <p:spPr>
          <a:xfrm>
            <a:off x="1215590" y="1271315"/>
            <a:ext cx="2390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текущего запроса обработаны</a:t>
            </a:r>
            <a:endParaRPr lang="ru-RU" sz="1000" dirty="0"/>
          </a:p>
        </p:txBody>
      </p:sp>
      <p:sp>
        <p:nvSpPr>
          <p:cNvPr id="179" name="Стрелка вправо 178"/>
          <p:cNvSpPr/>
          <p:nvPr/>
        </p:nvSpPr>
        <p:spPr>
          <a:xfrm rot="5400000">
            <a:off x="781817" y="4465752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352" y="1892217"/>
            <a:ext cx="1008000" cy="71269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849" y="1757164"/>
            <a:ext cx="1008000" cy="712691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866" y="1911078"/>
            <a:ext cx="1008000" cy="712691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469" y="4951297"/>
            <a:ext cx="1008000" cy="71269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8116" y="205684"/>
            <a:ext cx="432706" cy="612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39" y="3502852"/>
            <a:ext cx="432706" cy="612000"/>
          </a:xfrm>
          <a:prstGeom prst="rect">
            <a:avLst/>
          </a:prstGeom>
        </p:spPr>
      </p:pic>
      <p:pic>
        <p:nvPicPr>
          <p:cNvPr id="173" name="Рисунок 17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216" y="4919618"/>
            <a:ext cx="432706" cy="612000"/>
          </a:xfrm>
          <a:prstGeom prst="rect">
            <a:avLst/>
          </a:prstGeom>
        </p:spPr>
      </p:pic>
      <p:pic>
        <p:nvPicPr>
          <p:cNvPr id="180" name="Рисунок 1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5687" y="4753338"/>
            <a:ext cx="432706" cy="612000"/>
          </a:xfrm>
          <a:prstGeom prst="rect">
            <a:avLst/>
          </a:prstGeom>
        </p:spPr>
      </p:pic>
      <p:pic>
        <p:nvPicPr>
          <p:cNvPr id="181" name="Рисунок 18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4664" y="3814376"/>
            <a:ext cx="432706" cy="612000"/>
          </a:xfrm>
          <a:prstGeom prst="rect">
            <a:avLst/>
          </a:prstGeom>
        </p:spPr>
      </p:pic>
      <p:pic>
        <p:nvPicPr>
          <p:cNvPr id="183" name="Рисунок 18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5084" y="1706179"/>
            <a:ext cx="432706" cy="612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879" y="4885828"/>
            <a:ext cx="1008000" cy="71269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8535" y="3376840"/>
            <a:ext cx="1080000" cy="1527504"/>
          </a:xfrm>
          <a:prstGeom prst="rect">
            <a:avLst/>
          </a:prstGeom>
        </p:spPr>
      </p:pic>
      <p:sp>
        <p:nvSpPr>
          <p:cNvPr id="296" name="Прямоугольник 295"/>
          <p:cNvSpPr/>
          <p:nvPr/>
        </p:nvSpPr>
        <p:spPr>
          <a:xfrm>
            <a:off x="372460" y="319676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9" name="Прямоугольник 88"/>
          <p:cNvSpPr/>
          <p:nvPr/>
        </p:nvSpPr>
        <p:spPr>
          <a:xfrm>
            <a:off x="258384" y="159042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" name="Соединительная линия уступом 145"/>
          <p:cNvCxnSpPr>
            <a:stCxn id="69" idx="2"/>
            <a:endCxn id="106" idx="0"/>
          </p:cNvCxnSpPr>
          <p:nvPr/>
        </p:nvCxnSpPr>
        <p:spPr>
          <a:xfrm rot="5400000" flipH="1">
            <a:off x="1884222" y="1278135"/>
            <a:ext cx="4032663" cy="6019544"/>
          </a:xfrm>
          <a:prstGeom prst="bentConnector5">
            <a:avLst>
              <a:gd name="adj1" fmla="val 955"/>
              <a:gd name="adj2" fmla="val -68088"/>
              <a:gd name="adj3" fmla="val 11891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530034" y="2410640"/>
            <a:ext cx="122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663247" y="2411059"/>
            <a:ext cx="972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4615995" y="2248266"/>
            <a:ext cx="8194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sumRANK</a:t>
            </a:r>
            <a:endParaRPr lang="ru-RU" sz="1200" b="1" dirty="0"/>
          </a:p>
        </p:txBody>
      </p:sp>
      <p:grpSp>
        <p:nvGrpSpPr>
          <p:cNvPr id="14" name="Группа 13"/>
          <p:cNvGrpSpPr/>
          <p:nvPr/>
        </p:nvGrpSpPr>
        <p:grpSpPr>
          <a:xfrm>
            <a:off x="5696824" y="1962520"/>
            <a:ext cx="1416606" cy="1332000"/>
            <a:chOff x="6035866" y="1520738"/>
            <a:chExt cx="1416606" cy="1332000"/>
          </a:xfrm>
        </p:grpSpPr>
        <p:sp>
          <p:nvSpPr>
            <p:cNvPr id="21" name="Блок-схема: решение 20"/>
            <p:cNvSpPr>
              <a:spLocks noChangeAspect="1"/>
            </p:cNvSpPr>
            <p:nvPr/>
          </p:nvSpPr>
          <p:spPr>
            <a:xfrm>
              <a:off x="6072049" y="152073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35866" y="2029945"/>
              <a:ext cx="141660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sumRANK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6812813" y="2084905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28" name="Соединительная линия уступом 27"/>
          <p:cNvCxnSpPr>
            <a:stCxn id="95" idx="3"/>
            <a:endCxn id="106" idx="0"/>
          </p:cNvCxnSpPr>
          <p:nvPr/>
        </p:nvCxnSpPr>
        <p:spPr>
          <a:xfrm flipH="1" flipV="1">
            <a:off x="890782" y="2271575"/>
            <a:ext cx="8220324" cy="5388"/>
          </a:xfrm>
          <a:prstGeom prst="bentConnector4">
            <a:avLst>
              <a:gd name="adj1" fmla="val -2781"/>
              <a:gd name="adj2" fmla="val 1426503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26039" y="3258538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037941" y="3349137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Стрелка вправо 44"/>
          <p:cNvSpPr/>
          <p:nvPr/>
        </p:nvSpPr>
        <p:spPr>
          <a:xfrm>
            <a:off x="11123415" y="3349042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848869" y="5371130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6" name="Группа 55"/>
          <p:cNvGrpSpPr/>
          <p:nvPr/>
        </p:nvGrpSpPr>
        <p:grpSpPr>
          <a:xfrm>
            <a:off x="1621471" y="4927256"/>
            <a:ext cx="1332000" cy="1332000"/>
            <a:chOff x="1950240" y="4639584"/>
            <a:chExt cx="1332000" cy="1332000"/>
          </a:xfrm>
        </p:grpSpPr>
        <p:sp>
          <p:nvSpPr>
            <p:cNvPr id="47" name="Блок-схема: решение 46"/>
            <p:cNvSpPr>
              <a:spLocks noChangeAspect="1"/>
            </p:cNvSpPr>
            <p:nvPr/>
          </p:nvSpPr>
          <p:spPr>
            <a:xfrm>
              <a:off x="1950240" y="4639584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2180126" y="5165831"/>
              <a:ext cx="852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c</a:t>
              </a:r>
              <a:r>
                <a:rPr lang="en-US" sz="1200" b="1" dirty="0" smtClean="0"/>
                <a:t>ount</a:t>
              </a:r>
              <a:r>
                <a:rPr lang="en-US" sz="1200" dirty="0" smtClean="0"/>
                <a:t> == 1</a:t>
              </a:r>
              <a:endParaRPr lang="ru-RU" sz="1200" dirty="0"/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1333655" y="4526201"/>
            <a:ext cx="9188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  <p:cxnSp>
        <p:nvCxnSpPr>
          <p:cNvPr id="60" name="Соединительная линия уступом 59"/>
          <p:cNvCxnSpPr>
            <a:stCxn id="93" idx="3"/>
            <a:endCxn id="105" idx="2"/>
          </p:cNvCxnSpPr>
          <p:nvPr/>
        </p:nvCxnSpPr>
        <p:spPr>
          <a:xfrm flipH="1" flipV="1">
            <a:off x="955155" y="3477265"/>
            <a:ext cx="2841544" cy="1005722"/>
          </a:xfrm>
          <a:prstGeom prst="bentConnector4">
            <a:avLst>
              <a:gd name="adj1" fmla="val -8045"/>
              <a:gd name="adj2" fmla="val 934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Стрелка вправо 64"/>
          <p:cNvSpPr/>
          <p:nvPr/>
        </p:nvSpPr>
        <p:spPr>
          <a:xfrm>
            <a:off x="5299313" y="5413566"/>
            <a:ext cx="86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7" name="Группа 56"/>
          <p:cNvGrpSpPr/>
          <p:nvPr/>
        </p:nvGrpSpPr>
        <p:grpSpPr>
          <a:xfrm>
            <a:off x="6244326" y="4972238"/>
            <a:ext cx="1332000" cy="1332000"/>
            <a:chOff x="6573094" y="4766758"/>
            <a:chExt cx="1332000" cy="1332000"/>
          </a:xfrm>
        </p:grpSpPr>
        <p:sp>
          <p:nvSpPr>
            <p:cNvPr id="69" name="Блок-схема: решение 68"/>
            <p:cNvSpPr>
              <a:spLocks noChangeAspect="1"/>
            </p:cNvSpPr>
            <p:nvPr/>
          </p:nvSpPr>
          <p:spPr>
            <a:xfrm>
              <a:off x="6573094" y="476675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709610" y="5283094"/>
              <a:ext cx="10653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r</a:t>
              </a:r>
              <a:r>
                <a:rPr lang="en-US" sz="1200" b="1" dirty="0" smtClean="0"/>
                <a:t>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cxnSp>
        <p:nvCxnSpPr>
          <p:cNvPr id="79" name="Соединительная линия уступом 78"/>
          <p:cNvCxnSpPr>
            <a:stCxn id="135" idx="3"/>
            <a:endCxn id="129" idx="0"/>
          </p:cNvCxnSpPr>
          <p:nvPr/>
        </p:nvCxnSpPr>
        <p:spPr>
          <a:xfrm flipH="1" flipV="1">
            <a:off x="4715184" y="5198692"/>
            <a:ext cx="5241074" cy="205136"/>
          </a:xfrm>
          <a:prstGeom prst="bentConnector4">
            <a:avLst>
              <a:gd name="adj1" fmla="val -3186"/>
              <a:gd name="adj2" fmla="val 51511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 rot="5400000">
            <a:off x="632981" y="361725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/>
          <p:cNvSpPr txBox="1"/>
          <p:nvPr/>
        </p:nvSpPr>
        <p:spPr>
          <a:xfrm>
            <a:off x="617748" y="4857646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ответ</a:t>
            </a:r>
            <a:r>
              <a:rPr lang="ru-RU" sz="1000" dirty="0"/>
              <a:t>ы</a:t>
            </a:r>
          </a:p>
        </p:txBody>
      </p:sp>
      <p:cxnSp>
        <p:nvCxnSpPr>
          <p:cNvPr id="92" name="Соединительная линия уступом 91"/>
          <p:cNvCxnSpPr>
            <a:stCxn id="78" idx="3"/>
            <a:endCxn id="106" idx="0"/>
          </p:cNvCxnSpPr>
          <p:nvPr/>
        </p:nvCxnSpPr>
        <p:spPr>
          <a:xfrm flipH="1" flipV="1">
            <a:off x="890782" y="2271575"/>
            <a:ext cx="9012427" cy="3138360"/>
          </a:xfrm>
          <a:prstGeom prst="bentConnector4">
            <a:avLst>
              <a:gd name="adj1" fmla="val -12226"/>
              <a:gd name="adj2" fmla="val 12463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Группа 76"/>
          <p:cNvGrpSpPr/>
          <p:nvPr/>
        </p:nvGrpSpPr>
        <p:grpSpPr>
          <a:xfrm>
            <a:off x="1606802" y="2162317"/>
            <a:ext cx="844847" cy="277176"/>
            <a:chOff x="4111934" y="2883423"/>
            <a:chExt cx="844847" cy="277176"/>
          </a:xfrm>
        </p:grpSpPr>
        <p:sp>
          <p:nvSpPr>
            <p:cNvPr id="80" name="Прямоугольник 79"/>
            <p:cNvSpPr/>
            <p:nvPr/>
          </p:nvSpPr>
          <p:spPr>
            <a:xfrm>
              <a:off x="4111934" y="2898591"/>
              <a:ext cx="844847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111934" y="2883423"/>
              <a:ext cx="844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request</a:t>
              </a:r>
              <a:endParaRPr lang="ru-RU" sz="1200" b="1" dirty="0"/>
            </a:p>
          </p:txBody>
        </p:sp>
      </p:grpSp>
      <p:grpSp>
        <p:nvGrpSpPr>
          <p:cNvPr id="13" name="Группа 12"/>
          <p:cNvGrpSpPr/>
          <p:nvPr/>
        </p:nvGrpSpPr>
        <p:grpSpPr>
          <a:xfrm>
            <a:off x="2783343" y="1777171"/>
            <a:ext cx="1908000" cy="1584000"/>
            <a:chOff x="3440185" y="1654446"/>
            <a:chExt cx="1889878" cy="1584000"/>
          </a:xfrm>
        </p:grpSpPr>
        <p:sp>
          <p:nvSpPr>
            <p:cNvPr id="86" name="Блок-схема: процесс 85"/>
            <p:cNvSpPr/>
            <p:nvPr/>
          </p:nvSpPr>
          <p:spPr>
            <a:xfrm>
              <a:off x="3483357" y="1654446"/>
              <a:ext cx="1747246" cy="1584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83358" y="2666850"/>
              <a:ext cx="174043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одсчитать суммарный ранг ответов</a:t>
              </a:r>
              <a:r>
                <a:rPr lang="en-US" sz="1000" dirty="0" smtClean="0"/>
                <a:t> (</a:t>
              </a:r>
              <a:r>
                <a:rPr lang="en-US" sz="1000" b="1" dirty="0" smtClean="0"/>
                <a:t>sumRANK</a:t>
              </a:r>
              <a:r>
                <a:rPr lang="en-US" sz="1000" dirty="0" smtClean="0"/>
                <a:t>)</a:t>
              </a:r>
              <a:r>
                <a:rPr lang="ru-RU" sz="1000" dirty="0" smtClean="0"/>
                <a:t> в базе ответов по </a:t>
              </a:r>
              <a:r>
                <a:rPr lang="en-US" sz="1000" dirty="0" smtClean="0"/>
                <a:t>“ID request”</a:t>
              </a:r>
              <a:endParaRPr lang="ru-RU" sz="1000" dirty="0" smtClean="0"/>
            </a:p>
          </p:txBody>
        </p:sp>
        <p:grpSp>
          <p:nvGrpSpPr>
            <p:cNvPr id="87" name="Группа 86"/>
            <p:cNvGrpSpPr/>
            <p:nvPr/>
          </p:nvGrpSpPr>
          <p:grpSpPr>
            <a:xfrm>
              <a:off x="3865121" y="1808475"/>
              <a:ext cx="1198274" cy="277176"/>
              <a:chOff x="4101660" y="2883423"/>
              <a:chExt cx="1198274" cy="277176"/>
            </a:xfrm>
          </p:grpSpPr>
          <p:sp>
            <p:nvSpPr>
              <p:cNvPr id="88" name="Прямоугольник 87"/>
              <p:cNvSpPr/>
              <p:nvPr/>
            </p:nvSpPr>
            <p:spPr>
              <a:xfrm>
                <a:off x="4111934" y="2898591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TextBox 88"/>
              <p:cNvSpPr txBox="1"/>
              <p:nvPr/>
            </p:nvSpPr>
            <p:spPr>
              <a:xfrm>
                <a:off x="4101660" y="2883423"/>
                <a:ext cx="5902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ID doc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90" name="Прямая соединительная линия 89"/>
              <p:cNvCxnSpPr/>
              <p:nvPr/>
            </p:nvCxnSpPr>
            <p:spPr>
              <a:xfrm>
                <a:off x="4670958" y="289795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TextBox 90"/>
            <p:cNvSpPr txBox="1"/>
            <p:nvPr/>
          </p:nvSpPr>
          <p:spPr>
            <a:xfrm>
              <a:off x="4503187" y="1799119"/>
              <a:ext cx="8268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/>
                <p:cNvSpPr txBox="1"/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𝒔𝒖𝒎𝑹𝑨𝑵𝑲</m:t>
                        </m:r>
                        <m:r>
                          <a:rPr lang="pt-BR" sz="100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10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𝑑𝑜𝑐</m:t>
                            </m:r>
                            <m:r>
                              <a:rPr lang="pt-BR" sz="100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𝑟𝑎𝑛𝑘</m:t>
                            </m:r>
                          </m:e>
                        </m:nary>
                      </m:oMath>
                    </m:oMathPara>
                  </a14:m>
                  <a:endParaRPr lang="ru-RU" sz="1000" dirty="0"/>
                </a:p>
              </p:txBody>
            </p:sp>
          </mc:Choice>
          <mc:Fallback xmlns="">
            <p:sp>
              <p:nvSpPr>
                <p:cNvPr id="38" name="TextBox 3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86207" r="-24296" b="-1367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Группа 43"/>
          <p:cNvGrpSpPr/>
          <p:nvPr/>
        </p:nvGrpSpPr>
        <p:grpSpPr>
          <a:xfrm>
            <a:off x="2644699" y="3762987"/>
            <a:ext cx="1152000" cy="1440000"/>
            <a:chOff x="2973467" y="3218747"/>
            <a:chExt cx="1152000" cy="1440000"/>
          </a:xfrm>
        </p:grpSpPr>
        <p:sp>
          <p:nvSpPr>
            <p:cNvPr id="93" name="Блок-схема: процесс 92"/>
            <p:cNvSpPr/>
            <p:nvPr/>
          </p:nvSpPr>
          <p:spPr>
            <a:xfrm>
              <a:off x="2973467" y="3218747"/>
              <a:ext cx="1152000" cy="144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016121" y="3266393"/>
              <a:ext cx="1044000" cy="1332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1,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0.07018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}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30" name="Группа 29"/>
          <p:cNvGrpSpPr/>
          <p:nvPr/>
        </p:nvGrpSpPr>
        <p:grpSpPr>
          <a:xfrm>
            <a:off x="6789643" y="2978995"/>
            <a:ext cx="1152000" cy="1188000"/>
            <a:chOff x="7118411" y="2681049"/>
            <a:chExt cx="1152000" cy="1188000"/>
          </a:xfrm>
        </p:grpSpPr>
        <p:sp>
          <p:nvSpPr>
            <p:cNvPr id="94" name="Блок-схема: процесс 93"/>
            <p:cNvSpPr/>
            <p:nvPr/>
          </p:nvSpPr>
          <p:spPr>
            <a:xfrm>
              <a:off x="7118411" y="2681049"/>
              <a:ext cx="1152000" cy="1188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192166" y="2743086"/>
              <a:ext cx="1008000" cy="108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7995106" y="1736963"/>
            <a:ext cx="1116000" cy="1080000"/>
            <a:chOff x="7810172" y="1540217"/>
            <a:chExt cx="1116000" cy="1080000"/>
          </a:xfrm>
        </p:grpSpPr>
        <p:sp>
          <p:nvSpPr>
            <p:cNvPr id="95" name="Блок-схема: процесс 94"/>
            <p:cNvSpPr>
              <a:spLocks/>
            </p:cNvSpPr>
            <p:nvPr/>
          </p:nvSpPr>
          <p:spPr>
            <a:xfrm>
              <a:off x="7810172" y="1540217"/>
              <a:ext cx="1116000" cy="108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857134" y="1599276"/>
              <a:ext cx="101181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"request003":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"false"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sp>
        <p:nvSpPr>
          <p:cNvPr id="108" name="TextBox 107"/>
          <p:cNvSpPr txBox="1"/>
          <p:nvPr/>
        </p:nvSpPr>
        <p:spPr>
          <a:xfrm>
            <a:off x="2789422" y="5642285"/>
            <a:ext cx="91884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м</a:t>
            </a:r>
            <a:r>
              <a:rPr lang="ru-RU" sz="1000" dirty="0" smtClean="0"/>
              <a:t>ножество </a:t>
            </a:r>
          </a:p>
          <a:p>
            <a:r>
              <a:rPr lang="ru-RU" sz="1000" dirty="0" smtClean="0"/>
              <a:t>ответов</a:t>
            </a:r>
            <a:endParaRPr lang="ru-RU" sz="1000" dirty="0"/>
          </a:p>
        </p:txBody>
      </p:sp>
      <p:grpSp>
        <p:nvGrpSpPr>
          <p:cNvPr id="67" name="Группа 66"/>
          <p:cNvGrpSpPr/>
          <p:nvPr/>
        </p:nvGrpSpPr>
        <p:grpSpPr>
          <a:xfrm>
            <a:off x="3935473" y="5198692"/>
            <a:ext cx="1699504" cy="1194165"/>
            <a:chOff x="4058761" y="4798006"/>
            <a:chExt cx="1699504" cy="1194165"/>
          </a:xfrm>
        </p:grpSpPr>
        <p:sp>
          <p:nvSpPr>
            <p:cNvPr id="129" name="Блок-схема: процесс 128"/>
            <p:cNvSpPr/>
            <p:nvPr/>
          </p:nvSpPr>
          <p:spPr>
            <a:xfrm>
              <a:off x="4316472" y="4798006"/>
              <a:ext cx="1044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4058761" y="5592061"/>
              <a:ext cx="16995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ранг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следующего </a:t>
              </a:r>
            </a:p>
            <a:p>
              <a:r>
                <a:rPr lang="ru-RU" sz="1000" dirty="0"/>
                <a:t>д</a:t>
              </a:r>
              <a:r>
                <a:rPr lang="ru-RU" sz="1000" dirty="0" smtClean="0"/>
                <a:t>окумента из базы ответов </a:t>
              </a:r>
              <a:endParaRPr lang="ru-RU" sz="1000" dirty="0"/>
            </a:p>
          </p:txBody>
        </p:sp>
      </p:grpSp>
      <p:grpSp>
        <p:nvGrpSpPr>
          <p:cNvPr id="131" name="Группа 130"/>
          <p:cNvGrpSpPr/>
          <p:nvPr/>
        </p:nvGrpSpPr>
        <p:grpSpPr>
          <a:xfrm>
            <a:off x="5365558" y="5153151"/>
            <a:ext cx="495651" cy="277176"/>
            <a:chOff x="4111934" y="2883423"/>
            <a:chExt cx="522363" cy="277176"/>
          </a:xfrm>
        </p:grpSpPr>
        <p:sp>
          <p:nvSpPr>
            <p:cNvPr id="132" name="Прямоугольник 131"/>
            <p:cNvSpPr/>
            <p:nvPr/>
          </p:nvSpPr>
          <p:spPr>
            <a:xfrm>
              <a:off x="4111934" y="2898591"/>
              <a:ext cx="522363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4111934" y="2883423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rank</a:t>
              </a:r>
              <a:endParaRPr lang="ru-RU" sz="1200" b="1" dirty="0"/>
            </a:p>
          </p:txBody>
        </p:sp>
      </p:grpSp>
      <p:grpSp>
        <p:nvGrpSpPr>
          <p:cNvPr id="62" name="Группа 61"/>
          <p:cNvGrpSpPr/>
          <p:nvPr/>
        </p:nvGrpSpPr>
        <p:grpSpPr>
          <a:xfrm>
            <a:off x="8624258" y="4503828"/>
            <a:ext cx="1332000" cy="1800000"/>
            <a:chOff x="8572888" y="4185334"/>
            <a:chExt cx="1332000" cy="1800000"/>
          </a:xfrm>
        </p:grpSpPr>
        <p:sp>
          <p:nvSpPr>
            <p:cNvPr id="135" name="Блок-схема: процесс 134"/>
            <p:cNvSpPr/>
            <p:nvPr/>
          </p:nvSpPr>
          <p:spPr>
            <a:xfrm>
              <a:off x="8572888" y="4185334"/>
              <a:ext cx="1332000" cy="180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8622015" y="4245055"/>
              <a:ext cx="1229824" cy="16927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"request001":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"relevance": </a:t>
              </a: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[{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0,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1.0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},{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2,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0.94737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}]}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</a:t>
              </a:r>
              <a:endParaRPr lang="en-US" altLang="ru-RU" sz="800" i="1" dirty="0" smtClean="0">
                <a:solidFill>
                  <a:srgbClr val="808080"/>
                </a:solidFill>
                <a:latin typeface="JetBrains Mono"/>
              </a:endParaRPr>
            </a:p>
            <a:p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pic>
        <p:nvPicPr>
          <p:cNvPr id="149" name="Рисунок 14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371" y="3959901"/>
            <a:ext cx="792000" cy="1120171"/>
          </a:xfrm>
          <a:prstGeom prst="rect">
            <a:avLst/>
          </a:prstGeom>
        </p:spPr>
      </p:pic>
      <p:grpSp>
        <p:nvGrpSpPr>
          <p:cNvPr id="103" name="Группа 102"/>
          <p:cNvGrpSpPr/>
          <p:nvPr/>
        </p:nvGrpSpPr>
        <p:grpSpPr>
          <a:xfrm>
            <a:off x="321007" y="2271575"/>
            <a:ext cx="1268296" cy="1205690"/>
            <a:chOff x="57796" y="1752187"/>
            <a:chExt cx="1268296" cy="1205690"/>
          </a:xfrm>
        </p:grpSpPr>
        <p:sp>
          <p:nvSpPr>
            <p:cNvPr id="106" name="Блок-схема: процесс 105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7796" y="2557767"/>
              <a:ext cx="12682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</a:t>
              </a:r>
              <a:r>
                <a:rPr lang="ru-RU" sz="1000" dirty="0"/>
                <a:t>а</a:t>
              </a:r>
              <a:r>
                <a:rPr lang="ru-RU" sz="1000" dirty="0" smtClean="0"/>
                <a:t>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ответов</a:t>
              </a:r>
              <a:endParaRPr lang="ru-RU" sz="1000" dirty="0"/>
            </a:p>
          </p:txBody>
        </p:sp>
      </p:grpSp>
      <p:cxnSp>
        <p:nvCxnSpPr>
          <p:cNvPr id="113" name="Соединительная линия уступом 112"/>
          <p:cNvCxnSpPr>
            <a:stCxn id="21" idx="3"/>
            <a:endCxn id="95" idx="1"/>
          </p:cNvCxnSpPr>
          <p:nvPr/>
        </p:nvCxnSpPr>
        <p:spPr>
          <a:xfrm flipV="1">
            <a:off x="7065007" y="2276963"/>
            <a:ext cx="930099" cy="351557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Соединительная линия уступом 113"/>
          <p:cNvCxnSpPr>
            <a:stCxn id="21" idx="2"/>
            <a:endCxn id="94" idx="1"/>
          </p:cNvCxnSpPr>
          <p:nvPr/>
        </p:nvCxnSpPr>
        <p:spPr>
          <a:xfrm rot="16200000" flipH="1">
            <a:off x="6455088" y="3238439"/>
            <a:ext cx="278475" cy="39063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11063071" y="3173273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accent2"/>
                </a:solidFill>
              </a:rPr>
              <a:t>count</a:t>
            </a:r>
            <a:endParaRPr lang="ru-RU" sz="1200" b="1" dirty="0">
              <a:solidFill>
                <a:schemeClr val="accent2"/>
              </a:solidFill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797468" y="5197052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accent2"/>
                </a:solidFill>
              </a:rPr>
              <a:t>count</a:t>
            </a:r>
            <a:endParaRPr lang="ru-RU" sz="1200" b="1" dirty="0">
              <a:solidFill>
                <a:schemeClr val="accent2"/>
              </a:solidFill>
            </a:endParaRPr>
          </a:p>
        </p:txBody>
      </p:sp>
      <p:grpSp>
        <p:nvGrpSpPr>
          <p:cNvPr id="136" name="Группа 135"/>
          <p:cNvGrpSpPr/>
          <p:nvPr/>
        </p:nvGrpSpPr>
        <p:grpSpPr>
          <a:xfrm>
            <a:off x="9203570" y="2435881"/>
            <a:ext cx="1692000" cy="1764000"/>
            <a:chOff x="9737818" y="2559169"/>
            <a:chExt cx="1692000" cy="1764000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9737818" y="2559169"/>
              <a:ext cx="1692000" cy="1764000"/>
              <a:chOff x="9737818" y="2209853"/>
              <a:chExt cx="1692000" cy="1764000"/>
            </a:xfrm>
          </p:grpSpPr>
          <p:sp>
            <p:nvSpPr>
              <p:cNvPr id="42" name="Прямоугольник 41"/>
              <p:cNvSpPr/>
              <p:nvPr/>
            </p:nvSpPr>
            <p:spPr>
              <a:xfrm>
                <a:off x="9737818" y="2209853"/>
                <a:ext cx="1692000" cy="17640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9737818" y="3265232"/>
                <a:ext cx="16920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одсчитать количество </a:t>
                </a:r>
              </a:p>
              <a:p>
                <a:r>
                  <a:rPr lang="ru-RU" sz="1000" dirty="0" smtClean="0"/>
                  <a:t>ответов с ненулевым рангом (</a:t>
                </a:r>
                <a:r>
                  <a:rPr lang="en-US" sz="1000" b="1" dirty="0" smtClean="0"/>
                  <a:t>count</a:t>
                </a:r>
                <a:r>
                  <a:rPr lang="ru-RU" sz="1000" dirty="0" smtClean="0"/>
                  <a:t>)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базе ответов по </a:t>
                </a:r>
                <a:r>
                  <a:rPr lang="en-US" sz="1000" dirty="0" smtClean="0"/>
                  <a:t>“ID request”</a:t>
                </a:r>
                <a:endParaRPr lang="ru-RU" sz="10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/>
                  <p:cNvSpPr txBox="1"/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1" i="1" smtClean="0">
                              <a:latin typeface="Cambria Math" panose="02040503050406030204" pitchFamily="18" charset="0"/>
                            </a:rPr>
                            <m:t>𝒄𝒐𝒖𝒏𝒕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23"/>
                                    </m:r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𝑑𝑜𝑐</m:t>
                                  </m:r>
                                  <m:r>
                                    <a:rPr lang="pt-BR" sz="100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&gt;0</m:t>
                                  </m:r>
                                </m:e>
                              </m:eqArr>
                            </m:sub>
                            <m:sup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𝑟𝑎𝑛𝑘</m:t>
                              </m:r>
                            </m:e>
                          </m:nary>
                        </m:oMath>
                      </m:oMathPara>
                    </a14:m>
                    <a:endParaRPr lang="ru-RU" sz="1000" dirty="0"/>
                  </a:p>
                </p:txBody>
              </p:sp>
            </mc:Choice>
            <mc:Fallback xmlns="">
              <p:sp>
                <p:nvSpPr>
                  <p:cNvPr id="97" name="TextBox 9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t="-72816" r="-26939" b="-10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9" name="Группа 98"/>
              <p:cNvGrpSpPr/>
              <p:nvPr/>
            </p:nvGrpSpPr>
            <p:grpSpPr>
              <a:xfrm>
                <a:off x="10124800" y="2372356"/>
                <a:ext cx="1198274" cy="277176"/>
                <a:chOff x="4101660" y="2883423"/>
                <a:chExt cx="1198274" cy="277176"/>
              </a:xfrm>
            </p:grpSpPr>
            <p:sp>
              <p:nvSpPr>
                <p:cNvPr id="100" name="Прямоугольник 99"/>
                <p:cNvSpPr/>
                <p:nvPr/>
              </p:nvSpPr>
              <p:spPr>
                <a:xfrm>
                  <a:off x="4111934" y="2898591"/>
                  <a:ext cx="1188000" cy="26200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01" name="TextBox 100"/>
                <p:cNvSpPr txBox="1"/>
                <p:nvPr/>
              </p:nvSpPr>
              <p:spPr>
                <a:xfrm>
                  <a:off x="4101660" y="2883423"/>
                  <a:ext cx="59022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102" name="Прямая соединительная линия 101"/>
                <p:cNvCxnSpPr/>
                <p:nvPr/>
              </p:nvCxnSpPr>
              <p:spPr>
                <a:xfrm>
                  <a:off x="4670958" y="2897951"/>
                  <a:ext cx="0" cy="262008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7" name="TextBox 116"/>
            <p:cNvSpPr txBox="1"/>
            <p:nvPr/>
          </p:nvSpPr>
          <p:spPr>
            <a:xfrm>
              <a:off x="10768796" y="2704270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118" name="Соединительная линия уступом 117"/>
          <p:cNvCxnSpPr>
            <a:stCxn id="47" idx="0"/>
            <a:endCxn id="93" idx="1"/>
          </p:cNvCxnSpPr>
          <p:nvPr/>
        </p:nvCxnSpPr>
        <p:spPr>
          <a:xfrm rot="5400000" flipH="1" flipV="1">
            <a:off x="2243951" y="4526508"/>
            <a:ext cx="444269" cy="357228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372088" y="5825388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120" name="TextBox 119"/>
          <p:cNvSpPr txBox="1"/>
          <p:nvPr/>
        </p:nvSpPr>
        <p:spPr>
          <a:xfrm>
            <a:off x="6917118" y="4541305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122" name="Соединительная линия уступом 121"/>
          <p:cNvCxnSpPr>
            <a:stCxn id="69" idx="0"/>
            <a:endCxn id="135" idx="1"/>
          </p:cNvCxnSpPr>
          <p:nvPr/>
        </p:nvCxnSpPr>
        <p:spPr>
          <a:xfrm rot="16200000" flipH="1">
            <a:off x="7551497" y="4331067"/>
            <a:ext cx="431590" cy="1713932"/>
          </a:xfrm>
          <a:prstGeom prst="bentConnector4">
            <a:avLst>
              <a:gd name="adj1" fmla="val 1785"/>
              <a:gd name="adj2" fmla="val 6942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Соединительная линия уступом 126"/>
          <p:cNvCxnSpPr>
            <a:stCxn id="47" idx="3"/>
          </p:cNvCxnSpPr>
          <p:nvPr/>
        </p:nvCxnSpPr>
        <p:spPr>
          <a:xfrm>
            <a:off x="2953471" y="5593256"/>
            <a:ext cx="1198617" cy="1436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5021193" y="1367246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1" name="TextBox 160"/>
          <p:cNvSpPr txBox="1"/>
          <p:nvPr/>
        </p:nvSpPr>
        <p:spPr>
          <a:xfrm>
            <a:off x="1241326" y="3396598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9" name="TextBox 168"/>
          <p:cNvSpPr txBox="1"/>
          <p:nvPr/>
        </p:nvSpPr>
        <p:spPr>
          <a:xfrm>
            <a:off x="6561148" y="4212413"/>
            <a:ext cx="20762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перейти к следующему документу</a:t>
            </a:r>
            <a:endParaRPr lang="ru-RU" sz="1000" dirty="0"/>
          </a:p>
        </p:txBody>
      </p:sp>
      <p:sp>
        <p:nvSpPr>
          <p:cNvPr id="170" name="Прямоугольник 169"/>
          <p:cNvSpPr/>
          <p:nvPr/>
        </p:nvSpPr>
        <p:spPr>
          <a:xfrm>
            <a:off x="150465" y="1979187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1" name="Прямоугольник 170"/>
          <p:cNvSpPr/>
          <p:nvPr/>
        </p:nvSpPr>
        <p:spPr>
          <a:xfrm>
            <a:off x="2620126" y="148364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2" name="Прямоугольник 171"/>
          <p:cNvSpPr/>
          <p:nvPr/>
        </p:nvSpPr>
        <p:spPr>
          <a:xfrm>
            <a:off x="6189569" y="16764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3" name="Прямоугольник 172"/>
          <p:cNvSpPr/>
          <p:nvPr/>
        </p:nvSpPr>
        <p:spPr>
          <a:xfrm>
            <a:off x="9005012" y="21325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4" name="Прямоугольник 173"/>
          <p:cNvSpPr/>
          <p:nvPr/>
        </p:nvSpPr>
        <p:spPr>
          <a:xfrm>
            <a:off x="2090321" y="4647132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5" name="Прямоугольник 174"/>
          <p:cNvSpPr/>
          <p:nvPr/>
        </p:nvSpPr>
        <p:spPr>
          <a:xfrm>
            <a:off x="3989864" y="489647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6" name="Прямоугольник 175"/>
          <p:cNvSpPr/>
          <p:nvPr/>
        </p:nvSpPr>
        <p:spPr>
          <a:xfrm>
            <a:off x="6705534" y="468614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95" y="2269818"/>
            <a:ext cx="1008000" cy="7126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0247" y="2436560"/>
            <a:ext cx="432000" cy="611002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891" y="1764074"/>
            <a:ext cx="432000" cy="611002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67" y="5194247"/>
            <a:ext cx="1008000" cy="7126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0623" y="1505466"/>
            <a:ext cx="8162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о</a:t>
            </a:r>
            <a:r>
              <a:rPr lang="ru-RU" sz="1000" dirty="0" smtClean="0"/>
              <a:t>тветов нет</a:t>
            </a:r>
            <a:endParaRPr lang="ru-RU" sz="1000" dirty="0"/>
          </a:p>
        </p:txBody>
      </p:sp>
      <p:sp>
        <p:nvSpPr>
          <p:cNvPr id="104" name="TextBox 103"/>
          <p:cNvSpPr txBox="1"/>
          <p:nvPr/>
        </p:nvSpPr>
        <p:spPr>
          <a:xfrm>
            <a:off x="6941335" y="2760279"/>
            <a:ext cx="81945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о</a:t>
            </a:r>
            <a:r>
              <a:rPr lang="ru-RU" sz="1000" dirty="0" smtClean="0"/>
              <a:t>тветы есть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2795198" y="3527980"/>
            <a:ext cx="7825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одинаковый общий </a:t>
            </a:r>
            <a:r>
              <a:rPr lang="ru-RU" sz="2400" dirty="0"/>
              <a:t>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  <p:sp>
        <p:nvSpPr>
          <p:cNvPr id="154" name="TextBox 153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документов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2483089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 smtClean="0"/>
              <a:t>одинаковый общий </a:t>
            </a:r>
            <a:r>
              <a:rPr lang="ru-RU" sz="2400" dirty="0"/>
              <a:t>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2037" y="3444542"/>
            <a:ext cx="1980000" cy="1399928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47811"/>
            <a:ext cx="975389" cy="1589455"/>
            <a:chOff x="8276594" y="2297437"/>
            <a:chExt cx="975389" cy="1589455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7467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5147" y="4841918"/>
            <a:ext cx="763605" cy="1080000"/>
          </a:xfrm>
          <a:prstGeom prst="rect">
            <a:avLst/>
          </a:prstGeom>
        </p:spPr>
      </p:pic>
      <p:pic>
        <p:nvPicPr>
          <p:cNvPr id="114" name="Рисунок 1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921" y="3254600"/>
            <a:ext cx="763605" cy="1080000"/>
          </a:xfrm>
          <a:prstGeom prst="rect">
            <a:avLst/>
          </a:prstGeom>
        </p:spPr>
      </p:pic>
      <p:pic>
        <p:nvPicPr>
          <p:cNvPr id="117" name="Рисунок 1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110" y="2511506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6687" y="3430114"/>
            <a:ext cx="203628" cy="288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4771749"/>
            <a:ext cx="203628" cy="288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3676854"/>
            <a:ext cx="203628" cy="288000"/>
          </a:xfrm>
          <a:prstGeom prst="rect">
            <a:avLst/>
          </a:prstGeom>
        </p:spPr>
      </p:pic>
      <p:sp>
        <p:nvSpPr>
          <p:cNvPr id="332" name="TextBox 331"/>
          <p:cNvSpPr txBox="1"/>
          <p:nvPr/>
        </p:nvSpPr>
        <p:spPr>
          <a:xfrm>
            <a:off x="8657916" y="4714384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ɾ(n+1)/dɿ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Рисунок 17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5783" y="3395383"/>
            <a:ext cx="1980000" cy="139992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4632" y="2556027"/>
            <a:ext cx="1980000" cy="2800419"/>
          </a:xfrm>
          <a:prstGeom prst="rect">
            <a:avLst/>
          </a:prstGeom>
        </p:spPr>
      </p:pic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710165"/>
            <a:ext cx="979647" cy="3068187"/>
            <a:chOff x="2192841" y="1913158"/>
            <a:chExt cx="914273" cy="3068187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47811"/>
            <a:ext cx="975389" cy="1589455"/>
            <a:chOff x="8276594" y="2297437"/>
            <a:chExt cx="975389" cy="1589455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  <p:pic>
        <p:nvPicPr>
          <p:cNvPr id="117" name="Рисунок 1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348" y="2519367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1597" y="3251413"/>
            <a:ext cx="763605" cy="1080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617" y="4843583"/>
            <a:ext cx="763605" cy="1080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0425" y="3496420"/>
            <a:ext cx="509070" cy="720000"/>
          </a:xfrm>
          <a:prstGeom prst="rect">
            <a:avLst/>
          </a:prstGeom>
        </p:spPr>
      </p:pic>
      <p:pic>
        <p:nvPicPr>
          <p:cNvPr id="121" name="Рисунок 1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871" y="5071320"/>
            <a:ext cx="509071" cy="720000"/>
          </a:xfrm>
          <a:prstGeom prst="rect">
            <a:avLst/>
          </a:prstGeom>
        </p:spPr>
      </p:pic>
      <p:pic>
        <p:nvPicPr>
          <p:cNvPr id="122" name="Рисунок 1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271" y="2771660"/>
            <a:ext cx="509070" cy="720000"/>
          </a:xfrm>
          <a:prstGeom prst="rect">
            <a:avLst/>
          </a:prstGeom>
        </p:spPr>
      </p:pic>
      <p:pic>
        <p:nvPicPr>
          <p:cNvPr id="123" name="Рисунок 12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8712" y="3490852"/>
            <a:ext cx="509070" cy="72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901" y="5078296"/>
            <a:ext cx="509070" cy="720000"/>
          </a:xfrm>
          <a:prstGeom prst="rect">
            <a:avLst/>
          </a:prstGeom>
        </p:spPr>
      </p:pic>
      <p:pic>
        <p:nvPicPr>
          <p:cNvPr id="127" name="Рисунок 12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492" y="2768533"/>
            <a:ext cx="509070" cy="720000"/>
          </a:xfrm>
          <a:prstGeom prst="rect">
            <a:avLst/>
          </a:prstGeom>
        </p:spPr>
      </p:pic>
      <p:pic>
        <p:nvPicPr>
          <p:cNvPr id="156" name="Рисунок 1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534" y="2689848"/>
            <a:ext cx="203628" cy="288000"/>
          </a:xfrm>
          <a:prstGeom prst="rect">
            <a:avLst/>
          </a:prstGeom>
        </p:spPr>
      </p:pic>
      <p:pic>
        <p:nvPicPr>
          <p:cNvPr id="164" name="Рисунок 1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054" y="3189164"/>
            <a:ext cx="203628" cy="288000"/>
          </a:xfrm>
          <a:prstGeom prst="rect">
            <a:avLst/>
          </a:prstGeom>
        </p:spPr>
      </p:pic>
      <p:pic>
        <p:nvPicPr>
          <p:cNvPr id="166" name="Рисунок 1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191" y="3433705"/>
            <a:ext cx="203628" cy="288000"/>
          </a:xfrm>
          <a:prstGeom prst="rect">
            <a:avLst/>
          </a:prstGeom>
        </p:spPr>
      </p:pic>
      <p:pic>
        <p:nvPicPr>
          <p:cNvPr id="167" name="Рисунок 16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967" y="3935583"/>
            <a:ext cx="203628" cy="288000"/>
          </a:xfrm>
          <a:prstGeom prst="rect">
            <a:avLst/>
          </a:prstGeom>
        </p:spPr>
      </p:pic>
      <p:pic>
        <p:nvPicPr>
          <p:cNvPr id="168" name="Рисунок 16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068" y="5012894"/>
            <a:ext cx="203628" cy="288000"/>
          </a:xfrm>
          <a:prstGeom prst="rect">
            <a:avLst/>
          </a:prstGeom>
        </p:spPr>
      </p:pic>
      <p:pic>
        <p:nvPicPr>
          <p:cNvPr id="169" name="Рисунок 16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213" y="5503473"/>
            <a:ext cx="203628" cy="288000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7958" y="3427047"/>
            <a:ext cx="203628" cy="288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4180" y="3682442"/>
            <a:ext cx="203628" cy="288000"/>
          </a:xfrm>
          <a:prstGeom prst="rect">
            <a:avLst/>
          </a:prstGeom>
        </p:spPr>
      </p:pic>
      <p:pic>
        <p:nvPicPr>
          <p:cNvPr id="172" name="Рисунок 17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6682" y="4767266"/>
            <a:ext cx="203628" cy="2880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8382613" y="4714388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23" name="Группа 22"/>
          <p:cNvGrpSpPr/>
          <p:nvPr/>
        </p:nvGrpSpPr>
        <p:grpSpPr>
          <a:xfrm>
            <a:off x="5078220" y="1628446"/>
            <a:ext cx="1800000" cy="1800000"/>
            <a:chOff x="6093193" y="1986699"/>
            <a:chExt cx="1440000" cy="1442301"/>
          </a:xfrm>
        </p:grpSpPr>
        <p:grpSp>
          <p:nvGrpSpPr>
            <p:cNvPr id="24" name="Группа 2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6" name="Скругленный прямоугольник 2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25" name="Прямоугольник 2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</a:t>
              </a:r>
              <a:r>
                <a:rPr lang="ru-RU" sz="1100" dirty="0" smtClean="0">
                  <a:solidFill>
                    <a:schemeClr val="tx1"/>
                  </a:solidFill>
                </a:rPr>
                <a:t>путей файлов документов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Dispatcher</a:t>
                  </a:r>
                  <a:endParaRPr lang="ru-RU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Operations</a:t>
                  </a:r>
                  <a:endParaRPr lang="ru-RU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5163" y="1987615"/>
            <a:ext cx="763605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8009" y="3075645"/>
            <a:ext cx="509070" cy="720000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508" y="4510325"/>
            <a:ext cx="763606" cy="1080000"/>
          </a:xfrm>
          <a:prstGeom prst="rect">
            <a:avLst/>
          </a:prstGeom>
        </p:spPr>
      </p:pic>
      <p:pic>
        <p:nvPicPr>
          <p:cNvPr id="57" name="Рисунок 5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24" y="5588464"/>
            <a:ext cx="509065" cy="720000"/>
          </a:xfrm>
          <a:prstGeom prst="rect">
            <a:avLst/>
          </a:prstGeom>
        </p:spPr>
      </p:pic>
      <p:pic>
        <p:nvPicPr>
          <p:cNvPr id="58" name="Рисунок 5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51" y="4943977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</a:t>
            </a:r>
            <a:r>
              <a:rPr lang="ru-RU" sz="2400" dirty="0" smtClean="0"/>
              <a:t>класса (обработка ошибок)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  <p:cxnSp>
        <p:nvCxnSpPr>
          <p:cNvPr id="51" name="Соединительная линия уступом 50"/>
          <p:cNvCxnSpPr>
            <a:endCxn id="47" idx="2"/>
          </p:cNvCxnSpPr>
          <p:nvPr/>
        </p:nvCxnSpPr>
        <p:spPr>
          <a:xfrm rot="16200000" flipV="1">
            <a:off x="6163832" y="4985218"/>
            <a:ext cx="840694" cy="55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486733" y="1586947"/>
            <a:ext cx="3534347" cy="246221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875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ru-RU" sz="1400" dirty="0"/>
              <a:t> </a:t>
            </a:r>
            <a:r>
              <a:rPr lang="ru-RU" sz="1400" dirty="0" smtClean="0"/>
              <a:t>   Необходимо добавить контейнер соответствия вызывающих функций уровню логирования.</a:t>
            </a:r>
          </a:p>
          <a:p>
            <a:endParaRPr lang="ru-RU" sz="1400" dirty="0"/>
          </a:p>
          <a:p>
            <a:r>
              <a:rPr lang="ru-RU" sz="1400" dirty="0">
                <a:solidFill>
                  <a:srgbClr val="00B050"/>
                </a:solidFill>
              </a:rPr>
              <a:t>П</a:t>
            </a:r>
            <a:r>
              <a:rPr lang="ru-RU" sz="1400" dirty="0" smtClean="0">
                <a:solidFill>
                  <a:srgbClr val="00B050"/>
                </a:solidFill>
              </a:rPr>
              <a:t>люсы:</a:t>
            </a:r>
          </a:p>
          <a:p>
            <a:pPr marL="285750" indent="-285750">
              <a:buFontTx/>
              <a:buChar char="-"/>
            </a:pPr>
            <a:r>
              <a:rPr lang="ru-RU" sz="1400" dirty="0" smtClean="0"/>
              <a:t>используется </a:t>
            </a:r>
            <a:r>
              <a:rPr lang="ru-RU" sz="1400" dirty="0"/>
              <a:t>меньше </a:t>
            </a:r>
            <a:r>
              <a:rPr lang="ru-RU" sz="1400" dirty="0" smtClean="0"/>
              <a:t>аргументов;</a:t>
            </a:r>
          </a:p>
          <a:p>
            <a:pPr marL="285750" indent="-285750">
              <a:buFontTx/>
              <a:buChar char="-"/>
            </a:pPr>
            <a:r>
              <a:rPr lang="ru-RU" sz="1400" dirty="0"/>
              <a:t>ц</a:t>
            </a:r>
            <a:r>
              <a:rPr lang="ru-RU" sz="1400" dirty="0" smtClean="0"/>
              <a:t>ентрализованная обработка ошибок и логирования;</a:t>
            </a:r>
          </a:p>
          <a:p>
            <a:r>
              <a:rPr lang="ru-RU" sz="1400" dirty="0" smtClean="0">
                <a:solidFill>
                  <a:srgbClr val="C00000"/>
                </a:solidFill>
              </a:rPr>
              <a:t>Минусы:</a:t>
            </a:r>
          </a:p>
          <a:p>
            <a:r>
              <a:rPr lang="ru-RU" sz="1400" dirty="0" smtClean="0"/>
              <a:t>-      иногда, добавить дополнительную функцию вызова операции.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18.02.2026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946175338"/>
              </p:ext>
            </p:extLst>
          </p:nvPr>
        </p:nvGraphicFramePr>
        <p:xfrm>
          <a:off x="3945916" y="2002381"/>
          <a:ext cx="7920000" cy="33713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3033829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1537" y="3425678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4226718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2685168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" y="2482224"/>
            <a:ext cx="3264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</a:t>
            </a:r>
            <a:r>
              <a:rPr lang="ru-RU" dirty="0" smtClean="0"/>
              <a:t> </a:t>
            </a:r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ru-RU" dirty="0" smtClean="0"/>
              <a:t> </a:t>
            </a:r>
            <a:r>
              <a:rPr lang="en-US" dirty="0" smtClean="0"/>
              <a:t>f</a:t>
            </a:r>
            <a:r>
              <a:rPr lang="en-US" dirty="0" smtClean="0">
                <a:solidFill>
                  <a:srgbClr val="FF0000"/>
                </a:solidFill>
              </a:rPr>
              <a:t>atal</a:t>
            </a:r>
            <a:r>
              <a:rPr lang="en-US" dirty="0" smtClean="0"/>
              <a:t>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680" y="4582456"/>
            <a:ext cx="432706" cy="612000"/>
          </a:xfrm>
          <a:prstGeom prst="rect">
            <a:avLst/>
          </a:prstGeom>
        </p:spPr>
      </p:pic>
      <p:grpSp>
        <p:nvGrpSpPr>
          <p:cNvPr id="18" name="Группа 17"/>
          <p:cNvGrpSpPr>
            <a:grpSpLocks noChangeAspect="1"/>
          </p:cNvGrpSpPr>
          <p:nvPr/>
        </p:nvGrpSpPr>
        <p:grpSpPr>
          <a:xfrm>
            <a:off x="2296100" y="5569863"/>
            <a:ext cx="410079" cy="468000"/>
            <a:chOff x="1501166" y="5420382"/>
            <a:chExt cx="530641" cy="605587"/>
          </a:xfrm>
        </p:grpSpPr>
        <p:pic>
          <p:nvPicPr>
            <p:cNvPr id="19" name="Рисунок 18"/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3945278" y="5595601"/>
            <a:ext cx="37744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Поддержка </a:t>
            </a:r>
            <a:r>
              <a:rPr lang="en-US" sz="2000" dirty="0"/>
              <a:t>CMake </a:t>
            </a:r>
            <a:r>
              <a:rPr lang="ru-RU" sz="2000" dirty="0"/>
              <a:t>с версии 3.21</a:t>
            </a:r>
            <a:r>
              <a:rPr lang="en-US" sz="2000" dirty="0"/>
              <a:t> </a:t>
            </a:r>
            <a:endParaRPr lang="ru-RU" sz="2000" dirty="0"/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18.02.2026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339013563"/>
              </p:ext>
            </p:extLst>
          </p:nvPr>
        </p:nvGraphicFramePr>
        <p:xfrm>
          <a:off x="3952367" y="1658046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377205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732475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117240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482563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377204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2758145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569" y="5025060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6214" y="5027715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3" y="4600872"/>
            <a:ext cx="330893" cy="468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281454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328044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696753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1807517" y="499364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2296100" y="5723973"/>
            <a:ext cx="410079" cy="468000"/>
            <a:chOff x="1501166" y="5420382"/>
            <a:chExt cx="530641" cy="605587"/>
          </a:xfrm>
        </p:grpSpPr>
        <p:pic>
          <p:nvPicPr>
            <p:cNvPr id="29" name="Рисунок 28"/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31" name="TextBox 30"/>
          <p:cNvSpPr txBox="1"/>
          <p:nvPr/>
        </p:nvSpPr>
        <p:spPr>
          <a:xfrm>
            <a:off x="3945278" y="5749711"/>
            <a:ext cx="37744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Поддержка </a:t>
            </a:r>
            <a:r>
              <a:rPr lang="en-US" sz="2000" dirty="0"/>
              <a:t>CMake </a:t>
            </a:r>
            <a:r>
              <a:rPr lang="ru-RU" sz="2000" dirty="0"/>
              <a:t>с версии 3.21</a:t>
            </a:r>
            <a:r>
              <a:rPr lang="en-US" sz="2000" dirty="0"/>
              <a:t> </a:t>
            </a:r>
            <a:endParaRPr lang="ru-RU" sz="2000" dirty="0"/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9902257" y="64578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035940"/>
              </p:ext>
            </p:extLst>
          </p:nvPr>
        </p:nvGraphicFramePr>
        <p:xfrm>
          <a:off x="9309688" y="3853110"/>
          <a:ext cx="249357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100%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31%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89%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60%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50%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923990" y="3430258"/>
            <a:ext cx="16144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</a:t>
            </a:r>
            <a:r>
              <a:rPr lang="en-US" sz="1400" dirty="0" smtClean="0"/>
              <a:t>earch_engine_test</a:t>
            </a:r>
            <a:endParaRPr lang="ru-RU" sz="1400" dirty="0"/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743940"/>
              </p:ext>
            </p:extLst>
          </p:nvPr>
        </p:nvGraphicFramePr>
        <p:xfrm>
          <a:off x="343656" y="3860800"/>
          <a:ext cx="2493579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100%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70%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80%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89%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46%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33319" y="3439319"/>
            <a:ext cx="19230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av_fileOperations_test</a:t>
            </a:r>
            <a:endParaRPr lang="ru-RU" sz="1400" dirty="0"/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199977"/>
              </p:ext>
            </p:extLst>
          </p:nvPr>
        </p:nvGraphicFramePr>
        <p:xfrm>
          <a:off x="6304909" y="385311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76%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44%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57%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54%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953396" y="3430258"/>
            <a:ext cx="16908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logger_monitor_test</a:t>
            </a:r>
            <a:endParaRPr lang="ru-RU" sz="1400" dirty="0"/>
          </a:p>
        </p:txBody>
      </p:sp>
      <p:graphicFrame>
        <p:nvGraphicFramePr>
          <p:cNvPr id="14" name="Таблица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637982"/>
              </p:ext>
            </p:extLst>
          </p:nvPr>
        </p:nvGraphicFramePr>
        <p:xfrm>
          <a:off x="3305705" y="386080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83%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53%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85%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91%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49%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902923" y="3437948"/>
            <a:ext cx="13451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av_logger_test</a:t>
            </a:r>
            <a:endParaRPr lang="ru-RU" sz="1400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847" y="3243985"/>
            <a:ext cx="476195" cy="67351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510" y="3227787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034" y="3228814"/>
            <a:ext cx="509065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2995" y="3223133"/>
            <a:ext cx="509065" cy="72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0" y="913172"/>
            <a:ext cx="12181731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ru-RU" sz="2400" dirty="0" smtClean="0"/>
              <a:t>Результаты тестов по двум библиотекам (</a:t>
            </a:r>
            <a:r>
              <a:rPr lang="en-US" sz="2400" dirty="0" smtClean="0"/>
              <a:t>kav_fileOperations, kav_logger</a:t>
            </a:r>
            <a:r>
              <a:rPr lang="ru-RU" sz="2400" dirty="0" smtClean="0"/>
              <a:t>), </a:t>
            </a:r>
            <a:r>
              <a:rPr lang="en-US" sz="2400" dirty="0" smtClean="0"/>
              <a:t>logger_monitor</a:t>
            </a:r>
            <a:r>
              <a:rPr lang="ru-RU" sz="2400" dirty="0" smtClean="0"/>
              <a:t> и </a:t>
            </a:r>
          </a:p>
          <a:p>
            <a:pPr algn="ctr"/>
            <a:r>
              <a:rPr lang="ru-RU" sz="2400" dirty="0"/>
              <a:t>о</a:t>
            </a:r>
            <a:r>
              <a:rPr lang="ru-RU" sz="2400" dirty="0" smtClean="0"/>
              <a:t>сновной программы </a:t>
            </a:r>
            <a:r>
              <a:rPr lang="en-US" sz="2400" dirty="0" smtClean="0"/>
              <a:t>search_engine</a:t>
            </a:r>
            <a:endParaRPr lang="ru-RU" sz="2400" dirty="0"/>
          </a:p>
        </p:txBody>
      </p:sp>
      <p:sp>
        <p:nvSpPr>
          <p:cNvPr id="22" name="TextBox 21"/>
          <p:cNvSpPr txBox="1"/>
          <p:nvPr/>
        </p:nvSpPr>
        <p:spPr>
          <a:xfrm>
            <a:off x="637001" y="2065112"/>
            <a:ext cx="11389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	Протестирована обязательная проверка на недоступность файлов конфигурации и файлов документов, </a:t>
            </a:r>
          </a:p>
          <a:p>
            <a:r>
              <a:rPr lang="ru-RU" dirty="0"/>
              <a:t>з</a:t>
            </a:r>
            <a:r>
              <a:rPr lang="ru-RU" dirty="0" smtClean="0"/>
              <a:t>аявленная функциональность, а также наиболее сложные функции библиотек и основной программы.</a:t>
            </a:r>
            <a:endParaRPr lang="ru-RU" dirty="0"/>
          </a:p>
        </p:txBody>
      </p:sp>
      <p:cxnSp>
        <p:nvCxnSpPr>
          <p:cNvPr id="23" name="Прямая соединительная линия 22"/>
          <p:cNvCxnSpPr/>
          <p:nvPr/>
        </p:nvCxnSpPr>
        <p:spPr>
          <a:xfrm>
            <a:off x="324000" y="2709864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84687" y="3816440"/>
            <a:ext cx="5291705" cy="206210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ru-RU" sz="1600" b="1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sz="1600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в</a:t>
            </a:r>
            <a:r>
              <a:rPr lang="ru-RU" sz="1600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ж</a:t>
            </a:r>
            <a:r>
              <a:rPr lang="ru-RU" sz="1600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м</a:t>
            </a:r>
            <a:r>
              <a:rPr lang="ru-RU" sz="1600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омощь;</a:t>
            </a:r>
            <a:endParaRPr lang="ru-RU" sz="1600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20010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624529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197617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450728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58257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58621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075014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2843989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024225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4003417" y="3216175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39" name="Рисунок 3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733694" y="1630985"/>
            <a:ext cx="1121741" cy="180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9967" y="4258721"/>
            <a:ext cx="2885468" cy="1620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416197" y="5875463"/>
            <a:ext cx="2001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logger_monitor.exe</a:t>
            </a:r>
            <a:endParaRPr lang="ru-RU" dirty="0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1295" y="4278798"/>
            <a:ext cx="2810885" cy="16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22724</TotalTime>
  <Words>2794</Words>
  <Application>Microsoft Office PowerPoint</Application>
  <PresentationFormat>Широкоэкранный</PresentationFormat>
  <Paragraphs>832</Paragraphs>
  <Slides>29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29</vt:i4>
      </vt:variant>
    </vt:vector>
  </HeadingPairs>
  <TitlesOfParts>
    <vt:vector size="34" baseType="lpstr">
      <vt:lpstr>Calibri</vt:lpstr>
      <vt:lpstr>Calibri Light</vt:lpstr>
      <vt:lpstr>Cambria Math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815</cp:revision>
  <dcterms:created xsi:type="dcterms:W3CDTF">2025-10-14T05:54:15Z</dcterms:created>
  <dcterms:modified xsi:type="dcterms:W3CDTF">2026-02-18T09:25:37Z</dcterms:modified>
</cp:coreProperties>
</file>
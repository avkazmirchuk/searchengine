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9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7529544"/>
        <c:axId val="407529936"/>
      </c:barChart>
      <c:catAx>
        <c:axId val="4075295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29936"/>
        <c:crosses val="autoZero"/>
        <c:auto val="1"/>
        <c:lblAlgn val="ctr"/>
        <c:lblOffset val="100"/>
        <c:noMultiLvlLbl val="0"/>
      </c:catAx>
      <c:valAx>
        <c:axId val="4075299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295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843 файла (100'000 </a:t>
            </a:r>
            <a:r>
              <a:rPr lang="ru-RU" dirty="0" smtClean="0"/>
              <a:t>слов)</a:t>
            </a:r>
            <a:endParaRPr lang="ru-RU" dirty="0"/>
          </a:p>
        </c:rich>
      </c:tx>
      <c:layout>
        <c:manualLayout>
          <c:xMode val="edge"/>
          <c:yMode val="edge"/>
          <c:x val="0.12686053132247357"/>
          <c:y val="2.29205800097890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7534640"/>
        <c:axId val="407535424"/>
      </c:barChart>
      <c:catAx>
        <c:axId val="407534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5424"/>
        <c:crosses val="autoZero"/>
        <c:auto val="1"/>
        <c:lblAlgn val="ctr"/>
        <c:lblOffset val="100"/>
        <c:noMultiLvlLbl val="0"/>
      </c:catAx>
      <c:valAx>
        <c:axId val="407535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4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7533464"/>
        <c:axId val="407533856"/>
      </c:barChart>
      <c:catAx>
        <c:axId val="4075334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3856"/>
        <c:crosses val="autoZero"/>
        <c:auto val="1"/>
        <c:lblAlgn val="ctr"/>
        <c:lblOffset val="100"/>
        <c:noMultiLvlLbl val="0"/>
      </c:catAx>
      <c:valAx>
        <c:axId val="407533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34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7535032"/>
        <c:axId val="411095496"/>
      </c:barChart>
      <c:catAx>
        <c:axId val="4075350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11095496"/>
        <c:crosses val="autoZero"/>
        <c:auto val="1"/>
        <c:lblAlgn val="ctr"/>
        <c:lblOffset val="100"/>
        <c:noMultiLvlLbl val="0"/>
      </c:catAx>
      <c:valAx>
        <c:axId val="411095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50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65805360"/>
        <c:axId val="465812024"/>
      </c:barChart>
      <c:catAx>
        <c:axId val="4658053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5812024"/>
        <c:crosses val="autoZero"/>
        <c:auto val="1"/>
        <c:lblAlgn val="ctr"/>
        <c:lblOffset val="100"/>
        <c:noMultiLvlLbl val="0"/>
      </c:catAx>
      <c:valAx>
        <c:axId val="465812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58053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7530328"/>
        <c:axId val="407532288"/>
      </c:barChart>
      <c:catAx>
        <c:axId val="4075303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2288"/>
        <c:crosses val="autoZero"/>
        <c:auto val="1"/>
        <c:lblAlgn val="ctr"/>
        <c:lblOffset val="100"/>
        <c:noMultiLvlLbl val="0"/>
      </c:catAx>
      <c:valAx>
        <c:axId val="40753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7530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3473640"/>
        <c:axId val="323475208"/>
      </c:barChart>
      <c:catAx>
        <c:axId val="3234736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3475208"/>
        <c:crosses val="autoZero"/>
        <c:auto val="1"/>
        <c:lblAlgn val="ctr"/>
        <c:lblOffset val="100"/>
        <c:noMultiLvlLbl val="0"/>
      </c:catAx>
      <c:valAx>
        <c:axId val="323475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34736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099936"/>
        <c:axId val="471103856"/>
      </c:barChart>
      <c:catAx>
        <c:axId val="4710999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103856"/>
        <c:crosses val="autoZero"/>
        <c:auto val="1"/>
        <c:lblAlgn val="ctr"/>
        <c:lblOffset val="100"/>
        <c:noMultiLvlLbl val="0"/>
      </c:catAx>
      <c:valAx>
        <c:axId val="4711038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0999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4368"/>
        <c:axId val="471297504"/>
      </c:barChart>
      <c:catAx>
        <c:axId val="471294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7504"/>
        <c:crosses val="autoZero"/>
        <c:auto val="1"/>
        <c:lblAlgn val="ctr"/>
        <c:lblOffset val="100"/>
        <c:noMultiLvlLbl val="0"/>
      </c:catAx>
      <c:valAx>
        <c:axId val="4712975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4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3976"/>
        <c:axId val="471298288"/>
      </c:barChart>
      <c:catAx>
        <c:axId val="4712939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8288"/>
        <c:crosses val="autoZero"/>
        <c:auto val="1"/>
        <c:lblAlgn val="ctr"/>
        <c:lblOffset val="100"/>
        <c:noMultiLvlLbl val="0"/>
      </c:catAx>
      <c:valAx>
        <c:axId val="471298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39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8680"/>
        <c:axId val="471295152"/>
      </c:barChart>
      <c:catAx>
        <c:axId val="471298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5152"/>
        <c:crosses val="autoZero"/>
        <c:auto val="1"/>
        <c:lblAlgn val="ctr"/>
        <c:lblOffset val="100"/>
        <c:noMultiLvlLbl val="0"/>
      </c:catAx>
      <c:valAx>
        <c:axId val="47129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8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301424"/>
        <c:axId val="471295544"/>
      </c:barChart>
      <c:catAx>
        <c:axId val="471301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5544"/>
        <c:crosses val="autoZero"/>
        <c:auto val="1"/>
        <c:lblAlgn val="ctr"/>
        <c:lblOffset val="100"/>
        <c:noMultiLvlLbl val="0"/>
      </c:catAx>
      <c:valAx>
        <c:axId val="471295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30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9072"/>
        <c:axId val="471296720"/>
      </c:barChart>
      <c:catAx>
        <c:axId val="4712990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6720"/>
        <c:crosses val="autoZero"/>
        <c:auto val="1"/>
        <c:lblAlgn val="ctr"/>
        <c:lblOffset val="100"/>
        <c:noMultiLvlLbl val="0"/>
      </c:catAx>
      <c:valAx>
        <c:axId val="471296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90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7112"/>
        <c:axId val="471297896"/>
      </c:barChart>
      <c:catAx>
        <c:axId val="471297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7896"/>
        <c:crosses val="autoZero"/>
        <c:auto val="1"/>
        <c:lblAlgn val="ctr"/>
        <c:lblOffset val="100"/>
        <c:noMultiLvlLbl val="0"/>
      </c:catAx>
      <c:valAx>
        <c:axId val="471297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71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1299856"/>
        <c:axId val="469677256"/>
      </c:barChart>
      <c:catAx>
        <c:axId val="471299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677256"/>
        <c:crosses val="autoZero"/>
        <c:auto val="1"/>
        <c:lblAlgn val="ctr"/>
        <c:lblOffset val="100"/>
        <c:noMultiLvlLbl val="0"/>
      </c:catAx>
      <c:valAx>
        <c:axId val="4696772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1299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98" y="2064675"/>
          <a:ext cx="1980274" cy="198027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Search</a:t>
          </a:r>
        </a:p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0" kern="1200" dirty="0" smtClean="0"/>
            <a:t>Engine</a:t>
          </a:r>
          <a:endParaRPr lang="ru-RU" sz="3200" b="0" kern="1200" dirty="0"/>
        </a:p>
      </dsp:txBody>
      <dsp:txXfrm>
        <a:off x="4133567" y="2161344"/>
        <a:ext cx="1786936" cy="1786936"/>
      </dsp:txXfrm>
    </dsp:sp>
    <dsp:sp modelId="{667DE06D-C223-4C57-8F2C-DDC107791A47}">
      <dsp:nvSpPr>
        <dsp:cNvPr id="0" name=""/>
        <dsp:cNvSpPr/>
      </dsp:nvSpPr>
      <dsp:spPr>
        <a:xfrm rot="12462626">
          <a:off x="1655368" y="1947355"/>
          <a:ext cx="252640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40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6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Converter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JSON </a:t>
          </a:r>
          <a:endParaRPr lang="ru-RU" sz="1800" b="0" kern="1200" dirty="0"/>
        </a:p>
      </dsp:txBody>
      <dsp:txXfrm>
        <a:off x="87881" y="74935"/>
        <a:ext cx="1624484" cy="1624484"/>
      </dsp:txXfrm>
    </dsp:sp>
    <dsp:sp modelId="{65390B38-AF76-4E62-872B-309581DF08C7}">
      <dsp:nvSpPr>
        <dsp:cNvPr id="0" name=""/>
        <dsp:cNvSpPr/>
      </dsp:nvSpPr>
      <dsp:spPr>
        <a:xfrm rot="10656261">
          <a:off x="1619206" y="3146788"/>
          <a:ext cx="241874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18748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39" y="2421119"/>
          <a:ext cx="1620224" cy="16202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Dispatcher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Operations</a:t>
          </a:r>
          <a:endParaRPr lang="ru-RU" sz="1800" b="0" kern="1200" dirty="0"/>
        </a:p>
      </dsp:txBody>
      <dsp:txXfrm>
        <a:off x="79132" y="2500212"/>
        <a:ext cx="1462038" cy="1462038"/>
      </dsp:txXfrm>
    </dsp:sp>
    <dsp:sp modelId="{8F086A69-6FE7-48AB-8D4E-831F6AAADB3F}">
      <dsp:nvSpPr>
        <dsp:cNvPr id="0" name=""/>
        <dsp:cNvSpPr/>
      </dsp:nvSpPr>
      <dsp:spPr>
        <a:xfrm rot="13495766">
          <a:off x="3723735" y="1937621"/>
          <a:ext cx="36670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70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032" y="1010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Documents </a:t>
          </a:r>
          <a:endParaRPr lang="ru-RU" sz="1800" b="0" kern="1200" dirty="0"/>
        </a:p>
      </dsp:txBody>
      <dsp:txXfrm>
        <a:off x="2064913" y="97981"/>
        <a:ext cx="1624484" cy="1624484"/>
      </dsp:txXfrm>
    </dsp:sp>
    <dsp:sp modelId="{1503B29C-C796-4217-A6E0-D8D0E4C12287}">
      <dsp:nvSpPr>
        <dsp:cNvPr id="0" name=""/>
        <dsp:cNvSpPr/>
      </dsp:nvSpPr>
      <dsp:spPr>
        <a:xfrm rot="18913225">
          <a:off x="5959720" y="1932806"/>
          <a:ext cx="39597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597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8243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0" kern="1200" dirty="0" smtClean="0"/>
            <a:t>Requests </a:t>
          </a:r>
          <a:endParaRPr lang="ru-RU" sz="1800" b="0" kern="1200" dirty="0"/>
        </a:p>
      </dsp:txBody>
      <dsp:txXfrm>
        <a:off x="6386124" y="87881"/>
        <a:ext cx="1624484" cy="1624484"/>
      </dsp:txXfrm>
    </dsp:sp>
    <dsp:sp modelId="{B23D5C2B-B6D2-4298-9DAF-A69442F1C2D7}">
      <dsp:nvSpPr>
        <dsp:cNvPr id="0" name=""/>
        <dsp:cNvSpPr/>
      </dsp:nvSpPr>
      <dsp:spPr>
        <a:xfrm rot="16184308">
          <a:off x="4889697" y="1932462"/>
          <a:ext cx="26442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42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76" y="3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InvertedIndex </a:t>
          </a:r>
          <a:endParaRPr lang="ru-RU" sz="1800" b="0" kern="1200" dirty="0"/>
        </a:p>
      </dsp:txBody>
      <dsp:txXfrm>
        <a:off x="4204957" y="87884"/>
        <a:ext cx="1624484" cy="1624484"/>
      </dsp:txXfrm>
    </dsp:sp>
    <dsp:sp modelId="{645660FC-29F0-4ECD-9736-2F09D9960928}">
      <dsp:nvSpPr>
        <dsp:cNvPr id="0" name=""/>
        <dsp:cNvSpPr/>
      </dsp:nvSpPr>
      <dsp:spPr>
        <a:xfrm rot="19937998">
          <a:off x="5873892" y="1953838"/>
          <a:ext cx="250037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0037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986" y="0"/>
          <a:ext cx="1800246" cy="180024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Relevant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dirty="0" smtClean="0"/>
            <a:t>Response </a:t>
          </a:r>
          <a:endParaRPr lang="ru-RU" sz="1800" b="0" kern="1200" dirty="0"/>
        </a:p>
      </dsp:txBody>
      <dsp:txXfrm>
        <a:off x="8318867" y="87881"/>
        <a:ext cx="1624484" cy="162448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4F0C9A-3648-4916-982F-AF9587978149}">
      <dsp:nvSpPr>
        <dsp:cNvPr id="0" name=""/>
        <dsp:cNvSpPr/>
      </dsp:nvSpPr>
      <dsp:spPr>
        <a:xfrm>
          <a:off x="0" y="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29875" y="29875"/>
        <a:ext cx="7860250" cy="552249"/>
      </dsp:txXfrm>
    </dsp:sp>
    <dsp:sp modelId="{F2725D4B-59A7-40CF-AA8E-A27EC37530B2}">
      <dsp:nvSpPr>
        <dsp:cNvPr id="0" name=""/>
        <dsp:cNvSpPr/>
      </dsp:nvSpPr>
      <dsp:spPr>
        <a:xfrm>
          <a:off x="0" y="708719"/>
          <a:ext cx="7920000" cy="4968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Предоставляет 5 уровней логирования</a:t>
          </a:r>
          <a:endParaRPr lang="ru-RU" sz="2300" kern="1200" dirty="0"/>
        </a:p>
      </dsp:txBody>
      <dsp:txXfrm>
        <a:off x="0" y="708719"/>
        <a:ext cx="7920000" cy="496800"/>
      </dsp:txXfrm>
    </dsp:sp>
    <dsp:sp modelId="{6C5C9815-44A2-4551-A509-FE6F0947C3DB}">
      <dsp:nvSpPr>
        <dsp:cNvPr id="0" name=""/>
        <dsp:cNvSpPr/>
      </dsp:nvSpPr>
      <dsp:spPr>
        <a:xfrm>
          <a:off x="0" y="1205520"/>
          <a:ext cx="7920000" cy="6119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Внутренние функции</a:t>
          </a:r>
          <a:endParaRPr lang="ru-RU" sz="2400" kern="1200" dirty="0"/>
        </a:p>
      </dsp:txBody>
      <dsp:txXfrm>
        <a:off x="29875" y="1235395"/>
        <a:ext cx="7860250" cy="552249"/>
      </dsp:txXfrm>
    </dsp:sp>
    <dsp:sp modelId="{84271FDF-D644-48A5-8BBB-391AF85E26F5}">
      <dsp:nvSpPr>
        <dsp:cNvPr id="0" name=""/>
        <dsp:cNvSpPr/>
      </dsp:nvSpPr>
      <dsp:spPr>
        <a:xfrm>
          <a:off x="0" y="1817519"/>
          <a:ext cx="7920000" cy="1987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8100" rIns="213360" bIns="38100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Записывает сообщения в лог-файлы в другом потоке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Выводит события в консоль в другом потоке и процессе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использования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300" kern="1200" dirty="0" smtClean="0"/>
            <a:t>Регулирует интервал времени хранения файла</a:t>
          </a:r>
          <a:endParaRPr lang="ru-RU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endParaRPr lang="ru-RU" sz="2300" kern="1200" dirty="0"/>
        </a:p>
      </dsp:txBody>
      <dsp:txXfrm>
        <a:off x="0" y="1817519"/>
        <a:ext cx="7920000" cy="19872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окументов</a:t>
            </a:r>
            <a:r>
              <a:rPr lang="en-US" sz="1200" dirty="0" smtClean="0"/>
              <a:t> </a:t>
            </a:r>
            <a:r>
              <a:rPr lang="ru-RU" sz="1200" dirty="0" smtClean="0"/>
              <a:t>или пути файлов 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  <p:grpSp>
        <p:nvGrpSpPr>
          <p:cNvPr id="86" name="Группа 85"/>
          <p:cNvGrpSpPr/>
          <p:nvPr/>
        </p:nvGrpSpPr>
        <p:grpSpPr>
          <a:xfrm>
            <a:off x="2937549" y="5100379"/>
            <a:ext cx="1812393" cy="694126"/>
            <a:chOff x="2249053" y="5542333"/>
            <a:chExt cx="1812393" cy="694126"/>
          </a:xfrm>
        </p:grpSpPr>
        <p:grpSp>
          <p:nvGrpSpPr>
            <p:cNvPr id="88" name="Группа 87"/>
            <p:cNvGrpSpPr/>
            <p:nvPr/>
          </p:nvGrpSpPr>
          <p:grpSpPr>
            <a:xfrm>
              <a:off x="2282191" y="5542333"/>
              <a:ext cx="1779255" cy="653144"/>
              <a:chOff x="2312464" y="5535330"/>
              <a:chExt cx="1779255" cy="653144"/>
            </a:xfrm>
          </p:grpSpPr>
          <p:sp>
            <p:nvSpPr>
              <p:cNvPr id="91" name="Прямоугольник 9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dirty="0">
                    <a:ln w="0"/>
                    <a:solidFill>
                      <a:srgbClr val="FFFF00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cap="none" spc="0" dirty="0">
                  <a:ln w="0"/>
                  <a:solidFill>
                    <a:srgbClr val="FFFF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92" name="TextBox 91"/>
              <p:cNvSpPr txBox="1"/>
              <p:nvPr/>
            </p:nvSpPr>
            <p:spPr>
              <a:xfrm>
                <a:off x="2605415" y="5665254"/>
                <a:ext cx="1486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формирование </a:t>
                </a:r>
              </a:p>
              <a:p>
                <a:r>
                  <a:rPr lang="ru-RU" sz="1400" dirty="0" smtClean="0"/>
                  <a:t>базы</a:t>
                </a:r>
                <a:endParaRPr lang="ru-RU" sz="1400" dirty="0"/>
              </a:p>
            </p:txBody>
          </p:sp>
        </p:grpSp>
        <p:sp>
          <p:nvSpPr>
            <p:cNvPr id="89" name="Прямоугольная выноска 88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solidFill>
                  <a:srgbClr val="FFFF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cap="none" spc="0" dirty="0">
              <a:ln w="0"/>
              <a:solidFill>
                <a:srgbClr val="FFFF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2393" cy="694126"/>
            <a:chOff x="2249053" y="5542333"/>
            <a:chExt cx="181239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79255" cy="653144"/>
              <a:chOff x="2312464" y="5535330"/>
              <a:chExt cx="177925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dirty="0">
                    <a:ln w="0"/>
                    <a:solidFill>
                      <a:srgbClr val="FFFF00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cap="none" spc="0" dirty="0">
                  <a:ln w="0"/>
                  <a:solidFill>
                    <a:srgbClr val="FFFF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863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формирование </a:t>
                </a:r>
              </a:p>
              <a:p>
                <a:r>
                  <a:rPr lang="ru-RU" sz="1400" dirty="0" smtClean="0"/>
                  <a:t>базы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783343" y="1777171"/>
            <a:ext cx="1908000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7" y="1654446"/>
              <a:ext cx="1747246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740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“ID request”</a:t>
              </a:r>
              <a:endParaRPr lang="ru-RU" sz="1000" dirty="0" smtClean="0"/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 w="38100">
              <a:solidFill>
                <a:srgbClr val="00B05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“ID request”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20126" y="148364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24830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 smtClean="0"/>
              <a:t>одинаковый общий </a:t>
            </a:r>
            <a:r>
              <a:rPr lang="ru-RU" sz="2400" dirty="0"/>
              <a:t>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637982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91%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49%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сложные функции 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9967" y="4258721"/>
            <a:ext cx="2885468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Https</a:t>
            </a:r>
            <a:r>
              <a:rPr lang="en-US" dirty="0"/>
              <a:t>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22100</TotalTime>
  <Words>2480</Words>
  <Application>Microsoft Office PowerPoint</Application>
  <PresentationFormat>Широкоэкранный</PresentationFormat>
  <Paragraphs>794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776</cp:revision>
  <dcterms:created xsi:type="dcterms:W3CDTF">2025-10-14T05:54:15Z</dcterms:created>
  <dcterms:modified xsi:type="dcterms:W3CDTF">2026-02-14T17:41:56Z</dcterms:modified>
</cp:coreProperties>
</file>
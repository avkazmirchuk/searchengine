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1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96" userDrawn="1">
          <p15:clr>
            <a:srgbClr val="A4A3A4"/>
          </p15:clr>
        </p15:guide>
        <p15:guide id="2" pos="5541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188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112" d="100"/>
          <a:sy n="112" d="100"/>
        </p:scale>
        <p:origin x="240" y="108"/>
      </p:cViewPr>
      <p:guideLst>
        <p:guide orient="horz" pos="2296"/>
        <p:guide pos="5541"/>
        <p:guide pos="4089"/>
        <p:guide orient="horz" pos="18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4809240"/>
        <c:axId val="320383784"/>
      </c:barChart>
      <c:catAx>
        <c:axId val="4648092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20383784"/>
        <c:crosses val="autoZero"/>
        <c:auto val="1"/>
        <c:lblAlgn val="ctr"/>
        <c:lblOffset val="100"/>
        <c:noMultiLvlLbl val="0"/>
      </c:catAx>
      <c:valAx>
        <c:axId val="3203837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48092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843 файла (100'000 </a:t>
            </a:r>
            <a:r>
              <a:rPr lang="ru-RU" dirty="0" smtClean="0"/>
              <a:t>слов)</a:t>
            </a:r>
            <a:endParaRPr lang="ru-RU" dirty="0"/>
          </a:p>
        </c:rich>
      </c:tx>
      <c:layout>
        <c:manualLayout>
          <c:xMode val="edge"/>
          <c:yMode val="edge"/>
          <c:x val="0.12686053132247357"/>
          <c:y val="2.292058000978907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799280"/>
        <c:axId val="468797712"/>
      </c:barChart>
      <c:catAx>
        <c:axId val="468799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97712"/>
        <c:crosses val="autoZero"/>
        <c:auto val="1"/>
        <c:lblAlgn val="ctr"/>
        <c:lblOffset val="100"/>
        <c:noMultiLvlLbl val="0"/>
      </c:catAx>
      <c:valAx>
        <c:axId val="4687977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99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803984"/>
        <c:axId val="468796536"/>
      </c:barChart>
      <c:catAx>
        <c:axId val="468803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96536"/>
        <c:crosses val="autoZero"/>
        <c:auto val="1"/>
        <c:lblAlgn val="ctr"/>
        <c:lblOffset val="100"/>
        <c:noMultiLvlLbl val="0"/>
      </c:catAx>
      <c:valAx>
        <c:axId val="4687965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8039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799672"/>
        <c:axId val="468802024"/>
      </c:barChart>
      <c:catAx>
        <c:axId val="4687996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802024"/>
        <c:crosses val="autoZero"/>
        <c:auto val="1"/>
        <c:lblAlgn val="ctr"/>
        <c:lblOffset val="100"/>
        <c:noMultiLvlLbl val="0"/>
      </c:catAx>
      <c:valAx>
        <c:axId val="4688020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996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800456"/>
        <c:axId val="468802808"/>
      </c:barChart>
      <c:catAx>
        <c:axId val="4688004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802808"/>
        <c:crosses val="autoZero"/>
        <c:auto val="1"/>
        <c:lblAlgn val="ctr"/>
        <c:lblOffset val="100"/>
        <c:noMultiLvlLbl val="0"/>
      </c:catAx>
      <c:valAx>
        <c:axId val="468802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8004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4811984"/>
        <c:axId val="464812376"/>
      </c:barChart>
      <c:catAx>
        <c:axId val="464811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4812376"/>
        <c:crosses val="autoZero"/>
        <c:auto val="1"/>
        <c:lblAlgn val="ctr"/>
        <c:lblOffset val="100"/>
        <c:noMultiLvlLbl val="0"/>
      </c:catAx>
      <c:valAx>
        <c:axId val="4648123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48119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807960"/>
        <c:axId val="408812664"/>
      </c:barChart>
      <c:catAx>
        <c:axId val="408807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812664"/>
        <c:crosses val="autoZero"/>
        <c:auto val="1"/>
        <c:lblAlgn val="ctr"/>
        <c:lblOffset val="100"/>
        <c:noMultiLvlLbl val="0"/>
      </c:catAx>
      <c:valAx>
        <c:axId val="408812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8079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807568"/>
        <c:axId val="408808352"/>
      </c:barChart>
      <c:catAx>
        <c:axId val="408807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808352"/>
        <c:crosses val="autoZero"/>
        <c:auto val="1"/>
        <c:lblAlgn val="ctr"/>
        <c:lblOffset val="100"/>
        <c:noMultiLvlLbl val="0"/>
      </c:catAx>
      <c:valAx>
        <c:axId val="4088083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807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001952"/>
        <c:axId val="471004304"/>
      </c:barChart>
      <c:catAx>
        <c:axId val="4710019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004304"/>
        <c:crosses val="autoZero"/>
        <c:auto val="1"/>
        <c:lblAlgn val="ctr"/>
        <c:lblOffset val="100"/>
        <c:noMultiLvlLbl val="0"/>
      </c:catAx>
      <c:valAx>
        <c:axId val="4710043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0019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005088"/>
        <c:axId val="471000776"/>
      </c:barChart>
      <c:catAx>
        <c:axId val="4710050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000776"/>
        <c:crosses val="autoZero"/>
        <c:auto val="1"/>
        <c:lblAlgn val="ctr"/>
        <c:lblOffset val="100"/>
        <c:noMultiLvlLbl val="0"/>
      </c:catAx>
      <c:valAx>
        <c:axId val="471000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0050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998816"/>
        <c:axId val="471005480"/>
      </c:barChart>
      <c:catAx>
        <c:axId val="4709988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005480"/>
        <c:crosses val="autoZero"/>
        <c:auto val="1"/>
        <c:lblAlgn val="ctr"/>
        <c:lblOffset val="100"/>
        <c:noMultiLvlLbl val="0"/>
      </c:catAx>
      <c:valAx>
        <c:axId val="471005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9988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999600"/>
        <c:axId val="468796928"/>
      </c:barChart>
      <c:catAx>
        <c:axId val="470999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96928"/>
        <c:crosses val="autoZero"/>
        <c:auto val="1"/>
        <c:lblAlgn val="ctr"/>
        <c:lblOffset val="100"/>
        <c:noMultiLvlLbl val="0"/>
      </c:catAx>
      <c:valAx>
        <c:axId val="4687969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999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411760"/>
        <c:axId val="468413328"/>
      </c:barChart>
      <c:catAx>
        <c:axId val="4684117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413328"/>
        <c:crosses val="autoZero"/>
        <c:auto val="1"/>
        <c:lblAlgn val="ctr"/>
        <c:lblOffset val="100"/>
        <c:noMultiLvlLbl val="0"/>
      </c:catAx>
      <c:valAx>
        <c:axId val="4684133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4117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410976"/>
        <c:axId val="468413720"/>
      </c:barChart>
      <c:catAx>
        <c:axId val="4684109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413720"/>
        <c:crosses val="autoZero"/>
        <c:auto val="1"/>
        <c:lblAlgn val="ctr"/>
        <c:lblOffset val="100"/>
        <c:noMultiLvlLbl val="0"/>
      </c:catAx>
      <c:valAx>
        <c:axId val="4684137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4109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414112"/>
        <c:axId val="468412152"/>
      </c:barChart>
      <c:catAx>
        <c:axId val="468414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412152"/>
        <c:crosses val="autoZero"/>
        <c:auto val="1"/>
        <c:lblAlgn val="ctr"/>
        <c:lblOffset val="100"/>
        <c:noMultiLvlLbl val="0"/>
      </c:catAx>
      <c:valAx>
        <c:axId val="468412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414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Engine</a:t>
          </a:r>
          <a:endParaRPr lang="ru-RU" sz="3200" b="0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Converter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JSON </a:t>
          </a:r>
          <a:endParaRPr lang="ru-RU" sz="1800" b="0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0656261">
          <a:off x="1619206" y="3146788"/>
          <a:ext cx="241874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874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39" y="2421119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Dispatcher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Operations</a:t>
          </a:r>
          <a:endParaRPr lang="ru-RU" sz="1800" b="0" kern="1200" dirty="0"/>
        </a:p>
      </dsp:txBody>
      <dsp:txXfrm>
        <a:off x="79132" y="2500212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Documents </a:t>
          </a:r>
          <a:endParaRPr lang="ru-RU" sz="1800" b="0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13225">
          <a:off x="5959720" y="1932806"/>
          <a:ext cx="39597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597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3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0" kern="1200" dirty="0" smtClean="0"/>
            <a:t>Requests </a:t>
          </a:r>
          <a:endParaRPr lang="ru-RU" sz="1800" b="0" kern="1200" dirty="0"/>
        </a:p>
      </dsp:txBody>
      <dsp:txXfrm>
        <a:off x="6386124" y="87881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InvertedIndex </a:t>
          </a:r>
          <a:endParaRPr lang="ru-RU" sz="1800" b="0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37998">
          <a:off x="5873892" y="1953838"/>
          <a:ext cx="250037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0037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86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Relevant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Response </a:t>
          </a:r>
          <a:endParaRPr lang="ru-RU" sz="1800" b="0" kern="1200" dirty="0"/>
        </a:p>
      </dsp:txBody>
      <dsp:txXfrm>
        <a:off x="8318867" y="87881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15.02.2026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15.02.2026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8.png"/><Relationship Id="rId4" Type="http://schemas.openxmlformats.org/officeDocument/2006/relationships/image" Target="../media/image9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00.png"/><Relationship Id="rId18" Type="http://schemas.openxmlformats.org/officeDocument/2006/relationships/image" Target="../media/image35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9.png"/><Relationship Id="rId17" Type="http://schemas.openxmlformats.org/officeDocument/2006/relationships/image" Target="../media/image53.png"/><Relationship Id="rId2" Type="http://schemas.openxmlformats.org/officeDocument/2006/relationships/image" Target="../media/image45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51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2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1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7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33.png"/><Relationship Id="rId5" Type="http://schemas.openxmlformats.org/officeDocument/2006/relationships/image" Target="../media/image113.png"/><Relationship Id="rId10" Type="http://schemas.openxmlformats.org/officeDocument/2006/relationships/image" Target="../media/image132.png"/><Relationship Id="rId4" Type="http://schemas.openxmlformats.org/officeDocument/2006/relationships/image" Target="../media/image128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</a:t>
            </a:r>
            <a:r>
              <a:rPr lang="ru-RU" dirty="0" smtClean="0"/>
              <a:t>путей </a:t>
            </a:r>
            <a:r>
              <a:rPr lang="ru-RU" dirty="0" smtClean="0"/>
              <a:t>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пути </a:t>
            </a:r>
            <a:r>
              <a:rPr lang="ru-RU" dirty="0" smtClean="0"/>
              <a:t>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окументов</a:t>
            </a:r>
            <a:r>
              <a:rPr lang="en-US" sz="1200" dirty="0" smtClean="0"/>
              <a:t> </a:t>
            </a:r>
            <a:r>
              <a:rPr lang="ru-RU" sz="1200" dirty="0" smtClean="0"/>
              <a:t>или пути файлов 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 smtClean="0"/>
                <a:t>fileOperations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ая выноска 6"/>
          <p:cNvSpPr/>
          <p:nvPr/>
        </p:nvSpPr>
        <p:spPr>
          <a:xfrm>
            <a:off x="6246460" y="3796381"/>
            <a:ext cx="2733144" cy="1461842"/>
          </a:xfrm>
          <a:prstGeom prst="wedgeRectCallou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727311"/>
              </p:ext>
            </p:extLst>
          </p:nvPr>
        </p:nvGraphicFramePr>
        <p:xfrm>
          <a:off x="3221060" y="5598718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5228451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370300" y="3932492"/>
            <a:ext cx="1178434" cy="86177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документов: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water, milk}, </a:t>
            </a:r>
          </a:p>
          <a:p>
            <a:r>
              <a:rPr lang="en-US" sz="1000" dirty="0" smtClean="0"/>
              <a:t>{milk, tea</a:t>
            </a:r>
            <a:r>
              <a:rPr lang="en-US" sz="1000" dirty="0"/>
              <a:t>, </a:t>
            </a:r>
            <a:r>
              <a:rPr lang="en-US" sz="1000" dirty="0" smtClean="0"/>
              <a:t>coffee},</a:t>
            </a:r>
          </a:p>
          <a:p>
            <a:r>
              <a:rPr lang="en-US" sz="1000" dirty="0" smtClean="0"/>
              <a:t>{juice, water, tea}</a:t>
            </a:r>
            <a:endParaRPr lang="ru-RU" sz="1000" dirty="0"/>
          </a:p>
        </p:txBody>
      </p:sp>
      <p:sp>
        <p:nvSpPr>
          <p:cNvPr id="81" name="TextBox 80"/>
          <p:cNvSpPr txBox="1"/>
          <p:nvPr/>
        </p:nvSpPr>
        <p:spPr>
          <a:xfrm>
            <a:off x="7674794" y="3939776"/>
            <a:ext cx="1171247" cy="116955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индексов: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coffee: {1, </a:t>
            </a:r>
            <a:r>
              <a:rPr lang="ru-RU" sz="1000" dirty="0" smtClean="0"/>
              <a:t>1</a:t>
            </a:r>
            <a:r>
              <a:rPr lang="en-US" sz="1000" dirty="0" smtClean="0"/>
              <a:t>}</a:t>
            </a:r>
          </a:p>
          <a:p>
            <a:r>
              <a:rPr lang="en-US" sz="1000" dirty="0" smtClean="0"/>
              <a:t>juice: {2, 1}</a:t>
            </a:r>
          </a:p>
          <a:p>
            <a:r>
              <a:rPr lang="en-US" sz="1000" dirty="0"/>
              <a:t>m</a:t>
            </a:r>
            <a:r>
              <a:rPr lang="en-US" sz="1000" dirty="0" smtClean="0"/>
              <a:t>ilk: {0, 2}, {1, 1}</a:t>
            </a:r>
          </a:p>
          <a:p>
            <a:r>
              <a:rPr lang="en-US" sz="1000" dirty="0"/>
              <a:t>t</a:t>
            </a:r>
            <a:r>
              <a:rPr lang="en-US" sz="1000" dirty="0" smtClean="0"/>
              <a:t>ea: {1, 1}, {2, 1}</a:t>
            </a:r>
          </a:p>
          <a:p>
            <a:r>
              <a:rPr lang="en-US" sz="1000" dirty="0" smtClean="0"/>
              <a:t>water: {0, 1}, {2, 1}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ая выноска 8"/>
          <p:cNvSpPr/>
          <p:nvPr/>
        </p:nvSpPr>
        <p:spPr>
          <a:xfrm>
            <a:off x="6914505" y="1495694"/>
            <a:ext cx="4618755" cy="2506667"/>
          </a:xfrm>
          <a:prstGeom prst="wedgeRectCallout">
            <a:avLst/>
          </a:prstGeom>
          <a:solidFill>
            <a:schemeClr val="accent3">
              <a:lumMod val="20000"/>
              <a:lumOff val="80000"/>
            </a:schemeClr>
          </a:solidFill>
          <a:ln w="15875">
            <a:solidFill>
              <a:schemeClr val="bg1"/>
            </a:solidFill>
            <a:prstDash val="solid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4143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Относительная релевантность</a:t>
            </a:r>
            <a:r>
              <a:rPr lang="ru-RU" sz="1200" dirty="0" smtClean="0"/>
              <a:t>: абсолютная релевантность / </a:t>
            </a:r>
          </a:p>
          <a:p>
            <a:r>
              <a:rPr lang="ru-RU" sz="1200" dirty="0" smtClean="0"/>
              <a:t> максимальная абсолютная релевантность</a:t>
            </a:r>
            <a:endParaRPr lang="ru-RU" sz="1200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427834"/>
            <a:ext cx="53950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Абсолютная релевантность</a:t>
            </a:r>
            <a:r>
              <a:rPr lang="ru-RU" sz="1200" dirty="0" smtClean="0"/>
              <a:t>: в каждом запросе</a:t>
            </a:r>
            <a:r>
              <a:rPr lang="ru-RU" sz="1200" dirty="0"/>
              <a:t>, для </a:t>
            </a:r>
            <a:r>
              <a:rPr lang="ru-RU" sz="1200" dirty="0" smtClean="0"/>
              <a:t>каждого документа, сумма </a:t>
            </a:r>
          </a:p>
          <a:p>
            <a:r>
              <a:rPr lang="ru-RU" sz="1200" dirty="0" smtClean="0"/>
              <a:t>вхождений слов</a:t>
            </a:r>
            <a:endParaRPr lang="ru-RU" sz="1200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228712" y="5847359"/>
            <a:ext cx="56668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Максимальная абсолютная релевантность</a:t>
            </a:r>
            <a:r>
              <a:rPr lang="ru-RU" sz="1200" dirty="0" smtClean="0"/>
              <a:t>: наибольшая абсолютная релевантность</a:t>
            </a:r>
          </a:p>
          <a:p>
            <a:r>
              <a:rPr lang="ru-RU" sz="1200" dirty="0"/>
              <a:t>и</a:t>
            </a:r>
            <a:r>
              <a:rPr lang="ru-RU" sz="1200" dirty="0" smtClean="0"/>
              <a:t>з всех запросов</a:t>
            </a:r>
            <a:endParaRPr lang="ru-RU" sz="1200" dirty="0"/>
          </a:p>
        </p:txBody>
      </p:sp>
      <p:sp>
        <p:nvSpPr>
          <p:cNvPr id="86" name="TextBox 85"/>
          <p:cNvSpPr txBox="1"/>
          <p:nvPr/>
        </p:nvSpPr>
        <p:spPr>
          <a:xfrm>
            <a:off x="7017572" y="1598434"/>
            <a:ext cx="1222301" cy="86177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документов: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water, milk}, </a:t>
            </a:r>
          </a:p>
          <a:p>
            <a:r>
              <a:rPr lang="en-US" sz="1000" dirty="0" smtClean="0"/>
              <a:t>{milk, tea</a:t>
            </a:r>
            <a:r>
              <a:rPr lang="en-US" sz="1000" dirty="0"/>
              <a:t>, </a:t>
            </a:r>
            <a:r>
              <a:rPr lang="en-US" sz="1000" dirty="0" smtClean="0"/>
              <a:t>coffee},</a:t>
            </a:r>
          </a:p>
          <a:p>
            <a:r>
              <a:rPr lang="en-US" sz="1000" dirty="0" smtClean="0"/>
              <a:t>{juice, water, tea}</a:t>
            </a:r>
            <a:endParaRPr lang="ru-RU" sz="1000" dirty="0"/>
          </a:p>
        </p:txBody>
      </p:sp>
      <p:sp>
        <p:nvSpPr>
          <p:cNvPr id="87" name="TextBox 86"/>
          <p:cNvSpPr txBox="1"/>
          <p:nvPr/>
        </p:nvSpPr>
        <p:spPr>
          <a:xfrm>
            <a:off x="8722760" y="1595444"/>
            <a:ext cx="1191800" cy="116955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индексов: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coffee: {1, </a:t>
            </a:r>
            <a:r>
              <a:rPr lang="ru-RU" sz="1000" dirty="0" smtClean="0"/>
              <a:t>1</a:t>
            </a:r>
            <a:r>
              <a:rPr lang="en-US" sz="1000" dirty="0" smtClean="0"/>
              <a:t>}</a:t>
            </a:r>
          </a:p>
          <a:p>
            <a:r>
              <a:rPr lang="en-US" sz="1000" dirty="0" smtClean="0"/>
              <a:t>juice: {2, 1}</a:t>
            </a:r>
          </a:p>
          <a:p>
            <a:r>
              <a:rPr lang="en-US" sz="1000" dirty="0"/>
              <a:t>m</a:t>
            </a:r>
            <a:r>
              <a:rPr lang="en-US" sz="1000" dirty="0" smtClean="0"/>
              <a:t>ilk: {0, 2}, {1, 1}</a:t>
            </a:r>
          </a:p>
          <a:p>
            <a:r>
              <a:rPr lang="en-US" sz="1000" dirty="0"/>
              <a:t>t</a:t>
            </a:r>
            <a:r>
              <a:rPr lang="en-US" sz="1000" dirty="0" smtClean="0"/>
              <a:t>ea: {1, 1}, {2, 1}</a:t>
            </a:r>
          </a:p>
          <a:p>
            <a:r>
              <a:rPr lang="en-US" sz="1000" dirty="0" smtClean="0"/>
              <a:t>water: {0, 1}, {2, 1}</a:t>
            </a:r>
            <a:endParaRPr lang="ru-RU" sz="1000" dirty="0"/>
          </a:p>
        </p:txBody>
      </p:sp>
      <p:sp>
        <p:nvSpPr>
          <p:cNvPr id="88" name="TextBox 87"/>
          <p:cNvSpPr txBox="1"/>
          <p:nvPr/>
        </p:nvSpPr>
        <p:spPr>
          <a:xfrm>
            <a:off x="10403418" y="1597162"/>
            <a:ext cx="1021440" cy="70788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запросов: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water}, </a:t>
            </a:r>
          </a:p>
          <a:p>
            <a:r>
              <a:rPr lang="en-US" sz="1000" dirty="0" smtClean="0"/>
              <a:t>{juice, tea}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464876" y="2881771"/>
            <a:ext cx="1959988" cy="70788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релевантности: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/>
              <a:t>0 request</a:t>
            </a:r>
            <a:r>
              <a:rPr lang="en-US" sz="1000" dirty="0" smtClean="0"/>
              <a:t>: {0, 1}, {1,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}, {2,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 </a:t>
            </a:r>
          </a:p>
          <a:p>
            <a:r>
              <a:rPr lang="en-US" sz="1000" dirty="0"/>
              <a:t>1 request</a:t>
            </a:r>
            <a:r>
              <a:rPr lang="en-US" sz="1000" dirty="0" smtClean="0"/>
              <a:t>: {1,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}, {2, 2/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17575" y="2884053"/>
            <a:ext cx="2340901" cy="101566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u="sng" dirty="0" smtClean="0"/>
              <a:t>Суммирование индексов слов запроса:</a:t>
            </a:r>
            <a:endParaRPr lang="en-US" sz="1000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0 request: {{</a:t>
            </a:r>
            <a:r>
              <a:rPr lang="en-US" sz="1000" dirty="0"/>
              <a:t>0, 2}, {1, 1</a:t>
            </a:r>
            <a:r>
              <a:rPr lang="en-US" sz="1000" dirty="0" smtClean="0"/>
              <a:t>}} + {</a:t>
            </a:r>
            <a:r>
              <a:rPr lang="en-US" sz="1000" dirty="0"/>
              <a:t>{0, 1}, {2, 1</a:t>
            </a:r>
            <a:r>
              <a:rPr lang="en-US" sz="1000" dirty="0" smtClean="0"/>
              <a:t>}} = </a:t>
            </a:r>
          </a:p>
          <a:p>
            <a:r>
              <a:rPr lang="en-US" sz="1000" dirty="0" smtClean="0"/>
              <a:t>                   </a:t>
            </a:r>
            <a:r>
              <a:rPr lang="en-US" sz="1000" dirty="0" smtClean="0">
                <a:solidFill>
                  <a:srgbClr val="00B050"/>
                </a:solidFill>
              </a:rPr>
              <a:t>{{0, 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>
                <a:solidFill>
                  <a:srgbClr val="00B050"/>
                </a:solidFill>
              </a:rPr>
              <a:t>}, {1, 1}, {2, 1}}</a:t>
            </a:r>
            <a:r>
              <a:rPr lang="en-US" sz="1000" dirty="0" smtClean="0"/>
              <a:t> </a:t>
            </a:r>
            <a:endParaRPr lang="en-US" sz="1000" dirty="0"/>
          </a:p>
          <a:p>
            <a:r>
              <a:rPr lang="en-US" sz="1000" dirty="0" smtClean="0"/>
              <a:t>1 request</a:t>
            </a:r>
            <a:r>
              <a:rPr lang="en-US" sz="1000" dirty="0"/>
              <a:t>: {{2, 1</a:t>
            </a:r>
            <a:r>
              <a:rPr lang="en-US" sz="1000" dirty="0" smtClean="0"/>
              <a:t>}} </a:t>
            </a:r>
            <a:r>
              <a:rPr lang="en-US" sz="1000" dirty="0"/>
              <a:t>+ </a:t>
            </a:r>
            <a:r>
              <a:rPr lang="en-US" sz="1000" dirty="0" smtClean="0"/>
              <a:t>{{</a:t>
            </a:r>
            <a:r>
              <a:rPr lang="en-US" sz="1000" dirty="0"/>
              <a:t>1, 1}, {2, 1</a:t>
            </a:r>
            <a:r>
              <a:rPr lang="en-US" sz="1000" dirty="0" smtClean="0"/>
              <a:t>}} = </a:t>
            </a:r>
          </a:p>
          <a:p>
            <a:r>
              <a:rPr lang="en-US" sz="1000" dirty="0" smtClean="0"/>
              <a:t>                   </a:t>
            </a:r>
            <a:r>
              <a:rPr lang="en-US" sz="1000" dirty="0" smtClean="0">
                <a:solidFill>
                  <a:srgbClr val="00B050"/>
                </a:solidFill>
              </a:rPr>
              <a:t>{{1, 1}, {2, 2}} </a:t>
            </a:r>
            <a:endParaRPr lang="ru-RU" sz="1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1032560"/>
            <a:chOff x="25306" y="4006835"/>
            <a:chExt cx="1924271" cy="103256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847009"/>
              <a:chOff x="205921" y="3650153"/>
              <a:chExt cx="1872546" cy="847009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43164"/>
                <a:ext cx="164484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 для каждой записи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 flipV="1">
            <a:off x="890782" y="2271575"/>
            <a:ext cx="8220324" cy="5388"/>
          </a:xfrm>
          <a:prstGeom prst="bentConnector4">
            <a:avLst>
              <a:gd name="adj1" fmla="val -2781"/>
              <a:gd name="adj2" fmla="val 1426503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1005722"/>
          </a:xfrm>
          <a:prstGeom prst="bentConnector4">
            <a:avLst>
              <a:gd name="adj1" fmla="val -8045"/>
              <a:gd name="adj2" fmla="val 934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783343" y="1777171"/>
            <a:ext cx="1908000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7" y="1654446"/>
              <a:ext cx="1747246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740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“ID request”</a:t>
              </a:r>
              <a:endParaRPr lang="ru-RU" sz="1000" dirty="0" smtClean="0"/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762987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736963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276963"/>
            <a:ext cx="930099" cy="351557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accent2"/>
                </a:solidFill>
              </a:rPr>
              <a:t>count</a:t>
            </a:r>
            <a:endParaRPr lang="ru-RU" sz="1200" b="1" dirty="0">
              <a:solidFill>
                <a:schemeClr val="accent2"/>
              </a:solidFill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accent2"/>
                </a:solidFill>
              </a:rPr>
              <a:t>count</a:t>
            </a:r>
            <a:endParaRPr lang="ru-RU" sz="1200" b="1" dirty="0">
              <a:solidFill>
                <a:schemeClr val="accent2"/>
              </a:solidFill>
            </a:endParaRPr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“ID request”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243951" y="4526508"/>
            <a:ext cx="444269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241326" y="3396598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20126" y="148364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0623" y="1505466"/>
            <a:ext cx="8162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тветов нет</a:t>
            </a:r>
            <a:endParaRPr lang="ru-RU" sz="1000" dirty="0"/>
          </a:p>
        </p:txBody>
      </p:sp>
      <p:sp>
        <p:nvSpPr>
          <p:cNvPr id="104" name="TextBox 103"/>
          <p:cNvSpPr txBox="1"/>
          <p:nvPr/>
        </p:nvSpPr>
        <p:spPr>
          <a:xfrm>
            <a:off x="6941335" y="2760279"/>
            <a:ext cx="8194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тветы есть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2795198" y="3527980"/>
            <a:ext cx="7825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одинаковый общий </a:t>
            </a:r>
            <a:r>
              <a:rPr lang="ru-RU" sz="2400" dirty="0"/>
              <a:t>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  <p:sp>
        <p:nvSpPr>
          <p:cNvPr id="154" name="TextBox 153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документов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24830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 smtClean="0"/>
              <a:t>одинаковый общий </a:t>
            </a:r>
            <a:r>
              <a:rPr lang="ru-RU" sz="2400" dirty="0"/>
              <a:t>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486733" y="1586947"/>
            <a:ext cx="3534347" cy="246221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875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/>
              <a:t> </a:t>
            </a:r>
            <a:r>
              <a:rPr lang="ru-RU" sz="1400" dirty="0" smtClean="0"/>
              <a:t>   </a:t>
            </a:r>
            <a:r>
              <a:rPr lang="ru-RU" sz="1400" dirty="0" smtClean="0"/>
              <a:t>Необходимо </a:t>
            </a:r>
            <a:r>
              <a:rPr lang="ru-RU" sz="1400" dirty="0" smtClean="0"/>
              <a:t>добавить контейнер соответствия </a:t>
            </a:r>
            <a:r>
              <a:rPr lang="ru-RU" sz="1400" dirty="0" smtClean="0"/>
              <a:t>вызывающих функций </a:t>
            </a:r>
            <a:r>
              <a:rPr lang="ru-RU" sz="1400" dirty="0" smtClean="0"/>
              <a:t>уровню логирования.</a:t>
            </a:r>
          </a:p>
          <a:p>
            <a:endParaRPr lang="ru-RU" sz="1400" dirty="0"/>
          </a:p>
          <a:p>
            <a:r>
              <a:rPr lang="ru-RU" sz="1400" dirty="0">
                <a:solidFill>
                  <a:srgbClr val="00B050"/>
                </a:solidFill>
              </a:rPr>
              <a:t>П</a:t>
            </a:r>
            <a:r>
              <a:rPr lang="ru-RU" sz="1400" dirty="0" smtClean="0">
                <a:solidFill>
                  <a:srgbClr val="00B050"/>
                </a:solidFill>
              </a:rPr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используется </a:t>
            </a:r>
            <a:r>
              <a:rPr lang="ru-RU" sz="1400" dirty="0"/>
              <a:t>меньше </a:t>
            </a:r>
            <a:r>
              <a:rPr lang="ru-RU" sz="1400" dirty="0" smtClean="0"/>
              <a:t>аргументов;</a:t>
            </a:r>
            <a:endParaRPr lang="ru-RU" sz="1400" dirty="0" smtClean="0"/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>
                <a:solidFill>
                  <a:srgbClr val="C00000"/>
                </a:solidFill>
              </a:rPr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902257" y="64578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035940"/>
              </p:ext>
            </p:extLst>
          </p:nvPr>
        </p:nvGraphicFramePr>
        <p:xfrm>
          <a:off x="9309688" y="3853110"/>
          <a:ext cx="24935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31%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923990" y="3430258"/>
            <a:ext cx="1614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</a:t>
            </a:r>
            <a:r>
              <a:rPr lang="en-US" sz="1400" dirty="0" smtClean="0"/>
              <a:t>earch_engine_test</a:t>
            </a:r>
            <a:endParaRPr lang="ru-RU" sz="1400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743940"/>
              </p:ext>
            </p:extLst>
          </p:nvPr>
        </p:nvGraphicFramePr>
        <p:xfrm>
          <a:off x="343656" y="3860800"/>
          <a:ext cx="2493579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100%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70%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80%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89%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46%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3319" y="3439319"/>
            <a:ext cx="1923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av_fileOperations_test</a:t>
            </a:r>
            <a:endParaRPr lang="ru-RU" sz="1400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199977"/>
              </p:ext>
            </p:extLst>
          </p:nvPr>
        </p:nvGraphicFramePr>
        <p:xfrm>
          <a:off x="6304909" y="385311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76%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44%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57%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54%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53396" y="3430258"/>
            <a:ext cx="1690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logger_monitor_test</a:t>
            </a:r>
            <a:endParaRPr lang="ru-RU" sz="1400" dirty="0"/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637982"/>
              </p:ext>
            </p:extLst>
          </p:nvPr>
        </p:nvGraphicFramePr>
        <p:xfrm>
          <a:off x="3305705" y="386080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83%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85%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91%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49%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902923" y="3437948"/>
            <a:ext cx="1345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av_logger_test</a:t>
            </a:r>
            <a:endParaRPr lang="ru-RU" sz="14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47" y="3243985"/>
            <a:ext cx="476195" cy="67351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510" y="3227787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34" y="3228814"/>
            <a:ext cx="509065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995" y="3223133"/>
            <a:ext cx="509065" cy="7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0" y="913172"/>
            <a:ext cx="1218173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dirty="0" smtClean="0"/>
              <a:t>Результаты тестов по двум библиотекам (</a:t>
            </a:r>
            <a:r>
              <a:rPr lang="en-US" sz="2400" dirty="0" smtClean="0"/>
              <a:t>kav_fileOperations, kav_logger</a:t>
            </a:r>
            <a:r>
              <a:rPr lang="ru-RU" sz="2400" dirty="0" smtClean="0"/>
              <a:t>), </a:t>
            </a:r>
            <a:r>
              <a:rPr lang="en-US" sz="2400" dirty="0" smtClean="0"/>
              <a:t>logger_monitor</a:t>
            </a:r>
            <a:r>
              <a:rPr lang="ru-RU" sz="2400" dirty="0" smtClean="0"/>
              <a:t> и </a:t>
            </a:r>
          </a:p>
          <a:p>
            <a:pPr algn="ctr"/>
            <a:r>
              <a:rPr lang="ru-RU" sz="2400" dirty="0"/>
              <a:t>о</a:t>
            </a:r>
            <a:r>
              <a:rPr lang="ru-RU" sz="2400" dirty="0" smtClean="0"/>
              <a:t>сновной программы </a:t>
            </a:r>
            <a:r>
              <a:rPr lang="en-US" sz="2400" dirty="0" smtClean="0"/>
              <a:t>search_engine</a:t>
            </a:r>
            <a:endParaRPr lang="ru-RU" sz="2400" dirty="0"/>
          </a:p>
        </p:txBody>
      </p:sp>
      <p:sp>
        <p:nvSpPr>
          <p:cNvPr id="22" name="TextBox 21"/>
          <p:cNvSpPr txBox="1"/>
          <p:nvPr/>
        </p:nvSpPr>
        <p:spPr>
          <a:xfrm>
            <a:off x="637001" y="2065112"/>
            <a:ext cx="11389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	Протестирована обязательная проверка на недоступность файлов конфигурации и файлов документов, </a:t>
            </a:r>
          </a:p>
          <a:p>
            <a:r>
              <a:rPr lang="ru-RU" dirty="0"/>
              <a:t>з</a:t>
            </a:r>
            <a:r>
              <a:rPr lang="ru-RU" dirty="0" smtClean="0"/>
              <a:t>аявленная функциональность, а также наиболее сложные функции библиотек и основной программы.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324000" y="2709864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4003417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9" name="Рисунок 3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9967" y="4258721"/>
            <a:ext cx="2885468" cy="1620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416197" y="5875463"/>
            <a:ext cx="2001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logger_monitor.exe</a:t>
            </a:r>
            <a:endParaRPr lang="ru-RU" dirty="0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295" y="4278798"/>
            <a:ext cx="2810885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22587</TotalTime>
  <Words>2769</Words>
  <Application>Microsoft Office PowerPoint</Application>
  <PresentationFormat>Широкоэкранный</PresentationFormat>
  <Paragraphs>824</Paragraphs>
  <Slides>29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34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805</cp:revision>
  <dcterms:created xsi:type="dcterms:W3CDTF">2025-10-14T05:54:15Z</dcterms:created>
  <dcterms:modified xsi:type="dcterms:W3CDTF">2026-02-15T16:08:39Z</dcterms:modified>
</cp:coreProperties>
</file>
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4"/>
  </p:notesMasterIdLst>
  <p:sldIdLst>
    <p:sldId id="256" r:id="rId2"/>
    <p:sldId id="274" r:id="rId3"/>
    <p:sldId id="275" r:id="rId4"/>
    <p:sldId id="273" r:id="rId5"/>
    <p:sldId id="257" r:id="rId6"/>
    <p:sldId id="258" r:id="rId7"/>
    <p:sldId id="276" r:id="rId8"/>
    <p:sldId id="277" r:id="rId9"/>
    <p:sldId id="278" r:id="rId10"/>
    <p:sldId id="260" r:id="rId11"/>
    <p:sldId id="263" r:id="rId12"/>
    <p:sldId id="282" r:id="rId13"/>
    <p:sldId id="264" r:id="rId14"/>
    <p:sldId id="266" r:id="rId15"/>
    <p:sldId id="268" r:id="rId16"/>
    <p:sldId id="279" r:id="rId17"/>
    <p:sldId id="280" r:id="rId18"/>
    <p:sldId id="281" r:id="rId19"/>
    <p:sldId id="259" r:id="rId20"/>
    <p:sldId id="269" r:id="rId21"/>
    <p:sldId id="271" r:id="rId22"/>
    <p:sldId id="2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400" autoAdjust="0"/>
  </p:normalViewPr>
  <p:slideViewPr>
    <p:cSldViewPr snapToGrid="0">
      <p:cViewPr>
        <p:scale>
          <a:sx n="100" d="100"/>
          <a:sy n="100" d="100"/>
        </p:scale>
        <p:origin x="-156" y="19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26618320"/>
        <c:axId val="226611656"/>
      </c:barChart>
      <c:catAx>
        <c:axId val="2266183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26611656"/>
        <c:crosses val="autoZero"/>
        <c:auto val="1"/>
        <c:lblAlgn val="ctr"/>
        <c:lblOffset val="100"/>
        <c:noMultiLvlLbl val="0"/>
      </c:catAx>
      <c:valAx>
        <c:axId val="2266116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266183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26612440"/>
        <c:axId val="226614400"/>
      </c:barChart>
      <c:catAx>
        <c:axId val="226612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26614400"/>
        <c:crosses val="autoZero"/>
        <c:auto val="1"/>
        <c:lblAlgn val="ctr"/>
        <c:lblOffset val="100"/>
        <c:noMultiLvlLbl val="0"/>
      </c:catAx>
      <c:valAx>
        <c:axId val="2266144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2266124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в другом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8E21F9-F946-457A-B5D6-7107E4B5B54D}">
      <dsp:nvSpPr>
        <dsp:cNvPr id="0" name=""/>
        <dsp:cNvSpPr/>
      </dsp:nvSpPr>
      <dsp:spPr>
        <a:xfrm>
          <a:off x="4036874" y="2064394"/>
          <a:ext cx="1980003" cy="198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1280" tIns="81280" rIns="81280" bIns="81280" numCol="1" spcCol="1270" anchor="t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3200" b="1" kern="1200" dirty="0" smtClean="0"/>
            <a:t>SearchEngine</a:t>
          </a:r>
          <a:endParaRPr lang="ru-RU" sz="3200" b="1" kern="1200" dirty="0"/>
        </a:p>
      </dsp:txBody>
      <dsp:txXfrm>
        <a:off x="4133530" y="2161050"/>
        <a:ext cx="1786691" cy="1786691"/>
      </dsp:txXfrm>
    </dsp:sp>
    <dsp:sp modelId="{667DE06D-C223-4C57-8F2C-DDC107791A47}">
      <dsp:nvSpPr>
        <dsp:cNvPr id="0" name=""/>
        <dsp:cNvSpPr/>
      </dsp:nvSpPr>
      <dsp:spPr>
        <a:xfrm rot="12462445">
          <a:off x="1655143" y="1947092"/>
          <a:ext cx="2526589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526589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headEnd type="none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9DD78D-084E-44BB-95B2-65781CA7A531}">
      <dsp:nvSpPr>
        <dsp:cNvPr id="0" name=""/>
        <dsp:cNvSpPr/>
      </dsp:nvSpPr>
      <dsp:spPr>
        <a:xfrm>
          <a:off x="0" y="-1294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ConverterJSON </a:t>
          </a:r>
          <a:endParaRPr lang="ru-RU" sz="2000" b="1" kern="1200" dirty="0"/>
        </a:p>
      </dsp:txBody>
      <dsp:txXfrm>
        <a:off x="87869" y="74925"/>
        <a:ext cx="1624262" cy="1624262"/>
      </dsp:txXfrm>
    </dsp:sp>
    <dsp:sp modelId="{65390B38-AF76-4E62-872B-309581DF08C7}">
      <dsp:nvSpPr>
        <dsp:cNvPr id="0" name=""/>
        <dsp:cNvSpPr/>
      </dsp:nvSpPr>
      <dsp:spPr>
        <a:xfrm rot="146502">
          <a:off x="6015778" y="3148233"/>
          <a:ext cx="2423396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23396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EC1B40-97B8-4A97-A728-C57093596661}">
      <dsp:nvSpPr>
        <dsp:cNvPr id="0" name=""/>
        <dsp:cNvSpPr/>
      </dsp:nvSpPr>
      <dsp:spPr>
        <a:xfrm>
          <a:off x="8438075" y="2424393"/>
          <a:ext cx="1620003" cy="1620003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DispatcherOperations</a:t>
          </a:r>
          <a:endParaRPr lang="ru-RU" sz="2000" b="1" kern="1200" dirty="0"/>
        </a:p>
      </dsp:txBody>
      <dsp:txXfrm>
        <a:off x="8517157" y="2503475"/>
        <a:ext cx="1461839" cy="1461839"/>
      </dsp:txXfrm>
    </dsp:sp>
    <dsp:sp modelId="{8F086A69-6FE7-48AB-8D4E-831F6AAADB3F}">
      <dsp:nvSpPr>
        <dsp:cNvPr id="0" name=""/>
        <dsp:cNvSpPr/>
      </dsp:nvSpPr>
      <dsp:spPr>
        <a:xfrm rot="13495766">
          <a:off x="3723755" y="1937357"/>
          <a:ext cx="36665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6665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5C3917E-2284-4E85-847C-82C5C871E472}">
      <dsp:nvSpPr>
        <dsp:cNvPr id="0" name=""/>
        <dsp:cNvSpPr/>
      </dsp:nvSpPr>
      <dsp:spPr>
        <a:xfrm>
          <a:off x="1977290" y="10098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Documents </a:t>
          </a:r>
          <a:endParaRPr lang="ru-RU" sz="2000" b="1" kern="1200" dirty="0"/>
        </a:p>
      </dsp:txBody>
      <dsp:txXfrm>
        <a:off x="2065159" y="97967"/>
        <a:ext cx="1624262" cy="1624262"/>
      </dsp:txXfrm>
    </dsp:sp>
    <dsp:sp modelId="{1503B29C-C796-4217-A6E0-D8D0E4C12287}">
      <dsp:nvSpPr>
        <dsp:cNvPr id="0" name=""/>
        <dsp:cNvSpPr/>
      </dsp:nvSpPr>
      <dsp:spPr>
        <a:xfrm rot="18928235">
          <a:off x="5960287" y="1942298"/>
          <a:ext cx="394213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94213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784C24-975E-4373-9AB0-0D36214A64F1}">
      <dsp:nvSpPr>
        <dsp:cNvPr id="0" name=""/>
        <dsp:cNvSpPr/>
      </dsp:nvSpPr>
      <dsp:spPr>
        <a:xfrm>
          <a:off x="6297910" y="18734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2000" b="1" kern="1200" dirty="0" smtClean="0"/>
            <a:t>Requests </a:t>
          </a:r>
          <a:endParaRPr lang="ru-RU" sz="2000" b="1" kern="1200" dirty="0"/>
        </a:p>
      </dsp:txBody>
      <dsp:txXfrm>
        <a:off x="6385779" y="106603"/>
        <a:ext cx="1624262" cy="1624262"/>
      </dsp:txXfrm>
    </dsp:sp>
    <dsp:sp modelId="{B23D5C2B-B6D2-4298-9DAF-A69442F1C2D7}">
      <dsp:nvSpPr>
        <dsp:cNvPr id="0" name=""/>
        <dsp:cNvSpPr/>
      </dsp:nvSpPr>
      <dsp:spPr>
        <a:xfrm rot="16184308">
          <a:off x="4889557" y="1932199"/>
          <a:ext cx="264392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4392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35D6D0E-E44D-465D-9B55-5006A2372644}">
      <dsp:nvSpPr>
        <dsp:cNvPr id="0" name=""/>
        <dsp:cNvSpPr/>
      </dsp:nvSpPr>
      <dsp:spPr>
        <a:xfrm>
          <a:off x="4117042" y="3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InvertedIndex </a:t>
          </a:r>
          <a:endParaRPr lang="ru-RU" sz="2000" b="1" kern="1200" dirty="0"/>
        </a:p>
      </dsp:txBody>
      <dsp:txXfrm>
        <a:off x="4204911" y="87872"/>
        <a:ext cx="1624262" cy="1624262"/>
      </dsp:txXfrm>
    </dsp:sp>
    <dsp:sp modelId="{645660FC-29F0-4ECD-9736-2F09D9960928}">
      <dsp:nvSpPr>
        <dsp:cNvPr id="0" name=""/>
        <dsp:cNvSpPr/>
      </dsp:nvSpPr>
      <dsp:spPr>
        <a:xfrm rot="19953010">
          <a:off x="5876466" y="1965227"/>
          <a:ext cx="2494325" cy="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494325" y="0"/>
              </a:lnTo>
            </a:path>
          </a:pathLst>
        </a:custGeom>
        <a:noFill/>
        <a:ln w="15875" cap="flat" cmpd="sng" algn="ctr">
          <a:solidFill>
            <a:scrgbClr r="0" g="0" b="0"/>
          </a:solidFill>
          <a:prstDash val="solid"/>
          <a:tailEnd type="triangle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F6A00EF-2BA3-4AAD-B69B-A8E8767F6738}">
      <dsp:nvSpPr>
        <dsp:cNvPr id="0" name=""/>
        <dsp:cNvSpPr/>
      </dsp:nvSpPr>
      <dsp:spPr>
        <a:xfrm>
          <a:off x="8230380" y="22810"/>
          <a:ext cx="1800000" cy="1800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0800" tIns="50800" rIns="50800" bIns="50800" numCol="1" spcCol="1270" anchor="t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b="1" kern="1200" dirty="0" smtClean="0"/>
            <a:t>RelevantResponse </a:t>
          </a:r>
          <a:endParaRPr lang="ru-RU" sz="2000" b="1" kern="1200" dirty="0"/>
        </a:p>
      </dsp:txBody>
      <dsp:txXfrm>
        <a:off x="8318249" y="110679"/>
        <a:ext cx="1624262" cy="162426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0362D1-A377-43A9-BD1F-AD314ADD2D68}">
      <dsp:nvSpPr>
        <dsp:cNvPr id="0" name=""/>
        <dsp:cNvSpPr/>
      </dsp:nvSpPr>
      <dsp:spPr>
        <a:xfrm>
          <a:off x="452726" y="0"/>
          <a:ext cx="5130899" cy="4143676"/>
        </a:xfrm>
        <a:prstGeom prst="rightArrow">
          <a:avLst/>
        </a:prstGeom>
        <a:solidFill>
          <a:srgbClr val="DFE8E8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15E6E4-35BF-4314-8C3D-ED211E2F9958}">
      <dsp:nvSpPr>
        <dsp:cNvPr id="0" name=""/>
        <dsp:cNvSpPr/>
      </dsp:nvSpPr>
      <dsp:spPr>
        <a:xfrm>
          <a:off x="200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Converter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JSON</a:t>
          </a:r>
          <a:endParaRPr lang="ru-RU" sz="1500" kern="1200" dirty="0"/>
        </a:p>
      </dsp:txBody>
      <dsp:txXfrm>
        <a:off x="57589" y="1298688"/>
        <a:ext cx="1027506" cy="1546298"/>
      </dsp:txXfrm>
    </dsp:sp>
    <dsp:sp modelId="{F054BA0B-B3F7-4B6B-BD2F-4AE8F4442468}">
      <dsp:nvSpPr>
        <dsp:cNvPr id="0" name=""/>
        <dsp:cNvSpPr/>
      </dsp:nvSpPr>
      <dsp:spPr>
        <a:xfrm>
          <a:off x="122542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Documents</a:t>
          </a:r>
          <a:endParaRPr lang="ru-RU" sz="1500" kern="1200" dirty="0"/>
        </a:p>
      </dsp:txBody>
      <dsp:txXfrm>
        <a:off x="1281006" y="1298688"/>
        <a:ext cx="1027506" cy="1546298"/>
      </dsp:txXfrm>
    </dsp:sp>
    <dsp:sp modelId="{DC4AEBBC-A52D-40F6-9146-7F10088A6B32}">
      <dsp:nvSpPr>
        <dsp:cNvPr id="0" name=""/>
        <dsp:cNvSpPr/>
      </dsp:nvSpPr>
      <dsp:spPr>
        <a:xfrm>
          <a:off x="2448836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Inverted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Index</a:t>
          </a:r>
          <a:endParaRPr lang="ru-RU" sz="1500" kern="1200" dirty="0"/>
        </a:p>
      </dsp:txBody>
      <dsp:txXfrm>
        <a:off x="2504422" y="1298688"/>
        <a:ext cx="1027506" cy="1546298"/>
      </dsp:txXfrm>
    </dsp:sp>
    <dsp:sp modelId="{014D856F-0A4A-4760-9506-E63C9F5DE09D}">
      <dsp:nvSpPr>
        <dsp:cNvPr id="0" name=""/>
        <dsp:cNvSpPr/>
      </dsp:nvSpPr>
      <dsp:spPr>
        <a:xfrm>
          <a:off x="3672253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Requests</a:t>
          </a:r>
          <a:endParaRPr lang="ru-RU" sz="1500" kern="1200" dirty="0"/>
        </a:p>
      </dsp:txBody>
      <dsp:txXfrm>
        <a:off x="3727839" y="1298688"/>
        <a:ext cx="1027506" cy="1546298"/>
      </dsp:txXfrm>
    </dsp:sp>
    <dsp:sp modelId="{2EF5CFF0-CC5C-43EE-B44D-1D53039F8A29}">
      <dsp:nvSpPr>
        <dsp:cNvPr id="0" name=""/>
        <dsp:cNvSpPr/>
      </dsp:nvSpPr>
      <dsp:spPr>
        <a:xfrm>
          <a:off x="4895670" y="1243102"/>
          <a:ext cx="1138678" cy="16574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Relevant</a:t>
          </a:r>
          <a:endParaRPr lang="ru-RU" sz="1500" kern="1200" dirty="0" smtClean="0"/>
        </a:p>
        <a:p>
          <a:pPr lvl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500" kern="1200" dirty="0" smtClean="0"/>
            <a:t>Response</a:t>
          </a:r>
          <a:endParaRPr lang="ru-RU" sz="1500" kern="1200" dirty="0"/>
        </a:p>
      </dsp:txBody>
      <dsp:txXfrm>
        <a:off x="4951256" y="1298688"/>
        <a:ext cx="1027506" cy="154629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19.11.2025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19.11.2025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19.11.2025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19.11.2025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18" Type="http://schemas.openxmlformats.org/officeDocument/2006/relationships/image" Target="../media/image35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38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17" Type="http://schemas.openxmlformats.org/officeDocument/2006/relationships/image" Target="../media/image34.png"/><Relationship Id="rId2" Type="http://schemas.openxmlformats.org/officeDocument/2006/relationships/diagramData" Target="../diagrams/data1.xml"/><Relationship Id="rId16" Type="http://schemas.openxmlformats.org/officeDocument/2006/relationships/image" Target="../media/image33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28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19" Type="http://schemas.openxmlformats.org/officeDocument/2006/relationships/image" Target="../media/image36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6.png"/><Relationship Id="rId14" Type="http://schemas.openxmlformats.org/officeDocument/2006/relationships/image" Target="../media/image31.png"/><Relationship Id="rId22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40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1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4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4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50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7" Type="http://schemas.openxmlformats.org/officeDocument/2006/relationships/hyperlink" Target="https://www.boost.org/doc/libs/master/doc/html/interprocess/synchronization_mechanisms.html#interprocess.synchronization_mechanisms.message_queue" TargetMode="Externa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997195"/>
            <a:ext cx="2667401" cy="355653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2666316"/>
            <a:ext cx="2850776" cy="63838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499819"/>
            <a:ext cx="2411402" cy="596629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55742"/>
            <a:ext cx="1556273" cy="615457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4291565"/>
            <a:ext cx="2385646" cy="715694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236" y="5259363"/>
            <a:ext cx="2794541" cy="62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oundRect">
            <a:avLst>
              <a:gd name="adj" fmla="val 10000"/>
            </a:avLst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21000" b="-21000"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1570" y="2675759"/>
            <a:ext cx="1368116" cy="193500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50547" y="2637479"/>
            <a:ext cx="1338212" cy="189271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391" y="1908312"/>
            <a:ext cx="1908992" cy="2700000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606" y="1451099"/>
            <a:ext cx="1908993" cy="2700000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1983" y="1861200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7968786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err="1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организует </a:t>
            </a:r>
            <a:endParaRPr lang="ru-RU" sz="1200" dirty="0" smtClean="0"/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err="1" smtClean="0"/>
              <a:t>Логирует</a:t>
            </a:r>
            <a:r>
              <a:rPr lang="ru-RU" sz="1200" dirty="0" smtClean="0"/>
              <a:t> события в лог-файлы и в консоль</a:t>
            </a:r>
            <a:endParaRPr lang="ru-RU" sz="1200" dirty="0"/>
          </a:p>
        </p:txBody>
      </p:sp>
      <p:pic>
        <p:nvPicPr>
          <p:cNvPr id="41" name="Рисунок 4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377" y="5258771"/>
            <a:ext cx="509065" cy="720000"/>
          </a:xfrm>
          <a:prstGeom prst="rect">
            <a:avLst/>
          </a:prstGeom>
        </p:spPr>
      </p:pic>
      <p:pic>
        <p:nvPicPr>
          <p:cNvPr id="42" name="Рисунок 4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6297" y="5292017"/>
            <a:ext cx="509065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952750" y="1275075"/>
            <a:ext cx="8915400" cy="151640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19.11.2025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683392" y="518563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084648" y="3712156"/>
            <a:ext cx="19463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</a:t>
            </a:r>
            <a:r>
              <a:rPr lang="ru-RU" dirty="0" smtClean="0"/>
              <a:t>файлов: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конфигурации;</a:t>
            </a:r>
            <a:endParaRPr lang="ru-RU" dirty="0" smtClean="0"/>
          </a:p>
          <a:p>
            <a:pPr marL="285750" indent="-285750">
              <a:buFontTx/>
              <a:buChar char="-"/>
            </a:pPr>
            <a:r>
              <a:rPr lang="ru-RU" dirty="0" smtClean="0"/>
              <a:t>запросов</a:t>
            </a:r>
            <a:r>
              <a:rPr lang="ru-RU" dirty="0"/>
              <a:t>;</a:t>
            </a:r>
            <a:r>
              <a:rPr lang="en-US" dirty="0" smtClean="0"/>
              <a:t> </a:t>
            </a:r>
            <a:endParaRPr lang="ru-RU" dirty="0" smtClean="0"/>
          </a:p>
          <a:p>
            <a:pPr marL="285750" indent="-285750">
              <a:buFontTx/>
              <a:buChar char="-"/>
            </a:pPr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2" name="Стрелка вправо 11"/>
          <p:cNvSpPr/>
          <p:nvPr/>
        </p:nvSpPr>
        <p:spPr>
          <a:xfrm>
            <a:off x="1047716" y="557961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6" name="Группа 15"/>
          <p:cNvGrpSpPr/>
          <p:nvPr/>
        </p:nvGrpSpPr>
        <p:grpSpPr>
          <a:xfrm>
            <a:off x="3567678" y="1388692"/>
            <a:ext cx="1260000" cy="1260000"/>
            <a:chOff x="3899929" y="338038"/>
            <a:chExt cx="903543" cy="903543"/>
          </a:xfrm>
        </p:grpSpPr>
        <p:sp>
          <p:nvSpPr>
            <p:cNvPr id="17" name="Овал 16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8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ConverterJSON</a:t>
              </a:r>
              <a:endParaRPr lang="ru-RU" sz="1600" kern="1200" dirty="0"/>
            </a:p>
          </p:txBody>
        </p:sp>
      </p:grpSp>
      <p:grpSp>
        <p:nvGrpSpPr>
          <p:cNvPr id="21" name="Группа 20"/>
          <p:cNvGrpSpPr/>
          <p:nvPr/>
        </p:nvGrpSpPr>
        <p:grpSpPr>
          <a:xfrm>
            <a:off x="5048324" y="1376075"/>
            <a:ext cx="1260000" cy="1260000"/>
            <a:chOff x="3899929" y="338038"/>
            <a:chExt cx="903543" cy="903543"/>
          </a:xfrm>
        </p:grpSpPr>
        <p:sp>
          <p:nvSpPr>
            <p:cNvPr id="22" name="Овал 2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3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dirty="0" smtClean="0"/>
                <a:t>Documents</a:t>
              </a:r>
              <a:endParaRPr lang="ru-RU" sz="1600" kern="1200" dirty="0"/>
            </a:p>
          </p:txBody>
        </p:sp>
      </p:grpSp>
      <p:grpSp>
        <p:nvGrpSpPr>
          <p:cNvPr id="24" name="Группа 23"/>
          <p:cNvGrpSpPr/>
          <p:nvPr/>
        </p:nvGrpSpPr>
        <p:grpSpPr>
          <a:xfrm>
            <a:off x="6547529" y="1395720"/>
            <a:ext cx="1260000" cy="1260000"/>
            <a:chOff x="5151860" y="405415"/>
            <a:chExt cx="1083633" cy="1083633"/>
          </a:xfrm>
        </p:grpSpPr>
        <p:sp>
          <p:nvSpPr>
            <p:cNvPr id="25" name="Овал 24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6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Index</a:t>
              </a:r>
              <a:endParaRPr lang="ru-RU" sz="1600" kern="1200" dirty="0"/>
            </a:p>
          </p:txBody>
        </p:sp>
      </p:grp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grpSp>
        <p:nvGrpSpPr>
          <p:cNvPr id="33" name="Группа 32"/>
          <p:cNvGrpSpPr/>
          <p:nvPr/>
        </p:nvGrpSpPr>
        <p:grpSpPr>
          <a:xfrm>
            <a:off x="8067921" y="1402179"/>
            <a:ext cx="1260000" cy="1260000"/>
            <a:chOff x="5151860" y="405415"/>
            <a:chExt cx="1083633" cy="1083633"/>
          </a:xfrm>
        </p:grpSpPr>
        <p:sp>
          <p:nvSpPr>
            <p:cNvPr id="34" name="Овал 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Requests</a:t>
              </a:r>
              <a:endParaRPr lang="ru-RU" sz="1600" kern="1200" dirty="0"/>
            </a:p>
          </p:txBody>
        </p:sp>
      </p:grpSp>
      <p:grpSp>
        <p:nvGrpSpPr>
          <p:cNvPr id="36" name="Группа 35"/>
          <p:cNvGrpSpPr/>
          <p:nvPr/>
        </p:nvGrpSpPr>
        <p:grpSpPr>
          <a:xfrm>
            <a:off x="9588313" y="1379353"/>
            <a:ext cx="1260000" cy="1260000"/>
            <a:chOff x="5131820" y="462784"/>
            <a:chExt cx="1069963" cy="1069963"/>
          </a:xfrm>
        </p:grpSpPr>
        <p:sp>
          <p:nvSpPr>
            <p:cNvPr id="37" name="Овал 36"/>
            <p:cNvSpPr/>
            <p:nvPr/>
          </p:nvSpPr>
          <p:spPr>
            <a:xfrm>
              <a:off x="5131820" y="462784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8" name="Овал 4"/>
            <p:cNvSpPr/>
            <p:nvPr/>
          </p:nvSpPr>
          <p:spPr>
            <a:xfrm>
              <a:off x="5308552" y="556993"/>
              <a:ext cx="756579" cy="7565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Relevant</a:t>
              </a:r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Response</a:t>
              </a:r>
              <a:endParaRPr lang="ru-RU" sz="1600" kern="1200" dirty="0"/>
            </a:p>
          </p:txBody>
        </p:sp>
      </p:grpSp>
      <p:sp>
        <p:nvSpPr>
          <p:cNvPr id="42" name="Стрелка вправо 41"/>
          <p:cNvSpPr/>
          <p:nvPr/>
        </p:nvSpPr>
        <p:spPr>
          <a:xfrm>
            <a:off x="615655" y="502179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601" y="3276731"/>
            <a:ext cx="948137" cy="1341005"/>
          </a:xfrm>
          <a:prstGeom prst="rect">
            <a:avLst/>
          </a:prstGeom>
        </p:spPr>
      </p:pic>
      <p:sp>
        <p:nvSpPr>
          <p:cNvPr id="44" name="Стрелка вправо 43"/>
          <p:cNvSpPr/>
          <p:nvPr/>
        </p:nvSpPr>
        <p:spPr>
          <a:xfrm>
            <a:off x="609822" y="559882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585" y="3238006"/>
            <a:ext cx="1002898" cy="1418457"/>
          </a:xfrm>
          <a:prstGeom prst="rect">
            <a:avLst/>
          </a:prstGeom>
        </p:spPr>
      </p:pic>
      <p:sp>
        <p:nvSpPr>
          <p:cNvPr id="52" name="Стрелка вправо 51"/>
          <p:cNvSpPr/>
          <p:nvPr/>
        </p:nvSpPr>
        <p:spPr>
          <a:xfrm rot="5400000">
            <a:off x="1030005" y="50570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Стрелка вправо 52"/>
          <p:cNvSpPr/>
          <p:nvPr/>
        </p:nvSpPr>
        <p:spPr>
          <a:xfrm rot="16200000">
            <a:off x="10413926" y="287711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 rot="7865662">
            <a:off x="1367363" y="526965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 rot="5400000">
            <a:off x="279330" y="401201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Стрелка вправо 55"/>
          <p:cNvSpPr/>
          <p:nvPr/>
        </p:nvSpPr>
        <p:spPr>
          <a:xfrm rot="5400000">
            <a:off x="301556" y="444610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Стрелка вправо 57"/>
          <p:cNvSpPr/>
          <p:nvPr/>
        </p:nvSpPr>
        <p:spPr>
          <a:xfrm>
            <a:off x="712699" y="470100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Стрелка вправо 58"/>
          <p:cNvSpPr/>
          <p:nvPr/>
        </p:nvSpPr>
        <p:spPr>
          <a:xfrm rot="18900000">
            <a:off x="1815474" y="5598826"/>
            <a:ext cx="61421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Стрелка вправо 59"/>
          <p:cNvSpPr/>
          <p:nvPr/>
        </p:nvSpPr>
        <p:spPr>
          <a:xfrm rot="18900000">
            <a:off x="1432602" y="57150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Стрелка вправо 60"/>
          <p:cNvSpPr/>
          <p:nvPr/>
        </p:nvSpPr>
        <p:spPr>
          <a:xfrm>
            <a:off x="883635" y="533703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Стрелка вправо 61"/>
          <p:cNvSpPr/>
          <p:nvPr/>
        </p:nvSpPr>
        <p:spPr>
          <a:xfrm rot="2700000">
            <a:off x="1761498" y="51070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Стрелка вправо 62"/>
          <p:cNvSpPr/>
          <p:nvPr/>
        </p:nvSpPr>
        <p:spPr>
          <a:xfrm rot="2700000">
            <a:off x="1285648" y="55882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Стрелка вправо 63"/>
          <p:cNvSpPr/>
          <p:nvPr/>
        </p:nvSpPr>
        <p:spPr>
          <a:xfrm>
            <a:off x="389346" y="52081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Стрелка вправо 64"/>
          <p:cNvSpPr/>
          <p:nvPr/>
        </p:nvSpPr>
        <p:spPr>
          <a:xfrm rot="5400000">
            <a:off x="579825" y="50392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9463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Пути </a:t>
            </a:r>
            <a:r>
              <a:rPr lang="ru-RU" dirty="0" smtClean="0"/>
              <a:t>файлов: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конфигурации;</a:t>
            </a:r>
            <a:endParaRPr lang="ru-RU" dirty="0" smtClean="0"/>
          </a:p>
          <a:p>
            <a:pPr marL="285750" indent="-285750">
              <a:buFontTx/>
              <a:buChar char="-"/>
            </a:pPr>
            <a:r>
              <a:rPr lang="ru-RU" dirty="0" smtClean="0"/>
              <a:t>запросов</a:t>
            </a:r>
            <a:r>
              <a:rPr lang="ru-RU" dirty="0"/>
              <a:t>;</a:t>
            </a:r>
            <a:r>
              <a:rPr lang="en-US" dirty="0" smtClean="0"/>
              <a:t> </a:t>
            </a:r>
            <a:endParaRPr lang="ru-RU" dirty="0" smtClean="0"/>
          </a:p>
        </p:txBody>
      </p:sp>
      <p:sp>
        <p:nvSpPr>
          <p:cNvPr id="49" name="Стрелка вправо 48"/>
          <p:cNvSpPr/>
          <p:nvPr/>
        </p:nvSpPr>
        <p:spPr>
          <a:xfrm>
            <a:off x="1589902" y="538532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Стрелка вправо 50"/>
          <p:cNvSpPr/>
          <p:nvPr/>
        </p:nvSpPr>
        <p:spPr>
          <a:xfrm>
            <a:off x="399941" y="57201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Стрелка вправо 66"/>
          <p:cNvSpPr/>
          <p:nvPr/>
        </p:nvSpPr>
        <p:spPr>
          <a:xfrm rot="2700000">
            <a:off x="1194296" y="49767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9574712" y="28900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9529251" y="450581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0450400" y="44969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341758" y="515278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885202" y="288682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3" name="Группа 82"/>
          <p:cNvGrpSpPr/>
          <p:nvPr/>
        </p:nvGrpSpPr>
        <p:grpSpPr>
          <a:xfrm>
            <a:off x="988713" y="1083636"/>
            <a:ext cx="1800000" cy="1800000"/>
            <a:chOff x="2197456" y="405415"/>
            <a:chExt cx="1083633" cy="1083633"/>
          </a:xfrm>
        </p:grpSpPr>
        <p:sp>
          <p:nvSpPr>
            <p:cNvPr id="84" name="Овал 8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700" kern="1200" dirty="0" smtClean="0"/>
                <a:t>Engine</a:t>
              </a:r>
              <a:endParaRPr lang="ru-RU" sz="1700" kern="1200" dirty="0"/>
            </a:p>
          </p:txBody>
        </p:sp>
      </p:grpSp>
      <p:sp>
        <p:nvSpPr>
          <p:cNvPr id="86" name="Стрелка вправо 85"/>
          <p:cNvSpPr/>
          <p:nvPr/>
        </p:nvSpPr>
        <p:spPr>
          <a:xfrm rot="16200000">
            <a:off x="3885202" y="4584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294513" y="5153890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pSp>
        <p:nvGrpSpPr>
          <p:cNvPr id="10" name="Группа 9"/>
          <p:cNvGrpSpPr/>
          <p:nvPr/>
        </p:nvGrpSpPr>
        <p:grpSpPr>
          <a:xfrm>
            <a:off x="1281678" y="2042318"/>
            <a:ext cx="900000" cy="900000"/>
            <a:chOff x="3899929" y="338038"/>
            <a:chExt cx="903543" cy="903543"/>
          </a:xfrm>
        </p:grpSpPr>
        <p:sp>
          <p:nvSpPr>
            <p:cNvPr id="11" name="Овал 1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ConverterJSON</a:t>
              </a:r>
              <a:endParaRPr lang="ru-RU" sz="1100" kern="1200" dirty="0"/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2940607" y="2148483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список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333415" y="222933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161640" y="222933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7" name="Группа 16"/>
          <p:cNvGrpSpPr/>
          <p:nvPr/>
        </p:nvGrpSpPr>
        <p:grpSpPr>
          <a:xfrm>
            <a:off x="5838391" y="1783135"/>
            <a:ext cx="1260000" cy="1260000"/>
            <a:chOff x="8438075" y="2424393"/>
            <a:chExt cx="1620003" cy="1620003"/>
          </a:xfrm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8438075" y="2424393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8517157" y="2503475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b="1" kern="1200" dirty="0" smtClean="0"/>
                <a:t>Dispatcher</a:t>
              </a:r>
              <a:endParaRPr lang="ru-RU" sz="1100" b="1" kern="1200" dirty="0" smtClean="0"/>
            </a:p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b="1" kern="1200" dirty="0" smtClean="0"/>
                <a:t>Operations</a:t>
              </a:r>
              <a:endParaRPr lang="ru-RU" sz="1100" b="1" kern="1200" dirty="0"/>
            </a:p>
          </p:txBody>
        </p:sp>
      </p:grpSp>
      <p:sp>
        <p:nvSpPr>
          <p:cNvPr id="21" name="Стрелка вправо 20"/>
          <p:cNvSpPr/>
          <p:nvPr/>
        </p:nvSpPr>
        <p:spPr>
          <a:xfrm>
            <a:off x="7610131" y="232588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7323" y="2383534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720419" y="241313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трелка вправо 23"/>
          <p:cNvSpPr/>
          <p:nvPr/>
        </p:nvSpPr>
        <p:spPr>
          <a:xfrm>
            <a:off x="1335405" y="509309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5" name="Группа 24"/>
          <p:cNvGrpSpPr/>
          <p:nvPr/>
        </p:nvGrpSpPr>
        <p:grpSpPr>
          <a:xfrm>
            <a:off x="10582483" y="2025451"/>
            <a:ext cx="1260000" cy="1260000"/>
            <a:chOff x="3899929" y="338038"/>
            <a:chExt cx="903543" cy="903543"/>
          </a:xfrm>
        </p:grpSpPr>
        <p:sp>
          <p:nvSpPr>
            <p:cNvPr id="26" name="Овал 25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7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dirty="0" smtClean="0"/>
                <a:t>Documents</a:t>
              </a:r>
              <a:endParaRPr lang="ru-RU" sz="1600" kern="1200" dirty="0"/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5788794" y="4800584"/>
            <a:ext cx="1260000" cy="1260000"/>
            <a:chOff x="5151860" y="405415"/>
            <a:chExt cx="1083633" cy="1083633"/>
          </a:xfrm>
        </p:grpSpPr>
        <p:sp>
          <p:nvSpPr>
            <p:cNvPr id="29" name="Овал 28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0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Index</a:t>
              </a:r>
              <a:endParaRPr lang="ru-RU" sz="1600" kern="1200" dirty="0"/>
            </a:p>
          </p:txBody>
        </p:sp>
      </p:grpSp>
      <p:sp>
        <p:nvSpPr>
          <p:cNvPr id="31" name="TextBox 30"/>
          <p:cNvSpPr txBox="1"/>
          <p:nvPr/>
        </p:nvSpPr>
        <p:spPr>
          <a:xfrm>
            <a:off x="1924688" y="4982397"/>
            <a:ext cx="29388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Обновить базу </a:t>
            </a:r>
            <a:endParaRPr lang="ru-RU" dirty="0" smtClean="0"/>
          </a:p>
          <a:p>
            <a:r>
              <a:rPr lang="ru-RU" dirty="0" smtClean="0"/>
              <a:t>инвертированных </a:t>
            </a:r>
            <a:r>
              <a:rPr lang="ru-RU" dirty="0"/>
              <a:t>индексов</a:t>
            </a:r>
          </a:p>
        </p:txBody>
      </p:sp>
      <p:sp>
        <p:nvSpPr>
          <p:cNvPr id="32" name="Стрелка вправо 31"/>
          <p:cNvSpPr/>
          <p:nvPr/>
        </p:nvSpPr>
        <p:spPr>
          <a:xfrm>
            <a:off x="5048028" y="509309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5472669" y="3066545"/>
            <a:ext cx="1546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Читает файлы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135505" y="507404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/>
          <p:cNvSpPr txBox="1"/>
          <p:nvPr/>
        </p:nvSpPr>
        <p:spPr>
          <a:xfrm>
            <a:off x="2724788" y="4963347"/>
            <a:ext cx="2788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Рассчитать релевантность </a:t>
            </a:r>
            <a:endParaRPr lang="ru-RU" dirty="0" smtClean="0"/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5533942" y="501348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4" name="Группа 33"/>
          <p:cNvGrpSpPr/>
          <p:nvPr/>
        </p:nvGrpSpPr>
        <p:grpSpPr>
          <a:xfrm>
            <a:off x="6296748" y="4686364"/>
            <a:ext cx="1260000" cy="1260000"/>
            <a:chOff x="5131820" y="462784"/>
            <a:chExt cx="1069963" cy="1069963"/>
          </a:xfrm>
        </p:grpSpPr>
        <p:sp>
          <p:nvSpPr>
            <p:cNvPr id="35" name="Овал 34"/>
            <p:cNvSpPr/>
            <p:nvPr/>
          </p:nvSpPr>
          <p:spPr>
            <a:xfrm>
              <a:off x="5131820" y="462784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Овал 4"/>
            <p:cNvSpPr/>
            <p:nvPr/>
          </p:nvSpPr>
          <p:spPr>
            <a:xfrm>
              <a:off x="5308552" y="556993"/>
              <a:ext cx="756579" cy="7565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Relevant</a:t>
              </a:r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Response</a:t>
              </a:r>
              <a:endParaRPr lang="ru-RU" sz="1600" kern="1200" dirty="0"/>
            </a:p>
          </p:txBody>
        </p:sp>
      </p:grpSp>
      <p:grpSp>
        <p:nvGrpSpPr>
          <p:cNvPr id="50" name="Группа 49"/>
          <p:cNvGrpSpPr/>
          <p:nvPr/>
        </p:nvGrpSpPr>
        <p:grpSpPr>
          <a:xfrm>
            <a:off x="2558028" y="2509043"/>
            <a:ext cx="900000" cy="900000"/>
            <a:chOff x="3899929" y="338038"/>
            <a:chExt cx="903543" cy="903543"/>
          </a:xfrm>
        </p:grpSpPr>
        <p:sp>
          <p:nvSpPr>
            <p:cNvPr id="51" name="Овал 5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2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ConverterJSON</a:t>
              </a:r>
              <a:endParaRPr lang="ru-RU" sz="1100" kern="1200" dirty="0"/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4216957" y="2615208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609765" y="269605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5770472" y="274144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6" name="Группа 55"/>
          <p:cNvGrpSpPr/>
          <p:nvPr/>
        </p:nvGrpSpPr>
        <p:grpSpPr>
          <a:xfrm>
            <a:off x="6674618" y="2464492"/>
            <a:ext cx="1260000" cy="1260000"/>
            <a:chOff x="5151860" y="405415"/>
            <a:chExt cx="1083633" cy="1083633"/>
          </a:xfrm>
        </p:grpSpPr>
        <p:sp>
          <p:nvSpPr>
            <p:cNvPr id="57" name="Овал 56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8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Requests</a:t>
              </a:r>
              <a:endParaRPr lang="ru-RU" sz="16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1097280" y="2361830"/>
            <a:ext cx="1260000" cy="1260000"/>
            <a:chOff x="5131820" y="462784"/>
            <a:chExt cx="1069963" cy="1069963"/>
          </a:xfrm>
        </p:grpSpPr>
        <p:sp>
          <p:nvSpPr>
            <p:cNvPr id="13" name="Овал 12"/>
            <p:cNvSpPr/>
            <p:nvPr/>
          </p:nvSpPr>
          <p:spPr>
            <a:xfrm>
              <a:off x="5131820" y="462784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Овал 4"/>
            <p:cNvSpPr/>
            <p:nvPr/>
          </p:nvSpPr>
          <p:spPr>
            <a:xfrm>
              <a:off x="5308552" y="556993"/>
              <a:ext cx="756579" cy="75657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Relevant</a:t>
              </a:r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kern="1200" dirty="0" smtClean="0"/>
                <a:t>Response</a:t>
              </a:r>
              <a:endParaRPr lang="ru-RU" sz="16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678098" y="280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5312881" y="2689853"/>
            <a:ext cx="25580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Записать в JSON-объект </a:t>
            </a:r>
            <a:endParaRPr lang="ru-RU" dirty="0" smtClean="0"/>
          </a:p>
          <a:p>
            <a:r>
              <a:rPr lang="ru-RU" dirty="0" smtClean="0"/>
              <a:t>результаты </a:t>
            </a:r>
            <a:r>
              <a:rPr lang="ru-RU" dirty="0"/>
              <a:t>поиска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8582470" y="2597371"/>
            <a:ext cx="900000" cy="900000"/>
            <a:chOff x="3899929" y="338038"/>
            <a:chExt cx="903543" cy="903543"/>
          </a:xfrm>
        </p:grpSpPr>
        <p:sp>
          <p:nvSpPr>
            <p:cNvPr id="18" name="Овал 1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ConverterJSON</a:t>
              </a:r>
              <a:endParaRPr lang="ru-RU" sz="1100" kern="1200" dirty="0"/>
            </a:p>
          </p:txBody>
        </p:sp>
      </p:grpSp>
      <p:sp>
        <p:nvSpPr>
          <p:cNvPr id="20" name="Стрелка вправо 19"/>
          <p:cNvSpPr/>
          <p:nvPr/>
        </p:nvSpPr>
        <p:spPr>
          <a:xfrm>
            <a:off x="7870889" y="278008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9082" y="277916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3865" y="1878419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912123" y="57688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3088018" y="562951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6" name="Группа 25"/>
          <p:cNvGrpSpPr/>
          <p:nvPr/>
        </p:nvGrpSpPr>
        <p:grpSpPr>
          <a:xfrm>
            <a:off x="2079509" y="5374064"/>
            <a:ext cx="900000" cy="900000"/>
            <a:chOff x="3899929" y="338038"/>
            <a:chExt cx="903543" cy="903543"/>
          </a:xfrm>
        </p:grpSpPr>
        <p:sp>
          <p:nvSpPr>
            <p:cNvPr id="27" name="Овал 26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8" name="Овал 4"/>
            <p:cNvSpPr/>
            <p:nvPr/>
          </p:nvSpPr>
          <p:spPr>
            <a:xfrm>
              <a:off x="4032250" y="470359"/>
              <a:ext cx="638901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ConverterJSON</a:t>
              </a:r>
              <a:endParaRPr lang="ru-RU" sz="1100" kern="1200" dirty="0"/>
            </a:p>
          </p:txBody>
        </p:sp>
      </p:grpSp>
      <p:sp>
        <p:nvSpPr>
          <p:cNvPr id="29" name="TextBox 28"/>
          <p:cNvSpPr txBox="1"/>
          <p:nvPr/>
        </p:nvSpPr>
        <p:spPr>
          <a:xfrm>
            <a:off x="3579871" y="5677819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903972" y="520971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" name="Группа 30"/>
          <p:cNvGrpSpPr/>
          <p:nvPr/>
        </p:nvGrpSpPr>
        <p:grpSpPr>
          <a:xfrm>
            <a:off x="6616916" y="5014064"/>
            <a:ext cx="1260000" cy="1260000"/>
            <a:chOff x="8438075" y="2424393"/>
            <a:chExt cx="1620003" cy="1620003"/>
          </a:xfrm>
        </p:grpSpPr>
        <p:sp>
          <p:nvSpPr>
            <p:cNvPr id="32" name="Скругленный прямоугольник 31"/>
            <p:cNvSpPr/>
            <p:nvPr/>
          </p:nvSpPr>
          <p:spPr>
            <a:xfrm>
              <a:off x="8438075" y="2424393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3" name="Скругленный прямоугольник 4"/>
            <p:cNvSpPr/>
            <p:nvPr/>
          </p:nvSpPr>
          <p:spPr>
            <a:xfrm>
              <a:off x="8517157" y="2503475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b="1" kern="1200" dirty="0" smtClean="0"/>
                <a:t>Dispatcher</a:t>
              </a:r>
              <a:endParaRPr lang="ru-RU" sz="1100" b="1" kern="1200" dirty="0" smtClean="0"/>
            </a:p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b="1" kern="1200" dirty="0" smtClean="0"/>
                <a:t>Operations</a:t>
              </a:r>
              <a:endParaRPr lang="ru-RU" sz="1100" b="1" kern="1200" dirty="0"/>
            </a:p>
          </p:txBody>
        </p:sp>
      </p:grpSp>
      <p:sp>
        <p:nvSpPr>
          <p:cNvPr id="34" name="Стрелка вправо 33"/>
          <p:cNvSpPr/>
          <p:nvPr/>
        </p:nvSpPr>
        <p:spPr>
          <a:xfrm>
            <a:off x="8064846" y="541812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5" name="Рисунок 3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1071" y="4231308"/>
            <a:ext cx="1839194" cy="260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353573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19.11.2025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prstGeom prst="rightArrow">
            <a:avLst/>
          </a:prstGeom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7511934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616878084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19.11.2025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19.11.2025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642172954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19.11.2025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1091872992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97280" y="4823012"/>
            <a:ext cx="633804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Для вывода сообщений на консоль используется библиотека очереди сообщений </a:t>
            </a:r>
            <a:r>
              <a:rPr lang="ru-RU" dirty="0" smtClean="0">
                <a:hlinkClick r:id="rId7"/>
              </a:rPr>
              <a:t>boost/</a:t>
            </a:r>
            <a:r>
              <a:rPr lang="ru-RU" dirty="0" err="1" smtClean="0">
                <a:hlinkClick r:id="rId7"/>
              </a:rPr>
              <a:t>interprocess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ipc</a:t>
            </a:r>
            <a:r>
              <a:rPr lang="ru-RU" dirty="0" smtClean="0">
                <a:hlinkClick r:id="rId7"/>
              </a:rPr>
              <a:t>/</a:t>
            </a:r>
            <a:r>
              <a:rPr lang="ru-RU" dirty="0" err="1" smtClean="0">
                <a:hlinkClick r:id="rId7"/>
              </a:rPr>
              <a:t>message_queue</a:t>
            </a:r>
            <a:r>
              <a:rPr lang="ru-RU" dirty="0" smtClean="0"/>
              <a:t> для </a:t>
            </a:r>
            <a:r>
              <a:rPr lang="ru-RU" dirty="0"/>
              <a:t>межпроцессного обмена </a:t>
            </a:r>
            <a:r>
              <a:rPr lang="ru-RU" dirty="0" smtClean="0"/>
              <a:t>данными</a:t>
            </a:r>
            <a:r>
              <a:rPr lang="en-US" dirty="0" smtClean="0"/>
              <a:t>.</a:t>
            </a:r>
            <a:r>
              <a:rPr lang="ru-RU" dirty="0" smtClean="0"/>
              <a:t> Для этого используется вспомогательный класс </a:t>
            </a:r>
            <a:r>
              <a:rPr lang="en-US" b="1" dirty="0"/>
              <a:t>kav::</a:t>
            </a:r>
            <a:r>
              <a:rPr lang="en-US" b="1" dirty="0" smtClean="0"/>
              <a:t>MonitorSender</a:t>
            </a:r>
            <a:r>
              <a:rPr lang="ru-RU" b="1" dirty="0" smtClean="0"/>
              <a:t>.</a:t>
            </a:r>
            <a:endParaRPr lang="en-US" b="1" dirty="0"/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1640541" y="2599765"/>
            <a:ext cx="13837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Картинка </a:t>
            </a:r>
          </a:p>
          <a:p>
            <a:r>
              <a:rPr lang="ru-RU" dirty="0" smtClean="0"/>
              <a:t>Лог-файла и</a:t>
            </a:r>
          </a:p>
          <a:p>
            <a:r>
              <a:rPr lang="ru-RU" dirty="0" smtClean="0"/>
              <a:t>консоли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6003</TotalTime>
  <Words>580</Words>
  <Application>Microsoft Office PowerPoint</Application>
  <PresentationFormat>Широкоэкранный</PresentationFormat>
  <Paragraphs>262</Paragraphs>
  <Slides>22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170</cp:revision>
  <dcterms:created xsi:type="dcterms:W3CDTF">2025-10-14T05:54:15Z</dcterms:created>
  <dcterms:modified xsi:type="dcterms:W3CDTF">2025-11-19T12:51:14Z</dcterms:modified>
</cp:coreProperties>
</file>
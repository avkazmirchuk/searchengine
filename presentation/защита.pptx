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6" userDrawn="1">
          <p15:clr>
            <a:srgbClr val="A4A3A4"/>
          </p15:clr>
        </p15:guide>
        <p15:guide id="2" pos="6221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188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56" y="498"/>
      </p:cViewPr>
      <p:guideLst>
        <p:guide orient="horz" pos="2296"/>
        <p:guide pos="6221"/>
        <p:guide pos="4089"/>
        <p:guide orient="horz" pos="1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705064"/>
        <c:axId val="413709768"/>
      </c:barChart>
      <c:catAx>
        <c:axId val="413705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9768"/>
        <c:crosses val="autoZero"/>
        <c:auto val="1"/>
        <c:lblAlgn val="ctr"/>
        <c:lblOffset val="100"/>
        <c:noMultiLvlLbl val="0"/>
      </c:catAx>
      <c:valAx>
        <c:axId val="413709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5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843 файла (100'000 </a:t>
            </a:r>
            <a:r>
              <a:rPr lang="ru-RU" dirty="0" smtClean="0"/>
              <a:t>слов)</a:t>
            </a:r>
            <a:endParaRPr lang="ru-RU" dirty="0"/>
          </a:p>
        </c:rich>
      </c:tx>
      <c:layout>
        <c:manualLayout>
          <c:xMode val="edge"/>
          <c:yMode val="edge"/>
          <c:x val="0.12686053132247357"/>
          <c:y val="2.29205800097890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704672"/>
        <c:axId val="413705848"/>
      </c:barChart>
      <c:catAx>
        <c:axId val="413704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5848"/>
        <c:crosses val="autoZero"/>
        <c:auto val="1"/>
        <c:lblAlgn val="ctr"/>
        <c:lblOffset val="100"/>
        <c:noMultiLvlLbl val="0"/>
      </c:catAx>
      <c:valAx>
        <c:axId val="4137058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4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705456"/>
        <c:axId val="413706240"/>
      </c:barChart>
      <c:catAx>
        <c:axId val="4137054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6240"/>
        <c:crosses val="autoZero"/>
        <c:auto val="1"/>
        <c:lblAlgn val="ctr"/>
        <c:lblOffset val="100"/>
        <c:noMultiLvlLbl val="0"/>
      </c:catAx>
      <c:valAx>
        <c:axId val="413706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54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3706632"/>
        <c:axId val="412968880"/>
      </c:barChart>
      <c:catAx>
        <c:axId val="4137066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968880"/>
        <c:crosses val="autoZero"/>
        <c:auto val="1"/>
        <c:lblAlgn val="ctr"/>
        <c:lblOffset val="100"/>
        <c:noMultiLvlLbl val="0"/>
      </c:catAx>
      <c:valAx>
        <c:axId val="4129688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7066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2970448"/>
        <c:axId val="412970840"/>
      </c:barChart>
      <c:catAx>
        <c:axId val="412970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970840"/>
        <c:crosses val="autoZero"/>
        <c:auto val="1"/>
        <c:lblAlgn val="ctr"/>
        <c:lblOffset val="100"/>
        <c:noMultiLvlLbl val="0"/>
      </c:catAx>
      <c:valAx>
        <c:axId val="412970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970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823200"/>
        <c:axId val="411824768"/>
      </c:barChart>
      <c:catAx>
        <c:axId val="411823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824768"/>
        <c:crosses val="autoZero"/>
        <c:auto val="1"/>
        <c:lblAlgn val="ctr"/>
        <c:lblOffset val="100"/>
        <c:noMultiLvlLbl val="0"/>
      </c:catAx>
      <c:valAx>
        <c:axId val="411824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8232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824376"/>
        <c:axId val="411822024"/>
      </c:barChart>
      <c:catAx>
        <c:axId val="411824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822024"/>
        <c:crosses val="autoZero"/>
        <c:auto val="1"/>
        <c:lblAlgn val="ctr"/>
        <c:lblOffset val="100"/>
        <c:noMultiLvlLbl val="0"/>
      </c:catAx>
      <c:valAx>
        <c:axId val="4118220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824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822416"/>
        <c:axId val="411822808"/>
      </c:barChart>
      <c:catAx>
        <c:axId val="411822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822808"/>
        <c:crosses val="autoZero"/>
        <c:auto val="1"/>
        <c:lblAlgn val="ctr"/>
        <c:lblOffset val="100"/>
        <c:noMultiLvlLbl val="0"/>
      </c:catAx>
      <c:valAx>
        <c:axId val="411822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822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245688"/>
        <c:axId val="472246080"/>
      </c:barChart>
      <c:catAx>
        <c:axId val="472245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6080"/>
        <c:crosses val="autoZero"/>
        <c:auto val="1"/>
        <c:lblAlgn val="ctr"/>
        <c:lblOffset val="100"/>
        <c:noMultiLvlLbl val="0"/>
      </c:catAx>
      <c:valAx>
        <c:axId val="472246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5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247256"/>
        <c:axId val="472244120"/>
      </c:barChart>
      <c:catAx>
        <c:axId val="4722472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4120"/>
        <c:crosses val="autoZero"/>
        <c:auto val="1"/>
        <c:lblAlgn val="ctr"/>
        <c:lblOffset val="100"/>
        <c:noMultiLvlLbl val="0"/>
      </c:catAx>
      <c:valAx>
        <c:axId val="472244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72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244512"/>
        <c:axId val="472244904"/>
      </c:barChart>
      <c:catAx>
        <c:axId val="472244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4904"/>
        <c:crosses val="autoZero"/>
        <c:auto val="1"/>
        <c:lblAlgn val="ctr"/>
        <c:lblOffset val="100"/>
        <c:noMultiLvlLbl val="0"/>
      </c:catAx>
      <c:valAx>
        <c:axId val="4722449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4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245296"/>
        <c:axId val="472772000"/>
      </c:barChart>
      <c:catAx>
        <c:axId val="472245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72000"/>
        <c:crosses val="autoZero"/>
        <c:auto val="1"/>
        <c:lblAlgn val="ctr"/>
        <c:lblOffset val="100"/>
        <c:noMultiLvlLbl val="0"/>
      </c:catAx>
      <c:valAx>
        <c:axId val="472772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245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771608"/>
        <c:axId val="472774744"/>
      </c:barChart>
      <c:catAx>
        <c:axId val="472771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74744"/>
        <c:crosses val="autoZero"/>
        <c:auto val="1"/>
        <c:lblAlgn val="ctr"/>
        <c:lblOffset val="100"/>
        <c:noMultiLvlLbl val="0"/>
      </c:catAx>
      <c:valAx>
        <c:axId val="472774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71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769648"/>
        <c:axId val="472772392"/>
      </c:barChart>
      <c:catAx>
        <c:axId val="47276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72392"/>
        <c:crosses val="autoZero"/>
        <c:auto val="1"/>
        <c:lblAlgn val="ctr"/>
        <c:lblOffset val="100"/>
        <c:noMultiLvlLbl val="0"/>
      </c:catAx>
      <c:valAx>
        <c:axId val="472772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696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2772784"/>
        <c:axId val="472771216"/>
      </c:barChart>
      <c:catAx>
        <c:axId val="47277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71216"/>
        <c:crosses val="autoZero"/>
        <c:auto val="1"/>
        <c:lblAlgn val="ctr"/>
        <c:lblOffset val="100"/>
        <c:noMultiLvlLbl val="0"/>
      </c:catAx>
      <c:valAx>
        <c:axId val="4727712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77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15.02.2026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окументов</a:t>
            </a:r>
            <a:r>
              <a:rPr lang="en-US" sz="1200" dirty="0" smtClean="0"/>
              <a:t> </a:t>
            </a:r>
            <a:r>
              <a:rPr lang="ru-RU" sz="1200" dirty="0" smtClean="0"/>
              <a:t>или пути файлов 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ая выноска 6"/>
          <p:cNvSpPr/>
          <p:nvPr/>
        </p:nvSpPr>
        <p:spPr>
          <a:xfrm>
            <a:off x="6246460" y="3856203"/>
            <a:ext cx="2733144" cy="1461842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27311"/>
              </p:ext>
            </p:extLst>
          </p:nvPr>
        </p:nvGraphicFramePr>
        <p:xfrm>
          <a:off x="3221060" y="5598718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5228451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370300" y="3992314"/>
            <a:ext cx="1178434" cy="86177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1" name="TextBox 80"/>
          <p:cNvSpPr txBox="1"/>
          <p:nvPr/>
        </p:nvSpPr>
        <p:spPr>
          <a:xfrm>
            <a:off x="7674794" y="3999598"/>
            <a:ext cx="1171247" cy="116955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</a:t>
            </a:r>
            <a:r>
              <a:rPr lang="ru-RU" sz="1000" b="1" u="sng" dirty="0" smtClean="0"/>
              <a:t>индексов</a:t>
            </a:r>
            <a:r>
              <a:rPr lang="ru-RU" sz="1000" b="1" u="sng" dirty="0" smtClean="0"/>
              <a:t>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</a:t>
            </a:r>
            <a:r>
              <a:rPr lang="en-US" sz="1000" dirty="0" smtClean="0"/>
              <a:t>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</a:t>
            </a:r>
            <a:r>
              <a:rPr lang="en-US" sz="1000" dirty="0" smtClean="0"/>
              <a:t>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ая выноска 8"/>
          <p:cNvSpPr/>
          <p:nvPr/>
        </p:nvSpPr>
        <p:spPr>
          <a:xfrm>
            <a:off x="6914505" y="1495694"/>
            <a:ext cx="4618755" cy="2506667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4143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Относительная релевантность</a:t>
            </a:r>
            <a:r>
              <a:rPr lang="ru-RU" sz="1200" dirty="0" smtClean="0"/>
              <a:t>: абсолютная релевантность / </a:t>
            </a:r>
          </a:p>
          <a:p>
            <a:r>
              <a:rPr lang="ru-RU" sz="1200" dirty="0" smtClean="0"/>
              <a:t> максимальная </a:t>
            </a:r>
            <a:r>
              <a:rPr lang="ru-RU" sz="1200" dirty="0" smtClean="0"/>
              <a:t>абсолютная релевантность</a:t>
            </a:r>
            <a:endParaRPr lang="ru-RU"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427834"/>
            <a:ext cx="5395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Абсолютная релевантность</a:t>
            </a:r>
            <a:r>
              <a:rPr lang="ru-RU" sz="1200" dirty="0" smtClean="0"/>
              <a:t>: </a:t>
            </a:r>
            <a:r>
              <a:rPr lang="ru-RU" sz="1200" dirty="0" smtClean="0"/>
              <a:t>в каждом запросе</a:t>
            </a:r>
            <a:r>
              <a:rPr lang="ru-RU" sz="1200" dirty="0"/>
              <a:t>, для </a:t>
            </a:r>
            <a:r>
              <a:rPr lang="ru-RU" sz="1200" dirty="0" smtClean="0"/>
              <a:t>каждого документа, сумма </a:t>
            </a:r>
          </a:p>
          <a:p>
            <a:r>
              <a:rPr lang="ru-RU" sz="1200" dirty="0" smtClean="0"/>
              <a:t>в</a:t>
            </a:r>
            <a:r>
              <a:rPr lang="ru-RU" sz="1200" dirty="0" smtClean="0"/>
              <a:t>хождений слов</a:t>
            </a:r>
            <a:endParaRPr lang="ru-RU" sz="1200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228712" y="5847359"/>
            <a:ext cx="5666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Максимальная абсолютная </a:t>
            </a:r>
            <a:r>
              <a:rPr lang="ru-RU" sz="1200" u="sng" dirty="0" smtClean="0"/>
              <a:t>релевантность</a:t>
            </a:r>
            <a:r>
              <a:rPr lang="ru-RU" sz="1200" dirty="0" smtClean="0"/>
              <a:t>: </a:t>
            </a:r>
            <a:r>
              <a:rPr lang="ru-RU" sz="1200" dirty="0" smtClean="0"/>
              <a:t>наибольшая абсолютная релевантность</a:t>
            </a:r>
          </a:p>
          <a:p>
            <a:r>
              <a:rPr lang="ru-RU" sz="1200" dirty="0"/>
              <a:t>и</a:t>
            </a:r>
            <a:r>
              <a:rPr lang="ru-RU" sz="1200" dirty="0" smtClean="0"/>
              <a:t>з всех запросов</a:t>
            </a:r>
            <a:endParaRPr lang="ru-RU" sz="1200" dirty="0"/>
          </a:p>
        </p:txBody>
      </p:sp>
      <p:sp>
        <p:nvSpPr>
          <p:cNvPr id="86" name="TextBox 85"/>
          <p:cNvSpPr txBox="1"/>
          <p:nvPr/>
        </p:nvSpPr>
        <p:spPr>
          <a:xfrm>
            <a:off x="7017572" y="1598434"/>
            <a:ext cx="1222301" cy="86177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7" name="TextBox 86"/>
          <p:cNvSpPr txBox="1"/>
          <p:nvPr/>
        </p:nvSpPr>
        <p:spPr>
          <a:xfrm>
            <a:off x="8722760" y="1595444"/>
            <a:ext cx="1191800" cy="116955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</a:t>
            </a:r>
            <a:r>
              <a:rPr lang="ru-RU" sz="1000" b="1" u="sng" dirty="0" smtClean="0"/>
              <a:t>индексов</a:t>
            </a:r>
            <a:r>
              <a:rPr lang="ru-RU" sz="1000" b="1" u="sng" dirty="0" smtClean="0"/>
              <a:t>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</a:t>
            </a:r>
            <a:r>
              <a:rPr lang="en-US" sz="1000" dirty="0" smtClean="0"/>
              <a:t>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</a:t>
            </a:r>
            <a:r>
              <a:rPr lang="en-US" sz="1000" dirty="0" smtClean="0"/>
              <a:t>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  <p:sp>
        <p:nvSpPr>
          <p:cNvPr id="88" name="TextBox 87"/>
          <p:cNvSpPr txBox="1"/>
          <p:nvPr/>
        </p:nvSpPr>
        <p:spPr>
          <a:xfrm>
            <a:off x="10403418" y="1597162"/>
            <a:ext cx="1021440" cy="70788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</a:t>
            </a:r>
            <a:r>
              <a:rPr lang="ru-RU" sz="1000" b="1" u="sng" dirty="0" smtClean="0"/>
              <a:t>запросов</a:t>
            </a:r>
            <a:r>
              <a:rPr lang="ru-RU" sz="1000" b="1" u="sng" dirty="0" smtClean="0"/>
              <a:t>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water}, </a:t>
            </a:r>
          </a:p>
          <a:p>
            <a:r>
              <a:rPr lang="en-US" sz="1000" dirty="0" smtClean="0"/>
              <a:t>{</a:t>
            </a:r>
            <a:r>
              <a:rPr lang="en-US" sz="1000" dirty="0" smtClean="0"/>
              <a:t>juice, tea}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64876" y="2881771"/>
            <a:ext cx="1959988" cy="70788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</a:t>
            </a:r>
            <a:r>
              <a:rPr lang="ru-RU" sz="1000" b="1" u="sng" dirty="0" smtClean="0"/>
              <a:t>релевантности</a:t>
            </a:r>
            <a:r>
              <a:rPr lang="ru-RU" sz="1000" b="1" u="sng" dirty="0" smtClean="0"/>
              <a:t>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/>
              <a:t>0 request</a:t>
            </a:r>
            <a:r>
              <a:rPr lang="en-US" sz="1000" dirty="0" smtClean="0"/>
              <a:t>: {</a:t>
            </a:r>
            <a:r>
              <a:rPr lang="en-US" sz="1000" dirty="0" smtClean="0"/>
              <a:t>0, 1},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 </a:t>
            </a:r>
          </a:p>
          <a:p>
            <a:r>
              <a:rPr lang="en-US" sz="1000" dirty="0"/>
              <a:t>1 request</a:t>
            </a:r>
            <a:r>
              <a:rPr lang="en-US" sz="1000" dirty="0" smtClean="0"/>
              <a:t>: {</a:t>
            </a:r>
            <a:r>
              <a:rPr lang="en-US" sz="1000" dirty="0" smtClean="0"/>
              <a:t>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2/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17575" y="2884053"/>
            <a:ext cx="2340901" cy="101566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u="sng" dirty="0" smtClean="0"/>
              <a:t>Суммирование индексов слов запроса</a:t>
            </a:r>
            <a:r>
              <a:rPr lang="ru-RU" sz="1000" u="sng" dirty="0" smtClean="0"/>
              <a:t>:</a:t>
            </a:r>
            <a:endParaRPr lang="en-US" sz="1000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0 request: {{</a:t>
            </a:r>
            <a:r>
              <a:rPr lang="en-US" sz="1000" dirty="0"/>
              <a:t>0, 2}, {1, 1</a:t>
            </a:r>
            <a:r>
              <a:rPr lang="en-US" sz="1000" dirty="0" smtClean="0"/>
              <a:t>}} + {</a:t>
            </a:r>
            <a:r>
              <a:rPr lang="en-US" sz="1000" dirty="0"/>
              <a:t>{0,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{{0, 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>
                <a:solidFill>
                  <a:srgbClr val="00B050"/>
                </a:solidFill>
              </a:rPr>
              <a:t>}, {1, 1}, {2, 1}}</a:t>
            </a:r>
            <a:r>
              <a:rPr lang="en-US" sz="1000" dirty="0" smtClean="0"/>
              <a:t> </a:t>
            </a:r>
            <a:endParaRPr lang="en-US" sz="1000" dirty="0"/>
          </a:p>
          <a:p>
            <a:r>
              <a:rPr lang="en-US" sz="1000" dirty="0" smtClean="0"/>
              <a:t>1 request</a:t>
            </a:r>
            <a:r>
              <a:rPr lang="en-US" sz="1000" dirty="0"/>
              <a:t>: {{2, 1</a:t>
            </a:r>
            <a:r>
              <a:rPr lang="en-US" sz="1000" dirty="0" smtClean="0"/>
              <a:t>}</a:t>
            </a:r>
            <a:r>
              <a:rPr lang="en-US" sz="1000" dirty="0" smtClean="0"/>
              <a:t>} </a:t>
            </a:r>
            <a:r>
              <a:rPr lang="en-US" sz="1000" dirty="0"/>
              <a:t>+ </a:t>
            </a:r>
            <a:r>
              <a:rPr lang="en-US" sz="1000" dirty="0" smtClean="0"/>
              <a:t>{{</a:t>
            </a:r>
            <a:r>
              <a:rPr lang="en-US" sz="1000" dirty="0"/>
              <a:t>1,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{{1, 1}, {2, 2}}</a:t>
            </a:r>
            <a:r>
              <a:rPr lang="en-US" sz="1000" dirty="0" smtClean="0">
                <a:solidFill>
                  <a:srgbClr val="00B050"/>
                </a:solidFill>
              </a:rPr>
              <a:t> </a:t>
            </a:r>
            <a:endParaRPr lang="ru-RU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1032560"/>
            <a:chOff x="25306" y="4006835"/>
            <a:chExt cx="1924271" cy="103256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847009"/>
              <a:chOff x="205921" y="3650153"/>
              <a:chExt cx="1872546" cy="847009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43164"/>
                <a:ext cx="164484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 для каждой записи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 flipV="1">
            <a:off x="890782" y="2271575"/>
            <a:ext cx="8220324" cy="5388"/>
          </a:xfrm>
          <a:prstGeom prst="bentConnector4">
            <a:avLst>
              <a:gd name="adj1" fmla="val -2781"/>
              <a:gd name="adj2" fmla="val 1426503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1005722"/>
          </a:xfrm>
          <a:prstGeom prst="bentConnector4">
            <a:avLst>
              <a:gd name="adj1" fmla="val -8045"/>
              <a:gd name="adj2" fmla="val 934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783343" y="1777171"/>
            <a:ext cx="1908000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7" y="1654446"/>
              <a:ext cx="1747246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740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“ID request”</a:t>
              </a:r>
              <a:endParaRPr lang="ru-RU" sz="1000" dirty="0" smtClean="0"/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762987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736963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276963"/>
            <a:ext cx="930099" cy="35155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“ID request”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243951" y="4526508"/>
            <a:ext cx="444269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241326" y="3396598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20126" y="148364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0623" y="1505466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тветов нет</a:t>
            </a:r>
            <a:endParaRPr lang="ru-RU" sz="1000" dirty="0"/>
          </a:p>
        </p:txBody>
      </p:sp>
      <p:sp>
        <p:nvSpPr>
          <p:cNvPr id="104" name="TextBox 103"/>
          <p:cNvSpPr txBox="1"/>
          <p:nvPr/>
        </p:nvSpPr>
        <p:spPr>
          <a:xfrm>
            <a:off x="6941335" y="2760279"/>
            <a:ext cx="8194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тветы есть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2795198" y="3527980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154" name="TextBox 153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</a:t>
            </a:r>
            <a:r>
              <a:rPr lang="ru-RU" sz="2400" dirty="0" smtClean="0"/>
              <a:t>баз</a:t>
            </a:r>
            <a:r>
              <a:rPr lang="ru-RU" sz="2400" dirty="0" smtClean="0"/>
              <a:t>ы документов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24830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967" y="4258721"/>
            <a:ext cx="2885468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Https</a:t>
            </a:r>
            <a:r>
              <a:rPr lang="en-US" dirty="0"/>
              <a:t>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22474</TotalTime>
  <Words>2773</Words>
  <Application>Microsoft Office PowerPoint</Application>
  <PresentationFormat>Широкоэкранный</PresentationFormat>
  <Paragraphs>827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797</cp:revision>
  <dcterms:created xsi:type="dcterms:W3CDTF">2025-10-14T05:54:15Z</dcterms:created>
  <dcterms:modified xsi:type="dcterms:W3CDTF">2026-02-15T14:14:18Z</dcterms:modified>
</cp:coreProperties>
</file>
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1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2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3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4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32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99" r:id="rId10"/>
    <p:sldId id="301" r:id="rId11"/>
    <p:sldId id="302" r:id="rId12"/>
    <p:sldId id="291" r:id="rId13"/>
    <p:sldId id="279" r:id="rId14"/>
    <p:sldId id="292" r:id="rId15"/>
    <p:sldId id="293" r:id="rId16"/>
    <p:sldId id="280" r:id="rId17"/>
    <p:sldId id="281" r:id="rId18"/>
    <p:sldId id="294" r:id="rId19"/>
    <p:sldId id="295" r:id="rId20"/>
    <p:sldId id="296" r:id="rId21"/>
    <p:sldId id="300" r:id="rId22"/>
    <p:sldId id="298" r:id="rId23"/>
    <p:sldId id="283" r:id="rId24"/>
    <p:sldId id="272" r:id="rId25"/>
    <p:sldId id="259" r:id="rId26"/>
    <p:sldId id="271" r:id="rId27"/>
    <p:sldId id="287" r:id="rId28"/>
    <p:sldId id="285" r:id="rId29"/>
    <p:sldId id="290" r:id="rId30"/>
    <p:sldId id="257" r:id="rId3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6720" userDrawn="1">
          <p15:clr>
            <a:srgbClr val="A4A3A4"/>
          </p15:clr>
        </p15:guide>
        <p15:guide id="3" pos="4089" userDrawn="1">
          <p15:clr>
            <a:srgbClr val="A4A3A4"/>
          </p15:clr>
        </p15:guide>
        <p15:guide id="4" orient="horz" pos="981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4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9DBFBE"/>
    <a:srgbClr val="DB8631"/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12" autoAdjust="0"/>
    <p:restoredTop sz="96400" autoAdjust="0"/>
  </p:normalViewPr>
  <p:slideViewPr>
    <p:cSldViewPr snapToGrid="0">
      <p:cViewPr varScale="1">
        <p:scale>
          <a:sx n="112" d="100"/>
          <a:sy n="112" d="100"/>
        </p:scale>
        <p:origin x="240" y="108"/>
      </p:cViewPr>
      <p:guideLst>
        <p:guide orient="horz" pos="2273"/>
        <p:guide pos="6720"/>
        <p:guide pos="4089"/>
        <p:guide orient="horz" pos="9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8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9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1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2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3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4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5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ED520A0-7E7B-4C61-A020-96DD0A413605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6D05939F-E248-42C5-8CB9-547A52A5D49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398847616"/>
        <c:axId val="398848008"/>
      </c:barChart>
      <c:catAx>
        <c:axId val="3988476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98848008"/>
        <c:crosses val="autoZero"/>
        <c:auto val="1"/>
        <c:lblAlgn val="ctr"/>
        <c:lblOffset val="100"/>
        <c:noMultiLvlLbl val="0"/>
      </c:catAx>
      <c:valAx>
        <c:axId val="3988480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988476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843 файла (100'000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8.818619894735381E-3"/>
                  <c:y val="7.3806072401600325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86594731214154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2907275479454601E-3"/>
                  <c:y val="1.9758081399462033E-2"/>
                </c:manualLayout>
              </c:layout>
              <c:tx>
                <c:rich>
                  <a:bodyPr/>
                  <a:lstStyle/>
                  <a:p>
                    <a:fld id="{9CD5091D-5C4C-4259-8716-D3BBB64CBD3D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(0,378)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2767570720326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398850360"/>
        <c:axId val="398851536"/>
      </c:barChart>
      <c:catAx>
        <c:axId val="3988503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98851536"/>
        <c:crosses val="autoZero"/>
        <c:auto val="1"/>
        <c:lblAlgn val="ctr"/>
        <c:lblOffset val="100"/>
        <c:noMultiLvlLbl val="0"/>
      </c:catAx>
      <c:valAx>
        <c:axId val="3988515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988503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38E-3"/>
                  <c:y val="1.6548839244075662E-2"/>
                </c:manualLayout>
              </c:layout>
              <c:tx>
                <c:rich>
                  <a:bodyPr/>
                  <a:lstStyle/>
                  <a:p>
                    <a:fld id="{6A320D31-3F99-4F68-823D-66A3A26BC4C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60918147830990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3049005479089651E-3"/>
                  <c:y val="2.6142275078724072E-2"/>
                </c:manualLayout>
              </c:layout>
              <c:tx>
                <c:rich>
                  <a:bodyPr/>
                  <a:lstStyle/>
                  <a:p>
                    <a:fld id="{D2D0D791-12B8-4838-9964-87FCB6B9E0A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(0,653)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4111545075433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398853104"/>
        <c:axId val="398847224"/>
      </c:barChart>
      <c:catAx>
        <c:axId val="3988531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98847224"/>
        <c:crosses val="autoZero"/>
        <c:auto val="1"/>
        <c:lblAlgn val="ctr"/>
        <c:lblOffset val="100"/>
        <c:noMultiLvlLbl val="0"/>
      </c:catAx>
      <c:valAx>
        <c:axId val="3988472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988531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229569302204905E-2"/>
                  <c:y val="7.4366491834306579E-3"/>
                </c:manualLayout>
              </c:layout>
              <c:tx>
                <c:rich>
                  <a:bodyPr/>
                  <a:lstStyle/>
                  <a:p>
                    <a:fld id="{6877D898-7D52-4495-882D-03A97BA591F0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64138899008516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130551491569175E-3"/>
                  <c:y val="2.1533440189474985E-2"/>
                </c:manualLayout>
              </c:layout>
              <c:tx>
                <c:rich>
                  <a:bodyPr/>
                  <a:lstStyle/>
                  <a:p>
                    <a:fld id="{7E7207FD-8380-4417-BFFD-C98A4E535B1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(1,335)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20014151803262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8751152"/>
        <c:axId val="468749976"/>
      </c:barChart>
      <c:catAx>
        <c:axId val="4687511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749976"/>
        <c:crosses val="autoZero"/>
        <c:auto val="1"/>
        <c:lblAlgn val="ctr"/>
        <c:lblOffset val="100"/>
        <c:noMultiLvlLbl val="0"/>
      </c:catAx>
      <c:valAx>
        <c:axId val="4687499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7511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5214798677125392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1239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8752720"/>
        <c:axId val="468751936"/>
      </c:barChart>
      <c:catAx>
        <c:axId val="468752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751936"/>
        <c:crosses val="autoZero"/>
        <c:auto val="1"/>
        <c:lblAlgn val="ctr"/>
        <c:lblOffset val="100"/>
        <c:noMultiLvlLbl val="0"/>
      </c:catAx>
      <c:valAx>
        <c:axId val="4687519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87527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2.593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9402656"/>
        <c:axId val="469403832"/>
      </c:barChart>
      <c:catAx>
        <c:axId val="4694026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9403832"/>
        <c:crosses val="autoZero"/>
        <c:auto val="1"/>
        <c:lblAlgn val="ctr"/>
        <c:lblOffset val="100"/>
        <c:noMultiLvlLbl val="0"/>
      </c:catAx>
      <c:valAx>
        <c:axId val="4694038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94026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4.9580000000000002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9403440"/>
        <c:axId val="398848792"/>
      </c:barChart>
      <c:catAx>
        <c:axId val="4694034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98848792"/>
        <c:crosses val="autoZero"/>
        <c:auto val="1"/>
        <c:lblAlgn val="ctr"/>
        <c:lblOffset val="100"/>
        <c:noMultiLvlLbl val="0"/>
      </c:catAx>
      <c:valAx>
        <c:axId val="3988487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94034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7.5490000000000004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523040"/>
        <c:axId val="470523824"/>
      </c:barChart>
      <c:catAx>
        <c:axId val="4705230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523824"/>
        <c:crosses val="autoZero"/>
        <c:auto val="1"/>
        <c:lblAlgn val="ctr"/>
        <c:lblOffset val="100"/>
        <c:noMultiLvlLbl val="0"/>
      </c:catAx>
      <c:valAx>
        <c:axId val="4705238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5230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4684287812040577E-3"/>
                  <c:y val="-1.3905343717188479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526176"/>
        <c:axId val="470525784"/>
      </c:barChart>
      <c:catAx>
        <c:axId val="4705261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525784"/>
        <c:crosses val="autoZero"/>
        <c:auto val="1"/>
        <c:lblAlgn val="ctr"/>
        <c:lblOffset val="100"/>
        <c:noMultiLvlLbl val="0"/>
      </c:catAx>
      <c:valAx>
        <c:axId val="4705257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5261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528136"/>
        <c:axId val="470528528"/>
      </c:barChart>
      <c:catAx>
        <c:axId val="4705281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528528"/>
        <c:crosses val="autoZero"/>
        <c:auto val="1"/>
        <c:lblAlgn val="ctr"/>
        <c:lblOffset val="100"/>
        <c:noMultiLvlLbl val="0"/>
      </c:catAx>
      <c:valAx>
        <c:axId val="4705285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5281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305039787798344E-3"/>
                  <c:y val="3.07263910806818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60477453580901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529312"/>
        <c:axId val="470526568"/>
      </c:barChart>
      <c:catAx>
        <c:axId val="4705293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526568"/>
        <c:crosses val="autoZero"/>
        <c:auto val="1"/>
        <c:lblAlgn val="ctr"/>
        <c:lblOffset val="100"/>
        <c:noMultiLvlLbl val="0"/>
      </c:catAx>
      <c:valAx>
        <c:axId val="4705265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5293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525392"/>
        <c:axId val="470523432"/>
      </c:barChart>
      <c:catAx>
        <c:axId val="4705253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523432"/>
        <c:crosses val="autoZero"/>
        <c:auto val="1"/>
        <c:lblAlgn val="ctr"/>
        <c:lblOffset val="100"/>
        <c:noMultiLvlLbl val="0"/>
      </c:catAx>
      <c:valAx>
        <c:axId val="4705234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5253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(2,983)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4.8639999999999999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(2,866)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4.8540000000000001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524608"/>
        <c:axId val="470525000"/>
      </c:barChart>
      <c:catAx>
        <c:axId val="4705246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525000"/>
        <c:crosses val="autoZero"/>
        <c:auto val="1"/>
        <c:lblAlgn val="ctr"/>
        <c:lblOffset val="100"/>
        <c:noMultiLvlLbl val="0"/>
      </c:catAx>
      <c:valAx>
        <c:axId val="4705250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5246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(5,664)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9.2799999999999994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5409E-3"/>
                  <c:y val="3.9894623084597472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(5,589)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787798408488062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9.4440000000000008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1267912"/>
        <c:axId val="471265168"/>
      </c:barChart>
      <c:catAx>
        <c:axId val="4712679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265168"/>
        <c:crosses val="autoZero"/>
        <c:auto val="1"/>
        <c:lblAlgn val="ctr"/>
        <c:lblOffset val="100"/>
        <c:noMultiLvlLbl val="0"/>
      </c:catAx>
      <c:valAx>
        <c:axId val="4712651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2679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(8,655)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13.791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(8,404)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13.92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1268304"/>
        <c:axId val="471263208"/>
      </c:barChart>
      <c:catAx>
        <c:axId val="4712683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263208"/>
        <c:crosses val="autoZero"/>
        <c:auto val="1"/>
        <c:lblAlgn val="ctr"/>
        <c:lblOffset val="100"/>
        <c:noMultiLvlLbl val="0"/>
      </c:catAx>
      <c:valAx>
        <c:axId val="4712632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2683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4036898" y="2064675"/>
          <a:ext cx="1980274" cy="19802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280" tIns="81280" rIns="81280" bIns="81280" numCol="1" spcCol="1270" anchor="t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0" kern="1200" dirty="0" smtClean="0"/>
            <a:t>Search</a:t>
          </a:r>
        </a:p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0" kern="1200" dirty="0" smtClean="0"/>
            <a:t>Engine</a:t>
          </a:r>
          <a:endParaRPr lang="ru-RU" sz="3200" b="0" kern="1200" dirty="0"/>
        </a:p>
      </dsp:txBody>
      <dsp:txXfrm>
        <a:off x="4133567" y="2161344"/>
        <a:ext cx="1786936" cy="1786936"/>
      </dsp:txXfrm>
    </dsp:sp>
    <dsp:sp modelId="{667DE06D-C223-4C57-8F2C-DDC107791A47}">
      <dsp:nvSpPr>
        <dsp:cNvPr id="0" name=""/>
        <dsp:cNvSpPr/>
      </dsp:nvSpPr>
      <dsp:spPr>
        <a:xfrm rot="12462626">
          <a:off x="1655368" y="1947355"/>
          <a:ext cx="252640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640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headEnd type="none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0" y="-12946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Converter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JSON </a:t>
          </a:r>
          <a:endParaRPr lang="ru-RU" sz="1800" b="0" kern="1200" dirty="0"/>
        </a:p>
      </dsp:txBody>
      <dsp:txXfrm>
        <a:off x="87881" y="74935"/>
        <a:ext cx="1624484" cy="1624484"/>
      </dsp:txXfrm>
    </dsp:sp>
    <dsp:sp modelId="{65390B38-AF76-4E62-872B-309581DF08C7}">
      <dsp:nvSpPr>
        <dsp:cNvPr id="0" name=""/>
        <dsp:cNvSpPr/>
      </dsp:nvSpPr>
      <dsp:spPr>
        <a:xfrm rot="10656261">
          <a:off x="1619206" y="3146788"/>
          <a:ext cx="241874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1874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39" y="2421119"/>
          <a:ext cx="1620224" cy="16202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Dispatcher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Operations</a:t>
          </a:r>
          <a:endParaRPr lang="ru-RU" sz="1800" b="0" kern="1200" dirty="0"/>
        </a:p>
      </dsp:txBody>
      <dsp:txXfrm>
        <a:off x="79132" y="2500212"/>
        <a:ext cx="1462038" cy="1462038"/>
      </dsp:txXfrm>
    </dsp:sp>
    <dsp:sp modelId="{8F086A69-6FE7-48AB-8D4E-831F6AAADB3F}">
      <dsp:nvSpPr>
        <dsp:cNvPr id="0" name=""/>
        <dsp:cNvSpPr/>
      </dsp:nvSpPr>
      <dsp:spPr>
        <a:xfrm rot="13495766">
          <a:off x="3723735" y="1937621"/>
          <a:ext cx="36670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670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1977032" y="1010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Documents </a:t>
          </a:r>
          <a:endParaRPr lang="ru-RU" sz="1800" b="0" kern="1200" dirty="0"/>
        </a:p>
      </dsp:txBody>
      <dsp:txXfrm>
        <a:off x="2064913" y="97981"/>
        <a:ext cx="1624484" cy="1624484"/>
      </dsp:txXfrm>
    </dsp:sp>
    <dsp:sp modelId="{1503B29C-C796-4217-A6E0-D8D0E4C12287}">
      <dsp:nvSpPr>
        <dsp:cNvPr id="0" name=""/>
        <dsp:cNvSpPr/>
      </dsp:nvSpPr>
      <dsp:spPr>
        <a:xfrm rot="18913225">
          <a:off x="5959720" y="1932806"/>
          <a:ext cx="39597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9597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298243" y="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800" b="0" kern="1200" dirty="0" smtClean="0"/>
            <a:t>Requests </a:t>
          </a:r>
          <a:endParaRPr lang="ru-RU" sz="1800" b="0" kern="1200" dirty="0"/>
        </a:p>
      </dsp:txBody>
      <dsp:txXfrm>
        <a:off x="6386124" y="87881"/>
        <a:ext cx="1624484" cy="1624484"/>
      </dsp:txXfrm>
    </dsp:sp>
    <dsp:sp modelId="{B23D5C2B-B6D2-4298-9DAF-A69442F1C2D7}">
      <dsp:nvSpPr>
        <dsp:cNvPr id="0" name=""/>
        <dsp:cNvSpPr/>
      </dsp:nvSpPr>
      <dsp:spPr>
        <a:xfrm rot="16184308">
          <a:off x="4889697" y="1932462"/>
          <a:ext cx="26442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4429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117076" y="3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InvertedIndex </a:t>
          </a:r>
          <a:endParaRPr lang="ru-RU" sz="1800" b="0" kern="1200" dirty="0"/>
        </a:p>
      </dsp:txBody>
      <dsp:txXfrm>
        <a:off x="4204957" y="87884"/>
        <a:ext cx="1624484" cy="1624484"/>
      </dsp:txXfrm>
    </dsp:sp>
    <dsp:sp modelId="{645660FC-29F0-4ECD-9736-2F09D9960928}">
      <dsp:nvSpPr>
        <dsp:cNvPr id="0" name=""/>
        <dsp:cNvSpPr/>
      </dsp:nvSpPr>
      <dsp:spPr>
        <a:xfrm rot="19937998">
          <a:off x="5873892" y="1953838"/>
          <a:ext cx="2500373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00373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230986" y="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Relevant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Response </a:t>
          </a:r>
          <a:endParaRPr lang="ru-RU" sz="1800" b="0" kern="1200" dirty="0"/>
        </a:p>
      </dsp:txBody>
      <dsp:txXfrm>
        <a:off x="8318867" y="87881"/>
        <a:ext cx="1624484" cy="162448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14.02.2026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Выделить наиболее интересное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653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93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76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57946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4422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4575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5598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1562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43441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1177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1876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Написать вывод из графиков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26872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0812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14.02.2026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0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18" Type="http://schemas.openxmlformats.org/officeDocument/2006/relationships/image" Target="../media/image42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image" Target="../media/image28.png"/><Relationship Id="rId16" Type="http://schemas.openxmlformats.org/officeDocument/2006/relationships/image" Target="../media/image40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35.png"/><Relationship Id="rId5" Type="http://schemas.openxmlformats.org/officeDocument/2006/relationships/image" Target="../media/image22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19" Type="http://schemas.openxmlformats.org/officeDocument/2006/relationships/image" Target="../media/image43.png"/><Relationship Id="rId4" Type="http://schemas.openxmlformats.org/officeDocument/2006/relationships/image" Target="../media/image30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0.png"/><Relationship Id="rId18" Type="http://schemas.openxmlformats.org/officeDocument/2006/relationships/image" Target="../media/image35.png"/><Relationship Id="rId3" Type="http://schemas.openxmlformats.org/officeDocument/2006/relationships/image" Target="../media/image45.png"/><Relationship Id="rId7" Type="http://schemas.openxmlformats.org/officeDocument/2006/relationships/image" Target="../media/image22.png"/><Relationship Id="rId12" Type="http://schemas.openxmlformats.org/officeDocument/2006/relationships/image" Target="../media/image49.png"/><Relationship Id="rId17" Type="http://schemas.openxmlformats.org/officeDocument/2006/relationships/image" Target="../media/image5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11" Type="http://schemas.openxmlformats.org/officeDocument/2006/relationships/image" Target="../media/image34.png"/><Relationship Id="rId5" Type="http://schemas.openxmlformats.org/officeDocument/2006/relationships/image" Target="../media/image47.png"/><Relationship Id="rId15" Type="http://schemas.openxmlformats.org/officeDocument/2006/relationships/image" Target="../media/image51.png"/><Relationship Id="rId10" Type="http://schemas.openxmlformats.org/officeDocument/2006/relationships/image" Target="../media/image33.png"/><Relationship Id="rId4" Type="http://schemas.openxmlformats.org/officeDocument/2006/relationships/image" Target="../media/image46.png"/><Relationship Id="rId9" Type="http://schemas.openxmlformats.org/officeDocument/2006/relationships/image" Target="../media/image32.png"/><Relationship Id="rId14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33.png"/><Relationship Id="rId12" Type="http://schemas.openxmlformats.org/officeDocument/2006/relationships/image" Target="../media/image58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57.png"/><Relationship Id="rId5" Type="http://schemas.openxmlformats.org/officeDocument/2006/relationships/image" Target="../media/image23.png"/><Relationship Id="rId15" Type="http://schemas.openxmlformats.org/officeDocument/2006/relationships/image" Target="../media/image37.png"/><Relationship Id="rId10" Type="http://schemas.openxmlformats.org/officeDocument/2006/relationships/image" Target="../media/image56.png"/><Relationship Id="rId4" Type="http://schemas.openxmlformats.org/officeDocument/2006/relationships/image" Target="../media/image22.png"/><Relationship Id="rId9" Type="http://schemas.openxmlformats.org/officeDocument/2006/relationships/image" Target="../media/image55.png"/><Relationship Id="rId14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33.png"/><Relationship Id="rId18" Type="http://schemas.openxmlformats.org/officeDocument/2006/relationships/image" Target="../media/image37.png"/><Relationship Id="rId3" Type="http://schemas.openxmlformats.org/officeDocument/2006/relationships/image" Target="../media/image45.png"/><Relationship Id="rId7" Type="http://schemas.openxmlformats.org/officeDocument/2006/relationships/image" Target="../media/image63.png"/><Relationship Id="rId12" Type="http://schemas.openxmlformats.org/officeDocument/2006/relationships/image" Target="../media/image32.png"/><Relationship Id="rId17" Type="http://schemas.openxmlformats.org/officeDocument/2006/relationships/image" Target="../media/image36.png"/><Relationship Id="rId2" Type="http://schemas.openxmlformats.org/officeDocument/2006/relationships/image" Target="../media/image60.png"/><Relationship Id="rId16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3.png"/><Relationship Id="rId5" Type="http://schemas.openxmlformats.org/officeDocument/2006/relationships/image" Target="../media/image62.png"/><Relationship Id="rId15" Type="http://schemas.openxmlformats.org/officeDocument/2006/relationships/image" Target="../media/image20.png"/><Relationship Id="rId10" Type="http://schemas.openxmlformats.org/officeDocument/2006/relationships/image" Target="../media/image22.png"/><Relationship Id="rId19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5.png"/><Relationship Id="rId14" Type="http://schemas.openxmlformats.org/officeDocument/2006/relationships/image" Target="../media/image6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86.png"/><Relationship Id="rId5" Type="http://schemas.openxmlformats.org/officeDocument/2006/relationships/image" Target="../media/image83.png"/><Relationship Id="rId10" Type="http://schemas.openxmlformats.org/officeDocument/2006/relationships/image" Target="../media/image85.png"/><Relationship Id="rId4" Type="http://schemas.openxmlformats.org/officeDocument/2006/relationships/image" Target="../media/image88.png"/><Relationship Id="rId9" Type="http://schemas.openxmlformats.org/officeDocument/2006/relationships/image" Target="../media/image8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9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96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8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5" Type="http://schemas.openxmlformats.org/officeDocument/2006/relationships/image" Target="../media/image98.png"/><Relationship Id="rId4" Type="http://schemas.openxmlformats.org/officeDocument/2006/relationships/image" Target="../media/image9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100.png"/><Relationship Id="rId18" Type="http://schemas.openxmlformats.org/officeDocument/2006/relationships/image" Target="../media/image35.png"/><Relationship Id="rId3" Type="http://schemas.openxmlformats.org/officeDocument/2006/relationships/image" Target="../media/image47.png"/><Relationship Id="rId7" Type="http://schemas.openxmlformats.org/officeDocument/2006/relationships/image" Target="../media/image33.png"/><Relationship Id="rId12" Type="http://schemas.openxmlformats.org/officeDocument/2006/relationships/image" Target="../media/image99.png"/><Relationship Id="rId17" Type="http://schemas.openxmlformats.org/officeDocument/2006/relationships/image" Target="../media/image53.png"/><Relationship Id="rId2" Type="http://schemas.openxmlformats.org/officeDocument/2006/relationships/image" Target="../media/image45.png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20.png"/><Relationship Id="rId5" Type="http://schemas.openxmlformats.org/officeDocument/2006/relationships/image" Target="../media/image23.png"/><Relationship Id="rId15" Type="http://schemas.openxmlformats.org/officeDocument/2006/relationships/image" Target="../media/image51.png"/><Relationship Id="rId10" Type="http://schemas.openxmlformats.org/officeDocument/2006/relationships/image" Target="../media/image48.png"/><Relationship Id="rId4" Type="http://schemas.openxmlformats.org/officeDocument/2006/relationships/image" Target="../media/image22.png"/><Relationship Id="rId9" Type="http://schemas.openxmlformats.org/officeDocument/2006/relationships/image" Target="../media/image49.png"/><Relationship Id="rId14" Type="http://schemas.openxmlformats.org/officeDocument/2006/relationships/image" Target="../media/image5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2.xml"/><Relationship Id="rId4" Type="http://schemas.openxmlformats.org/officeDocument/2006/relationships/chart" Target="../charts/char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110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109.png"/><Relationship Id="rId4" Type="http://schemas.openxmlformats.org/officeDocument/2006/relationships/diagramLayout" Target="../diagrams/layout2.xml"/><Relationship Id="rId9" Type="http://schemas.openxmlformats.org/officeDocument/2006/relationships/image" Target="../media/image10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112.png"/><Relationship Id="rId7" Type="http://schemas.openxmlformats.org/officeDocument/2006/relationships/image" Target="../media/image116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13" Type="http://schemas.openxmlformats.org/officeDocument/2006/relationships/image" Target="../media/image122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48.png"/><Relationship Id="rId17" Type="http://schemas.openxmlformats.org/officeDocument/2006/relationships/image" Target="../media/image126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21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24.png"/><Relationship Id="rId10" Type="http://schemas.openxmlformats.org/officeDocument/2006/relationships/image" Target="../media/image120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19.png"/><Relationship Id="rId14" Type="http://schemas.openxmlformats.org/officeDocument/2006/relationships/image" Target="../media/image1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35.png"/><Relationship Id="rId3" Type="http://schemas.openxmlformats.org/officeDocument/2006/relationships/image" Target="../media/image127.png"/><Relationship Id="rId7" Type="http://schemas.openxmlformats.org/officeDocument/2006/relationships/image" Target="../media/image129.png"/><Relationship Id="rId12" Type="http://schemas.openxmlformats.org/officeDocument/2006/relationships/image" Target="../media/image1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1.png"/><Relationship Id="rId11" Type="http://schemas.openxmlformats.org/officeDocument/2006/relationships/image" Target="../media/image133.png"/><Relationship Id="rId5" Type="http://schemas.openxmlformats.org/officeDocument/2006/relationships/image" Target="../media/image113.png"/><Relationship Id="rId10" Type="http://schemas.openxmlformats.org/officeDocument/2006/relationships/image" Target="../media/image132.png"/><Relationship Id="rId4" Type="http://schemas.openxmlformats.org/officeDocument/2006/relationships/image" Target="../media/image128.png"/><Relationship Id="rId9" Type="http://schemas.openxmlformats.org/officeDocument/2006/relationships/image" Target="../media/image131.png"/><Relationship Id="rId14" Type="http://schemas.openxmlformats.org/officeDocument/2006/relationships/image" Target="../media/image13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495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доменами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 smtClean="0"/>
              <a:t>файл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14178" y="2856559"/>
            <a:ext cx="2241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JSON- </a:t>
            </a:r>
            <a:r>
              <a:rPr lang="ru-RU" dirty="0" smtClean="0"/>
              <a:t>файл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2093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JSON- </a:t>
            </a:r>
            <a:r>
              <a:rPr lang="ru-RU" dirty="0" smtClean="0"/>
              <a:t>файл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5038712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324" y="5285769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339" y="5327159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 smtClean="0"/>
                <a:t>fileOperations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5043071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5042414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42" y="5322017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373479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5606688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58392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07674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3128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2252" y="5043903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pic>
        <p:nvPicPr>
          <p:cNvPr id="68" name="Рисунок 6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3310" y="2888812"/>
            <a:ext cx="636330" cy="90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963" y="2884424"/>
            <a:ext cx="636330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106" y="2878033"/>
            <a:ext cx="636330" cy="90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1337" y="2887244"/>
            <a:ext cx="636330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Общий 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91650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21" name="Рисунок 2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142" name="Рисунок 14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1698" y="2429161"/>
            <a:ext cx="381798" cy="540000"/>
          </a:xfrm>
          <a:prstGeom prst="rect">
            <a:avLst/>
          </a:prstGeom>
        </p:spPr>
      </p:pic>
      <p:pic>
        <p:nvPicPr>
          <p:cNvPr id="143" name="Рисунок 14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8784" y="2426584"/>
            <a:ext cx="381798" cy="540000"/>
          </a:xfrm>
          <a:prstGeom prst="rect">
            <a:avLst/>
          </a:prstGeom>
        </p:spPr>
      </p:pic>
      <p:pic>
        <p:nvPicPr>
          <p:cNvPr id="144" name="Рисунок 14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222" y="2428061"/>
            <a:ext cx="381798" cy="540000"/>
          </a:xfrm>
          <a:prstGeom prst="rect">
            <a:avLst/>
          </a:prstGeom>
        </p:spPr>
      </p:pic>
      <p:pic>
        <p:nvPicPr>
          <p:cNvPr id="145" name="Рисунок 14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599" y="3776156"/>
            <a:ext cx="890858" cy="1260000"/>
          </a:xfrm>
          <a:prstGeom prst="rect">
            <a:avLst/>
          </a:prstGeom>
        </p:spPr>
      </p:pic>
      <p:pic>
        <p:nvPicPr>
          <p:cNvPr id="146" name="Рисунок 14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9991" y="3769661"/>
            <a:ext cx="890858" cy="1260000"/>
          </a:xfrm>
          <a:prstGeom prst="rect">
            <a:avLst/>
          </a:prstGeom>
        </p:spPr>
      </p:pic>
      <p:pic>
        <p:nvPicPr>
          <p:cNvPr id="147" name="Рисунок 14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8846" y="3776156"/>
            <a:ext cx="890858" cy="126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8859" y="1995092"/>
            <a:ext cx="763597" cy="10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5095" y="1990754"/>
            <a:ext cx="763597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6434" y="2006590"/>
            <a:ext cx="763597" cy="10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4163" y="1995345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</a:t>
            </a:r>
            <a:r>
              <a:rPr lang="ru-RU" sz="4000" dirty="0" smtClean="0"/>
              <a:t>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550" y="2038374"/>
            <a:ext cx="763598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8886" y="1996680"/>
            <a:ext cx="763597" cy="108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6695" y="30691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8561" y="4512402"/>
            <a:ext cx="763597" cy="108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03" y="5588957"/>
            <a:ext cx="509065" cy="720000"/>
          </a:xfrm>
          <a:prstGeom prst="rect">
            <a:avLst/>
          </a:prstGeom>
        </p:spPr>
      </p:pic>
      <p:pic>
        <p:nvPicPr>
          <p:cNvPr id="29" name="Рисунок 28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673" y="4932593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6128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/ </a:t>
            </a:r>
          </a:p>
          <a:p>
            <a:r>
              <a:rPr lang="ru-RU" dirty="0" smtClean="0"/>
              <a:t> максимальная релевантность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7105" y="1995349"/>
            <a:ext cx="763597" cy="10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4194" y="3062529"/>
            <a:ext cx="509065" cy="720000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4772" y="4509477"/>
            <a:ext cx="763597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860" y="5591120"/>
            <a:ext cx="509065" cy="720000"/>
          </a:xfrm>
          <a:prstGeom prst="rect">
            <a:avLst/>
          </a:prstGeom>
        </p:spPr>
      </p:pic>
      <p:pic>
        <p:nvPicPr>
          <p:cNvPr id="78" name="Рисунок 7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20" y="4942421"/>
            <a:ext cx="381798" cy="540000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58" y="4943898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422" y="4569354"/>
            <a:ext cx="763598" cy="10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0123" y="1996918"/>
            <a:ext cx="763597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20" y="2425260"/>
            <a:ext cx="381798" cy="54000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58" y="2426737"/>
            <a:ext cx="381798" cy="54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9493" y="1869890"/>
            <a:ext cx="1399928" cy="19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9" name="Соединительная линия уступом 118"/>
          <p:cNvCxnSpPr>
            <a:stCxn id="104" idx="2"/>
            <a:endCxn id="111" idx="0"/>
          </p:cNvCxnSpPr>
          <p:nvPr/>
        </p:nvCxnSpPr>
        <p:spPr>
          <a:xfrm rot="16200000" flipH="1">
            <a:off x="8202795" y="3456124"/>
            <a:ext cx="753309" cy="65702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297" y="4416718"/>
            <a:ext cx="1080000" cy="1527507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Индексация документов</a:t>
            </a:r>
            <a:endParaRPr lang="ru-RU" sz="2400" dirty="0"/>
          </a:p>
        </p:txBody>
      </p:sp>
      <p:sp>
        <p:nvSpPr>
          <p:cNvPr id="10" name="Стрелка вправо 9"/>
          <p:cNvSpPr/>
          <p:nvPr/>
        </p:nvSpPr>
        <p:spPr>
          <a:xfrm>
            <a:off x="1510445" y="2516018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435" y="1940839"/>
            <a:ext cx="540000" cy="763753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 rot="5400000">
            <a:off x="157897" y="3886836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860155" y="1634370"/>
            <a:ext cx="27093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определены (документ закончился)</a:t>
            </a:r>
            <a:endParaRPr lang="ru-RU" sz="1000" dirty="0"/>
          </a:p>
        </p:txBody>
      </p:sp>
      <p:sp>
        <p:nvSpPr>
          <p:cNvPr id="16" name="Стрелка вправо 15"/>
          <p:cNvSpPr/>
          <p:nvPr/>
        </p:nvSpPr>
        <p:spPr>
          <a:xfrm>
            <a:off x="3503599" y="2517097"/>
            <a:ext cx="17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155473" y="3475708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лово</a:t>
            </a:r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sp>
        <p:nvSpPr>
          <p:cNvPr id="48" name="TextBox 47"/>
          <p:cNvSpPr txBox="1"/>
          <p:nvPr/>
        </p:nvSpPr>
        <p:spPr>
          <a:xfrm>
            <a:off x="6514909" y="2309866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слово</a:t>
            </a:r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53" name="TextBox 52"/>
          <p:cNvSpPr txBox="1"/>
          <p:nvPr/>
        </p:nvSpPr>
        <p:spPr>
          <a:xfrm>
            <a:off x="8775721" y="2310468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en-US" sz="1000" dirty="0" smtClean="0"/>
          </a:p>
        </p:txBody>
      </p:sp>
      <p:cxnSp>
        <p:nvCxnSpPr>
          <p:cNvPr id="76" name="Соединительная линия уступом 75"/>
          <p:cNvCxnSpPr>
            <a:stCxn id="108" idx="2"/>
            <a:endCxn id="96" idx="2"/>
          </p:cNvCxnSpPr>
          <p:nvPr/>
        </p:nvCxnSpPr>
        <p:spPr>
          <a:xfrm rot="5400000">
            <a:off x="6805836" y="-713854"/>
            <a:ext cx="131348" cy="8154544"/>
          </a:xfrm>
          <a:prstGeom prst="bentConnector3">
            <a:avLst>
              <a:gd name="adj1" fmla="val 2174808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Соединительная линия уступом 66"/>
          <p:cNvCxnSpPr>
            <a:stCxn id="16" idx="1"/>
            <a:endCxn id="90" idx="0"/>
          </p:cNvCxnSpPr>
          <p:nvPr/>
        </p:nvCxnSpPr>
        <p:spPr>
          <a:xfrm rot="10800000">
            <a:off x="872557" y="2356783"/>
            <a:ext cx="2631043" cy="394314"/>
          </a:xfrm>
          <a:prstGeom prst="bentConnector4">
            <a:avLst>
              <a:gd name="adj1" fmla="val -4779"/>
              <a:gd name="adj2" fmla="val 20748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Соединительная линия уступом 94"/>
          <p:cNvCxnSpPr>
            <a:stCxn id="115" idx="2"/>
          </p:cNvCxnSpPr>
          <p:nvPr/>
        </p:nvCxnSpPr>
        <p:spPr>
          <a:xfrm rot="5400000">
            <a:off x="5533483" y="5705947"/>
            <a:ext cx="936055" cy="1594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Соединительная линия уступом 97"/>
          <p:cNvCxnSpPr>
            <a:stCxn id="111" idx="2"/>
          </p:cNvCxnSpPr>
          <p:nvPr/>
        </p:nvCxnSpPr>
        <p:spPr>
          <a:xfrm rot="16200000" flipH="1">
            <a:off x="8441225" y="5708033"/>
            <a:ext cx="933480" cy="2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44087" y="5671195"/>
            <a:ext cx="14814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инвертированного</a:t>
            </a:r>
          </a:p>
          <a:p>
            <a:r>
              <a:rPr lang="ru-RU" sz="1000" dirty="0" smtClean="0"/>
              <a:t>индекса</a:t>
            </a:r>
            <a:endParaRPr lang="ru-RU" sz="1000" dirty="0"/>
          </a:p>
        </p:txBody>
      </p:sp>
      <p:grpSp>
        <p:nvGrpSpPr>
          <p:cNvPr id="31" name="Группа 30"/>
          <p:cNvGrpSpPr/>
          <p:nvPr/>
        </p:nvGrpSpPr>
        <p:grpSpPr>
          <a:xfrm>
            <a:off x="3756659" y="2270280"/>
            <a:ext cx="1152036" cy="277177"/>
            <a:chOff x="3901044" y="3386772"/>
            <a:chExt cx="1294911" cy="266589"/>
          </a:xfrm>
        </p:grpSpPr>
        <p:sp>
          <p:nvSpPr>
            <p:cNvPr id="26" name="Прямоугольник 25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901044" y="3386772"/>
              <a:ext cx="58241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532529" y="3386772"/>
              <a:ext cx="66342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  <p:cxnSp>
          <p:nvCxnSpPr>
            <p:cNvPr id="30" name="Прямая соединительная линия 29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TextBox 77"/>
          <p:cNvSpPr txBox="1"/>
          <p:nvPr/>
        </p:nvSpPr>
        <p:spPr>
          <a:xfrm>
            <a:off x="7408946" y="3476652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en-US" sz="1000" dirty="0" smtClean="0"/>
          </a:p>
        </p:txBody>
      </p:sp>
      <p:grpSp>
        <p:nvGrpSpPr>
          <p:cNvPr id="66" name="Группа 65"/>
          <p:cNvGrpSpPr/>
          <p:nvPr/>
        </p:nvGrpSpPr>
        <p:grpSpPr>
          <a:xfrm>
            <a:off x="302781" y="2356783"/>
            <a:ext cx="1289135" cy="1205690"/>
            <a:chOff x="57796" y="1752187"/>
            <a:chExt cx="1289135" cy="1205690"/>
          </a:xfrm>
        </p:grpSpPr>
        <p:sp>
          <p:nvSpPr>
            <p:cNvPr id="90" name="Блок-схема: процесс 89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57796" y="2557767"/>
              <a:ext cx="12891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документ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документов</a:t>
              </a:r>
              <a:endParaRPr lang="ru-RU" sz="1000" dirty="0"/>
            </a:p>
          </p:txBody>
        </p:sp>
      </p:grpSp>
      <p:grpSp>
        <p:nvGrpSpPr>
          <p:cNvPr id="17" name="Группа 16"/>
          <p:cNvGrpSpPr/>
          <p:nvPr/>
        </p:nvGrpSpPr>
        <p:grpSpPr>
          <a:xfrm>
            <a:off x="2302757" y="2374538"/>
            <a:ext cx="1109775" cy="1054554"/>
            <a:chOff x="3833917" y="3574756"/>
            <a:chExt cx="1109775" cy="1054554"/>
          </a:xfrm>
        </p:grpSpPr>
        <p:grpSp>
          <p:nvGrpSpPr>
            <p:cNvPr id="93" name="Группа 92"/>
            <p:cNvGrpSpPr/>
            <p:nvPr/>
          </p:nvGrpSpPr>
          <p:grpSpPr>
            <a:xfrm>
              <a:off x="3833917" y="3577509"/>
              <a:ext cx="1109775" cy="1051801"/>
              <a:chOff x="57796" y="1752187"/>
              <a:chExt cx="1109775" cy="1051801"/>
            </a:xfrm>
          </p:grpSpPr>
          <p:sp>
            <p:nvSpPr>
              <p:cNvPr id="94" name="Блок-схема: процесс 93"/>
              <p:cNvSpPr/>
              <p:nvPr/>
            </p:nvSpPr>
            <p:spPr>
              <a:xfrm>
                <a:off x="87571" y="1752187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6" name="TextBox 95"/>
              <p:cNvSpPr txBox="1"/>
              <p:nvPr/>
            </p:nvSpPr>
            <p:spPr>
              <a:xfrm>
                <a:off x="57796" y="2557767"/>
                <a:ext cx="982961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ыбрать слово</a:t>
                </a:r>
              </a:p>
            </p:txBody>
          </p:sp>
        </p:grpSp>
        <p:pic>
          <p:nvPicPr>
            <p:cNvPr id="23" name="Рисунок 2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7635" y="3574756"/>
              <a:ext cx="1008000" cy="712700"/>
            </a:xfrm>
            <a:prstGeom prst="rect">
              <a:avLst/>
            </a:prstGeom>
          </p:spPr>
        </p:pic>
      </p:grpSp>
      <p:grpSp>
        <p:nvGrpSpPr>
          <p:cNvPr id="97" name="Группа 96"/>
          <p:cNvGrpSpPr/>
          <p:nvPr/>
        </p:nvGrpSpPr>
        <p:grpSpPr>
          <a:xfrm>
            <a:off x="5334714" y="2076725"/>
            <a:ext cx="1332000" cy="1332000"/>
            <a:chOff x="7425120" y="1638785"/>
            <a:chExt cx="1332000" cy="1332000"/>
          </a:xfrm>
        </p:grpSpPr>
        <p:sp>
          <p:nvSpPr>
            <p:cNvPr id="99" name="Блок-схема: решение 98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7575866" y="2545196"/>
              <a:ext cx="1029449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 smtClean="0"/>
                <a:t>“word”</a:t>
              </a:r>
              <a:endParaRPr lang="ru-RU" sz="1000" dirty="0"/>
            </a:p>
            <a:p>
              <a:r>
                <a:rPr lang="ru-RU" sz="1000" dirty="0" smtClean="0"/>
                <a:t>в базе индекса </a:t>
              </a:r>
            </a:p>
          </p:txBody>
        </p:sp>
      </p:grpSp>
      <p:grpSp>
        <p:nvGrpSpPr>
          <p:cNvPr id="103" name="Группа 102"/>
          <p:cNvGrpSpPr/>
          <p:nvPr/>
        </p:nvGrpSpPr>
        <p:grpSpPr>
          <a:xfrm>
            <a:off x="7525186" y="2075985"/>
            <a:ext cx="1440790" cy="1332000"/>
            <a:chOff x="7365371" y="1638785"/>
            <a:chExt cx="1440790" cy="1332000"/>
          </a:xfrm>
        </p:grpSpPr>
        <p:sp>
          <p:nvSpPr>
            <p:cNvPr id="104" name="Блок-схема: решение 103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7365371" y="2545196"/>
              <a:ext cx="1440790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</a:t>
              </a:r>
              <a:r>
                <a:rPr lang="en-US" sz="1000" dirty="0" smtClean="0"/>
                <a:t>” </a:t>
              </a:r>
              <a:r>
                <a:rPr lang="ru-RU" sz="1000" dirty="0" smtClean="0"/>
                <a:t>по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базе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индекса </a:t>
              </a:r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9868782" y="2181744"/>
            <a:ext cx="2160000" cy="1116000"/>
            <a:chOff x="3404221" y="3272340"/>
            <a:chExt cx="2160000" cy="1116000"/>
          </a:xfrm>
        </p:grpSpPr>
        <p:sp>
          <p:nvSpPr>
            <p:cNvPr id="108" name="Блок-схема: процесс 107"/>
            <p:cNvSpPr/>
            <p:nvPr/>
          </p:nvSpPr>
          <p:spPr>
            <a:xfrm>
              <a:off x="3404221" y="3272340"/>
              <a:ext cx="2160000" cy="1116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71" name="Группа 70"/>
            <p:cNvGrpSpPr/>
            <p:nvPr/>
          </p:nvGrpSpPr>
          <p:grpSpPr>
            <a:xfrm>
              <a:off x="3787745" y="3436157"/>
              <a:ext cx="1744552" cy="288119"/>
              <a:chOff x="3901044" y="3386658"/>
              <a:chExt cx="1136885" cy="277113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3901044" y="3401361"/>
                <a:ext cx="1083709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3901044" y="3386772"/>
                <a:ext cx="51815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word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5" name="TextBox 74"/>
              <p:cNvSpPr txBox="1"/>
              <p:nvPr/>
            </p:nvSpPr>
            <p:spPr>
              <a:xfrm>
                <a:off x="4274613" y="3386658"/>
                <a:ext cx="7633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{ID doc</a:t>
                </a:r>
                <a:r>
                  <a:rPr lang="ru-RU" sz="1200" b="1" dirty="0" smtClean="0">
                    <a:solidFill>
                      <a:schemeClr val="bg1"/>
                    </a:solidFill>
                  </a:rPr>
                  <a:t>, </a:t>
                </a:r>
                <a:r>
                  <a:rPr lang="en-US" sz="1200" b="1" dirty="0" smtClean="0"/>
                  <a:t>++N</a:t>
                </a:r>
                <a:r>
                  <a:rPr lang="en-US" sz="1200" b="1" dirty="0" smtClean="0">
                    <a:solidFill>
                      <a:schemeClr val="bg1"/>
                    </a:solidFill>
                  </a:rPr>
                  <a:t>}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77" name="Прямая соединительная линия 76"/>
              <p:cNvCxnSpPr/>
              <p:nvPr/>
            </p:nvCxnSpPr>
            <p:spPr>
              <a:xfrm>
                <a:off x="4255468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7" name="TextBox 106"/>
            <p:cNvSpPr txBox="1"/>
            <p:nvPr/>
          </p:nvSpPr>
          <p:spPr>
            <a:xfrm>
              <a:off x="3418147" y="3778909"/>
              <a:ext cx="2146074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увеличить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</a:t>
              </a:r>
              <a:endParaRPr lang="en-US" sz="1000" dirty="0" smtClean="0"/>
            </a:p>
          </p:txBody>
        </p:sp>
      </p:grpSp>
      <p:grpSp>
        <p:nvGrpSpPr>
          <p:cNvPr id="36" name="Группа 35"/>
          <p:cNvGrpSpPr/>
          <p:nvPr/>
        </p:nvGrpSpPr>
        <p:grpSpPr>
          <a:xfrm>
            <a:off x="7539964" y="4161294"/>
            <a:ext cx="2736000" cy="1080000"/>
            <a:chOff x="8047264" y="3812669"/>
            <a:chExt cx="2736000" cy="1080000"/>
          </a:xfrm>
        </p:grpSpPr>
        <p:sp>
          <p:nvSpPr>
            <p:cNvPr id="111" name="Блок-схема: процесс 110"/>
            <p:cNvSpPr/>
            <p:nvPr/>
          </p:nvSpPr>
          <p:spPr>
            <a:xfrm>
              <a:off x="8047264" y="3812669"/>
              <a:ext cx="273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5" name="Группа 34"/>
            <p:cNvGrpSpPr/>
            <p:nvPr/>
          </p:nvGrpSpPr>
          <p:grpSpPr>
            <a:xfrm>
              <a:off x="8070359" y="3974134"/>
              <a:ext cx="2702790" cy="890216"/>
              <a:chOff x="8070359" y="3974134"/>
              <a:chExt cx="2702790" cy="890216"/>
            </a:xfrm>
          </p:grpSpPr>
          <p:grpSp>
            <p:nvGrpSpPr>
              <p:cNvPr id="79" name="Группа 78"/>
              <p:cNvGrpSpPr/>
              <p:nvPr/>
            </p:nvGrpSpPr>
            <p:grpSpPr>
              <a:xfrm>
                <a:off x="8440965" y="3974134"/>
                <a:ext cx="2332184" cy="288000"/>
                <a:chOff x="3901044" y="3386772"/>
                <a:chExt cx="980731" cy="276999"/>
              </a:xfrm>
            </p:grpSpPr>
            <p:sp>
              <p:nvSpPr>
                <p:cNvPr id="82" name="Прямоугольник 81"/>
                <p:cNvSpPr/>
                <p:nvPr/>
              </p:nvSpPr>
              <p:spPr>
                <a:xfrm>
                  <a:off x="3901044" y="3401361"/>
                  <a:ext cx="935290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83" name="TextBox 82"/>
                <p:cNvSpPr txBox="1"/>
                <p:nvPr/>
              </p:nvSpPr>
              <p:spPr>
                <a:xfrm>
                  <a:off x="3901044" y="3386772"/>
                  <a:ext cx="5181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word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84" name="TextBox 83"/>
                <p:cNvSpPr txBox="1"/>
                <p:nvPr/>
              </p:nvSpPr>
              <p:spPr>
                <a:xfrm>
                  <a:off x="4138951" y="3387436"/>
                  <a:ext cx="742824" cy="2664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>
                      <a:solidFill>
                        <a:schemeClr val="bg1"/>
                      </a:solidFill>
                    </a:rPr>
                    <a:t>{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r>
                    <a:rPr lang="ru-RU" sz="1200" b="1" dirty="0" smtClean="0">
                      <a:solidFill>
                        <a:schemeClr val="bg1"/>
                      </a:solidFill>
                    </a:rPr>
                    <a:t>, 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n}, </a:t>
                  </a:r>
                  <a:r>
                    <a:rPr lang="en-US" sz="1200" b="1" dirty="0" smtClean="0"/>
                    <a:t>{ID doc, 1}</a:t>
                  </a:r>
                  <a:endParaRPr lang="ru-RU" sz="1200" b="1" dirty="0"/>
                </a:p>
              </p:txBody>
            </p:sp>
            <p:cxnSp>
              <p:nvCxnSpPr>
                <p:cNvPr id="85" name="Прямая соединительная линия 84"/>
                <p:cNvCxnSpPr/>
                <p:nvPr/>
              </p:nvCxnSpPr>
              <p:spPr>
                <a:xfrm>
                  <a:off x="4125830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0" name="TextBox 109"/>
              <p:cNvSpPr txBox="1"/>
              <p:nvPr/>
            </p:nvSpPr>
            <p:spPr>
              <a:xfrm>
                <a:off x="8070359" y="4310352"/>
                <a:ext cx="269761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 базе индекса, по слову, добавить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 и количество вхождений слова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документ равное 1</a:t>
                </a:r>
                <a:endParaRPr lang="en-US" sz="1000" dirty="0" smtClean="0"/>
              </a:p>
            </p:txBody>
          </p:sp>
        </p:grpSp>
      </p:grpSp>
      <p:grpSp>
        <p:nvGrpSpPr>
          <p:cNvPr id="43" name="Группа 42"/>
          <p:cNvGrpSpPr/>
          <p:nvPr/>
        </p:nvGrpSpPr>
        <p:grpSpPr>
          <a:xfrm>
            <a:off x="4814307" y="4084288"/>
            <a:ext cx="2376000" cy="1154429"/>
            <a:chOff x="3743564" y="3673870"/>
            <a:chExt cx="2376000" cy="11544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3743564" y="3748299"/>
              <a:ext cx="237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63" name="Группа 62"/>
            <p:cNvGrpSpPr/>
            <p:nvPr/>
          </p:nvGrpSpPr>
          <p:grpSpPr>
            <a:xfrm>
              <a:off x="4529221" y="3896709"/>
              <a:ext cx="1517215" cy="294660"/>
              <a:chOff x="3901044" y="3380367"/>
              <a:chExt cx="1249151" cy="283404"/>
            </a:xfrm>
          </p:grpSpPr>
          <p:sp>
            <p:nvSpPr>
              <p:cNvPr id="64" name="Прямоугольник 63"/>
              <p:cNvSpPr/>
              <p:nvPr/>
            </p:nvSpPr>
            <p:spPr>
              <a:xfrm>
                <a:off x="3901044" y="3401361"/>
                <a:ext cx="1217540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3901044" y="3386772"/>
                <a:ext cx="49688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word</a:t>
                </a:r>
                <a:endParaRPr lang="ru-RU" sz="1200" b="1" dirty="0"/>
              </a:p>
            </p:txBody>
          </p:sp>
          <p:sp>
            <p:nvSpPr>
              <p:cNvPr id="69" name="TextBox 68"/>
              <p:cNvSpPr txBox="1"/>
              <p:nvPr/>
            </p:nvSpPr>
            <p:spPr>
              <a:xfrm>
                <a:off x="4374381" y="3380367"/>
                <a:ext cx="77581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/>
                  <a:t>{ID doc</a:t>
                </a:r>
                <a:r>
                  <a:rPr lang="ru-RU" sz="1200" b="1" dirty="0" smtClean="0"/>
                  <a:t>, 1</a:t>
                </a:r>
                <a:r>
                  <a:rPr lang="en-US" sz="1200" b="1" dirty="0" smtClean="0"/>
                  <a:t>}</a:t>
                </a:r>
                <a:endParaRPr lang="ru-RU" sz="1200" b="1" dirty="0"/>
              </a:p>
            </p:txBody>
          </p:sp>
          <p:cxnSp>
            <p:nvCxnSpPr>
              <p:cNvPr id="70" name="Прямая соединительная линия 69"/>
              <p:cNvCxnSpPr/>
              <p:nvPr/>
            </p:nvCxnSpPr>
            <p:spPr>
              <a:xfrm>
                <a:off x="4349641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3" name="Прямоугольник 112"/>
            <p:cNvSpPr>
              <a:spLocks noChangeAspect="1"/>
            </p:cNvSpPr>
            <p:nvPr/>
          </p:nvSpPr>
          <p:spPr>
            <a:xfrm>
              <a:off x="4130687" y="3673870"/>
              <a:ext cx="335299" cy="540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4000" b="0" cap="none" spc="0" dirty="0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+</a:t>
              </a:r>
              <a:endParaRPr lang="ru-RU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3846386" y="4216056"/>
              <a:ext cx="217332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добавить слово,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 и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 равное 1</a:t>
              </a:r>
              <a:endParaRPr lang="en-US" sz="1000" dirty="0" smtClean="0"/>
            </a:p>
          </p:txBody>
        </p:sp>
      </p:grpSp>
      <p:cxnSp>
        <p:nvCxnSpPr>
          <p:cNvPr id="116" name="Соединительная линия уступом 115"/>
          <p:cNvCxnSpPr>
            <a:stCxn id="99" idx="3"/>
            <a:endCxn id="104" idx="1"/>
          </p:cNvCxnSpPr>
          <p:nvPr/>
        </p:nvCxnSpPr>
        <p:spPr>
          <a:xfrm flipV="1">
            <a:off x="6666714" y="2741985"/>
            <a:ext cx="918221" cy="74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Соединительная линия уступом 116"/>
          <p:cNvCxnSpPr>
            <a:stCxn id="104" idx="3"/>
            <a:endCxn id="108" idx="1"/>
          </p:cNvCxnSpPr>
          <p:nvPr/>
        </p:nvCxnSpPr>
        <p:spPr>
          <a:xfrm flipV="1">
            <a:off x="8916935" y="2739744"/>
            <a:ext cx="951847" cy="2241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Соединительная линия уступом 117"/>
          <p:cNvCxnSpPr>
            <a:stCxn id="99" idx="2"/>
            <a:endCxn id="115" idx="0"/>
          </p:cNvCxnSpPr>
          <p:nvPr/>
        </p:nvCxnSpPr>
        <p:spPr>
          <a:xfrm rot="16200000" flipH="1">
            <a:off x="5626514" y="3782924"/>
            <a:ext cx="749992" cy="159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3101251" y="5864404"/>
            <a:ext cx="25362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екущие слово и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обработаны</a:t>
            </a:r>
            <a:endParaRPr lang="ru-RU" sz="1000" dirty="0"/>
          </a:p>
        </p:txBody>
      </p:sp>
      <p:sp>
        <p:nvSpPr>
          <p:cNvPr id="154" name="Прямоугольник 153"/>
          <p:cNvSpPr/>
          <p:nvPr/>
        </p:nvSpPr>
        <p:spPr>
          <a:xfrm>
            <a:off x="129917" y="205110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5" name="Прямоугольник 154"/>
          <p:cNvSpPr/>
          <p:nvPr/>
        </p:nvSpPr>
        <p:spPr>
          <a:xfrm>
            <a:off x="2132327" y="207991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6" name="Прямоугольник 155"/>
          <p:cNvSpPr/>
          <p:nvPr/>
        </p:nvSpPr>
        <p:spPr>
          <a:xfrm>
            <a:off x="5803143" y="178422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7" name="Прямоугольник 156"/>
          <p:cNvSpPr/>
          <p:nvPr/>
        </p:nvSpPr>
        <p:spPr>
          <a:xfrm>
            <a:off x="8045176" y="180316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8" name="Прямоугольник 157"/>
          <p:cNvSpPr/>
          <p:nvPr/>
        </p:nvSpPr>
        <p:spPr>
          <a:xfrm>
            <a:off x="9686179" y="187554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9" name="Прямоугольник 158"/>
          <p:cNvSpPr/>
          <p:nvPr/>
        </p:nvSpPr>
        <p:spPr>
          <a:xfrm>
            <a:off x="4615623" y="386837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0" name="Прямоугольник 159"/>
          <p:cNvSpPr/>
          <p:nvPr/>
        </p:nvSpPr>
        <p:spPr>
          <a:xfrm>
            <a:off x="7341702" y="386810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857" y="2364950"/>
            <a:ext cx="1008000" cy="712692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0518" y="2367057"/>
            <a:ext cx="1008000" cy="712694"/>
          </a:xfrm>
          <a:prstGeom prst="rect">
            <a:avLst/>
          </a:prstGeom>
        </p:spPr>
      </p:pic>
      <p:pic>
        <p:nvPicPr>
          <p:cNvPr id="37" name="Рисунок 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7885" y="2373583"/>
            <a:ext cx="1008000" cy="712691"/>
          </a:xfrm>
          <a:prstGeom prst="rect">
            <a:avLst/>
          </a:prstGeom>
        </p:spPr>
      </p:pic>
      <p:pic>
        <p:nvPicPr>
          <p:cNvPr id="39" name="Рисунок 3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0335" y="4150697"/>
            <a:ext cx="432704" cy="612000"/>
          </a:xfrm>
          <a:prstGeom prst="rect">
            <a:avLst/>
          </a:prstGeom>
        </p:spPr>
      </p:pic>
      <p:pic>
        <p:nvPicPr>
          <p:cNvPr id="100" name="Рисунок 9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9143" y="4160587"/>
            <a:ext cx="432704" cy="612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0939" y="2183412"/>
            <a:ext cx="432704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259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Соединительная линия уступом 37"/>
          <p:cNvCxnSpPr>
            <a:stCxn id="25" idx="1"/>
            <a:endCxn id="17" idx="2"/>
          </p:cNvCxnSpPr>
          <p:nvPr/>
        </p:nvCxnSpPr>
        <p:spPr>
          <a:xfrm rot="10800000" flipV="1">
            <a:off x="2982530" y="2281830"/>
            <a:ext cx="2749504" cy="828241"/>
          </a:xfrm>
          <a:prstGeom prst="bentConnector4">
            <a:avLst>
              <a:gd name="adj1" fmla="val -7889"/>
              <a:gd name="adj2" fmla="val 1412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Соединительная линия уступом 300"/>
          <p:cNvCxnSpPr>
            <a:stCxn id="23" idx="1"/>
            <a:endCxn id="49" idx="0"/>
          </p:cNvCxnSpPr>
          <p:nvPr/>
        </p:nvCxnSpPr>
        <p:spPr>
          <a:xfrm rot="10800000">
            <a:off x="987181" y="1895210"/>
            <a:ext cx="2643888" cy="389784"/>
          </a:xfrm>
          <a:prstGeom prst="bentConnector4">
            <a:avLst>
              <a:gd name="adj1" fmla="val -5987"/>
              <a:gd name="adj2" fmla="val 2276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Группа 32"/>
          <p:cNvGrpSpPr/>
          <p:nvPr/>
        </p:nvGrpSpPr>
        <p:grpSpPr>
          <a:xfrm>
            <a:off x="4631443" y="4668036"/>
            <a:ext cx="1332000" cy="1332000"/>
            <a:chOff x="7425120" y="1649059"/>
            <a:chExt cx="1332000" cy="1332000"/>
          </a:xfrm>
        </p:grpSpPr>
        <p:sp>
          <p:nvSpPr>
            <p:cNvPr id="101" name="Блок-схема: решение 100"/>
            <p:cNvSpPr>
              <a:spLocks noChangeAspect="1"/>
            </p:cNvSpPr>
            <p:nvPr/>
          </p:nvSpPr>
          <p:spPr>
            <a:xfrm>
              <a:off x="7425120" y="1649059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7586140" y="2545196"/>
              <a:ext cx="1000595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cxnSp>
        <p:nvCxnSpPr>
          <p:cNvPr id="226" name="Соединительная линия уступом 225"/>
          <p:cNvCxnSpPr>
            <a:stCxn id="222" idx="3"/>
          </p:cNvCxnSpPr>
          <p:nvPr/>
        </p:nvCxnSpPr>
        <p:spPr>
          <a:xfrm flipH="1" flipV="1">
            <a:off x="5064722" y="1756309"/>
            <a:ext cx="6459396" cy="2962597"/>
          </a:xfrm>
          <a:prstGeom prst="bentConnector4">
            <a:avLst>
              <a:gd name="adj1" fmla="val -1948"/>
              <a:gd name="adj2" fmla="val 111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базы относительной релевантности (релевантности ответов)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635143" y="2051536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3631069" y="205099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5732034" y="2047831"/>
            <a:ext cx="118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Соединительная линия уступом 33"/>
          <p:cNvCxnSpPr>
            <a:stCxn id="153" idx="3"/>
          </p:cNvCxnSpPr>
          <p:nvPr/>
        </p:nvCxnSpPr>
        <p:spPr>
          <a:xfrm flipH="1" flipV="1">
            <a:off x="5064722" y="1756309"/>
            <a:ext cx="6477003" cy="716057"/>
          </a:xfrm>
          <a:prstGeom prst="bentConnector4">
            <a:avLst>
              <a:gd name="adj1" fmla="val -1625"/>
              <a:gd name="adj2" fmla="val 14914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Стрелка вправо 62"/>
          <p:cNvSpPr/>
          <p:nvPr/>
        </p:nvSpPr>
        <p:spPr>
          <a:xfrm rot="5400000">
            <a:off x="782844" y="3028970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2877347" y="430710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2051" y="1469470"/>
            <a:ext cx="540000" cy="763750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2446610" y="1905529"/>
            <a:ext cx="1080000" cy="1204543"/>
            <a:chOff x="2254103" y="1736622"/>
            <a:chExt cx="1080000" cy="1204543"/>
          </a:xfrm>
        </p:grpSpPr>
        <p:sp>
          <p:nvSpPr>
            <p:cNvPr id="17" name="TextBox 16"/>
            <p:cNvSpPr txBox="1"/>
            <p:nvPr/>
          </p:nvSpPr>
          <p:spPr>
            <a:xfrm>
              <a:off x="2298542" y="2541055"/>
              <a:ext cx="9829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слово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запроса</a:t>
              </a:r>
              <a:endParaRPr lang="ru-RU" sz="1000" dirty="0"/>
            </a:p>
          </p:txBody>
        </p:sp>
        <p:grpSp>
          <p:nvGrpSpPr>
            <p:cNvPr id="27" name="Группа 26"/>
            <p:cNvGrpSpPr/>
            <p:nvPr/>
          </p:nvGrpSpPr>
          <p:grpSpPr>
            <a:xfrm>
              <a:off x="2254103" y="1736622"/>
              <a:ext cx="1080000" cy="792000"/>
              <a:chOff x="2254103" y="1736622"/>
              <a:chExt cx="1080000" cy="792000"/>
            </a:xfrm>
          </p:grpSpPr>
          <p:sp>
            <p:nvSpPr>
              <p:cNvPr id="59" name="Блок-схема: процесс 58"/>
              <p:cNvSpPr/>
              <p:nvPr/>
            </p:nvSpPr>
            <p:spPr>
              <a:xfrm>
                <a:off x="2254103" y="1736622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pic>
            <p:nvPicPr>
              <p:cNvPr id="28" name="Рисунок 27"/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62864" y="1742962"/>
                <a:ext cx="1008000" cy="712699"/>
              </a:xfrm>
              <a:prstGeom prst="rect">
                <a:avLst/>
              </a:prstGeom>
            </p:spPr>
          </p:pic>
        </p:grpSp>
      </p:grpSp>
      <p:grpSp>
        <p:nvGrpSpPr>
          <p:cNvPr id="37" name="Группа 36"/>
          <p:cNvGrpSpPr/>
          <p:nvPr/>
        </p:nvGrpSpPr>
        <p:grpSpPr>
          <a:xfrm>
            <a:off x="3626297" y="1797974"/>
            <a:ext cx="540000" cy="277176"/>
            <a:chOff x="4111934" y="2883423"/>
            <a:chExt cx="1188000" cy="277176"/>
          </a:xfrm>
        </p:grpSpPr>
        <p:sp>
          <p:nvSpPr>
            <p:cNvPr id="66" name="Прямоугольник 65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4111934" y="2883423"/>
              <a:ext cx="11399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</p:grpSp>
      <p:grpSp>
        <p:nvGrpSpPr>
          <p:cNvPr id="47" name="Группа 46"/>
          <p:cNvGrpSpPr/>
          <p:nvPr/>
        </p:nvGrpSpPr>
        <p:grpSpPr>
          <a:xfrm>
            <a:off x="5729539" y="1811008"/>
            <a:ext cx="900000" cy="277534"/>
            <a:chOff x="6369282" y="1767075"/>
            <a:chExt cx="969877" cy="277534"/>
          </a:xfrm>
        </p:grpSpPr>
        <p:grpSp>
          <p:nvGrpSpPr>
            <p:cNvPr id="71" name="Группа 70"/>
            <p:cNvGrpSpPr/>
            <p:nvPr/>
          </p:nvGrpSpPr>
          <p:grpSpPr>
            <a:xfrm>
              <a:off x="6369282" y="1767610"/>
              <a:ext cx="969877" cy="276999"/>
              <a:chOff x="4158024" y="2850118"/>
              <a:chExt cx="1188000" cy="276999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4158024" y="2856828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4161798" y="2850118"/>
                <a:ext cx="7790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ID doc</a:t>
                </a:r>
                <a:endParaRPr lang="ru-RU" sz="1200" b="1" dirty="0"/>
              </a:p>
            </p:txBody>
          </p:sp>
          <p:cxnSp>
            <p:nvCxnSpPr>
              <p:cNvPr id="74" name="Прямая соединительная линия 73"/>
              <p:cNvCxnSpPr/>
              <p:nvPr/>
            </p:nvCxnSpPr>
            <p:spPr>
              <a:xfrm>
                <a:off x="4938011" y="285440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4" name="TextBox 43"/>
            <p:cNvSpPr txBox="1"/>
            <p:nvPr/>
          </p:nvSpPr>
          <p:spPr>
            <a:xfrm>
              <a:off x="7031534" y="1767075"/>
              <a:ext cx="2888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n</a:t>
              </a:r>
              <a:endParaRPr lang="ru-RU" sz="1200" b="1" dirty="0"/>
            </a:p>
          </p:txBody>
        </p:sp>
      </p:grpSp>
      <p:grpSp>
        <p:nvGrpSpPr>
          <p:cNvPr id="43" name="Группа 42"/>
          <p:cNvGrpSpPr/>
          <p:nvPr/>
        </p:nvGrpSpPr>
        <p:grpSpPr>
          <a:xfrm>
            <a:off x="2457618" y="4878531"/>
            <a:ext cx="1422184" cy="1203129"/>
            <a:chOff x="4430768" y="4683566"/>
            <a:chExt cx="1422184" cy="12031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4581717" y="4683566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430768" y="5486585"/>
              <a:ext cx="14221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</a:t>
              </a:r>
              <a:r>
                <a:rPr lang="en-US" sz="1000" dirty="0" smtClean="0"/>
                <a:t> </a:t>
              </a:r>
              <a:endParaRPr lang="ru-RU" sz="1000" dirty="0" smtClean="0"/>
            </a:p>
            <a:p>
              <a:r>
                <a:rPr lang="ru-RU" sz="1000" dirty="0" smtClean="0"/>
                <a:t>из базы документов</a:t>
              </a:r>
              <a:endParaRPr lang="ru-RU" sz="1000" dirty="0"/>
            </a:p>
          </p:txBody>
        </p:sp>
      </p:grpSp>
      <p:sp>
        <p:nvSpPr>
          <p:cNvPr id="117" name="Стрелка вправо 116"/>
          <p:cNvSpPr/>
          <p:nvPr/>
        </p:nvSpPr>
        <p:spPr>
          <a:xfrm>
            <a:off x="3759537" y="510393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8" name="Группа 117"/>
          <p:cNvGrpSpPr/>
          <p:nvPr/>
        </p:nvGrpSpPr>
        <p:grpSpPr>
          <a:xfrm>
            <a:off x="3757833" y="4847084"/>
            <a:ext cx="576000" cy="277176"/>
            <a:chOff x="4111934" y="2883423"/>
            <a:chExt cx="1217341" cy="277176"/>
          </a:xfrm>
        </p:grpSpPr>
        <p:sp>
          <p:nvSpPr>
            <p:cNvPr id="119" name="Прямоугольник 118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4111934" y="2883423"/>
              <a:ext cx="12173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</p:grpSp>
      <p:sp>
        <p:nvSpPr>
          <p:cNvPr id="132" name="TextBox 131"/>
          <p:cNvSpPr txBox="1"/>
          <p:nvPr/>
        </p:nvSpPr>
        <p:spPr>
          <a:xfrm>
            <a:off x="6869531" y="2879869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41" name="Группа 40"/>
          <p:cNvGrpSpPr/>
          <p:nvPr/>
        </p:nvGrpSpPr>
        <p:grpSpPr>
          <a:xfrm>
            <a:off x="4343800" y="1748283"/>
            <a:ext cx="1544012" cy="1615211"/>
            <a:chOff x="4771901" y="1870780"/>
            <a:chExt cx="1544012" cy="161521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4937737" y="1870780"/>
              <a:ext cx="1206505" cy="1044000"/>
              <a:chOff x="4950950" y="1840422"/>
              <a:chExt cx="1206505" cy="1044000"/>
            </a:xfrm>
          </p:grpSpPr>
          <p:sp>
            <p:nvSpPr>
              <p:cNvPr id="70" name="Блок-схема: процесс 69"/>
              <p:cNvSpPr/>
              <p:nvPr/>
            </p:nvSpPr>
            <p:spPr>
              <a:xfrm>
                <a:off x="4991327" y="1840422"/>
                <a:ext cx="1080000" cy="1044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4950950" y="2475177"/>
                <a:ext cx="120650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оиск в базе</a:t>
                </a:r>
              </a:p>
              <a:p>
                <a:r>
                  <a:rPr lang="ru-RU" sz="1000" dirty="0" smtClean="0"/>
                  <a:t>индекса по </a:t>
                </a:r>
                <a:r>
                  <a:rPr lang="en-US" sz="1000" dirty="0" smtClean="0"/>
                  <a:t>“word”</a:t>
                </a:r>
                <a:endParaRPr lang="ru-RU" sz="1000" dirty="0" smtClean="0"/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>
              <a:off x="4771901" y="2931993"/>
              <a:ext cx="1544012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выбрать </a:t>
              </a:r>
              <a:r>
                <a:rPr lang="en-US" sz="1000" dirty="0"/>
                <a:t>ID </a:t>
              </a:r>
              <a:r>
                <a:rPr lang="ru-RU" sz="1000" dirty="0"/>
                <a:t>документа и </a:t>
              </a:r>
            </a:p>
            <a:p>
              <a:r>
                <a:rPr lang="ru-RU" sz="1000" dirty="0"/>
                <a:t>количество вхождений</a:t>
              </a:r>
            </a:p>
            <a:p>
              <a:r>
                <a:rPr lang="ru-RU" sz="1000" dirty="0" smtClean="0"/>
                <a:t>слова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документ</a:t>
              </a:r>
              <a:endParaRPr lang="ru-RU" sz="1000" dirty="0"/>
            </a:p>
          </p:txBody>
        </p:sp>
      </p:grpSp>
      <p:grpSp>
        <p:nvGrpSpPr>
          <p:cNvPr id="39" name="Группа 38"/>
          <p:cNvGrpSpPr/>
          <p:nvPr/>
        </p:nvGrpSpPr>
        <p:grpSpPr>
          <a:xfrm>
            <a:off x="417406" y="1895210"/>
            <a:ext cx="1135247" cy="1205690"/>
            <a:chOff x="57796" y="1752187"/>
            <a:chExt cx="1135247" cy="1205690"/>
          </a:xfrm>
        </p:grpSpPr>
        <p:sp>
          <p:nvSpPr>
            <p:cNvPr id="49" name="Блок-схема: процесс 48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7796" y="2557767"/>
              <a:ext cx="11352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запрос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запросов</a:t>
              </a:r>
              <a:endParaRPr lang="ru-RU" sz="1000" dirty="0"/>
            </a:p>
          </p:txBody>
        </p:sp>
      </p:grpSp>
      <p:sp>
        <p:nvSpPr>
          <p:cNvPr id="111" name="TextBox 110"/>
          <p:cNvSpPr txBox="1"/>
          <p:nvPr/>
        </p:nvSpPr>
        <p:spPr>
          <a:xfrm>
            <a:off x="8161081" y="1835119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182" name="Стрелка вправо 181"/>
          <p:cNvSpPr/>
          <p:nvPr/>
        </p:nvSpPr>
        <p:spPr>
          <a:xfrm>
            <a:off x="1969735" y="51064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7" name="TextBox 186"/>
          <p:cNvSpPr txBox="1"/>
          <p:nvPr/>
        </p:nvSpPr>
        <p:spPr>
          <a:xfrm>
            <a:off x="5661383" y="4773020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195" name="Группа 194"/>
          <p:cNvGrpSpPr/>
          <p:nvPr/>
        </p:nvGrpSpPr>
        <p:grpSpPr>
          <a:xfrm>
            <a:off x="7019643" y="1621845"/>
            <a:ext cx="1332000" cy="1332000"/>
            <a:chOff x="7425120" y="1638785"/>
            <a:chExt cx="1332000" cy="1332000"/>
          </a:xfrm>
        </p:grpSpPr>
        <p:sp>
          <p:nvSpPr>
            <p:cNvPr id="196" name="Блок-схема: решение 195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8" name="TextBox 197"/>
            <p:cNvSpPr txBox="1"/>
            <p:nvPr/>
          </p:nvSpPr>
          <p:spPr>
            <a:xfrm>
              <a:off x="7586140" y="2534922"/>
              <a:ext cx="1000595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grpSp>
        <p:nvGrpSpPr>
          <p:cNvPr id="69" name="Группа 68"/>
          <p:cNvGrpSpPr/>
          <p:nvPr/>
        </p:nvGrpSpPr>
        <p:grpSpPr>
          <a:xfrm>
            <a:off x="6397654" y="4689758"/>
            <a:ext cx="2393389" cy="1160486"/>
            <a:chOff x="9200791" y="4929821"/>
            <a:chExt cx="2393389" cy="1160486"/>
          </a:xfrm>
        </p:grpSpPr>
        <p:sp>
          <p:nvSpPr>
            <p:cNvPr id="194" name="Блок-схема: процесс 193"/>
            <p:cNvSpPr/>
            <p:nvPr/>
          </p:nvSpPr>
          <p:spPr>
            <a:xfrm>
              <a:off x="9200791" y="5070649"/>
              <a:ext cx="2376000" cy="1019658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50" name="Группа 49"/>
            <p:cNvGrpSpPr/>
            <p:nvPr/>
          </p:nvGrpSpPr>
          <p:grpSpPr>
            <a:xfrm>
              <a:off x="9218180" y="4929821"/>
              <a:ext cx="2376000" cy="1159801"/>
              <a:chOff x="9228455" y="4909273"/>
              <a:chExt cx="2371067" cy="1159801"/>
            </a:xfrm>
          </p:grpSpPr>
          <p:sp>
            <p:nvSpPr>
              <p:cNvPr id="163" name="TextBox 162"/>
              <p:cNvSpPr txBox="1"/>
              <p:nvPr/>
            </p:nvSpPr>
            <p:spPr>
              <a:xfrm>
                <a:off x="9228455" y="5515076"/>
                <a:ext cx="2371067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д</a:t>
                </a:r>
                <a:r>
                  <a:rPr lang="ru-RU" sz="1000" dirty="0" smtClean="0"/>
                  <a:t>обавить в базу ответов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</a:t>
                </a:r>
              </a:p>
              <a:p>
                <a:r>
                  <a:rPr lang="ru-RU" sz="1000" dirty="0" smtClean="0"/>
                  <a:t>и нулевое количество вхождений </a:t>
                </a:r>
                <a:r>
                  <a:rPr lang="ru-RU" sz="1000" b="1" u="sng" dirty="0" smtClean="0"/>
                  <a:t>слов</a:t>
                </a:r>
              </a:p>
              <a:p>
                <a:r>
                  <a:rPr lang="ru-RU" sz="1000" dirty="0" smtClean="0"/>
                  <a:t>в документ</a:t>
                </a:r>
                <a:endParaRPr lang="ru-RU" sz="1000" dirty="0"/>
              </a:p>
            </p:txBody>
          </p:sp>
          <p:grpSp>
            <p:nvGrpSpPr>
              <p:cNvPr id="199" name="Группа 198"/>
              <p:cNvGrpSpPr/>
              <p:nvPr/>
            </p:nvGrpSpPr>
            <p:grpSpPr>
              <a:xfrm>
                <a:off x="9895822" y="4909273"/>
                <a:ext cx="1241691" cy="540000"/>
                <a:chOff x="10038614" y="3163833"/>
                <a:chExt cx="1241691" cy="540000"/>
              </a:xfrm>
            </p:grpSpPr>
            <p:sp>
              <p:nvSpPr>
                <p:cNvPr id="201" name="Прямоугольник 200"/>
                <p:cNvSpPr>
                  <a:spLocks noChangeAspect="1"/>
                </p:cNvSpPr>
                <p:nvPr/>
              </p:nvSpPr>
              <p:spPr>
                <a:xfrm>
                  <a:off x="10038614" y="3163833"/>
                  <a:ext cx="335299" cy="540000"/>
                </a:xfrm>
                <a:prstGeom prst="rect">
                  <a:avLst/>
                </a:prstGeom>
                <a:noFill/>
              </p:spPr>
              <p:txBody>
                <a:bodyPr wrap="none" lIns="91440" tIns="45720" rIns="91440" bIns="45720">
                  <a:spAutoFit/>
                </a:bodyPr>
                <a:lstStyle/>
                <a:p>
                  <a:pPr algn="ctr"/>
                  <a:r>
                    <a:rPr lang="ru-RU" sz="4000" b="0" cap="none" spc="0" dirty="0" smtClean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rPr>
                    <a:t>+</a:t>
                  </a:r>
                  <a:endParaRPr lang="ru-RU" sz="40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endParaRPr>
                </a:p>
              </p:txBody>
            </p:sp>
            <p:grpSp>
              <p:nvGrpSpPr>
                <p:cNvPr id="202" name="Группа 201"/>
                <p:cNvGrpSpPr/>
                <p:nvPr/>
              </p:nvGrpSpPr>
              <p:grpSpPr>
                <a:xfrm>
                  <a:off x="10390922" y="3395741"/>
                  <a:ext cx="889383" cy="277433"/>
                  <a:chOff x="6369280" y="1767176"/>
                  <a:chExt cx="864000" cy="277433"/>
                </a:xfrm>
              </p:grpSpPr>
              <p:grpSp>
                <p:nvGrpSpPr>
                  <p:cNvPr id="203" name="Группа 202"/>
                  <p:cNvGrpSpPr/>
                  <p:nvPr/>
                </p:nvGrpSpPr>
                <p:grpSpPr>
                  <a:xfrm>
                    <a:off x="6369280" y="1767610"/>
                    <a:ext cx="864000" cy="276999"/>
                    <a:chOff x="4158024" y="2850118"/>
                    <a:chExt cx="1058312" cy="276999"/>
                  </a:xfrm>
                </p:grpSpPr>
                <p:sp>
                  <p:nvSpPr>
                    <p:cNvPr id="205" name="Прямоугольник 204"/>
                    <p:cNvSpPr/>
                    <p:nvPr/>
                  </p:nvSpPr>
                  <p:spPr>
                    <a:xfrm>
                      <a:off x="4158024" y="2856828"/>
                      <a:ext cx="1058312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206" name="TextBox 205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ID doc</a:t>
                      </a:r>
                      <a:endParaRPr lang="ru-RU" sz="1200" b="1" dirty="0"/>
                    </a:p>
                  </p:txBody>
                </p:sp>
                <p:cxnSp>
                  <p:nvCxnSpPr>
                    <p:cNvPr id="207" name="Прямая соединительная линия 206"/>
                    <p:cNvCxnSpPr/>
                    <p:nvPr/>
                  </p:nvCxnSpPr>
                  <p:spPr>
                    <a:xfrm>
                      <a:off x="4845752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04" name="TextBox 203"/>
                  <p:cNvSpPr txBox="1"/>
                  <p:nvPr/>
                </p:nvSpPr>
                <p:spPr>
                  <a:xfrm>
                    <a:off x="6947998" y="1767176"/>
                    <a:ext cx="222735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1200" b="1" dirty="0"/>
                      <a:t>0</a:t>
                    </a:r>
                  </a:p>
                </p:txBody>
              </p:sp>
            </p:grpSp>
          </p:grpSp>
        </p:grpSp>
      </p:grpSp>
      <p:grpSp>
        <p:nvGrpSpPr>
          <p:cNvPr id="77" name="Группа 76"/>
          <p:cNvGrpSpPr/>
          <p:nvPr/>
        </p:nvGrpSpPr>
        <p:grpSpPr>
          <a:xfrm>
            <a:off x="9009643" y="1654578"/>
            <a:ext cx="2532082" cy="2016000"/>
            <a:chOff x="9456553" y="648782"/>
            <a:chExt cx="2532082" cy="2016000"/>
          </a:xfrm>
        </p:grpSpPr>
        <p:grpSp>
          <p:nvGrpSpPr>
            <p:cNvPr id="68" name="Группа 67"/>
            <p:cNvGrpSpPr/>
            <p:nvPr/>
          </p:nvGrpSpPr>
          <p:grpSpPr>
            <a:xfrm>
              <a:off x="9527402" y="723974"/>
              <a:ext cx="2461233" cy="1019658"/>
              <a:chOff x="9488296" y="1227171"/>
              <a:chExt cx="2461233" cy="1019658"/>
            </a:xfrm>
          </p:grpSpPr>
          <p:sp>
            <p:nvSpPr>
              <p:cNvPr id="213" name="Блок-схема: процесс 212"/>
              <p:cNvSpPr/>
              <p:nvPr/>
            </p:nvSpPr>
            <p:spPr>
              <a:xfrm>
                <a:off x="9488296" y="1227171"/>
                <a:ext cx="2376000" cy="1019658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2" name="Группа 51"/>
              <p:cNvGrpSpPr/>
              <p:nvPr/>
            </p:nvGrpSpPr>
            <p:grpSpPr>
              <a:xfrm>
                <a:off x="9738170" y="1366949"/>
                <a:ext cx="2211359" cy="879817"/>
                <a:chOff x="9645202" y="1594707"/>
                <a:chExt cx="2291531" cy="879817"/>
              </a:xfrm>
            </p:grpSpPr>
            <p:sp>
              <p:nvSpPr>
                <p:cNvPr id="153" name="TextBox 152"/>
                <p:cNvSpPr txBox="1"/>
                <p:nvPr/>
              </p:nvSpPr>
              <p:spPr>
                <a:xfrm>
                  <a:off x="9645202" y="1920526"/>
                  <a:ext cx="2291531" cy="553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в</a:t>
                  </a:r>
                  <a:r>
                    <a:rPr lang="ru-RU" sz="1000" dirty="0" smtClean="0"/>
                    <a:t> базе ответов, увеличить количество вхождений </a:t>
                  </a:r>
                  <a:r>
                    <a:rPr lang="ru-RU" sz="1000" b="1" u="sng" dirty="0" smtClean="0"/>
                    <a:t>слов</a:t>
                  </a:r>
                  <a:r>
                    <a:rPr lang="en-US" sz="1000" dirty="0" smtClean="0"/>
                    <a:t> </a:t>
                  </a:r>
                  <a:r>
                    <a:rPr lang="ru-RU" sz="1000" dirty="0" smtClean="0"/>
                    <a:t>в документ</a:t>
                  </a:r>
                  <a:endParaRPr lang="en-US" sz="1000" dirty="0" smtClean="0"/>
                </a:p>
              </p:txBody>
            </p:sp>
            <p:grpSp>
              <p:nvGrpSpPr>
                <p:cNvPr id="35" name="Группа 34"/>
                <p:cNvGrpSpPr/>
                <p:nvPr/>
              </p:nvGrpSpPr>
              <p:grpSpPr>
                <a:xfrm>
                  <a:off x="10122879" y="1594707"/>
                  <a:ext cx="1199589" cy="277433"/>
                  <a:chOff x="10027817" y="1677793"/>
                  <a:chExt cx="1199589" cy="277433"/>
                </a:xfrm>
              </p:grpSpPr>
              <p:grpSp>
                <p:nvGrpSpPr>
                  <p:cNvPr id="122" name="Группа 121"/>
                  <p:cNvGrpSpPr/>
                  <p:nvPr/>
                </p:nvGrpSpPr>
                <p:grpSpPr>
                  <a:xfrm>
                    <a:off x="10027817" y="1678227"/>
                    <a:ext cx="1124988" cy="276999"/>
                    <a:chOff x="4158024" y="2850118"/>
                    <a:chExt cx="1188000" cy="276999"/>
                  </a:xfrm>
                </p:grpSpPr>
                <p:sp>
                  <p:nvSpPr>
                    <p:cNvPr id="150" name="Прямоугольник 149"/>
                    <p:cNvSpPr/>
                    <p:nvPr/>
                  </p:nvSpPr>
                  <p:spPr>
                    <a:xfrm>
                      <a:off x="4158024" y="2856828"/>
                      <a:ext cx="1188000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151" name="TextBox 150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>
                          <a:solidFill>
                            <a:schemeClr val="bg1"/>
                          </a:solidFill>
                        </a:rPr>
                        <a:t>ID doc</a:t>
                      </a:r>
                      <a:endParaRPr lang="ru-RU" sz="1200" b="1" dirty="0">
                        <a:solidFill>
                          <a:schemeClr val="bg1"/>
                        </a:solidFill>
                      </a:endParaRPr>
                    </a:p>
                  </p:txBody>
                </p:sp>
                <p:cxnSp>
                  <p:nvCxnSpPr>
                    <p:cNvPr id="152" name="Прямая соединительная линия 151"/>
                    <p:cNvCxnSpPr/>
                    <p:nvPr/>
                  </p:nvCxnSpPr>
                  <p:spPr>
                    <a:xfrm>
                      <a:off x="4797726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26" name="TextBox 125"/>
                  <p:cNvSpPr txBox="1"/>
                  <p:nvPr/>
                </p:nvSpPr>
                <p:spPr>
                  <a:xfrm>
                    <a:off x="10628317" y="1677793"/>
                    <a:ext cx="599089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b="1" dirty="0" smtClean="0">
                        <a:solidFill>
                          <a:schemeClr val="bg1"/>
                        </a:solidFill>
                      </a:rPr>
                      <a:t>N</a:t>
                    </a:r>
                    <a:r>
                      <a:rPr lang="en-US" sz="1200" b="1" dirty="0" smtClean="0"/>
                      <a:t> + n</a:t>
                    </a:r>
                    <a:endParaRPr lang="ru-RU" sz="1200" b="1" dirty="0"/>
                  </a:p>
                </p:txBody>
              </p:sp>
            </p:grpSp>
          </p:grpSp>
        </p:grpSp>
        <p:grpSp>
          <p:nvGrpSpPr>
            <p:cNvPr id="75" name="Группа 74"/>
            <p:cNvGrpSpPr/>
            <p:nvPr/>
          </p:nvGrpSpPr>
          <p:grpSpPr>
            <a:xfrm>
              <a:off x="9527461" y="1793968"/>
              <a:ext cx="2376000" cy="792000"/>
              <a:chOff x="3108276" y="3428385"/>
              <a:chExt cx="2376000" cy="792000"/>
            </a:xfrm>
          </p:grpSpPr>
          <p:sp>
            <p:nvSpPr>
              <p:cNvPr id="214" name="Блок-схема: процесс 213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6" name="Группа 5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62" name="TextBox 61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147" name="TextBox 146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149" name="Блок-схема: процесс 148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1" name="Блок-схема: процесс 220"/>
            <p:cNvSpPr/>
            <p:nvPr/>
          </p:nvSpPr>
          <p:spPr>
            <a:xfrm>
              <a:off x="9456553" y="648782"/>
              <a:ext cx="2520000" cy="2016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9004118" y="3728906"/>
            <a:ext cx="2520000" cy="1980000"/>
            <a:chOff x="9441303" y="3093773"/>
            <a:chExt cx="2520000" cy="1980000"/>
          </a:xfrm>
        </p:grpSpPr>
        <p:grpSp>
          <p:nvGrpSpPr>
            <p:cNvPr id="65" name="Группа 64"/>
            <p:cNvGrpSpPr/>
            <p:nvPr/>
          </p:nvGrpSpPr>
          <p:grpSpPr>
            <a:xfrm>
              <a:off x="9495254" y="3105833"/>
              <a:ext cx="2439000" cy="1047331"/>
              <a:chOff x="9452773" y="3197372"/>
              <a:chExt cx="2439000" cy="1047331"/>
            </a:xfrm>
          </p:grpSpPr>
          <p:sp>
            <p:nvSpPr>
              <p:cNvPr id="212" name="Блок-схема: процесс 211"/>
              <p:cNvSpPr/>
              <p:nvPr/>
            </p:nvSpPr>
            <p:spPr>
              <a:xfrm>
                <a:off x="9474706" y="3272703"/>
                <a:ext cx="2376000" cy="97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5" name="Группа 54"/>
              <p:cNvGrpSpPr/>
              <p:nvPr/>
            </p:nvGrpSpPr>
            <p:grpSpPr>
              <a:xfrm>
                <a:off x="9452773" y="3197372"/>
                <a:ext cx="2439000" cy="996514"/>
                <a:chOff x="9418704" y="3163833"/>
                <a:chExt cx="2439000" cy="996514"/>
              </a:xfrm>
            </p:grpSpPr>
            <p:grpSp>
              <p:nvGrpSpPr>
                <p:cNvPr id="45" name="Группа 44"/>
                <p:cNvGrpSpPr/>
                <p:nvPr/>
              </p:nvGrpSpPr>
              <p:grpSpPr>
                <a:xfrm>
                  <a:off x="10038614" y="3163833"/>
                  <a:ext cx="1241691" cy="540000"/>
                  <a:chOff x="10038614" y="3163833"/>
                  <a:chExt cx="1241691" cy="540000"/>
                </a:xfrm>
              </p:grpSpPr>
              <p:sp>
                <p:nvSpPr>
                  <p:cNvPr id="159" name="Прямоугольник 158"/>
                  <p:cNvSpPr>
                    <a:spLocks noChangeAspect="1"/>
                  </p:cNvSpPr>
                  <p:nvPr/>
                </p:nvSpPr>
                <p:spPr>
                  <a:xfrm>
                    <a:off x="10038614" y="3163833"/>
                    <a:ext cx="335299" cy="540000"/>
                  </a:xfrm>
                  <a:prstGeom prst="rect">
                    <a:avLst/>
                  </a:prstGeom>
                  <a:noFill/>
                </p:spPr>
                <p:txBody>
                  <a:bodyPr wrap="none" lIns="91440" tIns="45720" rIns="91440" bIns="45720">
                    <a:spAutoFit/>
                  </a:bodyPr>
                  <a:lstStyle/>
                  <a:p>
                    <a:pPr algn="ctr"/>
                    <a:r>
                      <a:rPr lang="ru-RU" sz="4000" b="0" cap="none" spc="0" dirty="0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a:t>+</a:t>
                    </a:r>
                    <a:endParaRPr lang="ru-RU" sz="4000" b="0" cap="none" spc="0" dirty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endParaRPr>
                  </a:p>
                </p:txBody>
              </p:sp>
              <p:grpSp>
                <p:nvGrpSpPr>
                  <p:cNvPr id="160" name="Группа 159"/>
                  <p:cNvGrpSpPr/>
                  <p:nvPr/>
                </p:nvGrpSpPr>
                <p:grpSpPr>
                  <a:xfrm>
                    <a:off x="10390922" y="3395741"/>
                    <a:ext cx="889383" cy="277433"/>
                    <a:chOff x="6369280" y="1767176"/>
                    <a:chExt cx="864000" cy="277433"/>
                  </a:xfrm>
                </p:grpSpPr>
                <p:grpSp>
                  <p:nvGrpSpPr>
                    <p:cNvPr id="161" name="Группа 160"/>
                    <p:cNvGrpSpPr/>
                    <p:nvPr/>
                  </p:nvGrpSpPr>
                  <p:grpSpPr>
                    <a:xfrm>
                      <a:off x="6369280" y="1767610"/>
                      <a:ext cx="864000" cy="276999"/>
                      <a:chOff x="4158024" y="2850118"/>
                      <a:chExt cx="1058312" cy="276999"/>
                    </a:xfrm>
                  </p:grpSpPr>
                  <p:sp>
                    <p:nvSpPr>
                      <p:cNvPr id="174" name="Прямоугольник 173"/>
                      <p:cNvSpPr/>
                      <p:nvPr/>
                    </p:nvSpPr>
                    <p:spPr>
                      <a:xfrm>
                        <a:off x="4158024" y="2856828"/>
                        <a:ext cx="1058312" cy="262008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</p:spPr>
                    <p:style>
                      <a:lnRef idx="2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lnRef>
                      <a:fillRef idx="1">
                        <a:scrgbClr r="0" g="0" b="0"/>
                      </a:fillRef>
                      <a:effectRef idx="0">
                        <a:schemeClr val="accent1">
                          <a:tint val="50000"/>
                          <a:hueOff val="0"/>
                          <a:satOff val="0"/>
                          <a:lumOff val="0"/>
                          <a:alphaOff val="0"/>
                        </a:schemeClr>
                      </a:effectRef>
                      <a:fontRef idx="minor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ru-RU" dirty="0"/>
                      </a:p>
                    </p:txBody>
                  </p:sp>
                  <p:sp>
                    <p:nvSpPr>
                      <p:cNvPr id="175" name="TextBox 174"/>
                      <p:cNvSpPr txBox="1"/>
                      <p:nvPr/>
                    </p:nvSpPr>
                    <p:spPr>
                      <a:xfrm>
                        <a:off x="4161798" y="2850118"/>
                        <a:ext cx="722966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sz="1200" b="1" dirty="0" smtClean="0"/>
                          <a:t>ID doc</a:t>
                        </a:r>
                        <a:endParaRPr lang="ru-RU" sz="1200" b="1" dirty="0"/>
                      </a:p>
                    </p:txBody>
                  </p:sp>
                  <p:cxnSp>
                    <p:nvCxnSpPr>
                      <p:cNvPr id="176" name="Прямая соединительная линия 175"/>
                      <p:cNvCxnSpPr/>
                      <p:nvPr/>
                    </p:nvCxnSpPr>
                    <p:spPr>
                      <a:xfrm>
                        <a:off x="4845752" y="2854401"/>
                        <a:ext cx="0" cy="262008"/>
                      </a:xfrm>
                      <a:prstGeom prst="line">
                        <a:avLst/>
                      </a:prstGeom>
                      <a:ln w="15875">
                        <a:solidFill>
                          <a:schemeClr val="bg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72" name="TextBox 171"/>
                    <p:cNvSpPr txBox="1"/>
                    <p:nvPr/>
                  </p:nvSpPr>
                  <p:spPr>
                    <a:xfrm>
                      <a:off x="6947998" y="1767176"/>
                      <a:ext cx="22273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n</a:t>
                      </a:r>
                      <a:endParaRPr lang="ru-RU" sz="1200" b="1" dirty="0"/>
                    </a:p>
                  </p:txBody>
                </p:sp>
              </p:grpSp>
            </p:grpSp>
            <p:sp>
              <p:nvSpPr>
                <p:cNvPr id="177" name="TextBox 176"/>
                <p:cNvSpPr txBox="1"/>
                <p:nvPr/>
              </p:nvSpPr>
              <p:spPr>
                <a:xfrm>
                  <a:off x="9418704" y="3760237"/>
                  <a:ext cx="243900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д</a:t>
                  </a:r>
                  <a:r>
                    <a:rPr lang="ru-RU" sz="1000" dirty="0" smtClean="0"/>
                    <a:t>обавить в базу ответов </a:t>
                  </a:r>
                  <a:r>
                    <a:rPr lang="en-US" sz="1000" dirty="0"/>
                    <a:t>ID </a:t>
                  </a:r>
                  <a:r>
                    <a:rPr lang="ru-RU" sz="1000" dirty="0"/>
                    <a:t>документа </a:t>
                  </a:r>
                  <a:r>
                    <a:rPr lang="ru-RU" sz="1000" dirty="0" smtClean="0"/>
                    <a:t>и количество вхождений слова </a:t>
                  </a:r>
                  <a:r>
                    <a:rPr lang="ru-RU" sz="1000" dirty="0"/>
                    <a:t>в </a:t>
                  </a:r>
                  <a:r>
                    <a:rPr lang="ru-RU" sz="1000" dirty="0" smtClean="0"/>
                    <a:t>документ</a:t>
                  </a:r>
                  <a:endParaRPr lang="ru-RU" sz="1000" dirty="0"/>
                </a:p>
              </p:txBody>
            </p:sp>
          </p:grpSp>
        </p:grpSp>
        <p:grpSp>
          <p:nvGrpSpPr>
            <p:cNvPr id="215" name="Группа 214"/>
            <p:cNvGrpSpPr/>
            <p:nvPr/>
          </p:nvGrpSpPr>
          <p:grpSpPr>
            <a:xfrm>
              <a:off x="9517187" y="4196799"/>
              <a:ext cx="2376000" cy="792000"/>
              <a:chOff x="3108276" y="3428385"/>
              <a:chExt cx="2376000" cy="792000"/>
            </a:xfrm>
          </p:grpSpPr>
          <p:sp>
            <p:nvSpPr>
              <p:cNvPr id="217" name="Блок-схема: процесс 216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216" name="Группа 21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218" name="TextBox 217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219" name="TextBox 218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220" name="Блок-схема: процесс 219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2" name="Блок-схема: процесс 221"/>
            <p:cNvSpPr/>
            <p:nvPr/>
          </p:nvSpPr>
          <p:spPr>
            <a:xfrm>
              <a:off x="9441303" y="3093773"/>
              <a:ext cx="2520000" cy="1980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241" name="Соединительная линия уступом 240"/>
          <p:cNvCxnSpPr>
            <a:stCxn id="196" idx="3"/>
            <a:endCxn id="221" idx="1"/>
          </p:cNvCxnSpPr>
          <p:nvPr/>
        </p:nvCxnSpPr>
        <p:spPr>
          <a:xfrm>
            <a:off x="8351643" y="2287845"/>
            <a:ext cx="658000" cy="374733"/>
          </a:xfrm>
          <a:prstGeom prst="bentConnector3">
            <a:avLst>
              <a:gd name="adj1" fmla="val 46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Соединительная линия уступом 244"/>
          <p:cNvCxnSpPr>
            <a:stCxn id="196" idx="2"/>
            <a:endCxn id="222" idx="1"/>
          </p:cNvCxnSpPr>
          <p:nvPr/>
        </p:nvCxnSpPr>
        <p:spPr>
          <a:xfrm rot="16200000" flipH="1">
            <a:off x="7462350" y="3177137"/>
            <a:ext cx="1765061" cy="1318475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Соединительная линия уступом 247"/>
          <p:cNvCxnSpPr>
            <a:stCxn id="101" idx="2"/>
            <a:endCxn id="116" idx="2"/>
          </p:cNvCxnSpPr>
          <p:nvPr/>
        </p:nvCxnSpPr>
        <p:spPr>
          <a:xfrm rot="5400000">
            <a:off x="4192265" y="4976482"/>
            <a:ext cx="81624" cy="2128733"/>
          </a:xfrm>
          <a:prstGeom prst="bentConnector3">
            <a:avLst>
              <a:gd name="adj1" fmla="val 38006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0" name="Группа 269"/>
          <p:cNvGrpSpPr/>
          <p:nvPr/>
        </p:nvGrpSpPr>
        <p:grpSpPr>
          <a:xfrm>
            <a:off x="456814" y="3493135"/>
            <a:ext cx="1924271" cy="972000"/>
            <a:chOff x="25306" y="4006835"/>
            <a:chExt cx="1924271" cy="972000"/>
          </a:xfrm>
        </p:grpSpPr>
        <p:sp>
          <p:nvSpPr>
            <p:cNvPr id="208" name="Блок-схема: процесс 207"/>
            <p:cNvSpPr/>
            <p:nvPr/>
          </p:nvSpPr>
          <p:spPr>
            <a:xfrm>
              <a:off x="25306" y="4006835"/>
              <a:ext cx="1800000" cy="97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48" name="Группа 47"/>
            <p:cNvGrpSpPr/>
            <p:nvPr/>
          </p:nvGrpSpPr>
          <p:grpSpPr>
            <a:xfrm>
              <a:off x="77031" y="4192386"/>
              <a:ext cx="1872546" cy="744491"/>
              <a:chOff x="205921" y="3650153"/>
              <a:chExt cx="1872546" cy="744491"/>
            </a:xfrm>
          </p:grpSpPr>
          <p:sp>
            <p:nvSpPr>
              <p:cNvPr id="87" name="TextBox 86"/>
              <p:cNvSpPr txBox="1"/>
              <p:nvPr/>
            </p:nvSpPr>
            <p:spPr>
              <a:xfrm>
                <a:off x="205921" y="3994534"/>
                <a:ext cx="164484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 smtClean="0"/>
                  <a:t>рассчитать относительную</a:t>
                </a:r>
              </a:p>
              <a:p>
                <a:r>
                  <a:rPr lang="ru-RU" sz="1000" dirty="0" smtClean="0"/>
                  <a:t>релевантность (</a:t>
                </a:r>
                <a:r>
                  <a:rPr lang="en-US" sz="1000" dirty="0" smtClean="0"/>
                  <a:t>RR</a:t>
                </a:r>
                <a:r>
                  <a:rPr lang="ru-RU" sz="1000" dirty="0" smtClean="0"/>
                  <a:t>)</a:t>
                </a:r>
                <a:endParaRPr lang="ru-RU" sz="1000" dirty="0"/>
              </a:p>
            </p:txBody>
          </p:sp>
          <p:grpSp>
            <p:nvGrpSpPr>
              <p:cNvPr id="165" name="Группа 164"/>
              <p:cNvGrpSpPr/>
              <p:nvPr/>
            </p:nvGrpSpPr>
            <p:grpSpPr>
              <a:xfrm>
                <a:off x="486398" y="3650153"/>
                <a:ext cx="1592069" cy="288419"/>
                <a:chOff x="3901044" y="3386772"/>
                <a:chExt cx="1510974" cy="277402"/>
              </a:xfrm>
            </p:grpSpPr>
            <p:sp>
              <p:nvSpPr>
                <p:cNvPr id="166" name="Прямоугольник 165"/>
                <p:cNvSpPr/>
                <p:nvPr/>
              </p:nvSpPr>
              <p:spPr>
                <a:xfrm>
                  <a:off x="3901044" y="3401361"/>
                  <a:ext cx="1294871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67" name="TextBox 166"/>
                <p:cNvSpPr txBox="1"/>
                <p:nvPr/>
              </p:nvSpPr>
              <p:spPr>
                <a:xfrm>
                  <a:off x="3901044" y="3386772"/>
                  <a:ext cx="485944" cy="26641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68" name="TextBox 167"/>
                <p:cNvSpPr txBox="1"/>
                <p:nvPr/>
              </p:nvSpPr>
              <p:spPr>
                <a:xfrm>
                  <a:off x="4471854" y="3387175"/>
                  <a:ext cx="94016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</a:t>
                  </a:r>
                  <a:r>
                    <a:rPr lang="ru-RU" sz="1200" b="1" dirty="0" smtClean="0"/>
                    <a:t> </a:t>
                  </a:r>
                  <a:r>
                    <a:rPr lang="en-US" sz="1200" b="1" dirty="0" smtClean="0"/>
                    <a:t>/ mAR</a:t>
                  </a:r>
                  <a:endParaRPr lang="ru-RU" sz="1200" b="1" dirty="0"/>
                </a:p>
              </p:txBody>
            </p:sp>
            <p:cxnSp>
              <p:nvCxnSpPr>
                <p:cNvPr id="169" name="Прямая соединительная линия 168"/>
                <p:cNvCxnSpPr/>
                <p:nvPr/>
              </p:nvCxnSpPr>
              <p:spPr>
                <a:xfrm>
                  <a:off x="4451853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79" name="Группа 278"/>
          <p:cNvGrpSpPr/>
          <p:nvPr/>
        </p:nvGrpSpPr>
        <p:grpSpPr>
          <a:xfrm>
            <a:off x="508539" y="4888925"/>
            <a:ext cx="1387730" cy="1114587"/>
            <a:chOff x="1186957" y="5567845"/>
            <a:chExt cx="1386543" cy="766421"/>
          </a:xfrm>
        </p:grpSpPr>
        <p:sp>
          <p:nvSpPr>
            <p:cNvPr id="209" name="Блок-схема: процесс 208"/>
            <p:cNvSpPr/>
            <p:nvPr/>
          </p:nvSpPr>
          <p:spPr>
            <a:xfrm>
              <a:off x="1206670" y="5591626"/>
              <a:ext cx="1366830" cy="74264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186957" y="5943501"/>
              <a:ext cx="1375602" cy="380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с</a:t>
              </a:r>
              <a:r>
                <a:rPr lang="ru-RU" sz="1000" dirty="0" smtClean="0"/>
                <a:t>ортировать базу ответов по убыванию </a:t>
              </a:r>
            </a:p>
            <a:p>
              <a:r>
                <a:rPr lang="ru-RU" sz="1000" dirty="0" smtClean="0"/>
                <a:t>релевантности</a:t>
              </a:r>
              <a:endParaRPr lang="ru-RU" sz="1000" dirty="0"/>
            </a:p>
          </p:txBody>
        </p:sp>
        <p:grpSp>
          <p:nvGrpSpPr>
            <p:cNvPr id="278" name="Группа 277"/>
            <p:cNvGrpSpPr/>
            <p:nvPr/>
          </p:nvGrpSpPr>
          <p:grpSpPr>
            <a:xfrm>
              <a:off x="1460678" y="5567845"/>
              <a:ext cx="351378" cy="346464"/>
              <a:chOff x="1192126" y="6143551"/>
              <a:chExt cx="351378" cy="346464"/>
            </a:xfrm>
          </p:grpSpPr>
          <p:sp>
            <p:nvSpPr>
              <p:cNvPr id="29" name="Стрелка вправо 28"/>
              <p:cNvSpPr/>
              <p:nvPr/>
            </p:nvSpPr>
            <p:spPr>
              <a:xfrm rot="5400000">
                <a:off x="1273122" y="6354996"/>
                <a:ext cx="198038" cy="72000"/>
              </a:xfrm>
              <a:prstGeom prst="rightArrow">
                <a:avLst/>
              </a:prstGeom>
              <a:ln w="158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3" name="TextBox 82"/>
              <p:cNvSpPr txBox="1">
                <a:spLocks/>
              </p:cNvSpPr>
              <p:nvPr/>
            </p:nvSpPr>
            <p:spPr>
              <a:xfrm>
                <a:off x="1192126" y="6143551"/>
                <a:ext cx="3513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 smtClean="0"/>
                  <a:t>RR</a:t>
                </a:r>
                <a:endParaRPr lang="ru-RU" sz="1200" dirty="0"/>
              </a:p>
            </p:txBody>
          </p:sp>
        </p:grpSp>
      </p:grpSp>
      <p:sp>
        <p:nvSpPr>
          <p:cNvPr id="210" name="Стрелка вправо 209"/>
          <p:cNvSpPr/>
          <p:nvPr/>
        </p:nvSpPr>
        <p:spPr>
          <a:xfrm>
            <a:off x="3149101" y="389105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0" name="TextBox 279"/>
          <p:cNvSpPr txBox="1"/>
          <p:nvPr/>
        </p:nvSpPr>
        <p:spPr>
          <a:xfrm>
            <a:off x="3191647" y="4555005"/>
            <a:ext cx="17455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релевантности ответов</a:t>
            </a:r>
            <a:endParaRPr lang="ru-RU" sz="1000" dirty="0"/>
          </a:p>
        </p:txBody>
      </p:sp>
      <p:sp>
        <p:nvSpPr>
          <p:cNvPr id="89" name="Прямоугольник 88"/>
          <p:cNvSpPr/>
          <p:nvPr/>
        </p:nvSpPr>
        <p:spPr>
          <a:xfrm>
            <a:off x="258384" y="159042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u="sng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23" name="Прямоугольник 222"/>
          <p:cNvSpPr/>
          <p:nvPr/>
        </p:nvSpPr>
        <p:spPr>
          <a:xfrm>
            <a:off x="2239063" y="160563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8" name="Прямоугольник 287"/>
          <p:cNvSpPr/>
          <p:nvPr/>
        </p:nvSpPr>
        <p:spPr>
          <a:xfrm>
            <a:off x="4347229" y="144685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9" name="Прямоугольник 288"/>
          <p:cNvSpPr/>
          <p:nvPr/>
        </p:nvSpPr>
        <p:spPr>
          <a:xfrm>
            <a:off x="7490448" y="133156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0" name="Прямоугольник 289"/>
          <p:cNvSpPr/>
          <p:nvPr/>
        </p:nvSpPr>
        <p:spPr>
          <a:xfrm>
            <a:off x="8648758" y="1333085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5.1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1" name="Прямоугольник 290"/>
          <p:cNvSpPr/>
          <p:nvPr/>
        </p:nvSpPr>
        <p:spPr>
          <a:xfrm>
            <a:off x="8646518" y="3427650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5.2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2" name="Прямоугольник 291"/>
          <p:cNvSpPr/>
          <p:nvPr/>
        </p:nvSpPr>
        <p:spPr>
          <a:xfrm>
            <a:off x="324487" y="461888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3" name="Прямоугольник 292"/>
          <p:cNvSpPr/>
          <p:nvPr/>
        </p:nvSpPr>
        <p:spPr>
          <a:xfrm>
            <a:off x="2413713" y="458539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8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4" name="Прямоугольник 293"/>
          <p:cNvSpPr/>
          <p:nvPr/>
        </p:nvSpPr>
        <p:spPr>
          <a:xfrm>
            <a:off x="5096911" y="437743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9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5" name="Прямоугольник 294"/>
          <p:cNvSpPr/>
          <p:nvPr/>
        </p:nvSpPr>
        <p:spPr>
          <a:xfrm>
            <a:off x="6106755" y="4526879"/>
            <a:ext cx="601447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10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6" name="Прямоугольник 295"/>
          <p:cNvSpPr/>
          <p:nvPr/>
        </p:nvSpPr>
        <p:spPr>
          <a:xfrm>
            <a:off x="372460" y="319676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298" name="Соединительная линия уступом 297"/>
          <p:cNvCxnSpPr>
            <a:stCxn id="194" idx="3"/>
            <a:endCxn id="116" idx="2"/>
          </p:cNvCxnSpPr>
          <p:nvPr/>
        </p:nvCxnSpPr>
        <p:spPr>
          <a:xfrm flipH="1">
            <a:off x="3168710" y="5340415"/>
            <a:ext cx="5604944" cy="741245"/>
          </a:xfrm>
          <a:prstGeom prst="bentConnector4">
            <a:avLst>
              <a:gd name="adj1" fmla="val -2063"/>
              <a:gd name="adj2" fmla="val 13084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Соединительная линия уступом 298"/>
          <p:cNvCxnSpPr>
            <a:stCxn id="101" idx="3"/>
            <a:endCxn id="194" idx="1"/>
          </p:cNvCxnSpPr>
          <p:nvPr/>
        </p:nvCxnSpPr>
        <p:spPr>
          <a:xfrm>
            <a:off x="5963443" y="5334036"/>
            <a:ext cx="434211" cy="637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TextBox 319"/>
          <p:cNvSpPr txBox="1"/>
          <p:nvPr/>
        </p:nvSpPr>
        <p:spPr>
          <a:xfrm>
            <a:off x="4406820" y="5820414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grpSp>
        <p:nvGrpSpPr>
          <p:cNvPr id="124" name="Группа 123"/>
          <p:cNvGrpSpPr/>
          <p:nvPr/>
        </p:nvGrpSpPr>
        <p:grpSpPr>
          <a:xfrm>
            <a:off x="5598553" y="3672278"/>
            <a:ext cx="1817203" cy="694126"/>
            <a:chOff x="2249053" y="5542333"/>
            <a:chExt cx="1817203" cy="694126"/>
          </a:xfrm>
        </p:grpSpPr>
        <p:grpSp>
          <p:nvGrpSpPr>
            <p:cNvPr id="113" name="Группа 112"/>
            <p:cNvGrpSpPr/>
            <p:nvPr/>
          </p:nvGrpSpPr>
          <p:grpSpPr>
            <a:xfrm>
              <a:off x="2282191" y="5542333"/>
              <a:ext cx="1784065" cy="653144"/>
              <a:chOff x="2312464" y="5535330"/>
              <a:chExt cx="1784065" cy="653144"/>
            </a:xfrm>
          </p:grpSpPr>
          <p:sp>
            <p:nvSpPr>
              <p:cNvPr id="321" name="Прямоугольник 320"/>
              <p:cNvSpPr/>
              <p:nvPr/>
            </p:nvSpPr>
            <p:spPr>
              <a:xfrm>
                <a:off x="2312464" y="5535330"/>
                <a:ext cx="393056" cy="584775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ru-RU" sz="3200" u="sng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3</a:t>
                </a:r>
                <a:endParaRPr lang="ru-RU" sz="3200" b="0" u="sng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10" name="TextBox 109"/>
              <p:cNvSpPr txBox="1"/>
              <p:nvPr/>
            </p:nvSpPr>
            <p:spPr>
              <a:xfrm>
                <a:off x="2605415" y="5665254"/>
                <a:ext cx="14911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400" dirty="0" smtClean="0"/>
                  <a:t>- основные шаги </a:t>
                </a:r>
              </a:p>
              <a:p>
                <a:r>
                  <a:rPr lang="ru-RU" sz="1400" dirty="0" smtClean="0"/>
                  <a:t>алгоритма</a:t>
                </a:r>
                <a:endParaRPr lang="ru-RU" sz="1400" dirty="0"/>
              </a:p>
            </p:txBody>
          </p:sp>
        </p:grpSp>
        <p:sp>
          <p:nvSpPr>
            <p:cNvPr id="123" name="Прямоугольная выноска 122"/>
            <p:cNvSpPr/>
            <p:nvPr/>
          </p:nvSpPr>
          <p:spPr>
            <a:xfrm>
              <a:off x="2249053" y="5587039"/>
              <a:ext cx="1799375" cy="649420"/>
            </a:xfrm>
            <a:prstGeom prst="wedgeRectCallout">
              <a:avLst/>
            </a:prstGeom>
            <a:no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23" name="TextBox 322"/>
          <p:cNvSpPr txBox="1"/>
          <p:nvPr/>
        </p:nvSpPr>
        <p:spPr>
          <a:xfrm>
            <a:off x="5703242" y="1272616"/>
            <a:ext cx="44662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текущие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и количество вхождений слова в документ обработаны</a:t>
            </a:r>
            <a:endParaRPr lang="ru-RU" sz="1000" dirty="0"/>
          </a:p>
        </p:txBody>
      </p:sp>
      <p:sp>
        <p:nvSpPr>
          <p:cNvPr id="324" name="TextBox 323"/>
          <p:cNvSpPr txBox="1"/>
          <p:nvPr/>
        </p:nvSpPr>
        <p:spPr>
          <a:xfrm>
            <a:off x="5013425" y="6163738"/>
            <a:ext cx="20136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</a:t>
            </a:r>
            <a:endParaRPr lang="ru-RU" sz="1000" dirty="0"/>
          </a:p>
        </p:txBody>
      </p:sp>
      <p:sp>
        <p:nvSpPr>
          <p:cNvPr id="325" name="TextBox 324"/>
          <p:cNvSpPr txBox="1"/>
          <p:nvPr/>
        </p:nvSpPr>
        <p:spPr>
          <a:xfrm>
            <a:off x="3253105" y="3316809"/>
            <a:ext cx="167385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текущее слово обработано</a:t>
            </a:r>
            <a:endParaRPr lang="ru-RU" sz="1000" dirty="0"/>
          </a:p>
        </p:txBody>
      </p:sp>
      <p:sp>
        <p:nvSpPr>
          <p:cNvPr id="326" name="TextBox 325"/>
          <p:cNvSpPr txBox="1"/>
          <p:nvPr/>
        </p:nvSpPr>
        <p:spPr>
          <a:xfrm>
            <a:off x="1215590" y="1271315"/>
            <a:ext cx="2390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текущего запроса обработаны</a:t>
            </a:r>
            <a:endParaRPr lang="ru-RU" sz="1000" dirty="0"/>
          </a:p>
        </p:txBody>
      </p:sp>
      <p:sp>
        <p:nvSpPr>
          <p:cNvPr id="179" name="Стрелка вправо 178"/>
          <p:cNvSpPr/>
          <p:nvPr/>
        </p:nvSpPr>
        <p:spPr>
          <a:xfrm rot="5400000">
            <a:off x="781817" y="4465752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352" y="1892217"/>
            <a:ext cx="1008000" cy="712692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4849" y="1757164"/>
            <a:ext cx="1008000" cy="712691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866" y="1911078"/>
            <a:ext cx="1008000" cy="712691"/>
          </a:xfrm>
          <a:prstGeom prst="rect">
            <a:avLst/>
          </a:prstGeom>
        </p:spPr>
      </p:pic>
      <p:pic>
        <p:nvPicPr>
          <p:cNvPr id="170" name="Рисунок 16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0469" y="4951297"/>
            <a:ext cx="1008000" cy="712691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8116" y="205684"/>
            <a:ext cx="432706" cy="612000"/>
          </a:xfrm>
          <a:prstGeom prst="rect">
            <a:avLst/>
          </a:prstGeom>
        </p:spPr>
      </p:pic>
      <p:pic>
        <p:nvPicPr>
          <p:cNvPr id="171" name="Рисунок 17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239" y="3502852"/>
            <a:ext cx="432706" cy="612000"/>
          </a:xfrm>
          <a:prstGeom prst="rect">
            <a:avLst/>
          </a:prstGeom>
        </p:spPr>
      </p:pic>
      <p:pic>
        <p:nvPicPr>
          <p:cNvPr id="173" name="Рисунок 17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216" y="4919618"/>
            <a:ext cx="432706" cy="612000"/>
          </a:xfrm>
          <a:prstGeom prst="rect">
            <a:avLst/>
          </a:prstGeom>
        </p:spPr>
      </p:pic>
      <p:pic>
        <p:nvPicPr>
          <p:cNvPr id="180" name="Рисунок 17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5687" y="4753338"/>
            <a:ext cx="432706" cy="612000"/>
          </a:xfrm>
          <a:prstGeom prst="rect">
            <a:avLst/>
          </a:prstGeom>
        </p:spPr>
      </p:pic>
      <p:pic>
        <p:nvPicPr>
          <p:cNvPr id="181" name="Рисунок 18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4664" y="3814376"/>
            <a:ext cx="432706" cy="612000"/>
          </a:xfrm>
          <a:prstGeom prst="rect">
            <a:avLst/>
          </a:prstGeom>
        </p:spPr>
      </p:pic>
      <p:pic>
        <p:nvPicPr>
          <p:cNvPr id="183" name="Рисунок 18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5084" y="1706179"/>
            <a:ext cx="432706" cy="612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0879" y="4885828"/>
            <a:ext cx="1008000" cy="71269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8535" y="3376840"/>
            <a:ext cx="1080000" cy="1527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767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6" name="Соединительная линия уступом 145"/>
          <p:cNvCxnSpPr>
            <a:stCxn id="69" idx="2"/>
            <a:endCxn id="106" idx="0"/>
          </p:cNvCxnSpPr>
          <p:nvPr/>
        </p:nvCxnSpPr>
        <p:spPr>
          <a:xfrm rot="5400000" flipH="1">
            <a:off x="1884222" y="1278135"/>
            <a:ext cx="4032663" cy="6019544"/>
          </a:xfrm>
          <a:prstGeom prst="bentConnector5">
            <a:avLst>
              <a:gd name="adj1" fmla="val 955"/>
              <a:gd name="adj2" fmla="val -68088"/>
              <a:gd name="adj3" fmla="val 11891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результатов поиска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530034" y="2410640"/>
            <a:ext cx="122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663247" y="2411059"/>
            <a:ext cx="972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/>
          <p:cNvSpPr txBox="1"/>
          <p:nvPr/>
        </p:nvSpPr>
        <p:spPr>
          <a:xfrm>
            <a:off x="4615995" y="2248266"/>
            <a:ext cx="8194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sumRANK</a:t>
            </a:r>
            <a:endParaRPr lang="ru-RU" sz="1200" b="1" dirty="0"/>
          </a:p>
        </p:txBody>
      </p:sp>
      <p:grpSp>
        <p:nvGrpSpPr>
          <p:cNvPr id="14" name="Группа 13"/>
          <p:cNvGrpSpPr/>
          <p:nvPr/>
        </p:nvGrpSpPr>
        <p:grpSpPr>
          <a:xfrm>
            <a:off x="5696824" y="1962520"/>
            <a:ext cx="1416606" cy="1332000"/>
            <a:chOff x="6035866" y="1520738"/>
            <a:chExt cx="1416606" cy="1332000"/>
          </a:xfrm>
        </p:grpSpPr>
        <p:sp>
          <p:nvSpPr>
            <p:cNvPr id="21" name="Блок-схема: решение 20"/>
            <p:cNvSpPr>
              <a:spLocks noChangeAspect="1"/>
            </p:cNvSpPr>
            <p:nvPr/>
          </p:nvSpPr>
          <p:spPr>
            <a:xfrm>
              <a:off x="6072049" y="152073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035866" y="2029945"/>
              <a:ext cx="141660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sumRANK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6812813" y="2084905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28" name="Соединительная линия уступом 27"/>
          <p:cNvCxnSpPr>
            <a:stCxn id="95" idx="3"/>
            <a:endCxn id="106" idx="0"/>
          </p:cNvCxnSpPr>
          <p:nvPr/>
        </p:nvCxnSpPr>
        <p:spPr>
          <a:xfrm flipH="1">
            <a:off x="890782" y="2182957"/>
            <a:ext cx="8220324" cy="88618"/>
          </a:xfrm>
          <a:prstGeom prst="bentConnector4">
            <a:avLst>
              <a:gd name="adj1" fmla="val -1656"/>
              <a:gd name="adj2" fmla="val -76297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26039" y="3258538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41" name="Стрелка вправо 40"/>
          <p:cNvSpPr/>
          <p:nvPr/>
        </p:nvSpPr>
        <p:spPr>
          <a:xfrm>
            <a:off x="8037941" y="3349137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Стрелка вправо 44"/>
          <p:cNvSpPr/>
          <p:nvPr/>
        </p:nvSpPr>
        <p:spPr>
          <a:xfrm>
            <a:off x="11123415" y="3349042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Стрелка вправо 45"/>
          <p:cNvSpPr/>
          <p:nvPr/>
        </p:nvSpPr>
        <p:spPr>
          <a:xfrm>
            <a:off x="848869" y="5371130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6" name="Группа 55"/>
          <p:cNvGrpSpPr/>
          <p:nvPr/>
        </p:nvGrpSpPr>
        <p:grpSpPr>
          <a:xfrm>
            <a:off x="1621471" y="4927256"/>
            <a:ext cx="1332000" cy="1332000"/>
            <a:chOff x="1950240" y="4639584"/>
            <a:chExt cx="1332000" cy="1332000"/>
          </a:xfrm>
        </p:grpSpPr>
        <p:sp>
          <p:nvSpPr>
            <p:cNvPr id="47" name="Блок-схема: решение 46"/>
            <p:cNvSpPr>
              <a:spLocks noChangeAspect="1"/>
            </p:cNvSpPr>
            <p:nvPr/>
          </p:nvSpPr>
          <p:spPr>
            <a:xfrm>
              <a:off x="1950240" y="4639584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2180126" y="5165831"/>
              <a:ext cx="8525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c</a:t>
              </a:r>
              <a:r>
                <a:rPr lang="en-US" sz="1200" b="1" dirty="0" smtClean="0"/>
                <a:t>ount</a:t>
              </a:r>
              <a:r>
                <a:rPr lang="en-US" sz="1200" dirty="0" smtClean="0"/>
                <a:t> == 1</a:t>
              </a:r>
              <a:endParaRPr lang="ru-RU" sz="1200" dirty="0"/>
            </a:p>
          </p:txBody>
        </p:sp>
      </p:grpSp>
      <p:sp>
        <p:nvSpPr>
          <p:cNvPr id="55" name="TextBox 54"/>
          <p:cNvSpPr txBox="1"/>
          <p:nvPr/>
        </p:nvSpPr>
        <p:spPr>
          <a:xfrm>
            <a:off x="1333655" y="4526201"/>
            <a:ext cx="9188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о</a:t>
            </a:r>
            <a:r>
              <a:rPr lang="ru-RU" sz="1000" dirty="0" smtClean="0"/>
              <a:t>дин ответ</a:t>
            </a:r>
            <a:endParaRPr lang="ru-RU" sz="1000" dirty="0"/>
          </a:p>
        </p:txBody>
      </p:sp>
      <p:cxnSp>
        <p:nvCxnSpPr>
          <p:cNvPr id="60" name="Соединительная линия уступом 59"/>
          <p:cNvCxnSpPr>
            <a:stCxn id="93" idx="3"/>
            <a:endCxn id="105" idx="2"/>
          </p:cNvCxnSpPr>
          <p:nvPr/>
        </p:nvCxnSpPr>
        <p:spPr>
          <a:xfrm flipH="1" flipV="1">
            <a:off x="955155" y="3477265"/>
            <a:ext cx="2841544" cy="851894"/>
          </a:xfrm>
          <a:prstGeom prst="bentConnector4">
            <a:avLst>
              <a:gd name="adj1" fmla="val -5152"/>
              <a:gd name="adj2" fmla="val 10190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Стрелка вправо 64"/>
          <p:cNvSpPr/>
          <p:nvPr/>
        </p:nvSpPr>
        <p:spPr>
          <a:xfrm>
            <a:off x="5299313" y="5413566"/>
            <a:ext cx="86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7" name="Группа 56"/>
          <p:cNvGrpSpPr/>
          <p:nvPr/>
        </p:nvGrpSpPr>
        <p:grpSpPr>
          <a:xfrm>
            <a:off x="6244326" y="4972238"/>
            <a:ext cx="1332000" cy="1332000"/>
            <a:chOff x="6573094" y="4766758"/>
            <a:chExt cx="1332000" cy="1332000"/>
          </a:xfrm>
        </p:grpSpPr>
        <p:sp>
          <p:nvSpPr>
            <p:cNvPr id="69" name="Блок-схема: решение 68"/>
            <p:cNvSpPr>
              <a:spLocks noChangeAspect="1"/>
            </p:cNvSpPr>
            <p:nvPr/>
          </p:nvSpPr>
          <p:spPr>
            <a:xfrm>
              <a:off x="6573094" y="476675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709610" y="5283094"/>
              <a:ext cx="10653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r</a:t>
              </a:r>
              <a:r>
                <a:rPr lang="en-US" sz="1200" b="1" dirty="0" smtClean="0"/>
                <a:t>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cxnSp>
        <p:nvCxnSpPr>
          <p:cNvPr id="79" name="Соединительная линия уступом 78"/>
          <p:cNvCxnSpPr>
            <a:stCxn id="135" idx="3"/>
            <a:endCxn id="129" idx="0"/>
          </p:cNvCxnSpPr>
          <p:nvPr/>
        </p:nvCxnSpPr>
        <p:spPr>
          <a:xfrm flipH="1" flipV="1">
            <a:off x="4715184" y="5198692"/>
            <a:ext cx="5241074" cy="205136"/>
          </a:xfrm>
          <a:prstGeom prst="bentConnector4">
            <a:avLst>
              <a:gd name="adj1" fmla="val -3186"/>
              <a:gd name="adj2" fmla="val 51511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Стрелка вправо 81"/>
          <p:cNvSpPr/>
          <p:nvPr/>
        </p:nvSpPr>
        <p:spPr>
          <a:xfrm rot="5400000">
            <a:off x="632981" y="361725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TextBox 83"/>
          <p:cNvSpPr txBox="1"/>
          <p:nvPr/>
        </p:nvSpPr>
        <p:spPr>
          <a:xfrm>
            <a:off x="617748" y="4857646"/>
            <a:ext cx="561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ответ</a:t>
            </a:r>
            <a:r>
              <a:rPr lang="ru-RU" sz="1000" dirty="0"/>
              <a:t>ы</a:t>
            </a:r>
          </a:p>
        </p:txBody>
      </p:sp>
      <p:cxnSp>
        <p:nvCxnSpPr>
          <p:cNvPr id="92" name="Соединительная линия уступом 91"/>
          <p:cNvCxnSpPr>
            <a:stCxn id="78" idx="3"/>
            <a:endCxn id="106" idx="0"/>
          </p:cNvCxnSpPr>
          <p:nvPr/>
        </p:nvCxnSpPr>
        <p:spPr>
          <a:xfrm flipH="1" flipV="1">
            <a:off x="890782" y="2271575"/>
            <a:ext cx="9012427" cy="3138360"/>
          </a:xfrm>
          <a:prstGeom prst="bentConnector4">
            <a:avLst>
              <a:gd name="adj1" fmla="val -12226"/>
              <a:gd name="adj2" fmla="val 12463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" name="Группа 76"/>
          <p:cNvGrpSpPr/>
          <p:nvPr/>
        </p:nvGrpSpPr>
        <p:grpSpPr>
          <a:xfrm>
            <a:off x="1606802" y="2162317"/>
            <a:ext cx="844847" cy="277176"/>
            <a:chOff x="4111934" y="2883423"/>
            <a:chExt cx="844847" cy="277176"/>
          </a:xfrm>
        </p:grpSpPr>
        <p:sp>
          <p:nvSpPr>
            <p:cNvPr id="80" name="Прямоугольник 79"/>
            <p:cNvSpPr/>
            <p:nvPr/>
          </p:nvSpPr>
          <p:spPr>
            <a:xfrm>
              <a:off x="4111934" y="2898591"/>
              <a:ext cx="844847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4111934" y="2883423"/>
              <a:ext cx="8448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request</a:t>
              </a:r>
              <a:endParaRPr lang="ru-RU" sz="1200" b="1" dirty="0"/>
            </a:p>
          </p:txBody>
        </p:sp>
      </p:grpSp>
      <p:grpSp>
        <p:nvGrpSpPr>
          <p:cNvPr id="13" name="Группа 12"/>
          <p:cNvGrpSpPr/>
          <p:nvPr/>
        </p:nvGrpSpPr>
        <p:grpSpPr>
          <a:xfrm>
            <a:off x="2824439" y="1777171"/>
            <a:ext cx="1889878" cy="1584000"/>
            <a:chOff x="3440185" y="1654446"/>
            <a:chExt cx="1889878" cy="1584000"/>
          </a:xfrm>
        </p:grpSpPr>
        <p:sp>
          <p:nvSpPr>
            <p:cNvPr id="86" name="Блок-схема: процесс 85"/>
            <p:cNvSpPr/>
            <p:nvPr/>
          </p:nvSpPr>
          <p:spPr>
            <a:xfrm>
              <a:off x="3483358" y="1654446"/>
              <a:ext cx="1692000" cy="1584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83358" y="2666850"/>
              <a:ext cx="1683538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одсчитать суммарный ранг ответов</a:t>
              </a:r>
              <a:r>
                <a:rPr lang="en-US" sz="1000" dirty="0" smtClean="0"/>
                <a:t> (</a:t>
              </a:r>
              <a:r>
                <a:rPr lang="en-US" sz="1000" b="1" dirty="0" smtClean="0"/>
                <a:t>sumRANK</a:t>
              </a:r>
              <a:r>
                <a:rPr lang="en-US" sz="1000" dirty="0" smtClean="0"/>
                <a:t>)</a:t>
              </a:r>
              <a:r>
                <a:rPr lang="ru-RU" sz="1000" dirty="0" smtClean="0"/>
                <a:t> в базе ответов по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запроса</a:t>
              </a:r>
            </a:p>
          </p:txBody>
        </p:sp>
        <p:grpSp>
          <p:nvGrpSpPr>
            <p:cNvPr id="87" name="Группа 86"/>
            <p:cNvGrpSpPr/>
            <p:nvPr/>
          </p:nvGrpSpPr>
          <p:grpSpPr>
            <a:xfrm>
              <a:off x="3865121" y="1808475"/>
              <a:ext cx="1198274" cy="277176"/>
              <a:chOff x="4101660" y="2883423"/>
              <a:chExt cx="1198274" cy="277176"/>
            </a:xfrm>
          </p:grpSpPr>
          <p:sp>
            <p:nvSpPr>
              <p:cNvPr id="88" name="Прямоугольник 87"/>
              <p:cNvSpPr/>
              <p:nvPr/>
            </p:nvSpPr>
            <p:spPr>
              <a:xfrm>
                <a:off x="4111934" y="2898591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TextBox 88"/>
              <p:cNvSpPr txBox="1"/>
              <p:nvPr/>
            </p:nvSpPr>
            <p:spPr>
              <a:xfrm>
                <a:off x="4101660" y="2883423"/>
                <a:ext cx="5902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ID doc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90" name="Прямая соединительная линия 89"/>
              <p:cNvCxnSpPr/>
              <p:nvPr/>
            </p:nvCxnSpPr>
            <p:spPr>
              <a:xfrm>
                <a:off x="4670958" y="289795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1" name="TextBox 90"/>
            <p:cNvSpPr txBox="1"/>
            <p:nvPr/>
          </p:nvSpPr>
          <p:spPr>
            <a:xfrm>
              <a:off x="4503187" y="1799119"/>
              <a:ext cx="8268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/>
                <p:cNvSpPr txBox="1"/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b="1" i="1" smtClean="0">
                            <a:latin typeface="Cambria Math" panose="02040503050406030204" pitchFamily="18" charset="0"/>
                          </a:rPr>
                          <m:t>𝒔𝒖𝒎𝑹𝑨𝑵𝑲</m:t>
                        </m:r>
                        <m:r>
                          <a:rPr lang="pt-BR" sz="100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pt-BR" sz="10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𝑑𝑜𝑐</m:t>
                            </m:r>
                            <m:r>
                              <a:rPr lang="pt-BR" sz="100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𝑟𝑎𝑛𝑘</m:t>
                            </m:r>
                          </m:e>
                        </m:nary>
                      </m:oMath>
                    </m:oMathPara>
                  </a14:m>
                  <a:endParaRPr lang="ru-RU" sz="1000" dirty="0"/>
                </a:p>
              </p:txBody>
            </p:sp>
          </mc:Choice>
          <mc:Fallback xmlns="">
            <p:sp>
              <p:nvSpPr>
                <p:cNvPr id="38" name="TextBox 3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t="-86207" r="-24296" b="-13678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4" name="Группа 43"/>
          <p:cNvGrpSpPr/>
          <p:nvPr/>
        </p:nvGrpSpPr>
        <p:grpSpPr>
          <a:xfrm>
            <a:off x="2644699" y="3609159"/>
            <a:ext cx="1152000" cy="1440000"/>
            <a:chOff x="2973467" y="3218747"/>
            <a:chExt cx="1152000" cy="1440000"/>
          </a:xfrm>
        </p:grpSpPr>
        <p:sp>
          <p:nvSpPr>
            <p:cNvPr id="93" name="Блок-схема: процесс 92"/>
            <p:cNvSpPr/>
            <p:nvPr/>
          </p:nvSpPr>
          <p:spPr>
            <a:xfrm>
              <a:off x="2973467" y="3218747"/>
              <a:ext cx="1152000" cy="144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3016121" y="3266393"/>
              <a:ext cx="1044000" cy="1332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1,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0.07018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}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30" name="Группа 29"/>
          <p:cNvGrpSpPr/>
          <p:nvPr/>
        </p:nvGrpSpPr>
        <p:grpSpPr>
          <a:xfrm>
            <a:off x="6789643" y="2978995"/>
            <a:ext cx="1152000" cy="1188000"/>
            <a:chOff x="7118411" y="2681049"/>
            <a:chExt cx="1152000" cy="1188000"/>
          </a:xfrm>
        </p:grpSpPr>
        <p:sp>
          <p:nvSpPr>
            <p:cNvPr id="94" name="Блок-схема: процесс 93"/>
            <p:cNvSpPr/>
            <p:nvPr/>
          </p:nvSpPr>
          <p:spPr>
            <a:xfrm>
              <a:off x="7118411" y="2681049"/>
              <a:ext cx="1152000" cy="1188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192166" y="2743086"/>
              <a:ext cx="1008000" cy="108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18" name="Группа 17"/>
          <p:cNvGrpSpPr/>
          <p:nvPr/>
        </p:nvGrpSpPr>
        <p:grpSpPr>
          <a:xfrm>
            <a:off x="7995106" y="1642957"/>
            <a:ext cx="1116000" cy="1080000"/>
            <a:chOff x="7810172" y="1540217"/>
            <a:chExt cx="1116000" cy="1080000"/>
          </a:xfrm>
        </p:grpSpPr>
        <p:sp>
          <p:nvSpPr>
            <p:cNvPr id="95" name="Блок-схема: процесс 94"/>
            <p:cNvSpPr>
              <a:spLocks/>
            </p:cNvSpPr>
            <p:nvPr/>
          </p:nvSpPr>
          <p:spPr>
            <a:xfrm>
              <a:off x="7810172" y="1540217"/>
              <a:ext cx="1116000" cy="108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857134" y="1599276"/>
              <a:ext cx="101181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"request003":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"false"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sp>
        <p:nvSpPr>
          <p:cNvPr id="108" name="TextBox 107"/>
          <p:cNvSpPr txBox="1"/>
          <p:nvPr/>
        </p:nvSpPr>
        <p:spPr>
          <a:xfrm>
            <a:off x="2789422" y="5642285"/>
            <a:ext cx="91884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м</a:t>
            </a:r>
            <a:r>
              <a:rPr lang="ru-RU" sz="1000" dirty="0" smtClean="0"/>
              <a:t>ножество </a:t>
            </a:r>
          </a:p>
          <a:p>
            <a:r>
              <a:rPr lang="ru-RU" sz="1000" dirty="0" smtClean="0"/>
              <a:t>ответов</a:t>
            </a:r>
            <a:endParaRPr lang="ru-RU" sz="1000" dirty="0"/>
          </a:p>
        </p:txBody>
      </p:sp>
      <p:grpSp>
        <p:nvGrpSpPr>
          <p:cNvPr id="67" name="Группа 66"/>
          <p:cNvGrpSpPr/>
          <p:nvPr/>
        </p:nvGrpSpPr>
        <p:grpSpPr>
          <a:xfrm>
            <a:off x="3935473" y="5198692"/>
            <a:ext cx="1699504" cy="1194165"/>
            <a:chOff x="4058761" y="4798006"/>
            <a:chExt cx="1699504" cy="1194165"/>
          </a:xfrm>
        </p:grpSpPr>
        <p:sp>
          <p:nvSpPr>
            <p:cNvPr id="129" name="Блок-схема: процесс 128"/>
            <p:cNvSpPr/>
            <p:nvPr/>
          </p:nvSpPr>
          <p:spPr>
            <a:xfrm>
              <a:off x="4316472" y="4798006"/>
              <a:ext cx="1044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TextBox 129"/>
            <p:cNvSpPr txBox="1"/>
            <p:nvPr/>
          </p:nvSpPr>
          <p:spPr>
            <a:xfrm>
              <a:off x="4058761" y="5592061"/>
              <a:ext cx="16995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ранг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следующего </a:t>
              </a:r>
            </a:p>
            <a:p>
              <a:r>
                <a:rPr lang="ru-RU" sz="1000" dirty="0"/>
                <a:t>д</a:t>
              </a:r>
              <a:r>
                <a:rPr lang="ru-RU" sz="1000" dirty="0" smtClean="0"/>
                <a:t>окумента из базы ответов </a:t>
              </a:r>
              <a:endParaRPr lang="ru-RU" sz="1000" dirty="0"/>
            </a:p>
          </p:txBody>
        </p:sp>
      </p:grpSp>
      <p:grpSp>
        <p:nvGrpSpPr>
          <p:cNvPr id="131" name="Группа 130"/>
          <p:cNvGrpSpPr/>
          <p:nvPr/>
        </p:nvGrpSpPr>
        <p:grpSpPr>
          <a:xfrm>
            <a:off x="5365558" y="5153151"/>
            <a:ext cx="495651" cy="277176"/>
            <a:chOff x="4111934" y="2883423"/>
            <a:chExt cx="522363" cy="277176"/>
          </a:xfrm>
        </p:grpSpPr>
        <p:sp>
          <p:nvSpPr>
            <p:cNvPr id="132" name="Прямоугольник 131"/>
            <p:cNvSpPr/>
            <p:nvPr/>
          </p:nvSpPr>
          <p:spPr>
            <a:xfrm>
              <a:off x="4111934" y="2898591"/>
              <a:ext cx="522363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4111934" y="2883423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rank</a:t>
              </a:r>
              <a:endParaRPr lang="ru-RU" sz="1200" b="1" dirty="0"/>
            </a:p>
          </p:txBody>
        </p:sp>
      </p:grpSp>
      <p:grpSp>
        <p:nvGrpSpPr>
          <p:cNvPr id="62" name="Группа 61"/>
          <p:cNvGrpSpPr/>
          <p:nvPr/>
        </p:nvGrpSpPr>
        <p:grpSpPr>
          <a:xfrm>
            <a:off x="8624258" y="4503828"/>
            <a:ext cx="1332000" cy="1800000"/>
            <a:chOff x="8572888" y="4185334"/>
            <a:chExt cx="1332000" cy="1800000"/>
          </a:xfrm>
        </p:grpSpPr>
        <p:sp>
          <p:nvSpPr>
            <p:cNvPr id="135" name="Блок-схема: процесс 134"/>
            <p:cNvSpPr/>
            <p:nvPr/>
          </p:nvSpPr>
          <p:spPr>
            <a:xfrm>
              <a:off x="8572888" y="4185334"/>
              <a:ext cx="1332000" cy="180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8622015" y="4245055"/>
              <a:ext cx="1229824" cy="16927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"request001":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"relevance": </a:t>
              </a: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[{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0,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1.0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},{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2,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0.94737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}]}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</a:t>
              </a:r>
              <a:endParaRPr lang="en-US" altLang="ru-RU" sz="800" i="1" dirty="0" smtClean="0">
                <a:solidFill>
                  <a:srgbClr val="808080"/>
                </a:solidFill>
                <a:latin typeface="JetBrains Mono"/>
              </a:endParaRPr>
            </a:p>
            <a:p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pic>
        <p:nvPicPr>
          <p:cNvPr id="149" name="Рисунок 14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371" y="3959901"/>
            <a:ext cx="792000" cy="1120171"/>
          </a:xfrm>
          <a:prstGeom prst="rect">
            <a:avLst/>
          </a:prstGeom>
        </p:spPr>
      </p:pic>
      <p:grpSp>
        <p:nvGrpSpPr>
          <p:cNvPr id="103" name="Группа 102"/>
          <p:cNvGrpSpPr/>
          <p:nvPr/>
        </p:nvGrpSpPr>
        <p:grpSpPr>
          <a:xfrm>
            <a:off x="321007" y="2271575"/>
            <a:ext cx="1268296" cy="1205690"/>
            <a:chOff x="57796" y="1752187"/>
            <a:chExt cx="1268296" cy="1205690"/>
          </a:xfrm>
        </p:grpSpPr>
        <p:sp>
          <p:nvSpPr>
            <p:cNvPr id="106" name="Блок-схема: процесс 105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57796" y="2557767"/>
              <a:ext cx="12682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запрос</a:t>
              </a:r>
              <a:r>
                <a:rPr lang="ru-RU" sz="1000" dirty="0"/>
                <a:t>а</a:t>
              </a:r>
              <a:r>
                <a:rPr lang="ru-RU" sz="1000" dirty="0" smtClean="0"/>
                <a:t>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ответов</a:t>
              </a:r>
              <a:endParaRPr lang="ru-RU" sz="1000" dirty="0"/>
            </a:p>
          </p:txBody>
        </p:sp>
      </p:grpSp>
      <p:cxnSp>
        <p:nvCxnSpPr>
          <p:cNvPr id="113" name="Соединительная линия уступом 112"/>
          <p:cNvCxnSpPr>
            <a:stCxn id="21" idx="3"/>
            <a:endCxn id="95" idx="1"/>
          </p:cNvCxnSpPr>
          <p:nvPr/>
        </p:nvCxnSpPr>
        <p:spPr>
          <a:xfrm flipV="1">
            <a:off x="7065007" y="2182957"/>
            <a:ext cx="930099" cy="44556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Соединительная линия уступом 113"/>
          <p:cNvCxnSpPr>
            <a:stCxn id="21" idx="2"/>
            <a:endCxn id="94" idx="1"/>
          </p:cNvCxnSpPr>
          <p:nvPr/>
        </p:nvCxnSpPr>
        <p:spPr>
          <a:xfrm rot="16200000" flipH="1">
            <a:off x="6455088" y="3238439"/>
            <a:ext cx="278475" cy="39063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11063071" y="3173273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/>
              <a:t>count</a:t>
            </a:r>
            <a:endParaRPr lang="ru-RU" sz="1200" b="1" dirty="0"/>
          </a:p>
        </p:txBody>
      </p:sp>
      <p:sp>
        <p:nvSpPr>
          <p:cNvPr id="116" name="TextBox 115"/>
          <p:cNvSpPr txBox="1"/>
          <p:nvPr/>
        </p:nvSpPr>
        <p:spPr>
          <a:xfrm>
            <a:off x="797468" y="5197052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/>
              <a:t>count</a:t>
            </a:r>
            <a:endParaRPr lang="ru-RU" sz="1200" b="1" dirty="0"/>
          </a:p>
        </p:txBody>
      </p:sp>
      <p:grpSp>
        <p:nvGrpSpPr>
          <p:cNvPr id="136" name="Группа 135"/>
          <p:cNvGrpSpPr/>
          <p:nvPr/>
        </p:nvGrpSpPr>
        <p:grpSpPr>
          <a:xfrm>
            <a:off x="9203570" y="2435881"/>
            <a:ext cx="1692000" cy="1764000"/>
            <a:chOff x="9737818" y="2559169"/>
            <a:chExt cx="1692000" cy="1764000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9737818" y="2559169"/>
              <a:ext cx="1692000" cy="1764000"/>
              <a:chOff x="9737818" y="2209853"/>
              <a:chExt cx="1692000" cy="1764000"/>
            </a:xfrm>
          </p:grpSpPr>
          <p:sp>
            <p:nvSpPr>
              <p:cNvPr id="42" name="Прямоугольник 41"/>
              <p:cNvSpPr/>
              <p:nvPr/>
            </p:nvSpPr>
            <p:spPr>
              <a:xfrm>
                <a:off x="9737818" y="2209853"/>
                <a:ext cx="1692000" cy="176400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9737818" y="3265232"/>
                <a:ext cx="16920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одсчитать количество </a:t>
                </a:r>
              </a:p>
              <a:p>
                <a:r>
                  <a:rPr lang="ru-RU" sz="1000" dirty="0" smtClean="0"/>
                  <a:t>ответов с ненулевым рангом (</a:t>
                </a:r>
                <a:r>
                  <a:rPr lang="en-US" sz="1000" b="1" dirty="0" smtClean="0"/>
                  <a:t>count</a:t>
                </a:r>
                <a:r>
                  <a:rPr lang="ru-RU" sz="1000" dirty="0" smtClean="0"/>
                  <a:t>)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базе ответов по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запроса</a:t>
                </a:r>
                <a:endParaRPr lang="ru-RU" sz="10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TextBox 96"/>
                  <p:cNvSpPr txBox="1"/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1" i="1" smtClean="0">
                              <a:latin typeface="Cambria Math" panose="02040503050406030204" pitchFamily="18" charset="0"/>
                            </a:rPr>
                            <m:t>𝒄𝒐𝒖𝒏𝒕</m:t>
                          </m:r>
                          <m:r>
                            <a:rPr lang="pt-BR" sz="10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brk m:alnAt="23"/>
                                    </m:r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𝑑𝑜𝑐</m:t>
                                  </m:r>
                                  <m:r>
                                    <a:rPr lang="pt-BR" sz="1000" i="1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ru-RU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𝑟𝑎𝑛𝑘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&gt;0</m:t>
                                  </m:r>
                                </m:e>
                              </m:eqArr>
                            </m:sub>
                            <m:sup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𝑟𝑎𝑛𝑘</m:t>
                              </m:r>
                            </m:e>
                          </m:nary>
                        </m:oMath>
                      </m:oMathPara>
                    </a14:m>
                    <a:endParaRPr lang="ru-RU" sz="1000" dirty="0"/>
                  </a:p>
                </p:txBody>
              </p:sp>
            </mc:Choice>
            <mc:Fallback xmlns="">
              <p:sp>
                <p:nvSpPr>
                  <p:cNvPr id="97" name="TextBox 9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blipFill rotWithShape="0">
                    <a:blip r:embed="rId8"/>
                    <a:stretch>
                      <a:fillRect t="-72816" r="-26939" b="-100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9" name="Группа 98"/>
              <p:cNvGrpSpPr/>
              <p:nvPr/>
            </p:nvGrpSpPr>
            <p:grpSpPr>
              <a:xfrm>
                <a:off x="10124800" y="2372356"/>
                <a:ext cx="1198274" cy="277176"/>
                <a:chOff x="4101660" y="2883423"/>
                <a:chExt cx="1198274" cy="277176"/>
              </a:xfrm>
            </p:grpSpPr>
            <p:sp>
              <p:nvSpPr>
                <p:cNvPr id="100" name="Прямоугольник 99"/>
                <p:cNvSpPr/>
                <p:nvPr/>
              </p:nvSpPr>
              <p:spPr>
                <a:xfrm>
                  <a:off x="4111934" y="2898591"/>
                  <a:ext cx="1188000" cy="262008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01" name="TextBox 100"/>
                <p:cNvSpPr txBox="1"/>
                <p:nvPr/>
              </p:nvSpPr>
              <p:spPr>
                <a:xfrm>
                  <a:off x="4101660" y="2883423"/>
                  <a:ext cx="59022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cxnSp>
              <p:nvCxnSpPr>
                <p:cNvPr id="102" name="Прямая соединительная линия 101"/>
                <p:cNvCxnSpPr/>
                <p:nvPr/>
              </p:nvCxnSpPr>
              <p:spPr>
                <a:xfrm>
                  <a:off x="4670958" y="2897951"/>
                  <a:ext cx="0" cy="262008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7" name="TextBox 116"/>
            <p:cNvSpPr txBox="1"/>
            <p:nvPr/>
          </p:nvSpPr>
          <p:spPr>
            <a:xfrm>
              <a:off x="10768796" y="2704270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118" name="Соединительная линия уступом 117"/>
          <p:cNvCxnSpPr>
            <a:stCxn id="47" idx="0"/>
            <a:endCxn id="93" idx="1"/>
          </p:cNvCxnSpPr>
          <p:nvPr/>
        </p:nvCxnSpPr>
        <p:spPr>
          <a:xfrm rot="5400000" flipH="1" flipV="1">
            <a:off x="2167037" y="4449594"/>
            <a:ext cx="598097" cy="357228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7372088" y="5825388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120" name="TextBox 119"/>
          <p:cNvSpPr txBox="1"/>
          <p:nvPr/>
        </p:nvSpPr>
        <p:spPr>
          <a:xfrm>
            <a:off x="6917118" y="4541305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122" name="Соединительная линия уступом 121"/>
          <p:cNvCxnSpPr>
            <a:stCxn id="69" idx="0"/>
            <a:endCxn id="135" idx="1"/>
          </p:cNvCxnSpPr>
          <p:nvPr/>
        </p:nvCxnSpPr>
        <p:spPr>
          <a:xfrm rot="16200000" flipH="1">
            <a:off x="7551497" y="4331067"/>
            <a:ext cx="431590" cy="1713932"/>
          </a:xfrm>
          <a:prstGeom prst="bentConnector4">
            <a:avLst>
              <a:gd name="adj1" fmla="val 1785"/>
              <a:gd name="adj2" fmla="val 69429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Соединительная линия уступом 126"/>
          <p:cNvCxnSpPr>
            <a:stCxn id="47" idx="3"/>
          </p:cNvCxnSpPr>
          <p:nvPr/>
        </p:nvCxnSpPr>
        <p:spPr>
          <a:xfrm>
            <a:off x="2953471" y="5593256"/>
            <a:ext cx="1198617" cy="1436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/>
        </p:nvSpPr>
        <p:spPr>
          <a:xfrm>
            <a:off x="5021193" y="1367246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1" name="TextBox 160"/>
          <p:cNvSpPr txBox="1"/>
          <p:nvPr/>
        </p:nvSpPr>
        <p:spPr>
          <a:xfrm>
            <a:off x="1728438" y="3328230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9" name="TextBox 168"/>
          <p:cNvSpPr txBox="1"/>
          <p:nvPr/>
        </p:nvSpPr>
        <p:spPr>
          <a:xfrm>
            <a:off x="6561148" y="4212413"/>
            <a:ext cx="207620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перейти к следующему документу</a:t>
            </a:r>
            <a:endParaRPr lang="ru-RU" sz="1000" dirty="0"/>
          </a:p>
        </p:txBody>
      </p:sp>
      <p:sp>
        <p:nvSpPr>
          <p:cNvPr id="170" name="Прямоугольник 169"/>
          <p:cNvSpPr/>
          <p:nvPr/>
        </p:nvSpPr>
        <p:spPr>
          <a:xfrm>
            <a:off x="150465" y="1979187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1" name="Прямоугольник 170"/>
          <p:cNvSpPr/>
          <p:nvPr/>
        </p:nvSpPr>
        <p:spPr>
          <a:xfrm>
            <a:off x="2666337" y="147525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2" name="Прямоугольник 171"/>
          <p:cNvSpPr/>
          <p:nvPr/>
        </p:nvSpPr>
        <p:spPr>
          <a:xfrm>
            <a:off x="6189569" y="16764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3" name="Прямоугольник 172"/>
          <p:cNvSpPr/>
          <p:nvPr/>
        </p:nvSpPr>
        <p:spPr>
          <a:xfrm>
            <a:off x="9005012" y="21325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4" name="Прямоугольник 173"/>
          <p:cNvSpPr/>
          <p:nvPr/>
        </p:nvSpPr>
        <p:spPr>
          <a:xfrm>
            <a:off x="2090321" y="4647132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5" name="Прямоугольник 174"/>
          <p:cNvSpPr/>
          <p:nvPr/>
        </p:nvSpPr>
        <p:spPr>
          <a:xfrm>
            <a:off x="3989864" y="489647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6" name="Прямоугольник 175"/>
          <p:cNvSpPr/>
          <p:nvPr/>
        </p:nvSpPr>
        <p:spPr>
          <a:xfrm>
            <a:off x="6705534" y="468614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95" y="2269818"/>
            <a:ext cx="1008000" cy="7126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0247" y="2436560"/>
            <a:ext cx="432000" cy="611002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891" y="1764074"/>
            <a:ext cx="432000" cy="611002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067" y="5194247"/>
            <a:ext cx="1008000" cy="71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53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3043406979"/>
              </p:ext>
            </p:extLst>
          </p:nvPr>
        </p:nvGraphicFramePr>
        <p:xfrm>
          <a:off x="1771650" y="2029224"/>
          <a:ext cx="8648700" cy="32427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одном потоке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27293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34366962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2487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30178757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14 дополнительных потоках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0554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1866086831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индексация документов 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разный объём 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индексации большого количества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00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2037" y="3444542"/>
            <a:ext cx="1980000" cy="1399928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47811"/>
            <a:ext cx="975389" cy="1589455"/>
            <a:chOff x="8276594" y="2297437"/>
            <a:chExt cx="975389" cy="1589455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7467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5147" y="4841918"/>
            <a:ext cx="763605" cy="1080000"/>
          </a:xfrm>
          <a:prstGeom prst="rect">
            <a:avLst/>
          </a:prstGeom>
        </p:spPr>
      </p:pic>
      <p:pic>
        <p:nvPicPr>
          <p:cNvPr id="114" name="Рисунок 1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0921" y="3254600"/>
            <a:ext cx="763605" cy="1080000"/>
          </a:xfrm>
          <a:prstGeom prst="rect">
            <a:avLst/>
          </a:prstGeom>
        </p:spPr>
      </p:pic>
      <p:pic>
        <p:nvPicPr>
          <p:cNvPr id="117" name="Рисунок 1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2110" y="2511506"/>
            <a:ext cx="763605" cy="1080000"/>
          </a:xfrm>
          <a:prstGeom prst="rect">
            <a:avLst/>
          </a:prstGeom>
        </p:spPr>
      </p:pic>
      <p:pic>
        <p:nvPicPr>
          <p:cNvPr id="118" name="Рисунок 11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6687" y="3430114"/>
            <a:ext cx="203628" cy="288000"/>
          </a:xfrm>
          <a:prstGeom prst="rect">
            <a:avLst/>
          </a:prstGeom>
        </p:spPr>
      </p:pic>
      <p:pic>
        <p:nvPicPr>
          <p:cNvPr id="119" name="Рисунок 1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767" y="4771749"/>
            <a:ext cx="203628" cy="288000"/>
          </a:xfrm>
          <a:prstGeom prst="rect">
            <a:avLst/>
          </a:prstGeom>
        </p:spPr>
      </p:pic>
      <p:pic>
        <p:nvPicPr>
          <p:cNvPr id="120" name="Рисунок 11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767" y="3676854"/>
            <a:ext cx="203628" cy="288000"/>
          </a:xfrm>
          <a:prstGeom prst="rect">
            <a:avLst/>
          </a:prstGeom>
        </p:spPr>
      </p:pic>
      <p:sp>
        <p:nvSpPr>
          <p:cNvPr id="332" name="TextBox 331"/>
          <p:cNvSpPr txBox="1"/>
          <p:nvPr/>
        </p:nvSpPr>
        <p:spPr>
          <a:xfrm>
            <a:off x="8657916" y="4714384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ɾ(n+1)/dɿ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Рисунок 17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45783" y="3395383"/>
            <a:ext cx="1980000" cy="139992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4632" y="2556027"/>
            <a:ext cx="1980000" cy="2800419"/>
          </a:xfrm>
          <a:prstGeom prst="rect">
            <a:avLst/>
          </a:prstGeom>
        </p:spPr>
      </p:pic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710165"/>
            <a:ext cx="979647" cy="3068187"/>
            <a:chOff x="2192841" y="1913158"/>
            <a:chExt cx="914273" cy="3068187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47811"/>
            <a:ext cx="975389" cy="1589455"/>
            <a:chOff x="8276594" y="2297437"/>
            <a:chExt cx="975389" cy="1589455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  <p:pic>
        <p:nvPicPr>
          <p:cNvPr id="117" name="Рисунок 11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348" y="2519367"/>
            <a:ext cx="763605" cy="1080000"/>
          </a:xfrm>
          <a:prstGeom prst="rect">
            <a:avLst/>
          </a:prstGeom>
        </p:spPr>
      </p:pic>
      <p:pic>
        <p:nvPicPr>
          <p:cNvPr id="118" name="Рисунок 1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1597" y="3251413"/>
            <a:ext cx="763605" cy="1080000"/>
          </a:xfrm>
          <a:prstGeom prst="rect">
            <a:avLst/>
          </a:prstGeom>
        </p:spPr>
      </p:pic>
      <p:pic>
        <p:nvPicPr>
          <p:cNvPr id="119" name="Рисунок 1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617" y="4843583"/>
            <a:ext cx="763605" cy="1080000"/>
          </a:xfrm>
          <a:prstGeom prst="rect">
            <a:avLst/>
          </a:prstGeom>
        </p:spPr>
      </p:pic>
      <p:pic>
        <p:nvPicPr>
          <p:cNvPr id="120" name="Рисунок 11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0425" y="3496420"/>
            <a:ext cx="509070" cy="720000"/>
          </a:xfrm>
          <a:prstGeom prst="rect">
            <a:avLst/>
          </a:prstGeom>
        </p:spPr>
      </p:pic>
      <p:pic>
        <p:nvPicPr>
          <p:cNvPr id="121" name="Рисунок 1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871" y="5071320"/>
            <a:ext cx="509071" cy="720000"/>
          </a:xfrm>
          <a:prstGeom prst="rect">
            <a:avLst/>
          </a:prstGeom>
        </p:spPr>
      </p:pic>
      <p:pic>
        <p:nvPicPr>
          <p:cNvPr id="122" name="Рисунок 12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7271" y="2771660"/>
            <a:ext cx="509070" cy="720000"/>
          </a:xfrm>
          <a:prstGeom prst="rect">
            <a:avLst/>
          </a:prstGeom>
        </p:spPr>
      </p:pic>
      <p:pic>
        <p:nvPicPr>
          <p:cNvPr id="123" name="Рисунок 12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8712" y="3490852"/>
            <a:ext cx="509070" cy="72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8901" y="5078296"/>
            <a:ext cx="509070" cy="720000"/>
          </a:xfrm>
          <a:prstGeom prst="rect">
            <a:avLst/>
          </a:prstGeom>
        </p:spPr>
      </p:pic>
      <p:pic>
        <p:nvPicPr>
          <p:cNvPr id="127" name="Рисунок 12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492" y="2768533"/>
            <a:ext cx="509070" cy="720000"/>
          </a:xfrm>
          <a:prstGeom prst="rect">
            <a:avLst/>
          </a:prstGeom>
        </p:spPr>
      </p:pic>
      <p:pic>
        <p:nvPicPr>
          <p:cNvPr id="156" name="Рисунок 1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534" y="2689848"/>
            <a:ext cx="203628" cy="288000"/>
          </a:xfrm>
          <a:prstGeom prst="rect">
            <a:avLst/>
          </a:prstGeom>
        </p:spPr>
      </p:pic>
      <p:pic>
        <p:nvPicPr>
          <p:cNvPr id="164" name="Рисунок 1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054" y="3189164"/>
            <a:ext cx="203628" cy="288000"/>
          </a:xfrm>
          <a:prstGeom prst="rect">
            <a:avLst/>
          </a:prstGeom>
        </p:spPr>
      </p:pic>
      <p:pic>
        <p:nvPicPr>
          <p:cNvPr id="166" name="Рисунок 1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7191" y="3433705"/>
            <a:ext cx="203628" cy="288000"/>
          </a:xfrm>
          <a:prstGeom prst="rect">
            <a:avLst/>
          </a:prstGeom>
        </p:spPr>
      </p:pic>
      <p:pic>
        <p:nvPicPr>
          <p:cNvPr id="167" name="Рисунок 16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4967" y="3935583"/>
            <a:ext cx="203628" cy="288000"/>
          </a:xfrm>
          <a:prstGeom prst="rect">
            <a:avLst/>
          </a:prstGeom>
        </p:spPr>
      </p:pic>
      <p:pic>
        <p:nvPicPr>
          <p:cNvPr id="168" name="Рисунок 16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3068" y="5012894"/>
            <a:ext cx="203628" cy="288000"/>
          </a:xfrm>
          <a:prstGeom prst="rect">
            <a:avLst/>
          </a:prstGeom>
        </p:spPr>
      </p:pic>
      <p:pic>
        <p:nvPicPr>
          <p:cNvPr id="169" name="Рисунок 16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2213" y="5503473"/>
            <a:ext cx="203628" cy="288000"/>
          </a:xfrm>
          <a:prstGeom prst="rect">
            <a:avLst/>
          </a:prstGeom>
        </p:spPr>
      </p:pic>
      <p:pic>
        <p:nvPicPr>
          <p:cNvPr id="170" name="Рисунок 16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7958" y="3427047"/>
            <a:ext cx="203628" cy="288000"/>
          </a:xfrm>
          <a:prstGeom prst="rect">
            <a:avLst/>
          </a:prstGeom>
        </p:spPr>
      </p:pic>
      <p:pic>
        <p:nvPicPr>
          <p:cNvPr id="171" name="Рисунок 17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4180" y="3682442"/>
            <a:ext cx="203628" cy="288000"/>
          </a:xfrm>
          <a:prstGeom prst="rect">
            <a:avLst/>
          </a:prstGeom>
        </p:spPr>
      </p:pic>
      <p:pic>
        <p:nvPicPr>
          <p:cNvPr id="172" name="Рисунок 17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6682" y="4767266"/>
            <a:ext cx="203628" cy="28800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8382613" y="4714388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9116058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957516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4,7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15473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4,6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индексация </a:t>
            </a:r>
            <a:r>
              <a:rPr lang="ru-RU" sz="2400" dirty="0" smtClean="0"/>
              <a:t>документов в 14 дополнительных потоках </a:t>
            </a:r>
            <a:r>
              <a:rPr lang="en-US" sz="2400" dirty="0"/>
              <a:t>(</a:t>
            </a:r>
            <a:r>
              <a:rPr lang="ru-RU" sz="2400" dirty="0"/>
              <a:t>разный объём </a:t>
            </a:r>
            <a:r>
              <a:rPr lang="ru-RU" sz="2400" dirty="0" smtClean="0"/>
              <a:t>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индексации большого количества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745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486282750"/>
              </p:ext>
            </p:extLst>
          </p:nvPr>
        </p:nvGraphicFramePr>
        <p:xfrm>
          <a:off x="1773237" y="2029224"/>
          <a:ext cx="8648700" cy="3278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98149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 Очевидно, что он значительно меньше </a:t>
            </a:r>
          </a:p>
          <a:p>
            <a:r>
              <a:rPr lang="ru-RU" dirty="0"/>
              <a:t>о</a:t>
            </a:r>
            <a:r>
              <a:rPr lang="ru-RU" dirty="0" smtClean="0"/>
              <a:t>бъёма базы документов.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708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Формирование базы индекса напрямую чтением файлов документов</a:t>
            </a:r>
            <a:endParaRPr lang="ru-RU" sz="24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Стрелка вправо 8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8" name="Группа 17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19" name="Группа 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1" name="Скругленный прямоугольник 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0" name="Прямоугольник 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28" name="Группа 27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29" name="Группа 2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1" name="Скругленный прямоугольник 3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0" name="Прямоугольник 2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33" name="Полилиния 32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</a:t>
            </a:r>
            <a:r>
              <a:rPr lang="ru-RU" sz="800" dirty="0" smtClean="0">
                <a:solidFill>
                  <a:schemeClr val="tx1"/>
                </a:solidFill>
              </a:rPr>
              <a:t>путей файлов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4" name="Полилиния 3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6" name="Полилиния 3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8" name="Полилиния 3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0" name="Полилиния 3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2" name="Полилиния 4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44" name="Группа 43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45" name="Овал 4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47" name="Рисунок 4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49" name="Рисунок 4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grpSp>
        <p:nvGrpSpPr>
          <p:cNvPr id="23" name="Группа 22"/>
          <p:cNvGrpSpPr/>
          <p:nvPr/>
        </p:nvGrpSpPr>
        <p:grpSpPr>
          <a:xfrm>
            <a:off x="5078220" y="1628446"/>
            <a:ext cx="1800000" cy="1800000"/>
            <a:chOff x="6093193" y="1986699"/>
            <a:chExt cx="1440000" cy="1442301"/>
          </a:xfrm>
        </p:grpSpPr>
        <p:grpSp>
          <p:nvGrpSpPr>
            <p:cNvPr id="24" name="Группа 2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6" name="Скругленный прямоугольник 2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25" name="Прямоугольник 2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</a:t>
              </a:r>
              <a:r>
                <a:rPr lang="ru-RU" sz="1100" dirty="0" smtClean="0">
                  <a:solidFill>
                    <a:schemeClr val="tx1"/>
                  </a:solidFill>
                </a:rPr>
                <a:t>путей файлов документов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sp>
        <p:nvSpPr>
          <p:cNvPr id="53" name="Прямоугольник 5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Прямоугольник 5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63" name="Рисунок 6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4731830" y="4148013"/>
            <a:ext cx="2063149" cy="1987889"/>
            <a:chOff x="5084901" y="1635410"/>
            <a:chExt cx="2063149" cy="1987889"/>
          </a:xfrm>
        </p:grpSpPr>
        <p:grpSp>
          <p:nvGrpSpPr>
            <p:cNvPr id="13" name="Группа 12"/>
            <p:cNvGrpSpPr/>
            <p:nvPr/>
          </p:nvGrpSpPr>
          <p:grpSpPr>
            <a:xfrm>
              <a:off x="5084901" y="1635410"/>
              <a:ext cx="1800000" cy="1800000"/>
              <a:chOff x="6093193" y="1986699"/>
              <a:chExt cx="1440000" cy="1442301"/>
            </a:xfrm>
          </p:grpSpPr>
          <p:grpSp>
            <p:nvGrpSpPr>
              <p:cNvPr id="14" name="Группа 1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16" name="Скругленный прямоугольник 1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1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kern="1200" dirty="0" smtClean="0"/>
                    <a:t>Dispatcher</a:t>
                  </a:r>
                  <a:endParaRPr lang="ru-RU" kern="1200" dirty="0" smtClean="0"/>
                </a:p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kern="1200" dirty="0" smtClean="0"/>
                    <a:t>Operations</a:t>
                  </a:r>
                  <a:endParaRPr lang="ru-RU" kern="1200" dirty="0"/>
                </a:p>
              </p:txBody>
            </p:sp>
          </p:grpSp>
          <p:sp>
            <p:nvSpPr>
              <p:cNvPr id="15" name="Прямоугольник 1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 smtClean="0">
                    <a:solidFill>
                      <a:schemeClr val="tx1"/>
                    </a:solidFill>
                  </a:rPr>
                  <a:t>прочитать текстовый файл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5" name="Рисунок 54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8050" y="3241501"/>
              <a:ext cx="540000" cy="381798"/>
            </a:xfrm>
            <a:prstGeom prst="rect">
              <a:avLst/>
            </a:prstGeom>
          </p:spPr>
        </p:pic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20550" y="2038374"/>
              <a:ext cx="763598" cy="1080000"/>
            </a:xfrm>
            <a:prstGeom prst="rect">
              <a:avLst/>
            </a:prstGeom>
          </p:spPr>
        </p:pic>
      </p:grpSp>
      <p:sp>
        <p:nvSpPr>
          <p:cNvPr id="71" name="Стрелка вправо 70"/>
          <p:cNvSpPr/>
          <p:nvPr/>
        </p:nvSpPr>
        <p:spPr>
          <a:xfrm>
            <a:off x="2714132" y="5400525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2" name="Рисунок 7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1347" y="5326262"/>
            <a:ext cx="763598" cy="1080000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5303" y="4589382"/>
            <a:ext cx="1080000" cy="1527503"/>
          </a:xfrm>
          <a:prstGeom prst="rect">
            <a:avLst/>
          </a:prstGeom>
        </p:spPr>
      </p:pic>
      <p:sp>
        <p:nvSpPr>
          <p:cNvPr id="74" name="Стрелка вправо 73"/>
          <p:cNvSpPr/>
          <p:nvPr/>
        </p:nvSpPr>
        <p:spPr>
          <a:xfrm>
            <a:off x="4072255" y="540714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Стрелка вправо 74"/>
          <p:cNvSpPr/>
          <p:nvPr/>
        </p:nvSpPr>
        <p:spPr>
          <a:xfrm rot="10800000">
            <a:off x="2717603" y="586003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Стрелка вправо 75"/>
          <p:cNvSpPr/>
          <p:nvPr/>
        </p:nvSpPr>
        <p:spPr>
          <a:xfrm rot="10800000">
            <a:off x="4068710" y="5863362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TextBox 77"/>
          <p:cNvSpPr txBox="1"/>
          <p:nvPr/>
        </p:nvSpPr>
        <p:spPr>
          <a:xfrm>
            <a:off x="2956372" y="4887941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уть файла документа</a:t>
            </a:r>
            <a:endParaRPr lang="ru-RU" sz="1000" dirty="0"/>
          </a:p>
        </p:txBody>
      </p:sp>
      <p:sp>
        <p:nvSpPr>
          <p:cNvPr id="79" name="TextBox 78"/>
          <p:cNvSpPr txBox="1"/>
          <p:nvPr/>
        </p:nvSpPr>
        <p:spPr>
          <a:xfrm>
            <a:off x="3197267" y="6141555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5163" y="1987615"/>
            <a:ext cx="763605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8009" y="3075645"/>
            <a:ext cx="509070" cy="720000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5508" y="4510325"/>
            <a:ext cx="763606" cy="1080000"/>
          </a:xfrm>
          <a:prstGeom prst="rect">
            <a:avLst/>
          </a:prstGeom>
        </p:spPr>
      </p:pic>
      <p:pic>
        <p:nvPicPr>
          <p:cNvPr id="57" name="Рисунок 5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24" y="5588464"/>
            <a:ext cx="509065" cy="720000"/>
          </a:xfrm>
          <a:prstGeom prst="rect">
            <a:avLst/>
          </a:prstGeom>
        </p:spPr>
      </p:pic>
      <p:pic>
        <p:nvPicPr>
          <p:cNvPr id="58" name="Рисунок 5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851" y="4943977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514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98085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7850608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6175511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объёмы баз путей файлов документов</a:t>
            </a:r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объёма базы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6540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общее время формирования базы индекса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017630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246267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919656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1127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  <p:cxnSp>
        <p:nvCxnSpPr>
          <p:cNvPr id="51" name="Соединительная линия уступом 50"/>
          <p:cNvCxnSpPr>
            <a:endCxn id="47" idx="2"/>
          </p:cNvCxnSpPr>
          <p:nvPr/>
        </p:nvCxnSpPr>
        <p:spPr>
          <a:xfrm rot="16200000" flipV="1">
            <a:off x="6163832" y="4985218"/>
            <a:ext cx="840694" cy="55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657653" y="1586947"/>
            <a:ext cx="3534347" cy="24622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Необходимо добавить контейнер соответствия вызывающей функции уровню логирования.</a:t>
            </a:r>
          </a:p>
          <a:p>
            <a:endParaRPr lang="ru-RU" sz="1400" dirty="0"/>
          </a:p>
          <a:p>
            <a:r>
              <a:rPr lang="ru-RU" sz="1400" dirty="0"/>
              <a:t>П</a:t>
            </a:r>
            <a:r>
              <a:rPr lang="ru-RU" sz="1400" dirty="0" smtClean="0"/>
              <a:t>люсы:</a:t>
            </a:r>
          </a:p>
          <a:p>
            <a:pPr marL="285750" indent="-285750">
              <a:buFontTx/>
              <a:buChar char="-"/>
            </a:pPr>
            <a:r>
              <a:rPr lang="ru-RU" sz="1400" dirty="0" smtClean="0"/>
              <a:t>меньше аргументов использовать;</a:t>
            </a:r>
          </a:p>
          <a:p>
            <a:pPr marL="285750" indent="-285750">
              <a:buFontTx/>
              <a:buChar char="-"/>
            </a:pPr>
            <a:r>
              <a:rPr lang="ru-RU" sz="1400" dirty="0"/>
              <a:t>ц</a:t>
            </a:r>
            <a:r>
              <a:rPr lang="ru-RU" sz="1400" dirty="0" smtClean="0"/>
              <a:t>ентрализованная обработка ошибок и логирования;</a:t>
            </a:r>
          </a:p>
          <a:p>
            <a:r>
              <a:rPr lang="ru-RU" sz="1400" dirty="0" smtClean="0"/>
              <a:t>Минусы:</a:t>
            </a:r>
          </a:p>
          <a:p>
            <a:r>
              <a:rPr lang="ru-RU" sz="1400" dirty="0" smtClean="0"/>
              <a:t>-      иногда, добавить дополнительную функцию вызова операции.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en-US" dirty="0" smtClean="0">
                <a:solidFill>
                  <a:srgbClr val="C00000"/>
                </a:solidFill>
              </a:rPr>
              <a:t> </a:t>
            </a:r>
            <a:r>
              <a:rPr lang="en-US" dirty="0" smtClean="0">
                <a:solidFill>
                  <a:srgbClr val="FF0000"/>
                </a:solidFill>
              </a:rPr>
              <a:t>fatal</a:t>
            </a:r>
            <a:r>
              <a:rPr lang="en-US" dirty="0" smtClean="0"/>
              <a:t>,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smtClean="0">
                  <a:solidFill>
                    <a:schemeClr val="tx1"/>
                  </a:solidFill>
                </a:rPr>
                <a:t>debug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569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6214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</a:t>
            </a:r>
            <a:r>
              <a:rPr lang="ru-RU" sz="4000" dirty="0" smtClean="0"/>
              <a:t>_</a:t>
            </a:r>
            <a:r>
              <a:rPr lang="en-US" sz="4000" dirty="0" smtClean="0"/>
              <a:t>fileOperations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1807517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9902257" y="64578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27</a:t>
            </a:fld>
            <a:endParaRPr lang="ru-RU" dirty="0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тестов</a:t>
            </a:r>
            <a:endParaRPr lang="ru-RU" sz="4000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6035940"/>
              </p:ext>
            </p:extLst>
          </p:nvPr>
        </p:nvGraphicFramePr>
        <p:xfrm>
          <a:off x="9309688" y="3853110"/>
          <a:ext cx="249357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100%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31%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89%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60%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84%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50%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923990" y="3430258"/>
            <a:ext cx="16144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</a:t>
            </a:r>
            <a:r>
              <a:rPr lang="en-US" sz="1400" dirty="0" smtClean="0"/>
              <a:t>earch_engine_test</a:t>
            </a:r>
            <a:endParaRPr lang="ru-RU" sz="1400" dirty="0"/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8743940"/>
              </p:ext>
            </p:extLst>
          </p:nvPr>
        </p:nvGraphicFramePr>
        <p:xfrm>
          <a:off x="343656" y="3860800"/>
          <a:ext cx="2493579" cy="112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100% files, </a:t>
                      </a:r>
                      <a:r>
                        <a:rPr lang="en-US" sz="800" dirty="0" smtClean="0"/>
                        <a:t>100%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70%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80% </a:t>
                      </a:r>
                      <a:r>
                        <a:rPr lang="en-US" sz="800" dirty="0"/>
                        <a:t>files, </a:t>
                      </a:r>
                      <a:r>
                        <a:rPr lang="en-US" sz="800" dirty="0" smtClean="0"/>
                        <a:t>89%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46%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33319" y="3439319"/>
            <a:ext cx="19230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</a:t>
            </a:r>
            <a:r>
              <a:rPr lang="en-US" sz="1400" dirty="0" smtClean="0"/>
              <a:t>av_fileOperations_test</a:t>
            </a:r>
            <a:endParaRPr lang="ru-RU" sz="1400" dirty="0"/>
          </a:p>
        </p:txBody>
      </p:sp>
      <p:graphicFrame>
        <p:nvGraphicFramePr>
          <p:cNvPr id="12" name="Таблица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199977"/>
              </p:ext>
            </p:extLst>
          </p:nvPr>
        </p:nvGraphicFramePr>
        <p:xfrm>
          <a:off x="6304909" y="3853110"/>
          <a:ext cx="2493579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76%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44%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84%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57%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95%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54%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953396" y="3430258"/>
            <a:ext cx="16908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logger_monitor_test</a:t>
            </a:r>
            <a:endParaRPr lang="ru-RU" sz="1400" dirty="0"/>
          </a:p>
        </p:txBody>
      </p:sp>
      <p:graphicFrame>
        <p:nvGraphicFramePr>
          <p:cNvPr id="14" name="Таблица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1637982"/>
              </p:ext>
            </p:extLst>
          </p:nvPr>
        </p:nvGraphicFramePr>
        <p:xfrm>
          <a:off x="3305705" y="3860800"/>
          <a:ext cx="2493579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95%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54%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100% files, </a:t>
                      </a:r>
                      <a:r>
                        <a:rPr lang="en-US" sz="800" dirty="0" smtClean="0"/>
                        <a:t>83%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53%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85% </a:t>
                      </a:r>
                      <a:r>
                        <a:rPr lang="en-US" sz="800" dirty="0"/>
                        <a:t>files, </a:t>
                      </a:r>
                      <a:r>
                        <a:rPr lang="en-US" sz="800" dirty="0" smtClean="0"/>
                        <a:t>91%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49%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902923" y="3437948"/>
            <a:ext cx="13451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</a:t>
            </a:r>
            <a:r>
              <a:rPr lang="en-US" sz="1400" dirty="0" smtClean="0"/>
              <a:t>av_logger_test</a:t>
            </a:r>
            <a:endParaRPr lang="ru-RU" sz="1400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847" y="3243985"/>
            <a:ext cx="476195" cy="67351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9510" y="3227787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6034" y="3228814"/>
            <a:ext cx="509065" cy="72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2995" y="3223133"/>
            <a:ext cx="509065" cy="72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0" y="913172"/>
            <a:ext cx="12181731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ru-RU" sz="2400" dirty="0" smtClean="0"/>
              <a:t>Результаты тестов по двум библиотекам (</a:t>
            </a:r>
            <a:r>
              <a:rPr lang="en-US" sz="2400" dirty="0" smtClean="0"/>
              <a:t>kav_fileOperations, kav_logger</a:t>
            </a:r>
            <a:r>
              <a:rPr lang="ru-RU" sz="2400" dirty="0" smtClean="0"/>
              <a:t>), </a:t>
            </a:r>
            <a:r>
              <a:rPr lang="en-US" sz="2400" dirty="0" smtClean="0"/>
              <a:t>logger_monitor</a:t>
            </a:r>
            <a:r>
              <a:rPr lang="ru-RU" sz="2400" dirty="0" smtClean="0"/>
              <a:t> и </a:t>
            </a:r>
          </a:p>
          <a:p>
            <a:pPr algn="ctr"/>
            <a:r>
              <a:rPr lang="ru-RU" sz="2400" dirty="0"/>
              <a:t>о</a:t>
            </a:r>
            <a:r>
              <a:rPr lang="ru-RU" sz="2400" dirty="0" smtClean="0"/>
              <a:t>сновной программы </a:t>
            </a:r>
            <a:r>
              <a:rPr lang="en-US" sz="2400" dirty="0" smtClean="0"/>
              <a:t>search_engine</a:t>
            </a:r>
            <a:endParaRPr lang="ru-RU" sz="2400" dirty="0"/>
          </a:p>
        </p:txBody>
      </p:sp>
      <p:sp>
        <p:nvSpPr>
          <p:cNvPr id="22" name="TextBox 21"/>
          <p:cNvSpPr txBox="1"/>
          <p:nvPr/>
        </p:nvSpPr>
        <p:spPr>
          <a:xfrm>
            <a:off x="637001" y="2065112"/>
            <a:ext cx="11389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	Протестирована обязательная проверка на недоступность файлов конфигурации и файлов документов, </a:t>
            </a:r>
          </a:p>
          <a:p>
            <a:r>
              <a:rPr lang="ru-RU" dirty="0"/>
              <a:t>з</a:t>
            </a:r>
            <a:r>
              <a:rPr lang="ru-RU" dirty="0" smtClean="0"/>
              <a:t>аявленная функциональность, а также наиболее сложные функции библиотек и основной программы.</a:t>
            </a:r>
            <a:endParaRPr lang="ru-RU" dirty="0"/>
          </a:p>
        </p:txBody>
      </p:sp>
      <p:cxnSp>
        <p:nvCxnSpPr>
          <p:cNvPr id="23" name="Прямая соединительная линия 22"/>
          <p:cNvCxnSpPr/>
          <p:nvPr/>
        </p:nvCxnSpPr>
        <p:spPr>
          <a:xfrm>
            <a:off x="324000" y="2709864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28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84687" y="3816440"/>
            <a:ext cx="5291705" cy="20621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sz="1600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sz="1600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в</a:t>
            </a:r>
            <a:r>
              <a:rPr lang="ru-RU" sz="1600" dirty="0" smtClean="0"/>
              <a:t>ыбор базы документов или путей файлов документов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ж</a:t>
            </a:r>
            <a:r>
              <a:rPr lang="ru-RU" sz="1600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м</a:t>
            </a:r>
            <a:r>
              <a:rPr lang="ru-RU" sz="1600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омощь;</a:t>
            </a:r>
            <a:endParaRPr lang="ru-RU" sz="1600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20010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624529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197617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450728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58257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58621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075014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2843989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024225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216175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  <p:pic>
        <p:nvPicPr>
          <p:cNvPr id="36" name="Рисунок 3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33405" y="4270252"/>
            <a:ext cx="2893042" cy="1620000"/>
          </a:xfrm>
          <a:prstGeom prst="rect">
            <a:avLst/>
          </a:prstGeom>
        </p:spPr>
      </p:pic>
      <p:pic>
        <p:nvPicPr>
          <p:cNvPr id="37" name="Рисунок 3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84805" y="4256397"/>
            <a:ext cx="2876274" cy="1620000"/>
          </a:xfrm>
          <a:prstGeom prst="rect">
            <a:avLst/>
          </a:prstGeom>
        </p:spPr>
      </p:pic>
      <p:pic>
        <p:nvPicPr>
          <p:cNvPr id="39" name="Рисунок 38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733694" y="1630985"/>
            <a:ext cx="1121741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5313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Https</a:t>
            </a:r>
            <a:r>
              <a:rPr lang="en-US" dirty="0"/>
              <a:t>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21760</TotalTime>
  <Words>2462</Words>
  <Application>Microsoft Office PowerPoint</Application>
  <PresentationFormat>Широкоэкранный</PresentationFormat>
  <Paragraphs>786</Paragraphs>
  <Slides>30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5" baseType="lpstr">
      <vt:lpstr>Calibri</vt:lpstr>
      <vt:lpstr>Calibri Light</vt:lpstr>
      <vt:lpstr>Cambria Math</vt:lpstr>
      <vt:lpstr>JetBrains Mono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дополнительных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769</cp:revision>
  <dcterms:created xsi:type="dcterms:W3CDTF">2025-10-14T05:54:15Z</dcterms:created>
  <dcterms:modified xsi:type="dcterms:W3CDTF">2026-02-14T09:34:17Z</dcterms:modified>
</cp:coreProperties>
</file>
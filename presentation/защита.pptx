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59" r:id="rId14"/>
    <p:sldId id="271" r:id="rId15"/>
    <p:sldId id="272" r:id="rId16"/>
    <p:sldId id="269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4294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orient="horz" pos="170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2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2" y="318"/>
      </p:cViewPr>
      <p:guideLst>
        <p:guide orient="horz" pos="2183"/>
        <p:guide pos="4294"/>
        <p:guide pos="3863"/>
        <p:guide orient="horz" pos="17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2974512"/>
        <c:axId val="192972160"/>
      </c:barChart>
      <c:catAx>
        <c:axId val="1929745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92972160"/>
        <c:crosses val="autoZero"/>
        <c:auto val="1"/>
        <c:lblAlgn val="ctr"/>
        <c:lblOffset val="100"/>
        <c:noMultiLvlLbl val="0"/>
      </c:catAx>
      <c:valAx>
        <c:axId val="192972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929745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2974904"/>
        <c:axId val="192967456"/>
      </c:barChart>
      <c:catAx>
        <c:axId val="1929749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92967456"/>
        <c:crosses val="autoZero"/>
        <c:auto val="1"/>
        <c:lblAlgn val="ctr"/>
        <c:lblOffset val="100"/>
        <c:noMultiLvlLbl val="0"/>
      </c:catAx>
      <c:valAx>
        <c:axId val="1929674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929749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341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Функции библиотеки</a:t>
          </a:r>
          <a:endParaRPr lang="ru-RU" sz="2800" kern="1200" dirty="0"/>
        </a:p>
      </dsp:txBody>
      <dsp:txXfrm>
        <a:off x="32784" y="36201"/>
        <a:ext cx="8142517" cy="606012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8208085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8208085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Проверка при работе с файлами</a:t>
          </a:r>
          <a:endParaRPr lang="ru-RU" sz="2800" kern="1200" dirty="0"/>
        </a:p>
      </dsp:txBody>
      <dsp:txXfrm>
        <a:off x="32784" y="2214741"/>
        <a:ext cx="8142517" cy="606012"/>
      </dsp:txXfrm>
    </dsp:sp>
    <dsp:sp modelId="{657A1B8A-9783-4C29-9201-29A02D448FA4}">
      <dsp:nvSpPr>
        <dsp:cNvPr id="0" name=""/>
        <dsp:cNvSpPr/>
      </dsp:nvSpPr>
      <dsp:spPr>
        <a:xfrm>
          <a:off x="0" y="2853537"/>
          <a:ext cx="820808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53537"/>
        <a:ext cx="8208085" cy="11302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557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Функции библиотеки</a:t>
          </a:r>
          <a:endParaRPr lang="ru-RU" sz="2900" kern="1200" dirty="0"/>
        </a:p>
      </dsp:txBody>
      <dsp:txXfrm>
        <a:off x="33955" y="39530"/>
        <a:ext cx="7800548" cy="627655"/>
      </dsp:txXfrm>
    </dsp:sp>
    <dsp:sp modelId="{F2725D4B-59A7-40CF-AA8E-A27EC37530B2}">
      <dsp:nvSpPr>
        <dsp:cNvPr id="0" name=""/>
        <dsp:cNvSpPr/>
      </dsp:nvSpPr>
      <dsp:spPr>
        <a:xfrm>
          <a:off x="0" y="720105"/>
          <a:ext cx="7868458" cy="4802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20105"/>
        <a:ext cx="7868458" cy="480240"/>
      </dsp:txXfrm>
    </dsp:sp>
    <dsp:sp modelId="{6C5C9815-44A2-4551-A509-FE6F0947C3DB}">
      <dsp:nvSpPr>
        <dsp:cNvPr id="0" name=""/>
        <dsp:cNvSpPr/>
      </dsp:nvSpPr>
      <dsp:spPr>
        <a:xfrm>
          <a:off x="0" y="120034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Внутренние функции</a:t>
          </a:r>
          <a:endParaRPr lang="ru-RU" sz="2900" kern="1200" dirty="0"/>
        </a:p>
      </dsp:txBody>
      <dsp:txXfrm>
        <a:off x="33955" y="1234300"/>
        <a:ext cx="7800548" cy="627655"/>
      </dsp:txXfrm>
    </dsp:sp>
    <dsp:sp modelId="{84271FDF-D644-48A5-8BBB-391AF85E26F5}">
      <dsp:nvSpPr>
        <dsp:cNvPr id="0" name=""/>
        <dsp:cNvSpPr/>
      </dsp:nvSpPr>
      <dsp:spPr>
        <a:xfrm>
          <a:off x="0" y="1895910"/>
          <a:ext cx="7868458" cy="19809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95910"/>
        <a:ext cx="7868458" cy="198098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3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diagramData" Target="../diagrams/data1.xml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23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Relationship Id="rId22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35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61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1" Type="http://schemas.openxmlformats.org/officeDocument/2006/relationships/image" Target="../media/image59.png"/><Relationship Id="rId5" Type="http://schemas.openxmlformats.org/officeDocument/2006/relationships/image" Target="../media/image54.png"/><Relationship Id="rId10" Type="http://schemas.openxmlformats.org/officeDocument/2006/relationships/image" Target="../media/image58.png"/><Relationship Id="rId4" Type="http://schemas.openxmlformats.org/officeDocument/2006/relationships/image" Target="../media/image53.png"/><Relationship Id="rId9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62.png"/><Relationship Id="rId7" Type="http://schemas.openxmlformats.org/officeDocument/2006/relationships/image" Target="../media/image55.png"/><Relationship Id="rId12" Type="http://schemas.openxmlformats.org/officeDocument/2006/relationships/image" Target="../media/image67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66.png"/><Relationship Id="rId5" Type="http://schemas.openxmlformats.org/officeDocument/2006/relationships/image" Target="../media/image45.png"/><Relationship Id="rId10" Type="http://schemas.openxmlformats.org/officeDocument/2006/relationships/image" Target="../media/image65.png"/><Relationship Id="rId4" Type="http://schemas.openxmlformats.org/officeDocument/2006/relationships/image" Target="../media/image44.png"/><Relationship Id="rId9" Type="http://schemas.openxmlformats.org/officeDocument/2006/relationships/image" Target="../media/image6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5.png"/><Relationship Id="rId3" Type="http://schemas.openxmlformats.org/officeDocument/2006/relationships/image" Target="../media/image51.png"/><Relationship Id="rId7" Type="http://schemas.openxmlformats.org/officeDocument/2006/relationships/image" Target="../media/image63.png"/><Relationship Id="rId12" Type="http://schemas.openxmlformats.org/officeDocument/2006/relationships/image" Target="../media/image74.png"/><Relationship Id="rId2" Type="http://schemas.openxmlformats.org/officeDocument/2006/relationships/image" Target="../media/image68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11" Type="http://schemas.openxmlformats.org/officeDocument/2006/relationships/image" Target="../media/image54.png"/><Relationship Id="rId5" Type="http://schemas.openxmlformats.org/officeDocument/2006/relationships/image" Target="../media/image70.png"/><Relationship Id="rId15" Type="http://schemas.openxmlformats.org/officeDocument/2006/relationships/image" Target="../media/image77.png"/><Relationship Id="rId10" Type="http://schemas.openxmlformats.org/officeDocument/2006/relationships/image" Target="../media/image55.png"/><Relationship Id="rId4" Type="http://schemas.openxmlformats.org/officeDocument/2006/relationships/image" Target="../media/image69.png"/><Relationship Id="rId9" Type="http://schemas.openxmlformats.org/officeDocument/2006/relationships/image" Target="../media/image73.png"/><Relationship Id="rId14" Type="http://schemas.openxmlformats.org/officeDocument/2006/relationships/image" Target="../media/image7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79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8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104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99.png"/><Relationship Id="rId12" Type="http://schemas.openxmlformats.org/officeDocument/2006/relationships/image" Target="../media/image103.png"/><Relationship Id="rId2" Type="http://schemas.openxmlformats.org/officeDocument/2006/relationships/diagramData" Target="../diagrams/data3.xml"/><Relationship Id="rId16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11" Type="http://schemas.openxmlformats.org/officeDocument/2006/relationships/image" Target="../media/image58.png"/><Relationship Id="rId5" Type="http://schemas.openxmlformats.org/officeDocument/2006/relationships/diagramColors" Target="../diagrams/colors3.xml"/><Relationship Id="rId15" Type="http://schemas.openxmlformats.org/officeDocument/2006/relationships/image" Target="../media/image106.png"/><Relationship Id="rId10" Type="http://schemas.openxmlformats.org/officeDocument/2006/relationships/image" Target="../media/image102.pn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101.png"/><Relationship Id="rId14" Type="http://schemas.openxmlformats.org/officeDocument/2006/relationships/image" Target="../media/image10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08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10" Type="http://schemas.openxmlformats.org/officeDocument/2006/relationships/image" Target="../media/image111.png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Relationship Id="rId9" Type="http://schemas.openxmlformats.org/officeDocument/2006/relationships/image" Target="../media/image11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10" Type="http://schemas.openxmlformats.org/officeDocument/2006/relationships/image" Target="../media/image126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134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1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5450" y="1471613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573309"/>
            <a:ext cx="3384959" cy="451327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9986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373187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435573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390217"/>
            <a:ext cx="2876084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31" y="1568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297" y="47006"/>
            <a:ext cx="2077058" cy="110246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3962" y="2628696"/>
            <a:ext cx="1415007" cy="828211"/>
          </a:xfrm>
          <a:prstGeom prst="rect">
            <a:avLst/>
          </a:prstGeom>
        </p:spPr>
      </p:pic>
      <p:sp>
        <p:nvSpPr>
          <p:cNvPr id="12" name="Прямоугольник с двумя усеченными противолежащими углами 11"/>
          <p:cNvSpPr/>
          <p:nvPr/>
        </p:nvSpPr>
        <p:spPr>
          <a:xfrm rot="5400000">
            <a:off x="1553935" y="1163727"/>
            <a:ext cx="1102466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1442713" y="1320333"/>
            <a:ext cx="1244251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</a:t>
            </a:r>
            <a:endParaRPr lang="ru-RU" sz="8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4" name="Прямоугольник с двумя усеченными противолежащими углами 13"/>
          <p:cNvSpPr/>
          <p:nvPr/>
        </p:nvSpPr>
        <p:spPr>
          <a:xfrm rot="5400000">
            <a:off x="1663469" y="2398204"/>
            <a:ext cx="776776" cy="1340630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1376893" y="2809639"/>
            <a:ext cx="134992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QML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6" name="Прямоугольник с двумя усеченными противолежащими углами 15"/>
          <p:cNvSpPr/>
          <p:nvPr/>
        </p:nvSpPr>
        <p:spPr>
          <a:xfrm rot="5400000">
            <a:off x="1728753" y="3769050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1278494" y="4425175"/>
            <a:ext cx="169629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Designer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8" name="Прямоугольник с двумя усеченными противолежащими углами 17"/>
          <p:cNvSpPr/>
          <p:nvPr/>
        </p:nvSpPr>
        <p:spPr>
          <a:xfrm rot="5400000">
            <a:off x="1758351" y="2816636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1467756" y="3465517"/>
            <a:ext cx="152503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Creator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06994" y="1035782"/>
            <a:ext cx="12993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 типы</a:t>
            </a:r>
            <a:r>
              <a:rPr lang="en-US" dirty="0"/>
              <a:t> </a:t>
            </a:r>
            <a:r>
              <a:rPr lang="ru-RU" dirty="0"/>
              <a:t>данных</a:t>
            </a:r>
            <a:r>
              <a:rPr lang="ru-RU" dirty="0" smtClean="0"/>
              <a:t>, константы и строки, массивы, </a:t>
            </a:r>
            <a:r>
              <a:rPr lang="ru-RU" dirty="0"/>
              <a:t>ветвления, </a:t>
            </a:r>
            <a:r>
              <a:rPr lang="ru-RU" dirty="0" smtClean="0"/>
              <a:t>циклы, функции, преобразование типов, </a:t>
            </a:r>
          </a:p>
          <a:p>
            <a:r>
              <a:rPr lang="ru-RU" dirty="0" smtClean="0"/>
              <a:t>ссылки и указатели, работа с файлами, перечисления и структуры, макросы и препроцессор, перегрузка функций, </a:t>
            </a:r>
          </a:p>
          <a:p>
            <a:r>
              <a:rPr lang="ru-RU" dirty="0" smtClean="0"/>
              <a:t>шаблоны функций, ООП, перегрузка операторов, семантика перемещения, умные указатели, наследование, </a:t>
            </a:r>
          </a:p>
          <a:p>
            <a:r>
              <a:rPr lang="ru-RU" dirty="0" smtClean="0"/>
              <a:t>виртуальные функции, шаблоны классов, </a:t>
            </a:r>
            <a:r>
              <a:rPr lang="en-US" dirty="0" smtClean="0"/>
              <a:t>STL, </a:t>
            </a:r>
            <a:r>
              <a:rPr lang="ru-RU" dirty="0" smtClean="0"/>
              <a:t>многопоточность, исключения, свойства типов, шаблонное метапрограммирование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784" y="5420382"/>
            <a:ext cx="436649" cy="4370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58712" y="5652911"/>
            <a:ext cx="57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остаточно знаний для описания правил сборки проекта</a:t>
            </a:r>
            <a:endParaRPr lang="ru-RU" dirty="0"/>
          </a:p>
        </p:txBody>
      </p:sp>
      <p:sp>
        <p:nvSpPr>
          <p:cNvPr id="23" name="TextBox 22"/>
          <p:cNvSpPr txBox="1"/>
          <p:nvPr/>
        </p:nvSpPr>
        <p:spPr>
          <a:xfrm>
            <a:off x="1383968" y="5789289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CMake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3509999" y="4556941"/>
            <a:ext cx="811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визуального проектирования графических </a:t>
            </a:r>
            <a:r>
              <a:rPr lang="ru-RU" dirty="0" smtClean="0"/>
              <a:t>интерфейсов</a:t>
            </a:r>
            <a:r>
              <a:rPr lang="en-US" dirty="0" smtClean="0"/>
              <a:t> </a:t>
            </a:r>
            <a:r>
              <a:rPr lang="ru-RU" dirty="0" smtClean="0"/>
              <a:t>без написания кода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3569551" y="4060404"/>
            <a:ext cx="950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создания кроссплатформенных приложений с графическим интерфейсом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6221" y="3003848"/>
            <a:ext cx="9457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разработки пользовательских интерфейсов</a:t>
            </a:r>
          </a:p>
          <a:p>
            <a:r>
              <a:rPr lang="ru-RU" dirty="0" smtClean="0"/>
              <a:t>элементы, </a:t>
            </a:r>
            <a:r>
              <a:rPr lang="ru-RU" dirty="0"/>
              <a:t>у</a:t>
            </a:r>
            <a:r>
              <a:rPr lang="ru-RU" dirty="0" smtClean="0"/>
              <a:t>правление </a:t>
            </a:r>
            <a:r>
              <a:rPr lang="ru-RU" dirty="0"/>
              <a:t>размещением </a:t>
            </a:r>
            <a:r>
              <a:rPr lang="ru-RU" dirty="0" smtClean="0"/>
              <a:t>элементов, </a:t>
            </a:r>
            <a:r>
              <a:rPr lang="ru-RU" dirty="0"/>
              <a:t>э</a:t>
            </a:r>
            <a:r>
              <a:rPr lang="ru-RU" dirty="0" smtClean="0"/>
              <a:t>лементы графики, </a:t>
            </a:r>
            <a:r>
              <a:rPr lang="ru-RU" dirty="0"/>
              <a:t>п</a:t>
            </a:r>
            <a:r>
              <a:rPr lang="ru-RU" dirty="0" smtClean="0"/>
              <a:t>ользовательский ввод, </a:t>
            </a:r>
          </a:p>
          <a:p>
            <a:r>
              <a:rPr lang="ru-RU" dirty="0"/>
              <a:t>а</a:t>
            </a:r>
            <a:r>
              <a:rPr lang="ru-RU" dirty="0" smtClean="0"/>
              <a:t>нимация, </a:t>
            </a:r>
            <a:r>
              <a:rPr lang="en-US" dirty="0"/>
              <a:t>3D-</a:t>
            </a:r>
            <a:r>
              <a:rPr lang="ru-RU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1543" y="2133141"/>
            <a:ext cx="1100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Концепция межобъектных коммуникаций – сигналы и слоты, </a:t>
            </a:r>
            <a:r>
              <a:rPr lang="en-US" dirty="0" smtClean="0"/>
              <a:t>qmake, </a:t>
            </a:r>
            <a:r>
              <a:rPr lang="ru-RU" dirty="0" smtClean="0"/>
              <a:t>библиотека контейнеров, </a:t>
            </a:r>
          </a:p>
          <a:p>
            <a:r>
              <a:rPr lang="ru-RU" dirty="0"/>
              <a:t>в</a:t>
            </a:r>
            <a:r>
              <a:rPr lang="ru-RU" dirty="0" smtClean="0"/>
              <a:t>иджеты, события, графика, </a:t>
            </a:r>
            <a:r>
              <a:rPr lang="ru-RU" dirty="0"/>
              <a:t>мультимедиа, </a:t>
            </a:r>
            <a:r>
              <a:rPr lang="ru-RU" dirty="0" smtClean="0"/>
              <a:t>анимация, </a:t>
            </a:r>
            <a:r>
              <a:rPr lang="en-US" dirty="0" smtClean="0"/>
              <a:t>SDI- </a:t>
            </a:r>
            <a:r>
              <a:rPr lang="ru-RU" dirty="0"/>
              <a:t>и М</a:t>
            </a:r>
            <a:r>
              <a:rPr lang="en-US" dirty="0"/>
              <a:t>DI-</a:t>
            </a:r>
            <a:r>
              <a:rPr lang="ru-RU" dirty="0" smtClean="0"/>
              <a:t>приложения, </a:t>
            </a:r>
            <a:r>
              <a:rPr lang="ru-RU" dirty="0"/>
              <a:t>р</a:t>
            </a:r>
            <a:r>
              <a:rPr lang="ru-RU" dirty="0" smtClean="0"/>
              <a:t>абота </a:t>
            </a:r>
            <a:r>
              <a:rPr lang="ru-RU" dirty="0"/>
              <a:t>с файлами, каталогами </a:t>
            </a:r>
            <a:endParaRPr lang="ru-RU" dirty="0" smtClean="0"/>
          </a:p>
          <a:p>
            <a:r>
              <a:rPr lang="ru-RU" dirty="0" smtClean="0"/>
              <a:t>и </a:t>
            </a:r>
            <a:r>
              <a:rPr lang="ru-RU" dirty="0"/>
              <a:t>потоками </a:t>
            </a:r>
            <a:r>
              <a:rPr lang="ru-RU" dirty="0" smtClean="0"/>
              <a:t>ввода/вывода, </a:t>
            </a:r>
            <a:r>
              <a:rPr lang="ru-RU" dirty="0"/>
              <a:t>п</a:t>
            </a:r>
            <a:r>
              <a:rPr lang="ru-RU" dirty="0" smtClean="0"/>
              <a:t>роцессы </a:t>
            </a:r>
            <a:r>
              <a:rPr lang="ru-RU" dirty="0"/>
              <a:t>и потоки</a:t>
            </a:r>
          </a:p>
        </p:txBody>
      </p: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149561" y="3368528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073461" y="3935834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955436" y="21597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02236" y="4481147"/>
            <a:ext cx="1271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Текстовые  файлы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41" y="1958482"/>
            <a:ext cx="849172" cy="1201033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491" y="3185607"/>
            <a:ext cx="1372970" cy="194187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124" y="2962168"/>
            <a:ext cx="1887399" cy="266945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277534"/>
            <a:ext cx="754265" cy="1066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72034" y="626268"/>
            <a:ext cx="165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 rot="5400000">
            <a:off x="5899709" y="1449818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1778424"/>
            <a:ext cx="723441" cy="10232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10284" y="2105360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Список слов</a:t>
            </a:r>
          </a:p>
        </p:txBody>
      </p:sp>
      <p:sp>
        <p:nvSpPr>
          <p:cNvPr id="20" name="Стрелка вправо 19"/>
          <p:cNvSpPr/>
          <p:nvPr/>
        </p:nvSpPr>
        <p:spPr>
          <a:xfrm rot="5400000">
            <a:off x="5899709" y="2957084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4795288" y="3896300"/>
            <a:ext cx="595800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6331" y="2575201"/>
            <a:ext cx="2362414" cy="3341299"/>
          </a:xfrm>
          <a:prstGeom prst="rect">
            <a:avLst/>
          </a:prstGeom>
        </p:spPr>
      </p:pic>
      <p:sp>
        <p:nvSpPr>
          <p:cNvPr id="23" name="Стрелка вправо 22"/>
          <p:cNvSpPr/>
          <p:nvPr/>
        </p:nvSpPr>
        <p:spPr>
          <a:xfrm>
            <a:off x="7329070" y="3931366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580" y="3082033"/>
            <a:ext cx="1569016" cy="2219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232821" y="4416784"/>
            <a:ext cx="1505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213360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7" y="3005264"/>
            <a:ext cx="491750" cy="69551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138" y="5331014"/>
            <a:ext cx="476195" cy="673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274727" y="1809381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1066800" y="4069357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4249" y="2132992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955" y="4882773"/>
            <a:ext cx="429863" cy="60798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1772" y="4415613"/>
            <a:ext cx="804972" cy="113851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233735" y="2345924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298806" y="450931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9730" y="3425767"/>
            <a:ext cx="442447" cy="31282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7975" y="3266236"/>
            <a:ext cx="406677" cy="575187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936" y="5479012"/>
            <a:ext cx="471798" cy="667291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330016"/>
              </p:ext>
            </p:extLst>
          </p:nvPr>
        </p:nvGraphicFramePr>
        <p:xfrm>
          <a:off x="4400929" y="5399093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4400929" y="4940338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27" y="3479857"/>
            <a:ext cx="580393" cy="410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1557850" y="4141081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4973216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125" y="4987626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7381" y="443827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90715" y="235964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3115" y="457941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9096" y="3458097"/>
            <a:ext cx="479870" cy="678708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290062"/>
              </p:ext>
            </p:extLst>
          </p:nvPr>
        </p:nvGraphicFramePr>
        <p:xfrm>
          <a:off x="3879822" y="4560104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878910" y="4108268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878910" y="5544024"/>
            <a:ext cx="3273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878910" y="5919768"/>
            <a:ext cx="297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</a:t>
            </a: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256" y="3645370"/>
            <a:ext cx="430192" cy="30416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188" y="5624314"/>
            <a:ext cx="424789" cy="600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533" y="255018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4883914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23526" y="6000730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</a:t>
            </a:r>
            <a:endParaRPr lang="ru-RU" dirty="0"/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010" y="5886916"/>
            <a:ext cx="601341" cy="42516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7125" y="3694672"/>
            <a:ext cx="567280" cy="40108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806" y="3495697"/>
            <a:ext cx="554399" cy="391979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418" y="5953015"/>
            <a:ext cx="470973" cy="332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-474663"/>
            <a:ext cx="10058400" cy="1114426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2133600" y="4289425"/>
          <a:ext cx="10058400" cy="15795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smtClean="0"/>
              <a:t>Индексация документов в отдельных</a:t>
            </a:r>
            <a:r>
              <a:rPr lang="en-US" sz="4000" smtClean="0"/>
              <a:t> </a:t>
            </a:r>
            <a:r>
              <a:rPr lang="ru-RU" sz="400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1766198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3948271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4536000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4536000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4536000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4674499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011736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203837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204000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204000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204000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204000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2335824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</a:t>
            </a:r>
            <a:r>
              <a:rPr lang="ru-RU" dirty="0" smtClean="0"/>
              <a:t>документов </a:t>
            </a:r>
            <a:r>
              <a:rPr lang="ru-RU" dirty="0" smtClean="0"/>
              <a:t>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3958021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3961678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012779" y="3638759"/>
            <a:ext cx="1465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</a:t>
            </a:r>
            <a:r>
              <a:rPr lang="en-US" dirty="0" smtClean="0"/>
              <a:t>b+b+1</a:t>
            </a:r>
            <a:r>
              <a:rPr lang="en-US" dirty="0" smtClean="0"/>
              <a:t>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182550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204000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204000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015800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200000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200000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200000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134378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129463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134380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129464" y="3884643"/>
            <a:ext cx="776175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b+b+1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129464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</a:t>
            </a:r>
            <a:r>
              <a:rPr lang="en-US" dirty="0" smtClean="0"/>
              <a:t>+1-b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134381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4356000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4351084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4356000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232889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702666" y="3907217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126828" y="3912165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7991455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7940349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7945267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7940164" y="4714385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7941325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индексных баз</a:t>
            </a:r>
            <a:endParaRPr lang="ru-RU" sz="1000" dirty="0" smtClean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03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8157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0997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8157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15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8157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13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4621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4787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959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4786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954" y="5511894"/>
            <a:ext cx="203628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1781270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3948271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36000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36000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36000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4674499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11736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000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203837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04000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04000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04000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04000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679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702666" y="3897385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140540" y="390632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>
            <a:stCxn id="93" idx="1"/>
          </p:cNvCxnSpPr>
          <p:nvPr/>
        </p:nvCxnSpPr>
        <p:spPr>
          <a:xfrm rot="10800000">
            <a:off x="5373798" y="1693506"/>
            <a:ext cx="4136505" cy="2435441"/>
          </a:xfrm>
          <a:prstGeom prst="bentConnector3">
            <a:avLst>
              <a:gd name="adj1" fmla="val 3650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97280" y="1693501"/>
            <a:ext cx="5135664" cy="2448395"/>
          </a:xfrm>
          <a:prstGeom prst="bentConnector3">
            <a:avLst>
              <a:gd name="adj1" fmla="val 999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9460" y="2485296"/>
            <a:ext cx="2290792" cy="324000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510302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3958021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000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0167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3961678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12779" y="3638759"/>
            <a:ext cx="1465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</a:t>
            </a:r>
            <a:r>
              <a:rPr lang="en-US" dirty="0" smtClean="0"/>
              <a:t>b+b+1</a:t>
            </a:r>
            <a:r>
              <a:rPr lang="en-US" dirty="0" smtClean="0"/>
              <a:t>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182550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204000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204000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015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000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015800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7991455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200000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200000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200000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134378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129463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134380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129464" y="3884643"/>
            <a:ext cx="776175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b+b+1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129464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</a:t>
            </a:r>
            <a:r>
              <a:rPr lang="en-US" dirty="0" smtClean="0"/>
              <a:t>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134381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7940349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7945267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7940164" y="4714385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356000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351084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356000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154516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индексных баз</a:t>
            </a:r>
            <a:endParaRPr lang="ru-RU" sz="1000" dirty="0" smtClean="0"/>
          </a:p>
        </p:txBody>
      </p:sp>
      <p:sp>
        <p:nvSpPr>
          <p:cNvPr id="203" name="TextBox 202"/>
          <p:cNvSpPr txBox="1"/>
          <p:nvPr/>
        </p:nvSpPr>
        <p:spPr>
          <a:xfrm>
            <a:off x="7941325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индексных баз</a:t>
            </a:r>
            <a:endParaRPr lang="ru-RU" sz="1000" dirty="0" smtClean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97280" y="286603"/>
            <a:ext cx="10058400" cy="7353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Класс </a:t>
            </a:r>
            <a:r>
              <a:rPr lang="en-US" dirty="0" smtClean="0"/>
              <a:t>DispatcherOperations</a:t>
            </a:r>
            <a:endParaRPr lang="ru-RU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3022275" y="1951728"/>
            <a:ext cx="8097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462" y="1704692"/>
            <a:ext cx="608483" cy="86061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607" y="1755078"/>
            <a:ext cx="667339" cy="943856"/>
          </a:xfrm>
          <a:prstGeom prst="rect">
            <a:avLst/>
          </a:prstGeom>
        </p:spPr>
      </p:pic>
      <p:sp>
        <p:nvSpPr>
          <p:cNvPr id="11" name="Стрелка вправо 10"/>
          <p:cNvSpPr/>
          <p:nvPr/>
        </p:nvSpPr>
        <p:spPr>
          <a:xfrm>
            <a:off x="6923852" y="19222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51840"/>
              </p:ext>
            </p:extLst>
          </p:nvPr>
        </p:nvGraphicFramePr>
        <p:xfrm>
          <a:off x="2407359" y="4345671"/>
          <a:ext cx="3359310" cy="1540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</a:t>
                      </a:r>
                      <a:r>
                        <a:rPr lang="ru-RU" dirty="0" err="1" smtClean="0"/>
                        <a:t>логирования</a:t>
                      </a:r>
                      <a:endParaRPr lang="ru-RU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SearchEngine::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readDocsFromFiles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fatal</a:t>
                      </a:r>
                      <a:endParaRPr lang="ru-RU" sz="1100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ConverterJSON::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checkFilePath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</a:t>
                      </a:r>
                      <a:endParaRPr lang="ru-RU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Стрелка вправо 21"/>
          <p:cNvSpPr/>
          <p:nvPr/>
        </p:nvSpPr>
        <p:spPr>
          <a:xfrm>
            <a:off x="1097280" y="482920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7914209" y="2458404"/>
            <a:ext cx="198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операции</a:t>
            </a:r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544" y="1244366"/>
            <a:ext cx="1176748" cy="16643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32459" y="2957129"/>
            <a:ext cx="2324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Операции с файлами </a:t>
            </a:r>
          </a:p>
          <a:p>
            <a:r>
              <a:rPr lang="ru-RU" dirty="0" smtClean="0"/>
              <a:t>и документами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10556470" y="173627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право 35"/>
          <p:cNvSpPr/>
          <p:nvPr/>
        </p:nvSpPr>
        <p:spPr>
          <a:xfrm>
            <a:off x="6698604" y="4771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738892" y="2513984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3" name="TextBox 42"/>
          <p:cNvSpPr txBox="1"/>
          <p:nvPr/>
        </p:nvSpPr>
        <p:spPr>
          <a:xfrm>
            <a:off x="6398857" y="2473217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4" name="TextBox 43"/>
          <p:cNvSpPr txBox="1"/>
          <p:nvPr/>
        </p:nvSpPr>
        <p:spPr>
          <a:xfrm>
            <a:off x="10064481" y="2337520"/>
            <a:ext cx="1508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5" name="TextBox 44"/>
          <p:cNvSpPr txBox="1"/>
          <p:nvPr/>
        </p:nvSpPr>
        <p:spPr>
          <a:xfrm flipH="1">
            <a:off x="582799" y="5403389"/>
            <a:ext cx="1553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6233187" y="5439751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292779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214" y="5060146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9264" y="4031169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</a:t>
            </a:r>
            <a:r>
              <a:rPr lang="ru-RU" sz="1100" dirty="0" err="1" smtClean="0"/>
              <a:t>логирования</a:t>
            </a:r>
            <a:endParaRPr lang="ru-RU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550539" y="274609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7" name="TextBox 26"/>
          <p:cNvSpPr txBox="1"/>
          <p:nvPr/>
        </p:nvSpPr>
        <p:spPr>
          <a:xfrm>
            <a:off x="6186813" y="2683770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8" name="TextBox 27"/>
          <p:cNvSpPr txBox="1"/>
          <p:nvPr/>
        </p:nvSpPr>
        <p:spPr>
          <a:xfrm>
            <a:off x="9909562" y="259240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9" name="TextBox 28"/>
          <p:cNvSpPr txBox="1"/>
          <p:nvPr/>
        </p:nvSpPr>
        <p:spPr>
          <a:xfrm>
            <a:off x="341547" y="5628543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30" name="TextBox 29"/>
          <p:cNvSpPr txBox="1"/>
          <p:nvPr/>
        </p:nvSpPr>
        <p:spPr>
          <a:xfrm>
            <a:off x="6069652" y="5621975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3355" y="558544"/>
            <a:ext cx="2102065" cy="2973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287338"/>
            <a:ext cx="10058400" cy="1449387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287338"/>
            <a:ext cx="10058400" cy="735012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94041457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32" y="2823814"/>
            <a:ext cx="457089" cy="6464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644" y="3204883"/>
            <a:ext cx="475377" cy="67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03" y="1910582"/>
            <a:ext cx="320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40000"/>
                    <a:lumOff val="6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0" y="1846263"/>
          <a:ext cx="4938713" cy="30495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7254875" y="1846263"/>
          <a:ext cx="4937125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3686185" y="3743893"/>
            <a:ext cx="555748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297945" y="3158837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52" y="250941"/>
            <a:ext cx="1877575" cy="2655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212" y="1136656"/>
            <a:ext cx="1843407" cy="260723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99" y="2225809"/>
            <a:ext cx="1518987" cy="2148391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365" y="295502"/>
            <a:ext cx="1958257" cy="2769676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3451" y="1351594"/>
            <a:ext cx="1698281" cy="2401977"/>
          </a:xfrm>
          <a:prstGeom prst="rect">
            <a:avLst/>
          </a:prstGeom>
        </p:spPr>
      </p:pic>
      <p:sp>
        <p:nvSpPr>
          <p:cNvPr id="14" name="Стрелка вправо 13"/>
          <p:cNvSpPr/>
          <p:nvPr/>
        </p:nvSpPr>
        <p:spPr>
          <a:xfrm>
            <a:off x="3504523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565" y="295502"/>
            <a:ext cx="2567857" cy="3631868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9174" y="1048484"/>
            <a:ext cx="1492093" cy="2110353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7328709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8122077" y="278266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15034</TotalTime>
  <Words>1041</Words>
  <Application>Microsoft Office PowerPoint</Application>
  <PresentationFormat>Широкоэкранный</PresentationFormat>
  <Paragraphs>386</Paragraphs>
  <Slides>26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345</cp:revision>
  <dcterms:created xsi:type="dcterms:W3CDTF">2025-10-14T05:54:15Z</dcterms:created>
  <dcterms:modified xsi:type="dcterms:W3CDTF">2025-12-05T12:25:25Z</dcterms:modified>
</cp:coreProperties>
</file>
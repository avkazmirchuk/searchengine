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1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2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4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303" r:id="rId10"/>
    <p:sldId id="299" r:id="rId11"/>
    <p:sldId id="301" r:id="rId12"/>
    <p:sldId id="302" r:id="rId13"/>
    <p:sldId id="291" r:id="rId14"/>
    <p:sldId id="279" r:id="rId15"/>
    <p:sldId id="292" r:id="rId16"/>
    <p:sldId id="293" r:id="rId17"/>
    <p:sldId id="280" r:id="rId18"/>
    <p:sldId id="281" r:id="rId19"/>
    <p:sldId id="294" r:id="rId20"/>
    <p:sldId id="295" r:id="rId21"/>
    <p:sldId id="296" r:id="rId22"/>
    <p:sldId id="300" r:id="rId23"/>
    <p:sldId id="298" r:id="rId24"/>
    <p:sldId id="283" r:id="rId25"/>
    <p:sldId id="272" r:id="rId26"/>
    <p:sldId id="259" r:id="rId27"/>
    <p:sldId id="271" r:id="rId28"/>
    <p:sldId id="287" r:id="rId29"/>
    <p:sldId id="285" r:id="rId30"/>
    <p:sldId id="290" r:id="rId31"/>
    <p:sldId id="297" r:id="rId32"/>
    <p:sldId id="257" r:id="rId33"/>
    <p:sldId id="269" r:id="rId34"/>
    <p:sldId id="289" r:id="rId35"/>
    <p:sldId id="278" r:id="rId36"/>
    <p:sldId id="258" r:id="rId37"/>
    <p:sldId id="276" r:id="rId38"/>
    <p:sldId id="277" r:id="rId39"/>
    <p:sldId id="288" r:id="rId40"/>
    <p:sldId id="263" r:id="rId4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70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08"/>
      </p:cViewPr>
      <p:guideLst>
        <p:guide orient="horz" pos="3770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-1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6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7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8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4988248"/>
        <c:axId val="404992560"/>
      </c:barChart>
      <c:catAx>
        <c:axId val="4049882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92560"/>
        <c:crosses val="autoZero"/>
        <c:auto val="1"/>
        <c:lblAlgn val="ctr"/>
        <c:lblOffset val="100"/>
        <c:noMultiLvlLbl val="0"/>
      </c:catAx>
      <c:valAx>
        <c:axId val="4049925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882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4995696"/>
        <c:axId val="404990600"/>
      </c:barChart>
      <c:catAx>
        <c:axId val="4049956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90600"/>
        <c:crosses val="autoZero"/>
        <c:auto val="1"/>
        <c:lblAlgn val="ctr"/>
        <c:lblOffset val="100"/>
        <c:noMultiLvlLbl val="0"/>
      </c:catAx>
      <c:valAx>
        <c:axId val="404990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956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4988640"/>
        <c:axId val="404991776"/>
      </c:barChart>
      <c:catAx>
        <c:axId val="404988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91776"/>
        <c:crosses val="autoZero"/>
        <c:auto val="1"/>
        <c:lblAlgn val="ctr"/>
        <c:lblOffset val="100"/>
        <c:noMultiLvlLbl val="0"/>
      </c:catAx>
      <c:valAx>
        <c:axId val="404991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88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999096"/>
        <c:axId val="411999880"/>
      </c:barChart>
      <c:catAx>
        <c:axId val="4119990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999880"/>
        <c:crosses val="autoZero"/>
        <c:auto val="1"/>
        <c:lblAlgn val="ctr"/>
        <c:lblOffset val="100"/>
        <c:noMultiLvlLbl val="0"/>
      </c:catAx>
      <c:valAx>
        <c:axId val="4119998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999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999488"/>
        <c:axId val="412000664"/>
      </c:barChart>
      <c:catAx>
        <c:axId val="411999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2000664"/>
        <c:crosses val="autoZero"/>
        <c:auto val="1"/>
        <c:lblAlgn val="ctr"/>
        <c:lblOffset val="100"/>
        <c:noMultiLvlLbl val="0"/>
      </c:catAx>
      <c:valAx>
        <c:axId val="412000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9994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2001448"/>
        <c:axId val="411997920"/>
      </c:barChart>
      <c:catAx>
        <c:axId val="412001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997920"/>
        <c:crosses val="autoZero"/>
        <c:auto val="1"/>
        <c:lblAlgn val="ctr"/>
        <c:lblOffset val="100"/>
        <c:noMultiLvlLbl val="0"/>
      </c:catAx>
      <c:valAx>
        <c:axId val="411997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2001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998704"/>
        <c:axId val="412003016"/>
      </c:barChart>
      <c:catAx>
        <c:axId val="411998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2003016"/>
        <c:crosses val="autoZero"/>
        <c:auto val="1"/>
        <c:lblAlgn val="ctr"/>
        <c:lblOffset val="100"/>
        <c:noMultiLvlLbl val="0"/>
      </c:catAx>
      <c:valAx>
        <c:axId val="412003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998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11996744"/>
        <c:axId val="411998312"/>
      </c:barChart>
      <c:catAx>
        <c:axId val="411996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998312"/>
        <c:crosses val="autoZero"/>
        <c:auto val="1"/>
        <c:lblAlgn val="ctr"/>
        <c:lblOffset val="100"/>
        <c:noMultiLvlLbl val="0"/>
      </c:catAx>
      <c:valAx>
        <c:axId val="4119983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996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4993736"/>
        <c:axId val="404990992"/>
      </c:barChart>
      <c:catAx>
        <c:axId val="4049937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90992"/>
        <c:crosses val="autoZero"/>
        <c:auto val="1"/>
        <c:lblAlgn val="ctr"/>
        <c:lblOffset val="100"/>
        <c:noMultiLvlLbl val="0"/>
      </c:catAx>
      <c:valAx>
        <c:axId val="404990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937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4989816"/>
        <c:axId val="404991384"/>
      </c:barChart>
      <c:catAx>
        <c:axId val="4049898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91384"/>
        <c:crosses val="autoZero"/>
        <c:auto val="1"/>
        <c:lblAlgn val="ctr"/>
        <c:lblOffset val="100"/>
        <c:noMultiLvlLbl val="0"/>
      </c:catAx>
      <c:valAx>
        <c:axId val="404991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4989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5193896"/>
        <c:axId val="405196248"/>
      </c:barChart>
      <c:catAx>
        <c:axId val="4051938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5196248"/>
        <c:crosses val="autoZero"/>
        <c:auto val="1"/>
        <c:lblAlgn val="ctr"/>
        <c:lblOffset val="100"/>
        <c:noMultiLvlLbl val="0"/>
      </c:catAx>
      <c:valAx>
        <c:axId val="405196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5193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583688"/>
        <c:axId val="481584472"/>
      </c:barChart>
      <c:catAx>
        <c:axId val="481583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84472"/>
        <c:crosses val="autoZero"/>
        <c:auto val="1"/>
        <c:lblAlgn val="ctr"/>
        <c:lblOffset val="100"/>
        <c:noMultiLvlLbl val="0"/>
      </c:catAx>
      <c:valAx>
        <c:axId val="48158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83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585256"/>
        <c:axId val="481586824"/>
      </c:barChart>
      <c:catAx>
        <c:axId val="4815852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86824"/>
        <c:crosses val="autoZero"/>
        <c:auto val="1"/>
        <c:lblAlgn val="ctr"/>
        <c:lblOffset val="100"/>
        <c:noMultiLvlLbl val="0"/>
      </c:catAx>
      <c:valAx>
        <c:axId val="4815868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852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583296"/>
        <c:axId val="481585648"/>
      </c:barChart>
      <c:catAx>
        <c:axId val="48158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85648"/>
        <c:crosses val="autoZero"/>
        <c:auto val="1"/>
        <c:lblAlgn val="ctr"/>
        <c:lblOffset val="100"/>
        <c:noMultiLvlLbl val="0"/>
      </c:catAx>
      <c:valAx>
        <c:axId val="4815856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8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187960"/>
        <c:axId val="483188352"/>
      </c:barChart>
      <c:catAx>
        <c:axId val="483187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188352"/>
        <c:crosses val="autoZero"/>
        <c:auto val="1"/>
        <c:lblAlgn val="ctr"/>
        <c:lblOffset val="100"/>
        <c:noMultiLvlLbl val="0"/>
      </c:catAx>
      <c:valAx>
        <c:axId val="483188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187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2.2783370859700117E-2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5374488"/>
        <c:axId val="485370176"/>
      </c:barChart>
      <c:catAx>
        <c:axId val="485374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370176"/>
        <c:crosses val="autoZero"/>
        <c:auto val="1"/>
        <c:lblAlgn val="ctr"/>
        <c:lblOffset val="100"/>
        <c:noMultiLvlLbl val="0"/>
      </c:catAx>
      <c:valAx>
        <c:axId val="4853701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3744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5375272"/>
        <c:axId val="485375664"/>
      </c:barChart>
      <c:catAx>
        <c:axId val="485375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375664"/>
        <c:crosses val="autoZero"/>
        <c:auto val="1"/>
        <c:lblAlgn val="ctr"/>
        <c:lblOffset val="100"/>
        <c:noMultiLvlLbl val="0"/>
      </c:catAx>
      <c:valAx>
        <c:axId val="485375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375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3857768"/>
        <c:axId val="483859728"/>
      </c:barChart>
      <c:catAx>
        <c:axId val="483857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859728"/>
        <c:crosses val="autoZero"/>
        <c:auto val="1"/>
        <c:lblAlgn val="ctr"/>
        <c:lblOffset val="100"/>
        <c:noMultiLvlLbl val="0"/>
      </c:catAx>
      <c:valAx>
        <c:axId val="4838597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857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03.01.2026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 к пунктам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3118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</a:t>
            </a:r>
            <a:r>
              <a:rPr lang="ru-RU" dirty="0" smtClean="0"/>
              <a:t>надписи</a:t>
            </a:r>
            <a:r>
              <a:rPr lang="ru-RU" baseline="0" dirty="0" smtClean="0"/>
              <a:t> к отображениям и условиям. Проставить номера шагов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Нарисовать временную базу пунктиром. Добавить </a:t>
            </a:r>
            <a:r>
              <a:rPr lang="en-US" dirty="0" smtClean="0"/>
              <a:t>ID </a:t>
            </a:r>
            <a:r>
              <a:rPr lang="ru-RU" dirty="0" smtClean="0"/>
              <a:t>запроса к структуре</a:t>
            </a:r>
            <a:r>
              <a:rPr lang="ru-RU" baseline="0" dirty="0" smtClean="0"/>
              <a:t>. Проставить номера шагов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r>
              <a:rPr lang="ru-RU" baseline="0" smtClean="0"/>
              <a:t>Проставить номера шагов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03.01.2026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3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5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58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9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49.png"/><Relationship Id="rId7" Type="http://schemas.openxmlformats.org/officeDocument/2006/relationships/image" Target="../media/image91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9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10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103.png"/><Relationship Id="rId2" Type="http://schemas.openxmlformats.org/officeDocument/2006/relationships/image" Target="../media/image48.png"/><Relationship Id="rId16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3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12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1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25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29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4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30.png"/><Relationship Id="rId7" Type="http://schemas.openxmlformats.org/officeDocument/2006/relationships/image" Target="../media/image1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4.png"/><Relationship Id="rId11" Type="http://schemas.openxmlformats.org/officeDocument/2006/relationships/image" Target="../media/image136.png"/><Relationship Id="rId5" Type="http://schemas.openxmlformats.org/officeDocument/2006/relationships/image" Target="../media/image116.png"/><Relationship Id="rId10" Type="http://schemas.openxmlformats.org/officeDocument/2006/relationships/image" Target="../media/image135.png"/><Relationship Id="rId4" Type="http://schemas.openxmlformats.org/officeDocument/2006/relationships/image" Target="../media/image131.png"/><Relationship Id="rId9" Type="http://schemas.openxmlformats.org/officeDocument/2006/relationships/image" Target="../media/image13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png"/><Relationship Id="rId3" Type="http://schemas.openxmlformats.org/officeDocument/2006/relationships/image" Target="../media/image90.png"/><Relationship Id="rId7" Type="http://schemas.openxmlformats.org/officeDocument/2006/relationships/image" Target="../media/image1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10" Type="http://schemas.openxmlformats.org/officeDocument/2006/relationships/image" Target="../media/image143.png"/><Relationship Id="rId4" Type="http://schemas.openxmlformats.org/officeDocument/2006/relationships/image" Target="../media/image137.png"/><Relationship Id="rId9" Type="http://schemas.openxmlformats.org/officeDocument/2006/relationships/image" Target="../media/image1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52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</a:t>
            </a:r>
            <a:r>
              <a:rPr lang="ru-RU" sz="4000" dirty="0"/>
              <a:t>программы</a:t>
            </a: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90047" y="1936376"/>
            <a:ext cx="55593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1. Чтение файлов документов.</a:t>
            </a:r>
          </a:p>
          <a:p>
            <a:r>
              <a:rPr lang="ru-RU" dirty="0" smtClean="0"/>
              <a:t>2. Формирование базы индекса.</a:t>
            </a:r>
          </a:p>
          <a:p>
            <a:r>
              <a:rPr lang="ru-RU" dirty="0" smtClean="0"/>
              <a:t>3. Формирование базы относительной релевантности.</a:t>
            </a:r>
          </a:p>
          <a:p>
            <a:r>
              <a:rPr lang="ru-RU" dirty="0" smtClean="0"/>
              <a:t>4. Формирование результатов поиска.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8060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459075" y="2207798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079" y="1488784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263292" y="3351415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1593659" y="954959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2582516" y="2707699"/>
            <a:ext cx="9829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выбрать </a:t>
            </a:r>
            <a:r>
              <a:rPr lang="ru-RU" sz="1000" dirty="0" smtClean="0"/>
              <a:t>слово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719353" y="2239699"/>
            <a:ext cx="19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Блок-схема: решение 36"/>
          <p:cNvSpPr>
            <a:spLocks noChangeAspect="1"/>
          </p:cNvSpPr>
          <p:nvPr/>
        </p:nvSpPr>
        <p:spPr>
          <a:xfrm>
            <a:off x="5943781" y="1804496"/>
            <a:ext cx="1332000" cy="1332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Стрелка вправо 39"/>
          <p:cNvSpPr/>
          <p:nvPr/>
        </p:nvSpPr>
        <p:spPr>
          <a:xfrm rot="5400000">
            <a:off x="6436898" y="3288849"/>
            <a:ext cx="36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679456" y="306474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037" y="3368517"/>
            <a:ext cx="763598" cy="1080000"/>
          </a:xfrm>
          <a:prstGeom prst="rect">
            <a:avLst/>
          </a:prstGeom>
        </p:spPr>
      </p:pic>
      <p:sp>
        <p:nvSpPr>
          <p:cNvPr id="47" name="Стрелка вправо 46"/>
          <p:cNvSpPr/>
          <p:nvPr/>
        </p:nvSpPr>
        <p:spPr>
          <a:xfrm>
            <a:off x="7381020" y="2376682"/>
            <a:ext cx="54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7221685" y="2010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49" name="Блок-схема: решение 48"/>
          <p:cNvSpPr>
            <a:spLocks noChangeAspect="1"/>
          </p:cNvSpPr>
          <p:nvPr/>
        </p:nvSpPr>
        <p:spPr>
          <a:xfrm>
            <a:off x="8045469" y="1796973"/>
            <a:ext cx="1332000" cy="1332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Стрелка вправо 51"/>
          <p:cNvSpPr/>
          <p:nvPr/>
        </p:nvSpPr>
        <p:spPr>
          <a:xfrm rot="5400000">
            <a:off x="8545258" y="3288849"/>
            <a:ext cx="36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9238051" y="194060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д</a:t>
            </a:r>
            <a:r>
              <a:rPr lang="ru-RU" sz="1000" dirty="0" smtClean="0"/>
              <a:t>окумент</a:t>
            </a:r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sp>
        <p:nvSpPr>
          <p:cNvPr id="55" name="Стрелка вправо 54"/>
          <p:cNvSpPr/>
          <p:nvPr/>
        </p:nvSpPr>
        <p:spPr>
          <a:xfrm>
            <a:off x="9513872" y="2305920"/>
            <a:ext cx="54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0" name="Соединительная линия уступом 59"/>
          <p:cNvCxnSpPr/>
          <p:nvPr/>
        </p:nvCxnSpPr>
        <p:spPr>
          <a:xfrm rot="10800000">
            <a:off x="2948359" y="5575693"/>
            <a:ext cx="9031308" cy="1643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75"/>
          <p:cNvCxnSpPr/>
          <p:nvPr/>
        </p:nvCxnSpPr>
        <p:spPr>
          <a:xfrm rot="5400000" flipH="1" flipV="1">
            <a:off x="1728242" y="4313170"/>
            <a:ext cx="2501713" cy="36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74" y="3914805"/>
            <a:ext cx="1423164" cy="2012862"/>
          </a:xfrm>
          <a:prstGeom prst="rect">
            <a:avLst/>
          </a:prstGeom>
        </p:spPr>
      </p:pic>
      <p:cxnSp>
        <p:nvCxnSpPr>
          <p:cNvPr id="67" name="Соединительная линия уступом 66"/>
          <p:cNvCxnSpPr/>
          <p:nvPr/>
        </p:nvCxnSpPr>
        <p:spPr>
          <a:xfrm rot="5400000" flipH="1" flipV="1">
            <a:off x="3234653" y="1774279"/>
            <a:ext cx="1194395" cy="204446"/>
          </a:xfrm>
          <a:prstGeom prst="bentConnector3">
            <a:avLst>
              <a:gd name="adj1" fmla="val 96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Соединительная линия уступом 73"/>
          <p:cNvCxnSpPr>
            <a:endCxn id="18" idx="0"/>
          </p:cNvCxnSpPr>
          <p:nvPr/>
        </p:nvCxnSpPr>
        <p:spPr>
          <a:xfrm rot="10800000" flipV="1">
            <a:off x="833298" y="1279303"/>
            <a:ext cx="3117288" cy="756169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38604" y="2637010"/>
            <a:ext cx="11929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ru-RU" sz="1000" dirty="0" smtClean="0"/>
              <a:t>документ</a:t>
            </a:r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6790" y="1412126"/>
            <a:ext cx="763598" cy="1080000"/>
          </a:xfrm>
          <a:prstGeom prst="rect">
            <a:avLst/>
          </a:prstGeom>
        </p:spPr>
      </p:pic>
      <p:cxnSp>
        <p:nvCxnSpPr>
          <p:cNvPr id="95" name="Соединительная линия уступом 94"/>
          <p:cNvCxnSpPr>
            <a:stCxn id="64" idx="2"/>
          </p:cNvCxnSpPr>
          <p:nvPr/>
        </p:nvCxnSpPr>
        <p:spPr>
          <a:xfrm rot="5400000">
            <a:off x="6117530" y="4894747"/>
            <a:ext cx="654280" cy="707610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/>
          <p:nvPr/>
        </p:nvCxnSpPr>
        <p:spPr>
          <a:xfrm rot="16200000" flipH="1">
            <a:off x="8768634" y="4980646"/>
            <a:ext cx="699649" cy="503147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Соединительная линия уступом 100"/>
          <p:cNvCxnSpPr>
            <a:stCxn id="75" idx="2"/>
          </p:cNvCxnSpPr>
          <p:nvPr/>
        </p:nvCxnSpPr>
        <p:spPr>
          <a:xfrm rot="5400000">
            <a:off x="10381214" y="4069209"/>
            <a:ext cx="2993301" cy="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Рисунок 10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459" y="3411001"/>
            <a:ext cx="763598" cy="108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782" y="2035473"/>
            <a:ext cx="1009031" cy="713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4129" y="5606680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индекса</a:t>
            </a:r>
            <a:endParaRPr lang="ru-RU" sz="1000" dirty="0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551" y="2036669"/>
            <a:ext cx="1008000" cy="7127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48256" y="2064208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4116609" y="2010069"/>
            <a:ext cx="1188000" cy="288000"/>
            <a:chOff x="3901044" y="3386772"/>
            <a:chExt cx="1294871" cy="27699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181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word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590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7694" y="2099462"/>
            <a:ext cx="1008000" cy="712691"/>
          </a:xfrm>
          <a:prstGeom prst="rect">
            <a:avLst/>
          </a:prstGeom>
        </p:spPr>
      </p:pic>
      <p:grpSp>
        <p:nvGrpSpPr>
          <p:cNvPr id="63" name="Группа 62"/>
          <p:cNvGrpSpPr/>
          <p:nvPr/>
        </p:nvGrpSpPr>
        <p:grpSpPr>
          <a:xfrm>
            <a:off x="6012102" y="4644236"/>
            <a:ext cx="1908918" cy="288000"/>
            <a:chOff x="3901044" y="3386772"/>
            <a:chExt cx="1571648" cy="276999"/>
          </a:xfrm>
        </p:grpSpPr>
        <p:sp>
          <p:nvSpPr>
            <p:cNvPr id="64" name="Прямоугольник 63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3901044" y="3386772"/>
              <a:ext cx="4968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4532528" y="3386772"/>
              <a:ext cx="9401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/>
                <a:t>{ID </a:t>
              </a:r>
              <a:r>
                <a:rPr lang="en-US" sz="1200" b="1" dirty="0" smtClean="0"/>
                <a:t>doc</a:t>
              </a:r>
              <a:r>
                <a:rPr lang="ru-RU" sz="1200" b="1" dirty="0" smtClean="0"/>
                <a:t>, 1</a:t>
              </a:r>
              <a:r>
                <a:rPr lang="en-US" sz="1200" b="1" dirty="0" smtClean="0"/>
                <a:t>}</a:t>
              </a:r>
              <a:endParaRPr lang="ru-RU" sz="1200" b="1" dirty="0"/>
            </a:p>
          </p:txBody>
        </p:sp>
        <p:cxnSp>
          <p:nvCxnSpPr>
            <p:cNvPr id="70" name="Прямая соединительная линия 6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>
            <a:off x="6409624" y="4057165"/>
            <a:ext cx="439543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0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ru-RU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71" name="Группа 70"/>
          <p:cNvGrpSpPr/>
          <p:nvPr/>
        </p:nvGrpSpPr>
        <p:grpSpPr>
          <a:xfrm>
            <a:off x="10194747" y="2284559"/>
            <a:ext cx="2401369" cy="288000"/>
            <a:chOff x="3901044" y="3386772"/>
            <a:chExt cx="1571648" cy="276999"/>
          </a:xfrm>
        </p:grpSpPr>
        <p:sp>
          <p:nvSpPr>
            <p:cNvPr id="72" name="Прямоугольник 71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901044" y="3386772"/>
              <a:ext cx="5181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word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532528" y="3386772"/>
              <a:ext cx="9401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{ID 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doc</a:t>
              </a:r>
              <a:r>
                <a:rPr lang="ru-RU" sz="1200" b="1" dirty="0" smtClean="0">
                  <a:solidFill>
                    <a:schemeClr val="bg1"/>
                  </a:solidFill>
                </a:rPr>
                <a:t>, </a:t>
              </a:r>
              <a:r>
                <a:rPr lang="en-US" sz="1200" b="1" dirty="0" smtClean="0"/>
                <a:t>++N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}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77" name="Прямая соединительная линия 76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737718" y="311706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д</a:t>
            </a:r>
            <a:r>
              <a:rPr lang="ru-RU" sz="1000" dirty="0" smtClean="0"/>
              <a:t>окумент</a:t>
            </a:r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79" name="Группа 78"/>
          <p:cNvGrpSpPr/>
          <p:nvPr/>
        </p:nvGrpSpPr>
        <p:grpSpPr>
          <a:xfrm>
            <a:off x="8444345" y="4312359"/>
            <a:ext cx="3737386" cy="288000"/>
            <a:chOff x="3901044" y="3386772"/>
            <a:chExt cx="1571648" cy="276999"/>
          </a:xfrm>
        </p:grpSpPr>
        <p:sp>
          <p:nvSpPr>
            <p:cNvPr id="82" name="Прямоугольник 81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3901044" y="3386772"/>
              <a:ext cx="5181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word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4532528" y="3386772"/>
              <a:ext cx="940164" cy="1010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</a:rPr>
                <a:t>{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ID 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doc</a:t>
              </a:r>
              <a:r>
                <a:rPr lang="ru-RU" sz="1200" b="1" dirty="0" smtClean="0">
                  <a:solidFill>
                    <a:schemeClr val="bg1"/>
                  </a:solidFill>
                </a:rPr>
                <a:t>, 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n}, </a:t>
              </a:r>
              <a:r>
                <a:rPr lang="en-US" sz="1200" b="1" dirty="0" smtClean="0"/>
                <a:t>{ID doc, 1}</a:t>
              </a:r>
              <a:endParaRPr lang="ru-RU" sz="1200" b="1" dirty="0"/>
            </a:p>
          </p:txBody>
        </p:sp>
        <p:cxnSp>
          <p:nvCxnSpPr>
            <p:cNvPr id="85" name="Прямая соединительная линия 84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Рисунок 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3979" y="2092757"/>
            <a:ext cx="1008000" cy="712699"/>
          </a:xfrm>
          <a:prstGeom prst="rect">
            <a:avLst/>
          </a:prstGeom>
        </p:spPr>
      </p:pic>
      <p:sp>
        <p:nvSpPr>
          <p:cNvPr id="59" name="Блок-схема: процесс 58"/>
          <p:cNvSpPr/>
          <p:nvPr/>
        </p:nvSpPr>
        <p:spPr>
          <a:xfrm>
            <a:off x="252448" y="2015001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Блок-схема: процесс 88"/>
          <p:cNvSpPr/>
          <p:nvPr/>
        </p:nvSpPr>
        <p:spPr>
          <a:xfrm>
            <a:off x="2471289" y="2045306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332335" y="2010020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36336" y="2385494"/>
            <a:ext cx="10390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запрос</a:t>
            </a:r>
            <a:endParaRPr lang="ru-RU" sz="1000" dirty="0"/>
          </a:p>
        </p:txBody>
      </p:sp>
      <p:sp>
        <p:nvSpPr>
          <p:cNvPr id="17" name="TextBox 16"/>
          <p:cNvSpPr txBox="1"/>
          <p:nvPr/>
        </p:nvSpPr>
        <p:spPr>
          <a:xfrm>
            <a:off x="2360519" y="2458263"/>
            <a:ext cx="9829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слово</a:t>
            </a:r>
            <a:endParaRPr lang="ru-RU" sz="1000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3782258" y="2069195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6439159" y="2067915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Стрелка вправо 28"/>
          <p:cNvSpPr/>
          <p:nvPr/>
        </p:nvSpPr>
        <p:spPr>
          <a:xfrm rot="16200000">
            <a:off x="529538" y="5493857"/>
            <a:ext cx="540000" cy="1264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60" idx="0"/>
            <a:endCxn id="42" idx="0"/>
          </p:cNvCxnSpPr>
          <p:nvPr/>
        </p:nvCxnSpPr>
        <p:spPr>
          <a:xfrm rot="16200000" flipV="1">
            <a:off x="7502117" y="-14071"/>
            <a:ext cx="195290" cy="3940876"/>
          </a:xfrm>
          <a:prstGeom prst="bentConnector3">
            <a:avLst>
              <a:gd name="adj1" fmla="val 21705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915411" y="2435463"/>
            <a:ext cx="144783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ru-RU" sz="1000" dirty="0" smtClean="0"/>
              <a:t>документ и </a:t>
            </a:r>
          </a:p>
          <a:p>
            <a:r>
              <a:rPr lang="ru-RU" sz="1000" dirty="0" smtClean="0"/>
              <a:t>к</a:t>
            </a:r>
            <a:r>
              <a:rPr lang="ru-RU" sz="1000" dirty="0" smtClean="0"/>
              <a:t>оличество вхождений</a:t>
            </a:r>
          </a:p>
          <a:p>
            <a:r>
              <a:rPr lang="ru-RU" sz="1000" dirty="0" smtClean="0"/>
              <a:t> слова</a:t>
            </a:r>
            <a:endParaRPr lang="ru-RU" sz="1000" dirty="0" smtClean="0"/>
          </a:p>
        </p:txBody>
      </p:sp>
      <p:cxnSp>
        <p:nvCxnSpPr>
          <p:cNvPr id="38" name="Соединительная линия уступом 37"/>
          <p:cNvCxnSpPr>
            <a:stCxn id="60" idx="0"/>
            <a:endCxn id="59" idx="0"/>
          </p:cNvCxnSpPr>
          <p:nvPr/>
        </p:nvCxnSpPr>
        <p:spPr>
          <a:xfrm rot="16200000" flipV="1">
            <a:off x="6077457" y="-1438732"/>
            <a:ext cx="317390" cy="6668097"/>
          </a:xfrm>
          <a:prstGeom prst="bentConnector3">
            <a:avLst>
              <a:gd name="adj1" fmla="val 17202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357467" y="2705689"/>
            <a:ext cx="18338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д</a:t>
            </a:r>
            <a:r>
              <a:rPr lang="ru-RU" sz="1000" dirty="0" smtClean="0"/>
              <a:t>обавить пару и увеличить </a:t>
            </a:r>
          </a:p>
          <a:p>
            <a:r>
              <a:rPr lang="ru-RU" sz="1000" dirty="0"/>
              <a:t>к</a:t>
            </a:r>
            <a:r>
              <a:rPr lang="ru-RU" sz="1000" dirty="0" smtClean="0"/>
              <a:t>оличество вхождений слова</a:t>
            </a:r>
            <a:r>
              <a:rPr lang="ru-RU" sz="1000" dirty="0" smtClean="0"/>
              <a:t> </a:t>
            </a:r>
          </a:p>
          <a:p>
            <a:r>
              <a:rPr lang="ru-RU" sz="1000" dirty="0"/>
              <a:t>в</a:t>
            </a:r>
            <a:r>
              <a:rPr lang="ru-RU" sz="1000" dirty="0" smtClean="0"/>
              <a:t>о временную базу  </a:t>
            </a:r>
            <a:r>
              <a:rPr lang="en-US" sz="1000" dirty="0" smtClean="0"/>
              <a:t>AR</a:t>
            </a:r>
          </a:p>
        </p:txBody>
      </p:sp>
      <p:pic>
        <p:nvPicPr>
          <p:cNvPr id="54" name="Рисунок 5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0019" y="3978830"/>
            <a:ext cx="704399" cy="99627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96329" y="4788001"/>
            <a:ext cx="12698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релевантности</a:t>
            </a:r>
            <a:endParaRPr lang="ru-RU" sz="1000" dirty="0"/>
          </a:p>
        </p:txBody>
      </p:sp>
      <p:sp>
        <p:nvSpPr>
          <p:cNvPr id="58" name="TextBox 57"/>
          <p:cNvSpPr txBox="1"/>
          <p:nvPr/>
        </p:nvSpPr>
        <p:spPr>
          <a:xfrm>
            <a:off x="-16807" y="5848211"/>
            <a:ext cx="115929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ортировать базу </a:t>
            </a:r>
          </a:p>
          <a:p>
            <a:r>
              <a:rPr lang="ru-RU" sz="1000" dirty="0"/>
              <a:t>п</a:t>
            </a:r>
            <a:r>
              <a:rPr lang="ru-RU" sz="1000" dirty="0" smtClean="0"/>
              <a:t>о убыванию </a:t>
            </a:r>
          </a:p>
          <a:p>
            <a:r>
              <a:rPr lang="ru-RU" sz="1000" dirty="0" smtClean="0"/>
              <a:t>релевантности</a:t>
            </a:r>
            <a:endParaRPr lang="ru-RU" sz="1000" dirty="0"/>
          </a:p>
        </p:txBody>
      </p:sp>
      <p:sp>
        <p:nvSpPr>
          <p:cNvPr id="60" name="Стрелка вправо 59"/>
          <p:cNvSpPr/>
          <p:nvPr/>
        </p:nvSpPr>
        <p:spPr>
          <a:xfrm>
            <a:off x="9264200" y="205401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трелка вправо 60"/>
          <p:cNvSpPr/>
          <p:nvPr/>
        </p:nvSpPr>
        <p:spPr>
          <a:xfrm>
            <a:off x="5499030" y="4264117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8446733" y="5447082"/>
            <a:ext cx="35766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пределить максимальную абсолютную релевантность</a:t>
            </a:r>
            <a:r>
              <a:rPr lang="en-US" sz="1000" dirty="0" smtClean="0"/>
              <a:t> (mAR)</a:t>
            </a:r>
            <a:endParaRPr lang="ru-RU" sz="1000" dirty="0"/>
          </a:p>
        </p:txBody>
      </p:sp>
      <p:sp>
        <p:nvSpPr>
          <p:cNvPr id="63" name="Стрелка вправо 62"/>
          <p:cNvSpPr/>
          <p:nvPr/>
        </p:nvSpPr>
        <p:spPr>
          <a:xfrm rot="5400000">
            <a:off x="245241" y="295453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4" name="Соединительная линия уступом 63"/>
          <p:cNvCxnSpPr>
            <a:stCxn id="157" idx="3"/>
            <a:endCxn id="49" idx="2"/>
          </p:cNvCxnSpPr>
          <p:nvPr/>
        </p:nvCxnSpPr>
        <p:spPr>
          <a:xfrm flipH="1" flipV="1">
            <a:off x="633248" y="2809300"/>
            <a:ext cx="10947466" cy="2212992"/>
          </a:xfrm>
          <a:prstGeom prst="bentConnector4">
            <a:avLst>
              <a:gd name="adj1" fmla="val -2088"/>
              <a:gd name="adj2" fmla="val 6949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Стрелка вправо 77"/>
          <p:cNvSpPr/>
          <p:nvPr/>
        </p:nvSpPr>
        <p:spPr>
          <a:xfrm rot="5400000">
            <a:off x="189205" y="452347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4" y="5023485"/>
            <a:ext cx="763598" cy="10800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82171" y="4961397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RR</a:t>
            </a:r>
            <a:endParaRPr lang="ru-RU" dirty="0"/>
          </a:p>
        </p:txBody>
      </p:sp>
      <p:sp>
        <p:nvSpPr>
          <p:cNvPr id="84" name="Стрелка вправо 83"/>
          <p:cNvSpPr/>
          <p:nvPr/>
        </p:nvSpPr>
        <p:spPr>
          <a:xfrm>
            <a:off x="1115893" y="5342632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5" name="Рисунок 8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851" y="4531098"/>
            <a:ext cx="1478458" cy="2091067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-110351" y="4251896"/>
            <a:ext cx="26244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получить относительную релевантность (</a:t>
            </a:r>
            <a:r>
              <a:rPr lang="en-US" sz="1000" dirty="0" smtClean="0"/>
              <a:t>RR</a:t>
            </a:r>
            <a:r>
              <a:rPr lang="ru-RU" sz="1000" dirty="0" smtClean="0"/>
              <a:t>)</a:t>
            </a:r>
            <a:endParaRPr lang="ru-RU" sz="10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82" y="1780243"/>
            <a:ext cx="1008000" cy="712691"/>
          </a:xfrm>
          <a:prstGeom prst="rect">
            <a:avLst/>
          </a:prstGeom>
        </p:spPr>
      </p:pic>
      <p:sp>
        <p:nvSpPr>
          <p:cNvPr id="49" name="Блок-схема: процесс 48"/>
          <p:cNvSpPr/>
          <p:nvPr/>
        </p:nvSpPr>
        <p:spPr>
          <a:xfrm>
            <a:off x="-14752" y="1729300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586" y="1311247"/>
            <a:ext cx="540000" cy="76375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398386" y="1890367"/>
            <a:ext cx="5565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запрос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686" y="1835428"/>
            <a:ext cx="1008000" cy="712699"/>
          </a:xfrm>
          <a:prstGeom prst="rect">
            <a:avLst/>
          </a:prstGeom>
        </p:spPr>
      </p:pic>
      <p:sp>
        <p:nvSpPr>
          <p:cNvPr id="59" name="Блок-схема: процесс 58"/>
          <p:cNvSpPr/>
          <p:nvPr/>
        </p:nvSpPr>
        <p:spPr>
          <a:xfrm>
            <a:off x="2254103" y="1736622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7" name="Группа 36"/>
          <p:cNvGrpSpPr/>
          <p:nvPr/>
        </p:nvGrpSpPr>
        <p:grpSpPr>
          <a:xfrm>
            <a:off x="3587785" y="1791379"/>
            <a:ext cx="1188000" cy="288000"/>
            <a:chOff x="4111934" y="2883423"/>
            <a:chExt cx="1188000" cy="288000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475390" cy="288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word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324" y="1858722"/>
            <a:ext cx="1008000" cy="712699"/>
          </a:xfrm>
          <a:prstGeom prst="rect">
            <a:avLst/>
          </a:prstGeom>
        </p:spPr>
      </p:pic>
      <p:sp>
        <p:nvSpPr>
          <p:cNvPr id="70" name="Блок-схема: процесс 69"/>
          <p:cNvSpPr/>
          <p:nvPr/>
        </p:nvSpPr>
        <p:spPr>
          <a:xfrm>
            <a:off x="4991327" y="1840422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7" name="Группа 46"/>
          <p:cNvGrpSpPr/>
          <p:nvPr/>
        </p:nvGrpSpPr>
        <p:grpSpPr>
          <a:xfrm>
            <a:off x="6369282" y="1767075"/>
            <a:ext cx="969877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89537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680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</a:rPr>
                <a:t>n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Группа 78"/>
          <p:cNvGrpSpPr/>
          <p:nvPr/>
        </p:nvGrpSpPr>
        <p:grpSpPr>
          <a:xfrm>
            <a:off x="7628593" y="2368112"/>
            <a:ext cx="1086274" cy="277534"/>
            <a:chOff x="6369282" y="1767075"/>
            <a:chExt cx="1086274" cy="277534"/>
          </a:xfrm>
        </p:grpSpPr>
        <p:grpSp>
          <p:nvGrpSpPr>
            <p:cNvPr id="80" name="Группа 79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86" name="Прямоугольник 85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88" name="TextBox 87"/>
              <p:cNvSpPr txBox="1"/>
              <p:nvPr/>
            </p:nvSpPr>
            <p:spPr>
              <a:xfrm>
                <a:off x="4161798" y="2850118"/>
                <a:ext cx="722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89" name="Прямая соединительная линия 88"/>
              <p:cNvCxnSpPr/>
              <p:nvPr/>
            </p:nvCxnSpPr>
            <p:spPr>
              <a:xfrm>
                <a:off x="489537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2" name="TextBox 81"/>
            <p:cNvSpPr txBox="1"/>
            <p:nvPr/>
          </p:nvSpPr>
          <p:spPr>
            <a:xfrm>
              <a:off x="6939068" y="1767075"/>
              <a:ext cx="5164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N</a:t>
              </a:r>
              <a:r>
                <a:rPr lang="en-US" sz="1200" b="1" dirty="0" smtClean="0"/>
                <a:t> + n</a:t>
              </a:r>
              <a:endParaRPr lang="ru-RU" sz="1200" b="1" dirty="0"/>
            </a:p>
          </p:txBody>
        </p:sp>
      </p:grpSp>
      <p:pic>
        <p:nvPicPr>
          <p:cNvPr id="114" name="Рисунок 1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9708" y="1594485"/>
            <a:ext cx="1008000" cy="712698"/>
          </a:xfrm>
          <a:prstGeom prst="rect">
            <a:avLst/>
          </a:prstGeom>
        </p:spPr>
      </p:pic>
      <p:sp>
        <p:nvSpPr>
          <p:cNvPr id="115" name="Блок-схема: процесс 114"/>
          <p:cNvSpPr/>
          <p:nvPr/>
        </p:nvSpPr>
        <p:spPr>
          <a:xfrm>
            <a:off x="9865928" y="1675071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9831553" y="2354961"/>
            <a:ext cx="14221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r>
              <a:rPr lang="ru-RU" sz="1000" dirty="0" smtClean="0"/>
              <a:t>из базы документов</a:t>
            </a:r>
            <a:endParaRPr lang="ru-RU" sz="1000" dirty="0"/>
          </a:p>
        </p:txBody>
      </p:sp>
      <p:sp>
        <p:nvSpPr>
          <p:cNvPr id="117" name="Стрелка вправо 116"/>
          <p:cNvSpPr/>
          <p:nvPr/>
        </p:nvSpPr>
        <p:spPr>
          <a:xfrm>
            <a:off x="11268833" y="2054012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11236605" y="1717930"/>
            <a:ext cx="1188000" cy="277176"/>
            <a:chOff x="4111934" y="2883423"/>
            <a:chExt cx="1188000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590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23" name="Группа 122"/>
          <p:cNvGrpSpPr/>
          <p:nvPr/>
        </p:nvGrpSpPr>
        <p:grpSpPr>
          <a:xfrm>
            <a:off x="5412239" y="3943012"/>
            <a:ext cx="1188000" cy="277176"/>
            <a:chOff x="4111934" y="2883423"/>
            <a:chExt cx="1188000" cy="277176"/>
          </a:xfrm>
        </p:grpSpPr>
        <p:sp>
          <p:nvSpPr>
            <p:cNvPr id="124" name="Прямоугольник 123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4111934" y="2883423"/>
              <a:ext cx="590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127" name="Рисунок 12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2491" y="4111649"/>
            <a:ext cx="1008000" cy="712698"/>
          </a:xfrm>
          <a:prstGeom prst="rect">
            <a:avLst/>
          </a:prstGeom>
        </p:spPr>
      </p:pic>
      <p:sp>
        <p:nvSpPr>
          <p:cNvPr id="128" name="Блок-схема: решение 127"/>
          <p:cNvSpPr>
            <a:spLocks noChangeAspect="1"/>
          </p:cNvSpPr>
          <p:nvPr/>
        </p:nvSpPr>
        <p:spPr>
          <a:xfrm>
            <a:off x="6501839" y="3828019"/>
            <a:ext cx="1332000" cy="1332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Стрелка вправо 128"/>
          <p:cNvSpPr/>
          <p:nvPr/>
        </p:nvSpPr>
        <p:spPr>
          <a:xfrm>
            <a:off x="7935821" y="4390418"/>
            <a:ext cx="54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TextBox 129"/>
          <p:cNvSpPr txBox="1"/>
          <p:nvPr/>
        </p:nvSpPr>
        <p:spPr>
          <a:xfrm>
            <a:off x="7776486" y="4024602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31" name="Стрелка вправо 130"/>
          <p:cNvSpPr/>
          <p:nvPr/>
        </p:nvSpPr>
        <p:spPr>
          <a:xfrm rot="5400000">
            <a:off x="6991700" y="5323136"/>
            <a:ext cx="36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TextBox 131"/>
          <p:cNvSpPr txBox="1"/>
          <p:nvPr/>
        </p:nvSpPr>
        <p:spPr>
          <a:xfrm>
            <a:off x="6234258" y="5099035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133" name="Прямоугольник 132"/>
          <p:cNvSpPr/>
          <p:nvPr/>
        </p:nvSpPr>
        <p:spPr>
          <a:xfrm>
            <a:off x="9191283" y="4107617"/>
            <a:ext cx="439543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0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ru-RU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34" name="Группа 133"/>
          <p:cNvGrpSpPr/>
          <p:nvPr/>
        </p:nvGrpSpPr>
        <p:grpSpPr>
          <a:xfrm>
            <a:off x="9671796" y="4345743"/>
            <a:ext cx="1908918" cy="288000"/>
            <a:chOff x="3901044" y="3386772"/>
            <a:chExt cx="1571648" cy="276999"/>
          </a:xfrm>
        </p:grpSpPr>
        <p:sp>
          <p:nvSpPr>
            <p:cNvPr id="135" name="Прямоугольник 134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6" name="TextBox 135"/>
            <p:cNvSpPr txBox="1"/>
            <p:nvPr/>
          </p:nvSpPr>
          <p:spPr>
            <a:xfrm>
              <a:off x="3901044" y="3386772"/>
              <a:ext cx="485944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4532528" y="3386772"/>
              <a:ext cx="9401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/>
                <a:t>N</a:t>
              </a:r>
              <a:endParaRPr lang="ru-RU" sz="1200" b="1" dirty="0"/>
            </a:p>
          </p:txBody>
        </p:sp>
        <p:cxnSp>
          <p:nvCxnSpPr>
            <p:cNvPr id="138" name="Прямая соединительная линия 137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39" name="Рисунок 13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5383" y="5363924"/>
            <a:ext cx="741862" cy="1049258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7031534" y="6145240"/>
            <a:ext cx="13726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база релевантности</a:t>
            </a:r>
            <a:endParaRPr lang="ru-RU" sz="1000" dirty="0"/>
          </a:p>
        </p:txBody>
      </p:sp>
      <p:sp>
        <p:nvSpPr>
          <p:cNvPr id="141" name="Прямоугольник 140"/>
          <p:cNvSpPr/>
          <p:nvPr/>
        </p:nvSpPr>
        <p:spPr>
          <a:xfrm>
            <a:off x="7933507" y="5588246"/>
            <a:ext cx="439543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0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ru-RU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42" name="Группа 141"/>
          <p:cNvGrpSpPr/>
          <p:nvPr/>
        </p:nvGrpSpPr>
        <p:grpSpPr>
          <a:xfrm>
            <a:off x="9058913" y="5806003"/>
            <a:ext cx="1908918" cy="288000"/>
            <a:chOff x="3901044" y="3386772"/>
            <a:chExt cx="1571648" cy="276999"/>
          </a:xfrm>
        </p:grpSpPr>
        <p:sp>
          <p:nvSpPr>
            <p:cNvPr id="143" name="Прямоугольник 142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3901044" y="3386772"/>
              <a:ext cx="485944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4532528" y="3386772"/>
              <a:ext cx="9401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0</a:t>
              </a:r>
              <a:endParaRPr lang="ru-RU" sz="1200" b="1" dirty="0"/>
            </a:p>
          </p:txBody>
        </p:sp>
        <p:cxnSp>
          <p:nvCxnSpPr>
            <p:cNvPr id="146" name="Прямая соединительная линия 145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7" name="TextBox 146"/>
          <p:cNvSpPr txBox="1"/>
          <p:nvPr/>
        </p:nvSpPr>
        <p:spPr>
          <a:xfrm>
            <a:off x="8671607" y="5217268"/>
            <a:ext cx="12378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mAR = max(mAR, N)</a:t>
            </a:r>
            <a:endParaRPr lang="ru-RU" sz="1000" dirty="0" smtClean="0"/>
          </a:p>
        </p:txBody>
      </p:sp>
      <p:sp>
        <p:nvSpPr>
          <p:cNvPr id="148" name="Блок-схема: процесс 147"/>
          <p:cNvSpPr/>
          <p:nvPr/>
        </p:nvSpPr>
        <p:spPr>
          <a:xfrm>
            <a:off x="8622436" y="4004290"/>
            <a:ext cx="2781873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Блок-схема: процесс 148"/>
          <p:cNvSpPr/>
          <p:nvPr/>
        </p:nvSpPr>
        <p:spPr>
          <a:xfrm>
            <a:off x="8641487" y="5251412"/>
            <a:ext cx="1214115" cy="251167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Блок-схема: процесс 156"/>
          <p:cNvSpPr/>
          <p:nvPr/>
        </p:nvSpPr>
        <p:spPr>
          <a:xfrm>
            <a:off x="6463564" y="3748452"/>
            <a:ext cx="5117150" cy="2547679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2" name="TextBox 161"/>
          <p:cNvSpPr txBox="1"/>
          <p:nvPr/>
        </p:nvSpPr>
        <p:spPr>
          <a:xfrm>
            <a:off x="8465193" y="5044506"/>
            <a:ext cx="29514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аписать в базу структуру относительного индекса</a:t>
            </a:r>
            <a:endParaRPr lang="ru-RU" sz="1000" dirty="0"/>
          </a:p>
        </p:txBody>
      </p:sp>
      <p:sp>
        <p:nvSpPr>
          <p:cNvPr id="163" name="TextBox 162"/>
          <p:cNvSpPr txBox="1"/>
          <p:nvPr/>
        </p:nvSpPr>
        <p:spPr>
          <a:xfrm>
            <a:off x="8227088" y="6069864"/>
            <a:ext cx="29514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аписать в базу структуру относительного индекса</a:t>
            </a:r>
            <a:endParaRPr lang="ru-RU" sz="1000" dirty="0"/>
          </a:p>
        </p:txBody>
      </p:sp>
      <p:pic>
        <p:nvPicPr>
          <p:cNvPr id="164" name="Рисунок 16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439" y="3374804"/>
            <a:ext cx="557034" cy="787845"/>
          </a:xfrm>
          <a:prstGeom prst="rect">
            <a:avLst/>
          </a:prstGeom>
        </p:spPr>
      </p:pic>
      <p:grpSp>
        <p:nvGrpSpPr>
          <p:cNvPr id="165" name="Группа 164"/>
          <p:cNvGrpSpPr/>
          <p:nvPr/>
        </p:nvGrpSpPr>
        <p:grpSpPr>
          <a:xfrm>
            <a:off x="56436" y="4015394"/>
            <a:ext cx="1908918" cy="288000"/>
            <a:chOff x="3901044" y="3386772"/>
            <a:chExt cx="1571648" cy="276999"/>
          </a:xfrm>
        </p:grpSpPr>
        <p:sp>
          <p:nvSpPr>
            <p:cNvPr id="166" name="Прямоугольник 16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TextBox 166"/>
            <p:cNvSpPr txBox="1"/>
            <p:nvPr/>
          </p:nvSpPr>
          <p:spPr>
            <a:xfrm>
              <a:off x="3901044" y="3386772"/>
              <a:ext cx="485944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68" name="TextBox 167"/>
            <p:cNvSpPr txBox="1"/>
            <p:nvPr/>
          </p:nvSpPr>
          <p:spPr>
            <a:xfrm>
              <a:off x="4532528" y="3386772"/>
              <a:ext cx="9401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N</a:t>
              </a:r>
              <a:r>
                <a:rPr lang="ru-RU" sz="1200" b="1" dirty="0" smtClean="0"/>
                <a:t> </a:t>
              </a:r>
              <a:r>
                <a:rPr lang="en-US" sz="1200" b="1" dirty="0" smtClean="0"/>
                <a:t>/ mAR</a:t>
              </a:r>
              <a:endParaRPr lang="ru-RU" sz="1200" b="1" dirty="0"/>
            </a:p>
          </p:txBody>
        </p:sp>
        <p:cxnSp>
          <p:nvCxnSpPr>
            <p:cNvPr id="169" name="Прямая соединительная линия 168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0" name="Рисунок 16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7207" y="1409424"/>
            <a:ext cx="554469" cy="784218"/>
          </a:xfrm>
          <a:prstGeom prst="rect">
            <a:avLst/>
          </a:prstGeom>
        </p:spPr>
      </p:pic>
      <p:sp>
        <p:nvSpPr>
          <p:cNvPr id="171" name="Прямоугольник 170"/>
          <p:cNvSpPr/>
          <p:nvPr/>
        </p:nvSpPr>
        <p:spPr>
          <a:xfrm>
            <a:off x="7830193" y="1826250"/>
            <a:ext cx="439543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0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ru-RU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Блок-схема: процесс 172"/>
          <p:cNvSpPr/>
          <p:nvPr/>
        </p:nvSpPr>
        <p:spPr>
          <a:xfrm>
            <a:off x="7419638" y="1531556"/>
            <a:ext cx="1670342" cy="1728131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442610" y="2334743"/>
            <a:ext cx="123944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en-US" sz="1000" dirty="0" smtClean="0"/>
              <a:t>ID </a:t>
            </a:r>
            <a:r>
              <a:rPr lang="ru-RU" sz="1000" dirty="0" smtClean="0"/>
              <a:t>запроса</a:t>
            </a:r>
            <a:endParaRPr lang="ru-RU" sz="10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919778" y="1960152"/>
            <a:ext cx="12421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015012" y="2740323"/>
            <a:ext cx="28007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одсчитать суммарный ранг ответов</a:t>
            </a:r>
            <a:r>
              <a:rPr lang="en-US" sz="1000" dirty="0" smtClean="0"/>
              <a:t> (sumRANK)</a:t>
            </a:r>
            <a:endParaRPr lang="ru-RU" sz="1000" dirty="0"/>
          </a:p>
        </p:txBody>
      </p:sp>
      <p:sp>
        <p:nvSpPr>
          <p:cNvPr id="19" name="Стрелка вправо 18"/>
          <p:cNvSpPr/>
          <p:nvPr/>
        </p:nvSpPr>
        <p:spPr>
          <a:xfrm>
            <a:off x="5363562" y="192784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389143" y="167262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sumRANK</a:t>
            </a:r>
            <a:endParaRPr lang="ru-RU" sz="1000" dirty="0"/>
          </a:p>
        </p:txBody>
      </p:sp>
      <p:sp>
        <p:nvSpPr>
          <p:cNvPr id="21" name="Блок-схема: решение 20"/>
          <p:cNvSpPr>
            <a:spLocks noChangeAspect="1"/>
          </p:cNvSpPr>
          <p:nvPr/>
        </p:nvSpPr>
        <p:spPr>
          <a:xfrm>
            <a:off x="6225887" y="1654152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6118058" y="2071041"/>
            <a:ext cx="12923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sumRANK &lt; precision</a:t>
            </a:r>
            <a:endParaRPr lang="ru-RU" sz="1000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7417199" y="209259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7202282" y="172528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7908504" y="1599276"/>
            <a:ext cx="10118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"request003":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"false"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}}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cxnSp>
        <p:nvCxnSpPr>
          <p:cNvPr id="28" name="Соединительная линия уступом 27"/>
          <p:cNvCxnSpPr>
            <a:stCxn id="95" idx="0"/>
            <a:endCxn id="15" idx="0"/>
          </p:cNvCxnSpPr>
          <p:nvPr/>
        </p:nvCxnSpPr>
        <p:spPr>
          <a:xfrm rot="16200000" flipH="1" flipV="1">
            <a:off x="4684726" y="-2151797"/>
            <a:ext cx="122529" cy="7403815"/>
          </a:xfrm>
          <a:prstGeom prst="bentConnector3">
            <a:avLst>
              <a:gd name="adj1" fmla="val -18656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Стрелка вправо 34"/>
          <p:cNvSpPr/>
          <p:nvPr/>
        </p:nvSpPr>
        <p:spPr>
          <a:xfrm rot="5400000">
            <a:off x="6642351" y="2990775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TextBox 35"/>
          <p:cNvSpPr txBox="1"/>
          <p:nvPr/>
        </p:nvSpPr>
        <p:spPr>
          <a:xfrm>
            <a:off x="5847273" y="2888674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37" name="Стрелка вправо 36"/>
          <p:cNvSpPr/>
          <p:nvPr/>
        </p:nvSpPr>
        <p:spPr>
          <a:xfrm>
            <a:off x="6782144" y="319087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7212715" y="2701990"/>
            <a:ext cx="101181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"request002":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}}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654381" y="30717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 41"/>
          <p:cNvSpPr/>
          <p:nvPr/>
        </p:nvSpPr>
        <p:spPr>
          <a:xfrm>
            <a:off x="9645352" y="2148210"/>
            <a:ext cx="1745199" cy="1402837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9384596" y="3551047"/>
            <a:ext cx="1951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одсчитать количество ответов  </a:t>
            </a:r>
          </a:p>
          <a:p>
            <a:r>
              <a:rPr lang="ru-RU" sz="1000" dirty="0"/>
              <a:t>с</a:t>
            </a:r>
            <a:r>
              <a:rPr lang="ru-RU" sz="1000" dirty="0" smtClean="0"/>
              <a:t> ненулевым рангом (</a:t>
            </a:r>
            <a:r>
              <a:rPr lang="en-US" sz="1000" dirty="0" smtClean="0"/>
              <a:t>count</a:t>
            </a:r>
            <a:r>
              <a:rPr lang="ru-RU" sz="1000" dirty="0" smtClean="0"/>
              <a:t>)</a:t>
            </a:r>
            <a:endParaRPr lang="ru-RU" sz="1000" dirty="0"/>
          </a:p>
        </p:txBody>
      </p:sp>
      <p:sp>
        <p:nvSpPr>
          <p:cNvPr id="45" name="Стрелка вправо 44"/>
          <p:cNvSpPr/>
          <p:nvPr/>
        </p:nvSpPr>
        <p:spPr>
          <a:xfrm>
            <a:off x="11462459" y="264012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1424213" y="51142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Блок-схема: решение 46"/>
          <p:cNvSpPr>
            <a:spLocks noChangeAspect="1"/>
          </p:cNvSpPr>
          <p:nvPr/>
        </p:nvSpPr>
        <p:spPr>
          <a:xfrm>
            <a:off x="2053307" y="4804994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2231496" y="5196653"/>
            <a:ext cx="7505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Count == 1</a:t>
            </a:r>
            <a:endParaRPr lang="ru-RU" sz="1000" dirty="0"/>
          </a:p>
        </p:txBody>
      </p:sp>
      <p:sp>
        <p:nvSpPr>
          <p:cNvPr id="49" name="Стрелка вправо 48"/>
          <p:cNvSpPr/>
          <p:nvPr/>
        </p:nvSpPr>
        <p:spPr>
          <a:xfrm rot="16200000">
            <a:off x="2456912" y="4414448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Стрелка вправо 49"/>
          <p:cNvSpPr/>
          <p:nvPr/>
        </p:nvSpPr>
        <p:spPr>
          <a:xfrm>
            <a:off x="2576856" y="421821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3098313" y="3245846"/>
            <a:ext cx="10358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"request002":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1,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0.07018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...}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sp>
        <p:nvSpPr>
          <p:cNvPr id="55" name="TextBox 54"/>
          <p:cNvSpPr txBox="1"/>
          <p:nvPr/>
        </p:nvSpPr>
        <p:spPr>
          <a:xfrm>
            <a:off x="1662423" y="4382365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sp>
        <p:nvSpPr>
          <p:cNvPr id="59" name="Стрелка вправо 58"/>
          <p:cNvSpPr/>
          <p:nvPr/>
        </p:nvSpPr>
        <p:spPr>
          <a:xfrm>
            <a:off x="3248836" y="5213473"/>
            <a:ext cx="668075" cy="1497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0" name="Соединительная линия уступом 59"/>
          <p:cNvCxnSpPr>
            <a:stCxn id="93" idx="3"/>
            <a:endCxn id="76" idx="2"/>
          </p:cNvCxnSpPr>
          <p:nvPr/>
        </p:nvCxnSpPr>
        <p:spPr>
          <a:xfrm flipH="1" flipV="1">
            <a:off x="1082106" y="2634798"/>
            <a:ext cx="3187361" cy="1259219"/>
          </a:xfrm>
          <a:prstGeom prst="bentConnector4">
            <a:avLst>
              <a:gd name="adj1" fmla="val -7172"/>
              <a:gd name="adj2" fmla="val 6539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741095" y="5269730"/>
            <a:ext cx="871558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Блок-схема: решение 68"/>
          <p:cNvSpPr>
            <a:spLocks noChangeAspect="1"/>
          </p:cNvSpPr>
          <p:nvPr/>
        </p:nvSpPr>
        <p:spPr>
          <a:xfrm>
            <a:off x="6728182" y="4941238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6730158" y="5334464"/>
            <a:ext cx="10102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r</a:t>
            </a:r>
            <a:r>
              <a:rPr lang="en-US" sz="1000" dirty="0" smtClean="0"/>
              <a:t>ank </a:t>
            </a:r>
            <a:r>
              <a:rPr lang="en-US" sz="1000" dirty="0" smtClean="0"/>
              <a:t>&lt; precision</a:t>
            </a:r>
            <a:endParaRPr lang="ru-RU" sz="1000" dirty="0"/>
          </a:p>
        </p:txBody>
      </p:sp>
      <p:sp>
        <p:nvSpPr>
          <p:cNvPr id="72" name="Стрелка вправо 71"/>
          <p:cNvSpPr/>
          <p:nvPr/>
        </p:nvSpPr>
        <p:spPr>
          <a:xfrm rot="16200000">
            <a:off x="6824915" y="4393604"/>
            <a:ext cx="823350" cy="13859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TextBox 72"/>
          <p:cNvSpPr txBox="1"/>
          <p:nvPr/>
        </p:nvSpPr>
        <p:spPr>
          <a:xfrm>
            <a:off x="6862141" y="4794657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74" name="Стрелка вправо 73"/>
          <p:cNvSpPr/>
          <p:nvPr/>
        </p:nvSpPr>
        <p:spPr>
          <a:xfrm>
            <a:off x="7953352" y="5382567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TextBox 74"/>
          <p:cNvSpPr txBox="1"/>
          <p:nvPr/>
        </p:nvSpPr>
        <p:spPr>
          <a:xfrm>
            <a:off x="7812187" y="5116995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78" name="TextBox 77"/>
          <p:cNvSpPr txBox="1"/>
          <p:nvPr/>
        </p:nvSpPr>
        <p:spPr>
          <a:xfrm>
            <a:off x="8293840" y="4099794"/>
            <a:ext cx="1229824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"request001":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"relevance":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[{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0,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1.0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},{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2,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0.94737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}]}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...</a:t>
            </a:r>
            <a:endParaRPr lang="en-US" altLang="ru-RU" sz="800" i="1" dirty="0" smtClean="0">
              <a:solidFill>
                <a:srgbClr val="808080"/>
              </a:solidFill>
              <a:latin typeface="JetBrains Mono"/>
            </a:endParaRPr>
          </a:p>
          <a:p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}</a:t>
            </a:r>
            <a:endParaRPr lang="ru-RU" sz="800" dirty="0"/>
          </a:p>
        </p:txBody>
      </p:sp>
      <p:cxnSp>
        <p:nvCxnSpPr>
          <p:cNvPr id="79" name="Соединительная линия уступом 78"/>
          <p:cNvCxnSpPr>
            <a:stCxn id="135" idx="0"/>
            <a:endCxn id="129" idx="0"/>
          </p:cNvCxnSpPr>
          <p:nvPr/>
        </p:nvCxnSpPr>
        <p:spPr>
          <a:xfrm rot="16200000" flipH="1" flipV="1">
            <a:off x="6506032" y="2416504"/>
            <a:ext cx="727734" cy="4078718"/>
          </a:xfrm>
          <a:prstGeom prst="bentConnector3">
            <a:avLst>
              <a:gd name="adj1" fmla="val -314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88746" y="2917790"/>
            <a:ext cx="88911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240198" y="4396737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  <a:endParaRPr lang="ru-RU" sz="1000" dirty="0"/>
          </a:p>
        </p:txBody>
      </p:sp>
      <p:cxnSp>
        <p:nvCxnSpPr>
          <p:cNvPr id="92" name="Соединительная линия уступом 91"/>
          <p:cNvCxnSpPr>
            <a:stCxn id="78" idx="3"/>
            <a:endCxn id="76" idx="2"/>
          </p:cNvCxnSpPr>
          <p:nvPr/>
        </p:nvCxnSpPr>
        <p:spPr>
          <a:xfrm flipH="1" flipV="1">
            <a:off x="1082106" y="2634798"/>
            <a:ext cx="8441558" cy="2311382"/>
          </a:xfrm>
          <a:prstGeom prst="bentConnector4">
            <a:avLst>
              <a:gd name="adj1" fmla="val -2708"/>
              <a:gd name="adj2" fmla="val -557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83" y="1611376"/>
            <a:ext cx="1008000" cy="712698"/>
          </a:xfrm>
          <a:prstGeom prst="rect">
            <a:avLst/>
          </a:prstGeom>
        </p:spPr>
      </p:pic>
      <p:sp>
        <p:nvSpPr>
          <p:cNvPr id="76" name="Блок-схема: процесс 75"/>
          <p:cNvSpPr/>
          <p:nvPr/>
        </p:nvSpPr>
        <p:spPr>
          <a:xfrm>
            <a:off x="434106" y="1554798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7" name="Группа 76"/>
          <p:cNvGrpSpPr/>
          <p:nvPr/>
        </p:nvGrpSpPr>
        <p:grpSpPr>
          <a:xfrm>
            <a:off x="1843104" y="1648609"/>
            <a:ext cx="1188000" cy="277176"/>
            <a:chOff x="4111934" y="2883423"/>
            <a:chExt cx="1188000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request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86" name="Блок-схема: процесс 85"/>
          <p:cNvSpPr/>
          <p:nvPr/>
        </p:nvSpPr>
        <p:spPr>
          <a:xfrm>
            <a:off x="3451135" y="1603528"/>
            <a:ext cx="1748336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61" y="1484309"/>
            <a:ext cx="545554" cy="771609"/>
          </a:xfrm>
          <a:prstGeom prst="rect">
            <a:avLst/>
          </a:prstGeom>
        </p:spPr>
      </p:pic>
      <p:grpSp>
        <p:nvGrpSpPr>
          <p:cNvPr id="87" name="Группа 86"/>
          <p:cNvGrpSpPr/>
          <p:nvPr/>
        </p:nvGrpSpPr>
        <p:grpSpPr>
          <a:xfrm>
            <a:off x="3875395" y="1808475"/>
            <a:ext cx="1188000" cy="277176"/>
            <a:chOff x="4111934" y="2883423"/>
            <a:chExt cx="1188000" cy="277176"/>
          </a:xfrm>
        </p:grpSpPr>
        <p:sp>
          <p:nvSpPr>
            <p:cNvPr id="88" name="Прямоугольник 87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4111934" y="2883423"/>
              <a:ext cx="590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90" name="Прямая соединительная линия 89"/>
            <p:cNvCxnSpPr/>
            <p:nvPr/>
          </p:nvCxnSpPr>
          <p:spPr>
            <a:xfrm>
              <a:off x="4670958" y="2897951"/>
              <a:ext cx="0" cy="262008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1" name="TextBox 90"/>
          <p:cNvSpPr txBox="1"/>
          <p:nvPr/>
        </p:nvSpPr>
        <p:spPr>
          <a:xfrm>
            <a:off x="4472365" y="1819667"/>
            <a:ext cx="8268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>
                <a:solidFill>
                  <a:schemeClr val="bg1"/>
                </a:solidFill>
              </a:rPr>
              <a:t>rank</a:t>
            </a:r>
            <a:endParaRPr lang="ru-RU" sz="12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/>
              <p:cNvSpPr txBox="1"/>
              <p:nvPr/>
            </p:nvSpPr>
            <p:spPr>
              <a:xfrm>
                <a:off x="3440185" y="2166007"/>
                <a:ext cx="1688091" cy="5252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𝑠𝑢𝑚𝑅𝐴𝑁𝐾</m:t>
                      </m:r>
                      <m:r>
                        <a:rPr lang="pt-BR" sz="10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𝑑𝑜𝑐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𝑟𝑎𝑛𝑘</m:t>
                          </m:r>
                        </m:e>
                      </m:nary>
                    </m:oMath>
                  </m:oMathPara>
                </a14:m>
                <a:endParaRPr lang="ru-RU" sz="1000" dirty="0"/>
              </a:p>
            </p:txBody>
          </p:sp>
        </mc:Choice>
        <mc:Fallback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185" y="2166007"/>
                <a:ext cx="1688091" cy="525208"/>
              </a:xfrm>
              <a:prstGeom prst="rect">
                <a:avLst/>
              </a:prstGeom>
              <a:blipFill rotWithShape="0">
                <a:blip r:embed="rId5"/>
                <a:stretch>
                  <a:fillRect t="-87209" r="-24910" b="-1395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Блок-схема: процесс 92"/>
          <p:cNvSpPr/>
          <p:nvPr/>
        </p:nvSpPr>
        <p:spPr>
          <a:xfrm>
            <a:off x="2973467" y="3218748"/>
            <a:ext cx="1296000" cy="1350537"/>
          </a:xfrm>
          <a:prstGeom prst="flowChartProcess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Блок-схема: процесс 93"/>
          <p:cNvSpPr/>
          <p:nvPr/>
        </p:nvSpPr>
        <p:spPr>
          <a:xfrm>
            <a:off x="7118411" y="2681049"/>
            <a:ext cx="1296000" cy="1080000"/>
          </a:xfrm>
          <a:prstGeom prst="flowChartProcess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Блок-схема: процесс 94"/>
          <p:cNvSpPr/>
          <p:nvPr/>
        </p:nvSpPr>
        <p:spPr>
          <a:xfrm>
            <a:off x="7799898" y="1488847"/>
            <a:ext cx="1296000" cy="1080000"/>
          </a:xfrm>
          <a:prstGeom prst="flowChartProcess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/>
              <p:cNvSpPr txBox="1"/>
              <p:nvPr/>
            </p:nvSpPr>
            <p:spPr>
              <a:xfrm>
                <a:off x="9615217" y="2958649"/>
                <a:ext cx="1795876" cy="53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𝑐𝑜𝑢𝑛𝑡</m:t>
                      </m:r>
                      <m:r>
                        <a:rPr lang="pt-BR" sz="10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𝐼𝐷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𝑑𝑜𝑐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𝑟𝑎𝑛𝑘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&gt;0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𝑟𝑎𝑛𝑘</m:t>
                          </m:r>
                        </m:e>
                      </m:nary>
                    </m:oMath>
                  </m:oMathPara>
                </a14:m>
                <a:endParaRPr lang="ru-RU" sz="1000" dirty="0"/>
              </a:p>
            </p:txBody>
          </p:sp>
        </mc:Choice>
        <mc:Fallback>
          <p:sp>
            <p:nvSpPr>
              <p:cNvPr id="97" name="TextBox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217" y="2958649"/>
                <a:ext cx="1795876" cy="536878"/>
              </a:xfrm>
              <a:prstGeom prst="rect">
                <a:avLst/>
              </a:prstGeom>
              <a:blipFill rotWithShape="0">
                <a:blip r:embed="rId6"/>
                <a:stretch>
                  <a:fillRect t="-85227" r="-13220" b="-1340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8" name="Рисунок 9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0246" y="2099693"/>
            <a:ext cx="545554" cy="771609"/>
          </a:xfrm>
          <a:prstGeom prst="rect">
            <a:avLst/>
          </a:prstGeom>
        </p:spPr>
      </p:pic>
      <p:grpSp>
        <p:nvGrpSpPr>
          <p:cNvPr id="99" name="Группа 98"/>
          <p:cNvGrpSpPr/>
          <p:nvPr/>
        </p:nvGrpSpPr>
        <p:grpSpPr>
          <a:xfrm>
            <a:off x="10135074" y="2372356"/>
            <a:ext cx="1188000" cy="277176"/>
            <a:chOff x="4111934" y="2883423"/>
            <a:chExt cx="1188000" cy="277176"/>
          </a:xfrm>
        </p:grpSpPr>
        <p:sp>
          <p:nvSpPr>
            <p:cNvPr id="100" name="Прямоугольник 99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4111934" y="2883423"/>
              <a:ext cx="590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02" name="Прямая соединительная линия 101"/>
            <p:cNvCxnSpPr/>
            <p:nvPr/>
          </p:nvCxnSpPr>
          <p:spPr>
            <a:xfrm>
              <a:off x="4670958" y="2897951"/>
              <a:ext cx="0" cy="262008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/>
          <p:cNvSpPr txBox="1"/>
          <p:nvPr/>
        </p:nvSpPr>
        <p:spPr>
          <a:xfrm>
            <a:off x="10726794" y="2371893"/>
            <a:ext cx="8268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>
                <a:solidFill>
                  <a:schemeClr val="bg1"/>
                </a:solidFill>
              </a:rPr>
              <a:t>rank</a:t>
            </a:r>
            <a:endParaRPr lang="ru-RU" sz="1200" b="1" dirty="0">
              <a:solidFill>
                <a:schemeClr val="bg1"/>
              </a:solidFill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019224" y="5460025"/>
            <a:ext cx="12410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ответов</a:t>
            </a:r>
            <a:endParaRPr lang="ru-RU" sz="1000" dirty="0"/>
          </a:p>
        </p:txBody>
      </p:sp>
      <p:pic>
        <p:nvPicPr>
          <p:cNvPr id="58" name="Рисунок 5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999" y="4781191"/>
            <a:ext cx="1008000" cy="712698"/>
          </a:xfrm>
          <a:prstGeom prst="rect">
            <a:avLst/>
          </a:prstGeom>
        </p:spPr>
      </p:pic>
      <p:sp>
        <p:nvSpPr>
          <p:cNvPr id="129" name="Блок-схема: процесс 128"/>
          <p:cNvSpPr/>
          <p:nvPr/>
        </p:nvSpPr>
        <p:spPr>
          <a:xfrm>
            <a:off x="4182540" y="4819730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TextBox 129"/>
          <p:cNvSpPr txBox="1"/>
          <p:nvPr/>
        </p:nvSpPr>
        <p:spPr>
          <a:xfrm>
            <a:off x="4324857" y="5600837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ru-RU" sz="1000" dirty="0" smtClean="0"/>
              <a:t>ранг</a:t>
            </a:r>
            <a:endParaRPr lang="ru-RU" sz="1000" dirty="0"/>
          </a:p>
        </p:txBody>
      </p:sp>
      <p:grpSp>
        <p:nvGrpSpPr>
          <p:cNvPr id="131" name="Группа 130"/>
          <p:cNvGrpSpPr/>
          <p:nvPr/>
        </p:nvGrpSpPr>
        <p:grpSpPr>
          <a:xfrm>
            <a:off x="5653229" y="4999041"/>
            <a:ext cx="1188000" cy="277176"/>
            <a:chOff x="4111934" y="2883423"/>
            <a:chExt cx="1188000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35" name="Блок-схема: процесс 134"/>
          <p:cNvSpPr/>
          <p:nvPr/>
        </p:nvSpPr>
        <p:spPr>
          <a:xfrm>
            <a:off x="8261258" y="4091996"/>
            <a:ext cx="1296000" cy="1657750"/>
          </a:xfrm>
          <a:prstGeom prst="flowChartProcess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9" name="Рисунок 14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92" y="3449821"/>
            <a:ext cx="800787" cy="113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04879326"/>
              </p:ext>
            </p:extLst>
          </p:nvPr>
        </p:nvGraphicFramePr>
        <p:xfrm>
          <a:off x="1771650" y="2029224"/>
          <a:ext cx="8648700" cy="3288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38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40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19789</TotalTime>
  <Words>2331</Words>
  <Application>Microsoft Office PowerPoint</Application>
  <PresentationFormat>Широкоэкранный</PresentationFormat>
  <Paragraphs>754</Paragraphs>
  <Slides>40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624</cp:revision>
  <dcterms:created xsi:type="dcterms:W3CDTF">2025-10-14T05:54:15Z</dcterms:created>
  <dcterms:modified xsi:type="dcterms:W3CDTF">2026-01-03T13:59:08Z</dcterms:modified>
</cp:coreProperties>
</file>
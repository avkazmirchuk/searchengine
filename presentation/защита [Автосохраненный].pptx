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9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1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97" r:id="rId31"/>
    <p:sldId id="257" r:id="rId32"/>
    <p:sldId id="269" r:id="rId33"/>
    <p:sldId id="289" r:id="rId34"/>
    <p:sldId id="278" r:id="rId35"/>
    <p:sldId id="258" r:id="rId36"/>
    <p:sldId id="276" r:id="rId37"/>
    <p:sldId id="277" r:id="rId38"/>
    <p:sldId id="288" r:id="rId39"/>
    <p:sldId id="263" r:id="rId4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70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770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829960"/>
        <c:axId val="413824864"/>
      </c:barChart>
      <c:catAx>
        <c:axId val="413829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4864"/>
        <c:crosses val="autoZero"/>
        <c:auto val="1"/>
        <c:lblAlgn val="ctr"/>
        <c:lblOffset val="100"/>
        <c:noMultiLvlLbl val="0"/>
      </c:catAx>
      <c:valAx>
        <c:axId val="413824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9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827608"/>
        <c:axId val="413825256"/>
      </c:barChart>
      <c:catAx>
        <c:axId val="413827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5256"/>
        <c:crosses val="autoZero"/>
        <c:auto val="1"/>
        <c:lblAlgn val="ctr"/>
        <c:lblOffset val="100"/>
        <c:noMultiLvlLbl val="0"/>
      </c:catAx>
      <c:valAx>
        <c:axId val="413825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7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829568"/>
        <c:axId val="413830744"/>
      </c:barChart>
      <c:catAx>
        <c:axId val="413829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30744"/>
        <c:crosses val="autoZero"/>
        <c:auto val="1"/>
        <c:lblAlgn val="ctr"/>
        <c:lblOffset val="100"/>
        <c:noMultiLvlLbl val="0"/>
      </c:catAx>
      <c:valAx>
        <c:axId val="413830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9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828784"/>
        <c:axId val="413830352"/>
      </c:barChart>
      <c:catAx>
        <c:axId val="413828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30352"/>
        <c:crosses val="autoZero"/>
        <c:auto val="1"/>
        <c:lblAlgn val="ctr"/>
        <c:lblOffset val="100"/>
        <c:noMultiLvlLbl val="0"/>
      </c:catAx>
      <c:valAx>
        <c:axId val="413830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8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832312"/>
        <c:axId val="413826824"/>
      </c:barChart>
      <c:catAx>
        <c:axId val="413832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26824"/>
        <c:crosses val="autoZero"/>
        <c:auto val="1"/>
        <c:lblAlgn val="ctr"/>
        <c:lblOffset val="100"/>
        <c:noMultiLvlLbl val="0"/>
      </c:catAx>
      <c:valAx>
        <c:axId val="413826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32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915640"/>
        <c:axId val="472915248"/>
      </c:barChart>
      <c:catAx>
        <c:axId val="472915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15248"/>
        <c:crosses val="autoZero"/>
        <c:auto val="1"/>
        <c:lblAlgn val="ctr"/>
        <c:lblOffset val="100"/>
        <c:noMultiLvlLbl val="0"/>
      </c:catAx>
      <c:valAx>
        <c:axId val="472915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15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917992"/>
        <c:axId val="472918384"/>
      </c:barChart>
      <c:catAx>
        <c:axId val="4729179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18384"/>
        <c:crosses val="autoZero"/>
        <c:auto val="1"/>
        <c:lblAlgn val="ctr"/>
        <c:lblOffset val="100"/>
        <c:noMultiLvlLbl val="0"/>
      </c:catAx>
      <c:valAx>
        <c:axId val="472918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17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914856"/>
        <c:axId val="472920736"/>
      </c:barChart>
      <c:catAx>
        <c:axId val="472914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20736"/>
        <c:crosses val="autoZero"/>
        <c:auto val="1"/>
        <c:lblAlgn val="ctr"/>
        <c:lblOffset val="100"/>
        <c:noMultiLvlLbl val="0"/>
      </c:catAx>
      <c:valAx>
        <c:axId val="472920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14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809392"/>
        <c:axId val="471803512"/>
      </c:barChart>
      <c:catAx>
        <c:axId val="4718093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03512"/>
        <c:crosses val="autoZero"/>
        <c:auto val="1"/>
        <c:lblAlgn val="ctr"/>
        <c:lblOffset val="100"/>
        <c:noMultiLvlLbl val="0"/>
      </c:catAx>
      <c:valAx>
        <c:axId val="4718035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09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806648"/>
        <c:axId val="471803120"/>
      </c:barChart>
      <c:catAx>
        <c:axId val="471806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03120"/>
        <c:crosses val="autoZero"/>
        <c:auto val="1"/>
        <c:lblAlgn val="ctr"/>
        <c:lblOffset val="100"/>
        <c:noMultiLvlLbl val="0"/>
      </c:catAx>
      <c:valAx>
        <c:axId val="471803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066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5396672"/>
        <c:axId val="475397456"/>
      </c:barChart>
      <c:catAx>
        <c:axId val="475396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7456"/>
        <c:crosses val="autoZero"/>
        <c:auto val="1"/>
        <c:lblAlgn val="ctr"/>
        <c:lblOffset val="100"/>
        <c:noMultiLvlLbl val="0"/>
      </c:catAx>
      <c:valAx>
        <c:axId val="475397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6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5392360"/>
        <c:axId val="475392752"/>
      </c:barChart>
      <c:catAx>
        <c:axId val="475392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2752"/>
        <c:crosses val="autoZero"/>
        <c:auto val="1"/>
        <c:lblAlgn val="ctr"/>
        <c:lblOffset val="100"/>
        <c:noMultiLvlLbl val="0"/>
      </c:catAx>
      <c:valAx>
        <c:axId val="475392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2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5393928"/>
        <c:axId val="475394320"/>
      </c:barChart>
      <c:catAx>
        <c:axId val="475393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4320"/>
        <c:crosses val="autoZero"/>
        <c:auto val="1"/>
        <c:lblAlgn val="ctr"/>
        <c:lblOffset val="100"/>
        <c:noMultiLvlLbl val="0"/>
      </c:catAx>
      <c:valAx>
        <c:axId val="475394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39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120712"/>
        <c:axId val="471823248"/>
      </c:barChart>
      <c:catAx>
        <c:axId val="409120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23248"/>
        <c:crosses val="autoZero"/>
        <c:auto val="1"/>
        <c:lblAlgn val="ctr"/>
        <c:lblOffset val="100"/>
        <c:noMultiLvlLbl val="0"/>
      </c:catAx>
      <c:valAx>
        <c:axId val="471823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120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825600"/>
        <c:axId val="471825208"/>
      </c:barChart>
      <c:catAx>
        <c:axId val="471825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25208"/>
        <c:crosses val="autoZero"/>
        <c:auto val="1"/>
        <c:lblAlgn val="ctr"/>
        <c:lblOffset val="100"/>
        <c:noMultiLvlLbl val="0"/>
      </c:catAx>
      <c:valAx>
        <c:axId val="471825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825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4238960"/>
        <c:axId val="475391968"/>
      </c:barChart>
      <c:catAx>
        <c:axId val="474238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5391968"/>
        <c:crosses val="autoZero"/>
        <c:auto val="1"/>
        <c:lblAlgn val="ctr"/>
        <c:lblOffset val="100"/>
        <c:noMultiLvlLbl val="0"/>
      </c:catAx>
      <c:valAx>
        <c:axId val="4753919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4238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7454120"/>
        <c:axId val="477454512"/>
      </c:barChart>
      <c:catAx>
        <c:axId val="477454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7454512"/>
        <c:crosses val="autoZero"/>
        <c:auto val="1"/>
        <c:lblAlgn val="ctr"/>
        <c:lblOffset val="100"/>
        <c:noMultiLvlLbl val="0"/>
      </c:catAx>
      <c:valAx>
        <c:axId val="4774545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7454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7447456"/>
        <c:axId val="477451376"/>
      </c:barChart>
      <c:catAx>
        <c:axId val="4774474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7451376"/>
        <c:crosses val="autoZero"/>
        <c:auto val="1"/>
        <c:lblAlgn val="ctr"/>
        <c:lblOffset val="100"/>
        <c:noMultiLvlLbl val="0"/>
      </c:catAx>
      <c:valAx>
        <c:axId val="477451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74474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02.01.2026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значок выбора документа,</a:t>
            </a:r>
            <a:r>
              <a:rPr lang="ru-RU" baseline="0" dirty="0" smtClean="0"/>
              <a:t> аналогично определению слова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02.01.2026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52.png"/><Relationship Id="rId4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8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49.png"/><Relationship Id="rId7" Type="http://schemas.openxmlformats.org/officeDocument/2006/relationships/image" Target="../media/image77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image" Target="../media/image8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89.png"/><Relationship Id="rId2" Type="http://schemas.openxmlformats.org/officeDocument/2006/relationships/image" Target="../media/image48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99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98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9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1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15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13.png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8.png"/><Relationship Id="rId14" Type="http://schemas.openxmlformats.org/officeDocument/2006/relationships/image" Target="../media/image11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6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11" Type="http://schemas.openxmlformats.org/officeDocument/2006/relationships/image" Target="../media/image122.png"/><Relationship Id="rId5" Type="http://schemas.openxmlformats.org/officeDocument/2006/relationships/image" Target="../media/image102.png"/><Relationship Id="rId10" Type="http://schemas.openxmlformats.org/officeDocument/2006/relationships/image" Target="../media/image121.png"/><Relationship Id="rId4" Type="http://schemas.openxmlformats.org/officeDocument/2006/relationships/image" Target="../media/image117.png"/><Relationship Id="rId9" Type="http://schemas.openxmlformats.org/officeDocument/2006/relationships/image" Target="../media/image12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8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9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459075" y="2207798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306" y="1343464"/>
            <a:ext cx="652667" cy="923105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572729" y="3565956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1593659" y="954959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2470665" y="2687056"/>
            <a:ext cx="11769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определить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719353" y="2239699"/>
            <a:ext cx="20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6477140" y="1886449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1114" y="1997577"/>
            <a:ext cx="526971" cy="745325"/>
          </a:xfrm>
          <a:prstGeom prst="rect">
            <a:avLst/>
          </a:prstGeom>
        </p:spPr>
      </p:pic>
      <p:sp>
        <p:nvSpPr>
          <p:cNvPr id="40" name="Стрелка вправо 39"/>
          <p:cNvSpPr/>
          <p:nvPr/>
        </p:nvSpPr>
        <p:spPr>
          <a:xfrm rot="5400000">
            <a:off x="6899202" y="3181571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7070403" y="3064144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098" y="3265777"/>
            <a:ext cx="763598" cy="1080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20362" y="42132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47" name="Стрелка вправо 46"/>
          <p:cNvSpPr/>
          <p:nvPr/>
        </p:nvSpPr>
        <p:spPr>
          <a:xfrm>
            <a:off x="7709789" y="232531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7581773" y="2091994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8076291" y="1899714"/>
            <a:ext cx="976238" cy="953024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8284763" y="2024041"/>
            <a:ext cx="58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docID</a:t>
            </a:r>
            <a:r>
              <a:rPr lang="ru-RU" sz="1200" dirty="0" smtClean="0"/>
              <a:t> </a:t>
            </a:r>
            <a:endParaRPr lang="en-US" sz="1200" dirty="0" smtClean="0"/>
          </a:p>
          <a:p>
            <a:r>
              <a:rPr lang="ru-RU" sz="1200" dirty="0" smtClean="0"/>
              <a:t>==</a:t>
            </a:r>
            <a:endParaRPr lang="en-US" sz="1200" dirty="0" smtClean="0"/>
          </a:p>
          <a:p>
            <a:r>
              <a:rPr lang="ru-RU" sz="1200" dirty="0" smtClean="0"/>
              <a:t> </a:t>
            </a:r>
            <a:r>
              <a:rPr lang="en-US" sz="1200" dirty="0" smtClean="0"/>
              <a:t>docID</a:t>
            </a:r>
            <a:endParaRPr lang="ru-RU" sz="1200" dirty="0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8433237" y="305527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8222631" y="2896246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5" name="Стрелка вправо 54"/>
          <p:cNvSpPr/>
          <p:nvPr/>
        </p:nvSpPr>
        <p:spPr>
          <a:xfrm>
            <a:off x="9164548" y="2305921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9102499" y="2079092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/>
          <p:nvPr/>
        </p:nvCxnSpPr>
        <p:spPr>
          <a:xfrm rot="10800000" flipV="1">
            <a:off x="3901044" y="5575694"/>
            <a:ext cx="7348696" cy="131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/>
          <p:nvPr/>
        </p:nvCxnSpPr>
        <p:spPr>
          <a:xfrm rot="5400000" flipH="1" flipV="1">
            <a:off x="1728242" y="4313170"/>
            <a:ext cx="2501713" cy="36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901835"/>
              </p:ext>
            </p:extLst>
          </p:nvPr>
        </p:nvGraphicFramePr>
        <p:xfrm>
          <a:off x="9556153" y="2120286"/>
          <a:ext cx="211529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7652"/>
                <a:gridCol w="1517638"/>
              </a:tblGrid>
              <a:tr h="323165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документа, </a:t>
                      </a:r>
                      <a:r>
                        <a:rPr lang="en-US" sz="1200" dirty="0" smtClean="0"/>
                        <a:t>n}</a:t>
                      </a:r>
                      <a:r>
                        <a:rPr lang="ru-RU" sz="1200" dirty="0" smtClean="0"/>
                        <a:t>…,    </a:t>
                      </a:r>
                    </a:p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документа, </a:t>
                      </a:r>
                      <a:r>
                        <a:rPr lang="en-US" sz="1200" dirty="0" smtClean="0"/>
                        <a:t>1}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2" name="Рисунок 6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75" y="4134104"/>
            <a:ext cx="1423164" cy="2012862"/>
          </a:xfrm>
          <a:prstGeom prst="rect">
            <a:avLst/>
          </a:prstGeom>
        </p:spPr>
      </p:pic>
      <p:graphicFrame>
        <p:nvGraphicFramePr>
          <p:cNvPr id="65" name="Таблица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857043"/>
              </p:ext>
            </p:extLst>
          </p:nvPr>
        </p:nvGraphicFramePr>
        <p:xfrm>
          <a:off x="6278704" y="4591502"/>
          <a:ext cx="1883479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6940"/>
                <a:gridCol w="1286539"/>
              </a:tblGrid>
              <a:tr h="198060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документа,</a:t>
                      </a:r>
                      <a:r>
                        <a:rPr lang="ru-RU" sz="1200" baseline="0" dirty="0" smtClean="0"/>
                        <a:t> 1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67" name="Соединительная линия уступом 66"/>
          <p:cNvCxnSpPr/>
          <p:nvPr/>
        </p:nvCxnSpPr>
        <p:spPr>
          <a:xfrm rot="5400000" flipH="1" flipV="1">
            <a:off x="4180073" y="1716178"/>
            <a:ext cx="1104163" cy="13991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Соединительная линия уступом 73"/>
          <p:cNvCxnSpPr>
            <a:endCxn id="18" idx="0"/>
          </p:cNvCxnSpPr>
          <p:nvPr/>
        </p:nvCxnSpPr>
        <p:spPr>
          <a:xfrm rot="10800000" flipV="1">
            <a:off x="823025" y="1262781"/>
            <a:ext cx="3979085" cy="772692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38604" y="2678106"/>
            <a:ext cx="11929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документ</a:t>
            </a:r>
            <a:endParaRPr lang="ru-RU" sz="1000" dirty="0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631" y="3231600"/>
            <a:ext cx="763598" cy="1080000"/>
          </a:xfrm>
          <a:prstGeom prst="rect">
            <a:avLst/>
          </a:prstGeom>
        </p:spPr>
      </p:pic>
      <p:graphicFrame>
        <p:nvGraphicFramePr>
          <p:cNvPr id="66" name="Таблица 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084463"/>
              </p:ext>
            </p:extLst>
          </p:nvPr>
        </p:nvGraphicFramePr>
        <p:xfrm>
          <a:off x="8284763" y="4157843"/>
          <a:ext cx="218323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574"/>
                <a:gridCol w="1477664"/>
              </a:tblGrid>
              <a:tr h="198060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документа,</a:t>
                      </a:r>
                      <a:r>
                        <a:rPr lang="ru-RU" sz="1200" baseline="0" dirty="0" smtClean="0"/>
                        <a:t> </a:t>
                      </a:r>
                      <a:r>
                        <a:rPr lang="en-US" sz="1200" baseline="0" dirty="0" smtClean="0"/>
                        <a:t>n+1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5" name="Соединительная линия уступом 94"/>
          <p:cNvCxnSpPr>
            <a:stCxn id="65" idx="2"/>
          </p:cNvCxnSpPr>
          <p:nvPr/>
        </p:nvCxnSpPr>
        <p:spPr>
          <a:xfrm rot="5400000">
            <a:off x="6848398" y="5237867"/>
            <a:ext cx="744091" cy="1270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66" idx="2"/>
          </p:cNvCxnSpPr>
          <p:nvPr/>
        </p:nvCxnSpPr>
        <p:spPr>
          <a:xfrm rot="5400000">
            <a:off x="8804616" y="5003929"/>
            <a:ext cx="1143532" cy="1270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Соединительная линия уступом 100"/>
          <p:cNvCxnSpPr>
            <a:stCxn id="50" idx="2"/>
          </p:cNvCxnSpPr>
          <p:nvPr/>
        </p:nvCxnSpPr>
        <p:spPr>
          <a:xfrm rot="16200000" flipH="1">
            <a:off x="9432666" y="3758618"/>
            <a:ext cx="2998206" cy="63594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Рисунок 10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824" y="1234047"/>
            <a:ext cx="763598" cy="108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508" y="2035473"/>
            <a:ext cx="1009031" cy="713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8711" y="5796098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</a:t>
            </a:r>
            <a:r>
              <a:rPr lang="ru-RU" sz="1000" dirty="0" smtClean="0"/>
              <a:t>индекса</a:t>
            </a:r>
            <a:endParaRPr lang="ru-RU" sz="1000" dirty="0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551" y="2036669"/>
            <a:ext cx="1008000" cy="7127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48256" y="206420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68908" y="1979589"/>
            <a:ext cx="1713063" cy="276999"/>
            <a:chOff x="3901044" y="3386772"/>
            <a:chExt cx="1713063" cy="27699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692000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86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b="1" dirty="0" smtClean="0">
                  <a:solidFill>
                    <a:schemeClr val="bg1"/>
                  </a:solidFill>
                </a:rPr>
                <a:t>Слово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10815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</a:t>
              </a:r>
              <a:r>
                <a:rPr lang="ru-RU" sz="1200" b="1" dirty="0" smtClean="0">
                  <a:solidFill>
                    <a:schemeClr val="bg1"/>
                  </a:solidFill>
                </a:rPr>
                <a:t>документа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</a:t>
            </a:r>
            <a:endParaRPr lang="ru-RU" sz="24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1582410"/>
            <a:ext cx="763598" cy="108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6469" y="2539299"/>
            <a:ext cx="9589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запросов</a:t>
            </a:r>
            <a:endParaRPr lang="ru-RU" sz="10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056675" y="1919484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2444" y="2385494"/>
            <a:ext cx="10390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запрос</a:t>
            </a:r>
            <a:endParaRPr lang="ru-RU" sz="10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2621878" y="196015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157488"/>
              </p:ext>
            </p:extLst>
          </p:nvPr>
        </p:nvGraphicFramePr>
        <p:xfrm>
          <a:off x="2001067" y="1711494"/>
          <a:ext cx="1773697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273"/>
                <a:gridCol w="592712"/>
                <a:gridCol w="592712"/>
              </a:tblGrid>
              <a:tr h="207585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2539278" y="2385494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запрос</a:t>
            </a:r>
            <a:endParaRPr lang="ru-RU" sz="1000" dirty="0"/>
          </a:p>
        </p:txBody>
      </p:sp>
      <p:sp>
        <p:nvSpPr>
          <p:cNvPr id="18" name="Прямоугольник 17"/>
          <p:cNvSpPr/>
          <p:nvPr/>
        </p:nvSpPr>
        <p:spPr>
          <a:xfrm>
            <a:off x="3978812" y="1391174"/>
            <a:ext cx="1335741" cy="1402837"/>
          </a:xfrm>
          <a:prstGeom prst="rect">
            <a:avLst/>
          </a:pr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/>
          <p:cNvSpPr txBox="1"/>
          <p:nvPr/>
        </p:nvSpPr>
        <p:spPr>
          <a:xfrm>
            <a:off x="4227844" y="1853290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слово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155201" y="2860504"/>
            <a:ext cx="9829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слово</a:t>
            </a:r>
            <a:endParaRPr lang="ru-RU" sz="1000" dirty="0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148" y="1768866"/>
            <a:ext cx="499936" cy="707088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5538324" y="1935663"/>
            <a:ext cx="882277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3969"/>
              </p:ext>
            </p:extLst>
          </p:nvPr>
        </p:nvGraphicFramePr>
        <p:xfrm>
          <a:off x="5565538" y="1597529"/>
          <a:ext cx="631986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1986"/>
              </a:tblGrid>
              <a:tr h="138645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Стрелка вправо 24"/>
          <p:cNvSpPr/>
          <p:nvPr/>
        </p:nvSpPr>
        <p:spPr>
          <a:xfrm>
            <a:off x="7201727" y="19356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185019"/>
              </p:ext>
            </p:extLst>
          </p:nvPr>
        </p:nvGraphicFramePr>
        <p:xfrm>
          <a:off x="7151631" y="1595438"/>
          <a:ext cx="131594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42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документа,</a:t>
                      </a:r>
                      <a:r>
                        <a:rPr lang="ru-RU" sz="1200" baseline="0" dirty="0" smtClean="0"/>
                        <a:t> </a:t>
                      </a:r>
                      <a:r>
                        <a:rPr lang="en-US" sz="1200" baseline="0" dirty="0" smtClean="0"/>
                        <a:t>i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970932"/>
              </p:ext>
            </p:extLst>
          </p:nvPr>
        </p:nvGraphicFramePr>
        <p:xfrm>
          <a:off x="8087979" y="2079379"/>
          <a:ext cx="165192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0408"/>
                <a:gridCol w="431514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aseline="0" dirty="0" err="1" smtClean="0"/>
                        <a:t>n+i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9" name="Стрелка вправо 28"/>
          <p:cNvSpPr/>
          <p:nvPr/>
        </p:nvSpPr>
        <p:spPr>
          <a:xfrm rot="5400000">
            <a:off x="8780741" y="5093159"/>
            <a:ext cx="540000" cy="1264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endCxn id="22" idx="2"/>
          </p:cNvCxnSpPr>
          <p:nvPr/>
        </p:nvCxnSpPr>
        <p:spPr>
          <a:xfrm rot="10800000" flipV="1">
            <a:off x="6786116" y="2193592"/>
            <a:ext cx="3653022" cy="282362"/>
          </a:xfrm>
          <a:prstGeom prst="bentConnector4">
            <a:avLst>
              <a:gd name="adj1" fmla="val 173"/>
              <a:gd name="adj2" fmla="val 373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61158" y="2563320"/>
            <a:ext cx="9204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пару</a:t>
            </a:r>
          </a:p>
        </p:txBody>
      </p:sp>
      <p:cxnSp>
        <p:nvCxnSpPr>
          <p:cNvPr id="38" name="Соединительная линия уступом 37"/>
          <p:cNvCxnSpPr>
            <a:endCxn id="20" idx="2"/>
          </p:cNvCxnSpPr>
          <p:nvPr/>
        </p:nvCxnSpPr>
        <p:spPr>
          <a:xfrm rot="10800000" flipV="1">
            <a:off x="4646683" y="2191779"/>
            <a:ext cx="6565801" cy="914946"/>
          </a:xfrm>
          <a:prstGeom prst="bentConnector4">
            <a:avLst>
              <a:gd name="adj1" fmla="val 252"/>
              <a:gd name="adj2" fmla="val 17214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467573" y="2508604"/>
            <a:ext cx="12602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ременная таблица</a:t>
            </a:r>
            <a:endParaRPr lang="ru-RU" sz="1000" dirty="0"/>
          </a:p>
        </p:txBody>
      </p:sp>
      <p:pic>
        <p:nvPicPr>
          <p:cNvPr id="54" name="Рисунок 5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98" y="4578856"/>
            <a:ext cx="763598" cy="1080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820759" y="49488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+</a:t>
            </a:r>
            <a:endParaRPr lang="ru-RU" dirty="0"/>
          </a:p>
        </p:txBody>
      </p:sp>
      <p:graphicFrame>
        <p:nvGraphicFramePr>
          <p:cNvPr id="56" name="Таблица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696465"/>
              </p:ext>
            </p:extLst>
          </p:nvPr>
        </p:nvGraphicFramePr>
        <p:xfrm>
          <a:off x="2169027" y="5000073"/>
          <a:ext cx="1848169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937"/>
                <a:gridCol w="412232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</a:t>
                      </a:r>
                      <a:r>
                        <a:rPr lang="en-US" sz="1200" dirty="0" smtClean="0"/>
                        <a:t>, n}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175472" y="5373298"/>
            <a:ext cx="12602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ременная таблица</a:t>
            </a:r>
            <a:endParaRPr lang="ru-RU" sz="1000" dirty="0"/>
          </a:p>
        </p:txBody>
      </p:sp>
      <p:sp>
        <p:nvSpPr>
          <p:cNvPr id="58" name="TextBox 57"/>
          <p:cNvSpPr txBox="1"/>
          <p:nvPr/>
        </p:nvSpPr>
        <p:spPr>
          <a:xfrm>
            <a:off x="913428" y="5556839"/>
            <a:ext cx="12698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релевантности</a:t>
            </a:r>
            <a:endParaRPr lang="ru-RU" sz="1000" dirty="0"/>
          </a:p>
        </p:txBody>
      </p:sp>
      <p:sp>
        <p:nvSpPr>
          <p:cNvPr id="60" name="Стрелка вправо 59"/>
          <p:cNvSpPr/>
          <p:nvPr/>
        </p:nvSpPr>
        <p:spPr>
          <a:xfrm>
            <a:off x="10042918" y="1982539"/>
            <a:ext cx="1661048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137844" y="4871621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996448" y="5848211"/>
            <a:ext cx="35766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пределить максимальную абсолютную релевантность</a:t>
            </a:r>
            <a:r>
              <a:rPr lang="en-US" sz="1000" dirty="0" smtClean="0"/>
              <a:t> (</a:t>
            </a:r>
            <a:r>
              <a:rPr lang="en-US" sz="1000" dirty="0" err="1" smtClean="0"/>
              <a:t>mAR</a:t>
            </a:r>
            <a:r>
              <a:rPr lang="en-US" sz="1000" dirty="0" smtClean="0"/>
              <a:t>)</a:t>
            </a:r>
            <a:endParaRPr lang="ru-RU" sz="1000" dirty="0"/>
          </a:p>
        </p:txBody>
      </p:sp>
      <p:sp>
        <p:nvSpPr>
          <p:cNvPr id="63" name="Стрелка вправо 62"/>
          <p:cNvSpPr/>
          <p:nvPr/>
        </p:nvSpPr>
        <p:spPr>
          <a:xfrm>
            <a:off x="4273707" y="4922362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4" name="Соединительная линия уступом 63"/>
          <p:cNvCxnSpPr/>
          <p:nvPr/>
        </p:nvCxnSpPr>
        <p:spPr>
          <a:xfrm rot="10800000">
            <a:off x="1376744" y="2263399"/>
            <a:ext cx="3266539" cy="2592470"/>
          </a:xfrm>
          <a:prstGeom prst="bentConnector3">
            <a:avLst>
              <a:gd name="adj1" fmla="val 9969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Таблица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042886"/>
              </p:ext>
            </p:extLst>
          </p:nvPr>
        </p:nvGraphicFramePr>
        <p:xfrm>
          <a:off x="5260557" y="4707082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 / </a:t>
                      </a:r>
                      <a:r>
                        <a:rPr lang="en-US" sz="1200" dirty="0" err="1" smtClean="0"/>
                        <a:t>mAR</a:t>
                      </a:r>
                      <a:r>
                        <a:rPr lang="en-US" sz="1200" dirty="0" smtClean="0"/>
                        <a:t>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 / </a:t>
                      </a:r>
                      <a:r>
                        <a:rPr lang="en-US" sz="1200" dirty="0" err="1" smtClean="0"/>
                        <a:t>mAR</a:t>
                      </a:r>
                      <a:r>
                        <a:rPr lang="en-US" sz="1200" dirty="0" smtClean="0"/>
                        <a:t>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8" name="Стрелка вправо 77"/>
          <p:cNvSpPr/>
          <p:nvPr/>
        </p:nvSpPr>
        <p:spPr>
          <a:xfrm>
            <a:off x="7391400" y="4930031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9490" y="4599949"/>
            <a:ext cx="763598" cy="10800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833374" y="4560699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RR</a:t>
            </a:r>
            <a:endParaRPr lang="ru-RU" dirty="0"/>
          </a:p>
        </p:txBody>
      </p:sp>
      <p:sp>
        <p:nvSpPr>
          <p:cNvPr id="84" name="Стрелка вправо 83"/>
          <p:cNvSpPr/>
          <p:nvPr/>
        </p:nvSpPr>
        <p:spPr>
          <a:xfrm>
            <a:off x="9391449" y="4930031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5" name="Рисунок 8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245" y="4060087"/>
            <a:ext cx="1478458" cy="2091067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668504" y="5700536"/>
            <a:ext cx="26244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получить относительную релевантность (</a:t>
            </a:r>
            <a:r>
              <a:rPr lang="en-US" sz="1000" dirty="0" smtClean="0"/>
              <a:t>RR</a:t>
            </a:r>
            <a:r>
              <a:rPr lang="ru-RU" sz="1000" dirty="0" smtClean="0"/>
              <a:t>)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70" y="1676853"/>
            <a:ext cx="673989" cy="953261"/>
          </a:xfrm>
          <a:prstGeom prst="rect">
            <a:avLst/>
          </a:prstGeom>
        </p:spPr>
      </p:pic>
      <p:sp>
        <p:nvSpPr>
          <p:cNvPr id="9" name="Стрелка вправо 8"/>
          <p:cNvSpPr/>
          <p:nvPr/>
        </p:nvSpPr>
        <p:spPr>
          <a:xfrm>
            <a:off x="1056675" y="1919484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892444" y="2385494"/>
            <a:ext cx="12394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en-US" sz="1000" dirty="0" smtClean="0"/>
              <a:t>ID </a:t>
            </a:r>
            <a:r>
              <a:rPr lang="ru-RU" sz="1000" dirty="0" smtClean="0"/>
              <a:t>запроса</a:t>
            </a:r>
            <a:endParaRPr lang="ru-RU" sz="10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2621878" y="196015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2539278" y="2385494"/>
            <a:ext cx="7569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</a:t>
            </a:r>
            <a:r>
              <a:rPr lang="ru-RU" sz="1000" dirty="0" smtClean="0"/>
              <a:t>запроса</a:t>
            </a:r>
            <a:endParaRPr lang="ru-RU" sz="1000" dirty="0"/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11928"/>
              </p:ext>
            </p:extLst>
          </p:nvPr>
        </p:nvGraphicFramePr>
        <p:xfrm>
          <a:off x="2185573" y="1663907"/>
          <a:ext cx="104051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0512"/>
              </a:tblGrid>
              <a:tr h="138645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</a:t>
                      </a:r>
                      <a:r>
                        <a:rPr lang="en-US" sz="1200" baseline="0" dirty="0" smtClean="0"/>
                        <a:t> </a:t>
                      </a:r>
                      <a:r>
                        <a:rPr lang="ru-RU" sz="1200" baseline="0" dirty="0" smtClean="0"/>
                        <a:t>запроса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Прямоугольник 13"/>
          <p:cNvSpPr/>
          <p:nvPr/>
        </p:nvSpPr>
        <p:spPr>
          <a:xfrm>
            <a:off x="3444558" y="1391174"/>
            <a:ext cx="1335741" cy="1402837"/>
          </a:xfrm>
          <a:prstGeom prst="rect">
            <a:avLst/>
          </a:pr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015012" y="2875419"/>
            <a:ext cx="28007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суммарный ранг ответов</a:t>
            </a:r>
            <a:r>
              <a:rPr lang="en-US" sz="1000" dirty="0" smtClean="0"/>
              <a:t> (sumRANK)</a:t>
            </a:r>
            <a:endParaRPr lang="ru-RU" sz="1000" dirty="0"/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245519"/>
              </p:ext>
            </p:extLst>
          </p:nvPr>
        </p:nvGraphicFramePr>
        <p:xfrm>
          <a:off x="3378816" y="1663907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" name="Стрелка вправо 18"/>
          <p:cNvSpPr/>
          <p:nvPr/>
        </p:nvSpPr>
        <p:spPr>
          <a:xfrm>
            <a:off x="5496215" y="197914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389143" y="167262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sumRANK</a:t>
            </a:r>
            <a:endParaRPr lang="ru-RU" sz="1000" dirty="0"/>
          </a:p>
        </p:txBody>
      </p:sp>
      <p:sp>
        <p:nvSpPr>
          <p:cNvPr id="21" name="Блок-схема: решение 20"/>
          <p:cNvSpPr>
            <a:spLocks noChangeAspect="1"/>
          </p:cNvSpPr>
          <p:nvPr/>
        </p:nvSpPr>
        <p:spPr>
          <a:xfrm>
            <a:off x="6225887" y="1654152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6118058" y="2071041"/>
            <a:ext cx="12923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sumRANK &lt; precision</a:t>
            </a:r>
            <a:endParaRPr lang="ru-RU" sz="1000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7417199" y="209259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7336701" y="1797644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7908504" y="1599276"/>
            <a:ext cx="10118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"request003":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"false"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28" name="Соединительная линия уступом 27"/>
          <p:cNvCxnSpPr>
            <a:stCxn id="25" idx="0"/>
          </p:cNvCxnSpPr>
          <p:nvPr/>
        </p:nvCxnSpPr>
        <p:spPr>
          <a:xfrm rot="16200000" flipV="1">
            <a:off x="5615232" y="-1199904"/>
            <a:ext cx="345828" cy="5252532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Соединительная линия уступом 30"/>
          <p:cNvCxnSpPr/>
          <p:nvPr/>
        </p:nvCxnSpPr>
        <p:spPr>
          <a:xfrm rot="10800000" flipV="1">
            <a:off x="1243173" y="1253445"/>
            <a:ext cx="1982912" cy="790420"/>
          </a:xfrm>
          <a:prstGeom prst="bentConnector3">
            <a:avLst>
              <a:gd name="adj1" fmla="val 9974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Стрелка вправо 34"/>
          <p:cNvSpPr/>
          <p:nvPr/>
        </p:nvSpPr>
        <p:spPr>
          <a:xfrm rot="5400000">
            <a:off x="6642351" y="2990775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/>
          <p:cNvSpPr txBox="1"/>
          <p:nvPr/>
        </p:nvSpPr>
        <p:spPr>
          <a:xfrm>
            <a:off x="6862141" y="2815147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37" name="Стрелка вправо 36"/>
          <p:cNvSpPr/>
          <p:nvPr/>
        </p:nvSpPr>
        <p:spPr>
          <a:xfrm>
            <a:off x="6782144" y="319087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7202282" y="2650501"/>
            <a:ext cx="10118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654381" y="30717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/>
          <p:cNvSpPr/>
          <p:nvPr/>
        </p:nvSpPr>
        <p:spPr>
          <a:xfrm>
            <a:off x="9522064" y="2569449"/>
            <a:ext cx="1335741" cy="1402837"/>
          </a:xfrm>
          <a:prstGeom prst="rect">
            <a:avLst/>
          </a:pr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9261308" y="3972286"/>
            <a:ext cx="1951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количество ответов  </a:t>
            </a:r>
          </a:p>
          <a:p>
            <a:r>
              <a:rPr lang="ru-RU" sz="1000" dirty="0"/>
              <a:t>с</a:t>
            </a:r>
            <a:r>
              <a:rPr lang="ru-RU" sz="1000" dirty="0" smtClean="0"/>
              <a:t> ненулевым рангом (</a:t>
            </a:r>
            <a:r>
              <a:rPr lang="en-US" sz="1000" dirty="0" smtClean="0"/>
              <a:t>count</a:t>
            </a:r>
            <a:r>
              <a:rPr lang="ru-RU" sz="1000" dirty="0" smtClean="0"/>
              <a:t>)</a:t>
            </a:r>
            <a:endParaRPr lang="ru-RU" sz="1000" dirty="0"/>
          </a:p>
        </p:txBody>
      </p:sp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556256"/>
              </p:ext>
            </p:extLst>
          </p:nvPr>
        </p:nvGraphicFramePr>
        <p:xfrm>
          <a:off x="9260459" y="2819054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5" name="Стрелка вправо 44"/>
          <p:cNvSpPr/>
          <p:nvPr/>
        </p:nvSpPr>
        <p:spPr>
          <a:xfrm>
            <a:off x="11339171" y="30613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97564" y="427200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Блок-схема: решение 46"/>
          <p:cNvSpPr>
            <a:spLocks noChangeAspect="1"/>
          </p:cNvSpPr>
          <p:nvPr/>
        </p:nvSpPr>
        <p:spPr>
          <a:xfrm>
            <a:off x="803417" y="3972286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968154" y="4372396"/>
            <a:ext cx="7505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Count == 1</a:t>
            </a:r>
            <a:endParaRPr lang="ru-RU" sz="1000" dirty="0"/>
          </a:p>
        </p:txBody>
      </p:sp>
      <p:sp>
        <p:nvSpPr>
          <p:cNvPr id="49" name="Стрелка вправо 48"/>
          <p:cNvSpPr/>
          <p:nvPr/>
        </p:nvSpPr>
        <p:spPr>
          <a:xfrm rot="16200000">
            <a:off x="1203624" y="3685849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Стрелка вправо 49"/>
          <p:cNvSpPr/>
          <p:nvPr/>
        </p:nvSpPr>
        <p:spPr>
          <a:xfrm>
            <a:off x="1323568" y="348961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2040299" y="3172067"/>
            <a:ext cx="10358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1,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0.07018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55" name="TextBox 54"/>
          <p:cNvSpPr txBox="1"/>
          <p:nvPr/>
        </p:nvSpPr>
        <p:spPr>
          <a:xfrm>
            <a:off x="885225" y="3676870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6" name="TextBox 55"/>
          <p:cNvSpPr txBox="1"/>
          <p:nvPr/>
        </p:nvSpPr>
        <p:spPr>
          <a:xfrm>
            <a:off x="790855" y="5190838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57" name="Стрелка вправо 56"/>
          <p:cNvSpPr/>
          <p:nvPr/>
        </p:nvSpPr>
        <p:spPr>
          <a:xfrm rot="5400000">
            <a:off x="1195333" y="520827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Стрелка вправо 58"/>
          <p:cNvSpPr/>
          <p:nvPr/>
        </p:nvSpPr>
        <p:spPr>
          <a:xfrm>
            <a:off x="1335126" y="5408375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0" name="Соединительная линия уступом 59"/>
          <p:cNvCxnSpPr>
            <a:stCxn id="53" idx="0"/>
            <a:endCxn id="10" idx="2"/>
          </p:cNvCxnSpPr>
          <p:nvPr/>
        </p:nvCxnSpPr>
        <p:spPr>
          <a:xfrm rot="16200000" flipV="1">
            <a:off x="1765022" y="2378858"/>
            <a:ext cx="540352" cy="1046065"/>
          </a:xfrm>
          <a:prstGeom prst="bentConnector3">
            <a:avLst>
              <a:gd name="adj1" fmla="val 2718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Таблица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932684"/>
              </p:ext>
            </p:extLst>
          </p:nvPr>
        </p:nvGraphicFramePr>
        <p:xfrm>
          <a:off x="1793997" y="5016588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5" name="Стрелка вправо 64"/>
          <p:cNvSpPr/>
          <p:nvPr/>
        </p:nvSpPr>
        <p:spPr>
          <a:xfrm>
            <a:off x="3875395" y="525437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6" name="Таблица 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071186"/>
              </p:ext>
            </p:extLst>
          </p:nvPr>
        </p:nvGraphicFramePr>
        <p:xfrm>
          <a:off x="4572130" y="5308370"/>
          <a:ext cx="1435937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937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</a:t>
                      </a:r>
                      <a:r>
                        <a:rPr lang="en-US" sz="1200" dirty="0" smtClean="0"/>
                        <a:t>, rank}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3525674" y="5887428"/>
            <a:ext cx="12170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структуру</a:t>
            </a:r>
            <a:endParaRPr lang="ru-RU" sz="1000" dirty="0"/>
          </a:p>
        </p:txBody>
      </p:sp>
      <p:sp>
        <p:nvSpPr>
          <p:cNvPr id="68" name="TextBox 67"/>
          <p:cNvSpPr txBox="1"/>
          <p:nvPr/>
        </p:nvSpPr>
        <p:spPr>
          <a:xfrm>
            <a:off x="5029108" y="5630170"/>
            <a:ext cx="7088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структура</a:t>
            </a:r>
            <a:endParaRPr lang="ru-RU" sz="1000" dirty="0"/>
          </a:p>
        </p:txBody>
      </p:sp>
      <p:sp>
        <p:nvSpPr>
          <p:cNvPr id="69" name="Блок-схема: решение 68"/>
          <p:cNvSpPr>
            <a:spLocks noChangeAspect="1"/>
          </p:cNvSpPr>
          <p:nvPr/>
        </p:nvSpPr>
        <p:spPr>
          <a:xfrm>
            <a:off x="6728182" y="494123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Стрелка вправо 69"/>
          <p:cNvSpPr/>
          <p:nvPr/>
        </p:nvSpPr>
        <p:spPr>
          <a:xfrm>
            <a:off x="6081780" y="52529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6730158" y="5334464"/>
            <a:ext cx="10342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Rank &lt; precision</a:t>
            </a:r>
            <a:endParaRPr lang="ru-RU" sz="1000" dirty="0"/>
          </a:p>
        </p:txBody>
      </p:sp>
      <p:sp>
        <p:nvSpPr>
          <p:cNvPr id="72" name="Стрелка вправо 71"/>
          <p:cNvSpPr/>
          <p:nvPr/>
        </p:nvSpPr>
        <p:spPr>
          <a:xfrm rot="16200000">
            <a:off x="6824915" y="4393604"/>
            <a:ext cx="823350" cy="13859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6862141" y="4794657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74" name="Стрелка вправо 73"/>
          <p:cNvSpPr/>
          <p:nvPr/>
        </p:nvSpPr>
        <p:spPr>
          <a:xfrm>
            <a:off x="7953352" y="538256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TextBox 74"/>
          <p:cNvSpPr txBox="1"/>
          <p:nvPr/>
        </p:nvSpPr>
        <p:spPr>
          <a:xfrm>
            <a:off x="7812187" y="5116995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78" name="TextBox 77"/>
          <p:cNvSpPr txBox="1"/>
          <p:nvPr/>
        </p:nvSpPr>
        <p:spPr>
          <a:xfrm>
            <a:off x="8366298" y="4111503"/>
            <a:ext cx="1249060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"request001":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"relevance": [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0,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1.0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2,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0.94737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]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79" name="Соединительная линия уступом 78"/>
          <p:cNvCxnSpPr>
            <a:stCxn id="78" idx="0"/>
          </p:cNvCxnSpPr>
          <p:nvPr/>
        </p:nvCxnSpPr>
        <p:spPr>
          <a:xfrm rot="16200000" flipH="1" flipV="1">
            <a:off x="5279318" y="1552181"/>
            <a:ext cx="1152189" cy="6270831"/>
          </a:xfrm>
          <a:prstGeom prst="bentConnector4">
            <a:avLst>
              <a:gd name="adj1" fmla="val -16273"/>
              <a:gd name="adj2" fmla="val 1002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>
            <a:off x="9670526" y="5240105"/>
            <a:ext cx="88911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3479" y="4368745"/>
            <a:ext cx="1399925" cy="19800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80681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cxnSp>
        <p:nvCxnSpPr>
          <p:cNvPr id="92" name="Соединительная линия уступом 91"/>
          <p:cNvCxnSpPr/>
          <p:nvPr/>
        </p:nvCxnSpPr>
        <p:spPr>
          <a:xfrm rot="10800000">
            <a:off x="692733" y="2782729"/>
            <a:ext cx="9431687" cy="3230052"/>
          </a:xfrm>
          <a:prstGeom prst="bentConnector3">
            <a:avLst>
              <a:gd name="adj1" fmla="val 10010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39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19279</TotalTime>
  <Words>2252</Words>
  <Application>Microsoft Office PowerPoint</Application>
  <PresentationFormat>Широкоэкранный</PresentationFormat>
  <Paragraphs>719</Paragraphs>
  <Slides>39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3" baseType="lpstr">
      <vt:lpstr>Calibri</vt:lpstr>
      <vt:lpstr>Calibri Light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584</cp:revision>
  <dcterms:created xsi:type="dcterms:W3CDTF">2025-10-14T05:54:15Z</dcterms:created>
  <dcterms:modified xsi:type="dcterms:W3CDTF">2026-01-02T17:55:43Z</dcterms:modified>
</cp:coreProperties>
</file>
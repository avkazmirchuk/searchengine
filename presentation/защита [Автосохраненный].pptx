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9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41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97" r:id="rId31"/>
    <p:sldId id="257" r:id="rId32"/>
    <p:sldId id="269" r:id="rId33"/>
    <p:sldId id="289" r:id="rId34"/>
    <p:sldId id="278" r:id="rId35"/>
    <p:sldId id="258" r:id="rId36"/>
    <p:sldId id="276" r:id="rId37"/>
    <p:sldId id="277" r:id="rId38"/>
    <p:sldId id="288" r:id="rId39"/>
    <p:sldId id="263" r:id="rId4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70" userDrawn="1">
          <p15:clr>
            <a:srgbClr val="A4A3A4"/>
          </p15:clr>
        </p15:guide>
        <p15:guide id="2" pos="4656" userDrawn="1">
          <p15:clr>
            <a:srgbClr val="A4A3A4"/>
          </p15:clr>
        </p15:guide>
        <p15:guide id="3" pos="1345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2" autoAdjust="0"/>
    <p:restoredTop sz="96400" autoAdjust="0"/>
  </p:normalViewPr>
  <p:slideViewPr>
    <p:cSldViewPr snapToGrid="0">
      <p:cViewPr varScale="1">
        <p:scale>
          <a:sx n="93" d="100"/>
          <a:sy n="93" d="100"/>
        </p:scale>
        <p:origin x="114" y="408"/>
      </p:cViewPr>
      <p:guideLst>
        <p:guide orient="horz" pos="3770"/>
        <p:guide pos="4656"/>
        <p:guide pos="1345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6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7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8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244952"/>
        <c:axId val="409245736"/>
      </c:barChart>
      <c:catAx>
        <c:axId val="4092449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5736"/>
        <c:crosses val="autoZero"/>
        <c:auto val="1"/>
        <c:lblAlgn val="ctr"/>
        <c:lblOffset val="100"/>
        <c:noMultiLvlLbl val="0"/>
      </c:catAx>
      <c:valAx>
        <c:axId val="4092457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49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246520"/>
        <c:axId val="409248872"/>
      </c:barChart>
      <c:catAx>
        <c:axId val="4092465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8872"/>
        <c:crosses val="autoZero"/>
        <c:auto val="1"/>
        <c:lblAlgn val="ctr"/>
        <c:lblOffset val="100"/>
        <c:noMultiLvlLbl val="0"/>
      </c:catAx>
      <c:valAx>
        <c:axId val="409248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65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2548712"/>
        <c:axId val="408116536"/>
      </c:barChart>
      <c:catAx>
        <c:axId val="402548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116536"/>
        <c:crosses val="autoZero"/>
        <c:auto val="1"/>
        <c:lblAlgn val="ctr"/>
        <c:lblOffset val="100"/>
        <c:noMultiLvlLbl val="0"/>
      </c:catAx>
      <c:valAx>
        <c:axId val="408116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2548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408480"/>
        <c:axId val="409412400"/>
      </c:barChart>
      <c:catAx>
        <c:axId val="4094084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412400"/>
        <c:crosses val="autoZero"/>
        <c:auto val="1"/>
        <c:lblAlgn val="ctr"/>
        <c:lblOffset val="100"/>
        <c:noMultiLvlLbl val="0"/>
      </c:catAx>
      <c:valAx>
        <c:axId val="4094124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408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410440"/>
        <c:axId val="409412008"/>
      </c:barChart>
      <c:catAx>
        <c:axId val="409410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412008"/>
        <c:crosses val="autoZero"/>
        <c:auto val="1"/>
        <c:lblAlgn val="ctr"/>
        <c:lblOffset val="100"/>
        <c:noMultiLvlLbl val="0"/>
      </c:catAx>
      <c:valAx>
        <c:axId val="409412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410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413968"/>
        <c:axId val="409414360"/>
      </c:barChart>
      <c:catAx>
        <c:axId val="409413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414360"/>
        <c:crosses val="autoZero"/>
        <c:auto val="1"/>
        <c:lblAlgn val="ctr"/>
        <c:lblOffset val="100"/>
        <c:noMultiLvlLbl val="0"/>
      </c:catAx>
      <c:valAx>
        <c:axId val="409414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413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414752"/>
        <c:axId val="409408872"/>
      </c:barChart>
      <c:catAx>
        <c:axId val="4094147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408872"/>
        <c:crosses val="autoZero"/>
        <c:auto val="1"/>
        <c:lblAlgn val="ctr"/>
        <c:lblOffset val="100"/>
        <c:noMultiLvlLbl val="0"/>
      </c:catAx>
      <c:valAx>
        <c:axId val="409408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4147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409656"/>
        <c:axId val="409245344"/>
      </c:barChart>
      <c:catAx>
        <c:axId val="4094096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5344"/>
        <c:crosses val="autoZero"/>
        <c:auto val="1"/>
        <c:lblAlgn val="ctr"/>
        <c:lblOffset val="100"/>
        <c:noMultiLvlLbl val="0"/>
      </c:catAx>
      <c:valAx>
        <c:axId val="4092453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4096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241816"/>
        <c:axId val="409246912"/>
      </c:barChart>
      <c:catAx>
        <c:axId val="4092418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6912"/>
        <c:crosses val="autoZero"/>
        <c:auto val="1"/>
        <c:lblAlgn val="ctr"/>
        <c:lblOffset val="100"/>
        <c:noMultiLvlLbl val="0"/>
      </c:catAx>
      <c:valAx>
        <c:axId val="4092469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1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9242208"/>
        <c:axId val="409242992"/>
      </c:barChart>
      <c:catAx>
        <c:axId val="4092422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2992"/>
        <c:crosses val="autoZero"/>
        <c:auto val="1"/>
        <c:lblAlgn val="ctr"/>
        <c:lblOffset val="100"/>
        <c:noMultiLvlLbl val="0"/>
      </c:catAx>
      <c:valAx>
        <c:axId val="409242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92422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2539728"/>
        <c:axId val="470254416"/>
      </c:barChart>
      <c:catAx>
        <c:axId val="402539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254416"/>
        <c:crosses val="autoZero"/>
        <c:auto val="1"/>
        <c:lblAlgn val="ctr"/>
        <c:lblOffset val="100"/>
        <c:noMultiLvlLbl val="0"/>
      </c:catAx>
      <c:valAx>
        <c:axId val="4702544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25397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257944"/>
        <c:axId val="470257160"/>
      </c:barChart>
      <c:catAx>
        <c:axId val="470257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257160"/>
        <c:crosses val="autoZero"/>
        <c:auto val="1"/>
        <c:lblAlgn val="ctr"/>
        <c:lblOffset val="100"/>
        <c:noMultiLvlLbl val="0"/>
      </c:catAx>
      <c:valAx>
        <c:axId val="470257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257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260688"/>
        <c:axId val="470260296"/>
      </c:barChart>
      <c:catAx>
        <c:axId val="4702606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260296"/>
        <c:crosses val="autoZero"/>
        <c:auto val="1"/>
        <c:lblAlgn val="ctr"/>
        <c:lblOffset val="100"/>
        <c:noMultiLvlLbl val="0"/>
      </c:catAx>
      <c:valAx>
        <c:axId val="4702602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2606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256768"/>
        <c:axId val="470255592"/>
      </c:barChart>
      <c:catAx>
        <c:axId val="470256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255592"/>
        <c:crosses val="autoZero"/>
        <c:auto val="1"/>
        <c:lblAlgn val="ctr"/>
        <c:lblOffset val="100"/>
        <c:noMultiLvlLbl val="0"/>
      </c:catAx>
      <c:valAx>
        <c:axId val="4702555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256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0254808"/>
        <c:axId val="470255200"/>
      </c:barChart>
      <c:catAx>
        <c:axId val="4702548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255200"/>
        <c:crosses val="autoZero"/>
        <c:auto val="1"/>
        <c:lblAlgn val="ctr"/>
        <c:lblOffset val="100"/>
        <c:noMultiLvlLbl val="0"/>
      </c:catAx>
      <c:valAx>
        <c:axId val="4702552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02548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2.2783370859700117E-2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1814760"/>
        <c:axId val="401813976"/>
      </c:barChart>
      <c:catAx>
        <c:axId val="4018147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1813976"/>
        <c:crosses val="autoZero"/>
        <c:auto val="1"/>
        <c:lblAlgn val="ctr"/>
        <c:lblOffset val="100"/>
        <c:noMultiLvlLbl val="0"/>
      </c:catAx>
      <c:valAx>
        <c:axId val="4018139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18147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1814368"/>
        <c:axId val="401817896"/>
      </c:barChart>
      <c:catAx>
        <c:axId val="401814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1817896"/>
        <c:crosses val="autoZero"/>
        <c:auto val="1"/>
        <c:lblAlgn val="ctr"/>
        <c:lblOffset val="100"/>
        <c:noMultiLvlLbl val="0"/>
      </c:catAx>
      <c:valAx>
        <c:axId val="401817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18143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01817504"/>
        <c:axId val="401818288"/>
      </c:barChart>
      <c:catAx>
        <c:axId val="4018175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1818288"/>
        <c:crosses val="autoZero"/>
        <c:auto val="1"/>
        <c:lblAlgn val="ctr"/>
        <c:lblOffset val="100"/>
        <c:noMultiLvlLbl val="0"/>
      </c:catAx>
      <c:valAx>
        <c:axId val="401818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18175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02.01.2026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значок выбора документа,</a:t>
            </a:r>
            <a:r>
              <a:rPr lang="ru-RU" baseline="0" dirty="0" smtClean="0"/>
              <a:t> аналогично определению слова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02.01.2026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49.png"/><Relationship Id="rId7" Type="http://schemas.openxmlformats.org/officeDocument/2006/relationships/image" Target="../media/image76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88.png"/><Relationship Id="rId2" Type="http://schemas.openxmlformats.org/officeDocument/2006/relationships/image" Target="../media/image48.png"/><Relationship Id="rId16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98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97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9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10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14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13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09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12.png"/><Relationship Id="rId10" Type="http://schemas.openxmlformats.org/officeDocument/2006/relationships/image" Target="../media/image108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07.png"/><Relationship Id="rId14" Type="http://schemas.openxmlformats.org/officeDocument/2006/relationships/image" Target="../media/image11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5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11" Type="http://schemas.openxmlformats.org/officeDocument/2006/relationships/image" Target="../media/image121.png"/><Relationship Id="rId5" Type="http://schemas.openxmlformats.org/officeDocument/2006/relationships/image" Target="../media/image101.png"/><Relationship Id="rId10" Type="http://schemas.openxmlformats.org/officeDocument/2006/relationships/image" Target="../media/image120.png"/><Relationship Id="rId4" Type="http://schemas.openxmlformats.org/officeDocument/2006/relationships/image" Target="../media/image116.png"/><Relationship Id="rId9" Type="http://schemas.openxmlformats.org/officeDocument/2006/relationships/image" Target="../media/image119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10" Type="http://schemas.openxmlformats.org/officeDocument/2006/relationships/image" Target="../media/image129.png"/><Relationship Id="rId4" Type="http://schemas.openxmlformats.org/officeDocument/2006/relationships/image" Target="../media/image123.png"/><Relationship Id="rId9" Type="http://schemas.openxmlformats.org/officeDocument/2006/relationships/image" Target="../media/image12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7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856" y="1743005"/>
            <a:ext cx="763597" cy="108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-24749" y="2718460"/>
            <a:ext cx="11128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документов</a:t>
            </a:r>
            <a:endParaRPr lang="ru-RU" sz="10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904274" y="2188427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9481" y="1599462"/>
            <a:ext cx="1087948" cy="1538748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572729" y="3565956"/>
            <a:ext cx="1283054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1593659" y="954959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3298" y="1712213"/>
            <a:ext cx="962817" cy="13617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16243" y="2837537"/>
            <a:ext cx="11769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определить слово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4261772" y="2194784"/>
            <a:ext cx="2046562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867002" y="21947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Блок-схема: решение 36"/>
          <p:cNvSpPr>
            <a:spLocks noChangeAspect="1"/>
          </p:cNvSpPr>
          <p:nvPr/>
        </p:nvSpPr>
        <p:spPr>
          <a:xfrm>
            <a:off x="6477140" y="1886449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9" name="Рисунок 3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1115" y="2035814"/>
            <a:ext cx="499936" cy="707088"/>
          </a:xfrm>
          <a:prstGeom prst="rect">
            <a:avLst/>
          </a:prstGeom>
        </p:spPr>
      </p:pic>
      <p:sp>
        <p:nvSpPr>
          <p:cNvPr id="40" name="Стрелка вправо 39"/>
          <p:cNvSpPr/>
          <p:nvPr/>
        </p:nvSpPr>
        <p:spPr>
          <a:xfrm rot="5400000">
            <a:off x="6899202" y="3181571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7070403" y="3064144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5098" y="3265777"/>
            <a:ext cx="763598" cy="1080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20362" y="42132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47" name="Стрелка вправо 46"/>
          <p:cNvSpPr/>
          <p:nvPr/>
        </p:nvSpPr>
        <p:spPr>
          <a:xfrm>
            <a:off x="7709789" y="232531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7581773" y="2091994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49" name="Блок-схема: решение 48"/>
          <p:cNvSpPr>
            <a:spLocks noChangeAspect="1"/>
          </p:cNvSpPr>
          <p:nvPr/>
        </p:nvSpPr>
        <p:spPr>
          <a:xfrm>
            <a:off x="8076291" y="1899714"/>
            <a:ext cx="976238" cy="953024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8284763" y="2024041"/>
            <a:ext cx="580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docID</a:t>
            </a:r>
            <a:r>
              <a:rPr lang="ru-RU" sz="1200" dirty="0" smtClean="0"/>
              <a:t> </a:t>
            </a:r>
            <a:endParaRPr lang="en-US" sz="1200" dirty="0" smtClean="0"/>
          </a:p>
          <a:p>
            <a:r>
              <a:rPr lang="ru-RU" sz="1200" dirty="0" smtClean="0"/>
              <a:t>==</a:t>
            </a:r>
            <a:endParaRPr lang="en-US" sz="1200" dirty="0" smtClean="0"/>
          </a:p>
          <a:p>
            <a:r>
              <a:rPr lang="ru-RU" sz="1200" dirty="0" smtClean="0"/>
              <a:t> </a:t>
            </a:r>
            <a:r>
              <a:rPr lang="en-US" sz="1200" dirty="0" smtClean="0"/>
              <a:t>docID</a:t>
            </a:r>
            <a:endParaRPr lang="ru-RU" sz="1200" dirty="0"/>
          </a:p>
        </p:txBody>
      </p:sp>
      <p:sp>
        <p:nvSpPr>
          <p:cNvPr id="52" name="Стрелка вправо 51"/>
          <p:cNvSpPr/>
          <p:nvPr/>
        </p:nvSpPr>
        <p:spPr>
          <a:xfrm rot="5400000">
            <a:off x="8433237" y="305527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8222631" y="2896246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55" name="Стрелка вправо 54"/>
          <p:cNvSpPr/>
          <p:nvPr/>
        </p:nvSpPr>
        <p:spPr>
          <a:xfrm>
            <a:off x="9164548" y="2305921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9102499" y="2079092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/>
          <p:nvPr/>
        </p:nvCxnSpPr>
        <p:spPr>
          <a:xfrm rot="10800000" flipV="1">
            <a:off x="3901044" y="5575694"/>
            <a:ext cx="7348696" cy="131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Соединительная линия уступом 75"/>
          <p:cNvCxnSpPr>
            <a:endCxn id="14" idx="2"/>
          </p:cNvCxnSpPr>
          <p:nvPr/>
        </p:nvCxnSpPr>
        <p:spPr>
          <a:xfrm rot="5400000" flipH="1" flipV="1">
            <a:off x="2652019" y="4323007"/>
            <a:ext cx="2501713" cy="36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Таблица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7901835"/>
              </p:ext>
            </p:extLst>
          </p:nvPr>
        </p:nvGraphicFramePr>
        <p:xfrm>
          <a:off x="9556153" y="2120286"/>
          <a:ext cx="211529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7652"/>
                <a:gridCol w="1517638"/>
              </a:tblGrid>
              <a:tr h="323165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 </a:t>
                      </a:r>
                      <a:r>
                        <a:rPr lang="ru-RU" sz="1200" dirty="0" smtClean="0"/>
                        <a:t>документа, </a:t>
                      </a:r>
                      <a:r>
                        <a:rPr lang="en-US" sz="1200" dirty="0" smtClean="0"/>
                        <a:t>n}</a:t>
                      </a:r>
                      <a:r>
                        <a:rPr lang="ru-RU" sz="1200" dirty="0" smtClean="0"/>
                        <a:t>…,    </a:t>
                      </a:r>
                    </a:p>
                    <a:p>
                      <a:r>
                        <a:rPr lang="en-US" sz="1200" dirty="0" smtClean="0"/>
                        <a:t>{ID </a:t>
                      </a:r>
                      <a:r>
                        <a:rPr lang="ru-RU" sz="1200" dirty="0" smtClean="0"/>
                        <a:t>документа, </a:t>
                      </a:r>
                      <a:r>
                        <a:rPr lang="en-US" sz="1200" dirty="0" smtClean="0"/>
                        <a:t>1}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2" name="Рисунок 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674" y="4131718"/>
            <a:ext cx="1423164" cy="2012862"/>
          </a:xfrm>
          <a:prstGeom prst="rect">
            <a:avLst/>
          </a:prstGeom>
        </p:spPr>
      </p:pic>
      <p:graphicFrame>
        <p:nvGraphicFramePr>
          <p:cNvPr id="65" name="Таблица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857043"/>
              </p:ext>
            </p:extLst>
          </p:nvPr>
        </p:nvGraphicFramePr>
        <p:xfrm>
          <a:off x="6278704" y="4591502"/>
          <a:ext cx="1883479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6940"/>
                <a:gridCol w="1286539"/>
              </a:tblGrid>
              <a:tr h="198060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 </a:t>
                      </a:r>
                      <a:r>
                        <a:rPr lang="ru-RU" sz="1200" dirty="0" smtClean="0"/>
                        <a:t>документа,</a:t>
                      </a:r>
                      <a:r>
                        <a:rPr lang="ru-RU" sz="1200" baseline="0" dirty="0" smtClean="0"/>
                        <a:t> 1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67" name="Соединительная линия уступом 66"/>
          <p:cNvCxnSpPr/>
          <p:nvPr/>
        </p:nvCxnSpPr>
        <p:spPr>
          <a:xfrm rot="5400000" flipH="1" flipV="1">
            <a:off x="4265817" y="1769631"/>
            <a:ext cx="1071875" cy="707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Соединительная линия уступом 73"/>
          <p:cNvCxnSpPr/>
          <p:nvPr/>
        </p:nvCxnSpPr>
        <p:spPr>
          <a:xfrm rot="10800000" flipV="1">
            <a:off x="1177813" y="1262781"/>
            <a:ext cx="3624294" cy="1196650"/>
          </a:xfrm>
          <a:prstGeom prst="bentConnector3">
            <a:avLst>
              <a:gd name="adj1" fmla="val 9989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753243" y="1968884"/>
            <a:ext cx="11929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документ</a:t>
            </a:r>
            <a:endParaRPr lang="ru-RU" sz="1000" dirty="0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631" y="3231600"/>
            <a:ext cx="763598" cy="1080000"/>
          </a:xfrm>
          <a:prstGeom prst="rect">
            <a:avLst/>
          </a:prstGeom>
        </p:spPr>
      </p:pic>
      <p:graphicFrame>
        <p:nvGraphicFramePr>
          <p:cNvPr id="66" name="Таблица 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084463"/>
              </p:ext>
            </p:extLst>
          </p:nvPr>
        </p:nvGraphicFramePr>
        <p:xfrm>
          <a:off x="8284763" y="4157843"/>
          <a:ext cx="2183238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574"/>
                <a:gridCol w="1477664"/>
              </a:tblGrid>
              <a:tr h="198060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 </a:t>
                      </a:r>
                      <a:r>
                        <a:rPr lang="ru-RU" sz="1200" dirty="0" smtClean="0"/>
                        <a:t>документа,</a:t>
                      </a:r>
                      <a:r>
                        <a:rPr lang="ru-RU" sz="1200" baseline="0" dirty="0" smtClean="0"/>
                        <a:t> </a:t>
                      </a:r>
                      <a:r>
                        <a:rPr lang="en-US" sz="1200" baseline="0" dirty="0" smtClean="0"/>
                        <a:t>n+1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95" name="Соединительная линия уступом 94"/>
          <p:cNvCxnSpPr>
            <a:stCxn id="65" idx="2"/>
          </p:cNvCxnSpPr>
          <p:nvPr/>
        </p:nvCxnSpPr>
        <p:spPr>
          <a:xfrm rot="5400000">
            <a:off x="6848398" y="5237867"/>
            <a:ext cx="744091" cy="1270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66" idx="2"/>
          </p:cNvCxnSpPr>
          <p:nvPr/>
        </p:nvCxnSpPr>
        <p:spPr>
          <a:xfrm rot="5400000">
            <a:off x="8804616" y="5003929"/>
            <a:ext cx="1143532" cy="1270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Соединительная линия уступом 100"/>
          <p:cNvCxnSpPr>
            <a:stCxn id="50" idx="2"/>
          </p:cNvCxnSpPr>
          <p:nvPr/>
        </p:nvCxnSpPr>
        <p:spPr>
          <a:xfrm rot="16200000" flipH="1">
            <a:off x="9432666" y="3758618"/>
            <a:ext cx="2998206" cy="63594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Таблица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986939"/>
              </p:ext>
            </p:extLst>
          </p:nvPr>
        </p:nvGraphicFramePr>
        <p:xfrm>
          <a:off x="4303055" y="1975271"/>
          <a:ext cx="1707327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303"/>
                <a:gridCol w="1119024"/>
              </a:tblGrid>
              <a:tr h="198060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 </a:t>
                      </a:r>
                      <a:r>
                        <a:rPr lang="ru-RU" sz="1200" dirty="0" smtClean="0"/>
                        <a:t>документа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09" name="Рисунок 10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824" y="1234047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</a:t>
            </a:r>
            <a:endParaRPr lang="ru-RU" sz="24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129" y="1582410"/>
            <a:ext cx="763598" cy="108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6469" y="2539299"/>
            <a:ext cx="9589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</a:t>
            </a:r>
            <a:r>
              <a:rPr lang="ru-RU" sz="1000" dirty="0" smtClean="0"/>
              <a:t>запросов</a:t>
            </a:r>
            <a:endParaRPr lang="ru-RU" sz="10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056675" y="1919484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2444" y="2385494"/>
            <a:ext cx="10390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ru-RU" sz="1000" dirty="0" smtClean="0"/>
              <a:t>запрос</a:t>
            </a:r>
            <a:endParaRPr lang="ru-RU" sz="10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2621878" y="196015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5" name="Таблица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9157488"/>
              </p:ext>
            </p:extLst>
          </p:nvPr>
        </p:nvGraphicFramePr>
        <p:xfrm>
          <a:off x="2001067" y="1711494"/>
          <a:ext cx="1773697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273"/>
                <a:gridCol w="592712"/>
                <a:gridCol w="592712"/>
              </a:tblGrid>
              <a:tr h="207585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2539278" y="2385494"/>
            <a:ext cx="55656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запрос</a:t>
            </a:r>
            <a:endParaRPr lang="ru-RU" sz="1000" dirty="0"/>
          </a:p>
        </p:txBody>
      </p:sp>
      <p:sp>
        <p:nvSpPr>
          <p:cNvPr id="18" name="Прямоугольник 17"/>
          <p:cNvSpPr/>
          <p:nvPr/>
        </p:nvSpPr>
        <p:spPr>
          <a:xfrm>
            <a:off x="3978812" y="1391174"/>
            <a:ext cx="1335741" cy="1402837"/>
          </a:xfrm>
          <a:prstGeom prst="rect">
            <a:avLst/>
          </a:pr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/>
          <p:cNvSpPr txBox="1"/>
          <p:nvPr/>
        </p:nvSpPr>
        <p:spPr>
          <a:xfrm>
            <a:off x="4227844" y="1853290"/>
            <a:ext cx="753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слово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155201" y="2860504"/>
            <a:ext cx="9829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слово</a:t>
            </a:r>
            <a:endParaRPr lang="ru-RU" sz="1000" dirty="0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148" y="1768866"/>
            <a:ext cx="499936" cy="707088"/>
          </a:xfrm>
          <a:prstGeom prst="rect">
            <a:avLst/>
          </a:prstGeom>
        </p:spPr>
      </p:pic>
      <p:sp>
        <p:nvSpPr>
          <p:cNvPr id="23" name="Стрелка вправо 22"/>
          <p:cNvSpPr/>
          <p:nvPr/>
        </p:nvSpPr>
        <p:spPr>
          <a:xfrm>
            <a:off x="5538324" y="1935663"/>
            <a:ext cx="882277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24" name="Таблица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13969"/>
              </p:ext>
            </p:extLst>
          </p:nvPr>
        </p:nvGraphicFramePr>
        <p:xfrm>
          <a:off x="5565538" y="1597529"/>
          <a:ext cx="631986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1986"/>
              </a:tblGrid>
              <a:tr h="138645">
                <a:tc>
                  <a:txBody>
                    <a:bodyPr/>
                    <a:lstStyle/>
                    <a:p>
                      <a:r>
                        <a:rPr lang="ru-RU" sz="1200" dirty="0" smtClean="0"/>
                        <a:t>слово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" name="Стрелка вправо 24"/>
          <p:cNvSpPr/>
          <p:nvPr/>
        </p:nvSpPr>
        <p:spPr>
          <a:xfrm>
            <a:off x="7201727" y="19356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26" name="Таблица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185019"/>
              </p:ext>
            </p:extLst>
          </p:nvPr>
        </p:nvGraphicFramePr>
        <p:xfrm>
          <a:off x="7151631" y="1595438"/>
          <a:ext cx="1315942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42"/>
              </a:tblGrid>
              <a:tr h="19806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 </a:t>
                      </a:r>
                      <a:r>
                        <a:rPr lang="ru-RU" sz="1200" dirty="0" smtClean="0"/>
                        <a:t>документа,</a:t>
                      </a:r>
                      <a:r>
                        <a:rPr lang="ru-RU" sz="1200" baseline="0" dirty="0" smtClean="0"/>
                        <a:t> </a:t>
                      </a:r>
                      <a:r>
                        <a:rPr lang="en-US" sz="1200" baseline="0" dirty="0" smtClean="0"/>
                        <a:t>i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7" name="Таблица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8970932"/>
              </p:ext>
            </p:extLst>
          </p:nvPr>
        </p:nvGraphicFramePr>
        <p:xfrm>
          <a:off x="8087979" y="2079379"/>
          <a:ext cx="1651922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0408"/>
                <a:gridCol w="431514"/>
              </a:tblGrid>
              <a:tr h="19806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 </a:t>
                      </a:r>
                      <a:r>
                        <a:rPr lang="ru-RU" sz="1200" dirty="0" smtClean="0"/>
                        <a:t>документа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baseline="0" dirty="0" err="1" smtClean="0"/>
                        <a:t>n+i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9" name="Стрелка вправо 28"/>
          <p:cNvSpPr/>
          <p:nvPr/>
        </p:nvSpPr>
        <p:spPr>
          <a:xfrm rot="5400000">
            <a:off x="8780741" y="5093159"/>
            <a:ext cx="540000" cy="12640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endCxn id="22" idx="2"/>
          </p:cNvCxnSpPr>
          <p:nvPr/>
        </p:nvCxnSpPr>
        <p:spPr>
          <a:xfrm rot="10800000" flipV="1">
            <a:off x="6786116" y="2193592"/>
            <a:ext cx="3653022" cy="282362"/>
          </a:xfrm>
          <a:prstGeom prst="bentConnector4">
            <a:avLst>
              <a:gd name="adj1" fmla="val 173"/>
              <a:gd name="adj2" fmla="val 373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61158" y="2563320"/>
            <a:ext cx="92044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пару</a:t>
            </a:r>
          </a:p>
        </p:txBody>
      </p:sp>
      <p:cxnSp>
        <p:nvCxnSpPr>
          <p:cNvPr id="38" name="Соединительная линия уступом 37"/>
          <p:cNvCxnSpPr>
            <a:endCxn id="20" idx="2"/>
          </p:cNvCxnSpPr>
          <p:nvPr/>
        </p:nvCxnSpPr>
        <p:spPr>
          <a:xfrm rot="10800000" flipV="1">
            <a:off x="4646683" y="2191779"/>
            <a:ext cx="6565801" cy="914946"/>
          </a:xfrm>
          <a:prstGeom prst="bentConnector4">
            <a:avLst>
              <a:gd name="adj1" fmla="val 252"/>
              <a:gd name="adj2" fmla="val 17214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467573" y="2508604"/>
            <a:ext cx="12602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ременная таблица</a:t>
            </a:r>
            <a:endParaRPr lang="ru-RU" sz="1000" dirty="0"/>
          </a:p>
        </p:txBody>
      </p:sp>
      <p:pic>
        <p:nvPicPr>
          <p:cNvPr id="54" name="Рисунок 5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98" y="4578856"/>
            <a:ext cx="763598" cy="1080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820759" y="49488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+</a:t>
            </a:r>
            <a:endParaRPr lang="ru-RU" dirty="0"/>
          </a:p>
        </p:txBody>
      </p:sp>
      <p:graphicFrame>
        <p:nvGraphicFramePr>
          <p:cNvPr id="56" name="Таблица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3696465"/>
              </p:ext>
            </p:extLst>
          </p:nvPr>
        </p:nvGraphicFramePr>
        <p:xfrm>
          <a:off x="2169027" y="5000073"/>
          <a:ext cx="1848169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937"/>
                <a:gridCol w="412232"/>
              </a:tblGrid>
              <a:tr h="19806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 </a:t>
                      </a:r>
                      <a:r>
                        <a:rPr lang="ru-RU" sz="1200" dirty="0" smtClean="0"/>
                        <a:t>документа</a:t>
                      </a:r>
                      <a:r>
                        <a:rPr lang="en-US" sz="1200" dirty="0" smtClean="0"/>
                        <a:t>, n}</a:t>
                      </a:r>
                      <a:endParaRPr lang="ru-RU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2175472" y="5373298"/>
            <a:ext cx="126028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ременная таблица</a:t>
            </a:r>
            <a:endParaRPr lang="ru-RU" sz="1000" dirty="0"/>
          </a:p>
        </p:txBody>
      </p:sp>
      <p:sp>
        <p:nvSpPr>
          <p:cNvPr id="58" name="TextBox 57"/>
          <p:cNvSpPr txBox="1"/>
          <p:nvPr/>
        </p:nvSpPr>
        <p:spPr>
          <a:xfrm>
            <a:off x="913428" y="5556839"/>
            <a:ext cx="12698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</a:t>
            </a:r>
            <a:r>
              <a:rPr lang="ru-RU" sz="1000" dirty="0" smtClean="0"/>
              <a:t>релевантности</a:t>
            </a:r>
            <a:endParaRPr lang="ru-RU" sz="1000" dirty="0"/>
          </a:p>
        </p:txBody>
      </p:sp>
      <p:sp>
        <p:nvSpPr>
          <p:cNvPr id="60" name="Стрелка вправо 59"/>
          <p:cNvSpPr/>
          <p:nvPr/>
        </p:nvSpPr>
        <p:spPr>
          <a:xfrm>
            <a:off x="10042918" y="1982539"/>
            <a:ext cx="1661048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трелка вправо 60"/>
          <p:cNvSpPr/>
          <p:nvPr/>
        </p:nvSpPr>
        <p:spPr>
          <a:xfrm>
            <a:off x="137844" y="4871621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996448" y="5848211"/>
            <a:ext cx="35766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о</a:t>
            </a:r>
            <a:r>
              <a:rPr lang="ru-RU" sz="1000" dirty="0" smtClean="0"/>
              <a:t>пределить максимальную абсолютную релевантность</a:t>
            </a:r>
            <a:r>
              <a:rPr lang="en-US" sz="1000" dirty="0" smtClean="0"/>
              <a:t> (</a:t>
            </a:r>
            <a:r>
              <a:rPr lang="en-US" sz="1000" dirty="0" err="1" smtClean="0"/>
              <a:t>mAR</a:t>
            </a:r>
            <a:r>
              <a:rPr lang="en-US" sz="1000" dirty="0" smtClean="0"/>
              <a:t>)</a:t>
            </a:r>
            <a:endParaRPr lang="ru-RU" sz="1000" dirty="0"/>
          </a:p>
        </p:txBody>
      </p:sp>
      <p:sp>
        <p:nvSpPr>
          <p:cNvPr id="63" name="Стрелка вправо 62"/>
          <p:cNvSpPr/>
          <p:nvPr/>
        </p:nvSpPr>
        <p:spPr>
          <a:xfrm>
            <a:off x="4273707" y="4922362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4" name="Соединительная линия уступом 63"/>
          <p:cNvCxnSpPr/>
          <p:nvPr/>
        </p:nvCxnSpPr>
        <p:spPr>
          <a:xfrm rot="10800000">
            <a:off x="1376744" y="2263399"/>
            <a:ext cx="3266539" cy="2592470"/>
          </a:xfrm>
          <a:prstGeom prst="bentConnector3">
            <a:avLst>
              <a:gd name="adj1" fmla="val 9969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Таблица 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042886"/>
              </p:ext>
            </p:extLst>
          </p:nvPr>
        </p:nvGraphicFramePr>
        <p:xfrm>
          <a:off x="5260557" y="4707082"/>
          <a:ext cx="192772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727"/>
              </a:tblGrid>
              <a:tr h="206602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i / </a:t>
                      </a:r>
                      <a:r>
                        <a:rPr lang="en-US" sz="1200" dirty="0" err="1" smtClean="0"/>
                        <a:t>mAR</a:t>
                      </a:r>
                      <a:r>
                        <a:rPr lang="en-US" sz="1200" dirty="0" smtClean="0"/>
                        <a:t>}, …</a:t>
                      </a:r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k / </a:t>
                      </a:r>
                      <a:r>
                        <a:rPr lang="en-US" sz="1200" dirty="0" err="1" smtClean="0"/>
                        <a:t>mAR</a:t>
                      </a:r>
                      <a:r>
                        <a:rPr lang="en-US" sz="1200" dirty="0" smtClean="0"/>
                        <a:t>}, …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8" name="Стрелка вправо 77"/>
          <p:cNvSpPr/>
          <p:nvPr/>
        </p:nvSpPr>
        <p:spPr>
          <a:xfrm>
            <a:off x="7391400" y="4930031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9490" y="4599949"/>
            <a:ext cx="763598" cy="108000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833374" y="4560699"/>
            <a:ext cx="434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RR</a:t>
            </a:r>
            <a:endParaRPr lang="ru-RU" dirty="0"/>
          </a:p>
        </p:txBody>
      </p:sp>
      <p:sp>
        <p:nvSpPr>
          <p:cNvPr id="84" name="Стрелка вправо 83"/>
          <p:cNvSpPr/>
          <p:nvPr/>
        </p:nvSpPr>
        <p:spPr>
          <a:xfrm>
            <a:off x="9391449" y="4930031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5" name="Рисунок 8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9245" y="4060087"/>
            <a:ext cx="1478458" cy="2091067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4668504" y="5700536"/>
            <a:ext cx="26244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получить относительную релевантность (</a:t>
            </a:r>
            <a:r>
              <a:rPr lang="en-US" sz="1000" dirty="0" smtClean="0"/>
              <a:t>RR</a:t>
            </a:r>
            <a:r>
              <a:rPr lang="ru-RU" sz="1000" dirty="0" smtClean="0"/>
              <a:t>)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570" y="1676853"/>
            <a:ext cx="673989" cy="953261"/>
          </a:xfrm>
          <a:prstGeom prst="rect">
            <a:avLst/>
          </a:prstGeom>
        </p:spPr>
      </p:pic>
      <p:sp>
        <p:nvSpPr>
          <p:cNvPr id="9" name="Стрелка вправо 8"/>
          <p:cNvSpPr/>
          <p:nvPr/>
        </p:nvSpPr>
        <p:spPr>
          <a:xfrm>
            <a:off x="1056675" y="1919484"/>
            <a:ext cx="864455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/>
          <p:cNvSpPr txBox="1"/>
          <p:nvPr/>
        </p:nvSpPr>
        <p:spPr>
          <a:xfrm>
            <a:off x="892444" y="2385494"/>
            <a:ext cx="123944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en-US" sz="1000" dirty="0" smtClean="0"/>
              <a:t>ID </a:t>
            </a:r>
            <a:r>
              <a:rPr lang="ru-RU" sz="1000" dirty="0" smtClean="0"/>
              <a:t>запроса</a:t>
            </a:r>
            <a:endParaRPr lang="ru-RU" sz="10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2621878" y="196015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2539278" y="2385494"/>
            <a:ext cx="7569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</a:t>
            </a:r>
            <a:r>
              <a:rPr lang="ru-RU" sz="1000" dirty="0" smtClean="0"/>
              <a:t>запроса</a:t>
            </a:r>
            <a:endParaRPr lang="ru-RU" sz="1000" dirty="0"/>
          </a:p>
        </p:txBody>
      </p:sp>
      <p:graphicFrame>
        <p:nvGraphicFramePr>
          <p:cNvPr id="13" name="Таблица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11928"/>
              </p:ext>
            </p:extLst>
          </p:nvPr>
        </p:nvGraphicFramePr>
        <p:xfrm>
          <a:off x="2185573" y="1663907"/>
          <a:ext cx="1040512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0512"/>
              </a:tblGrid>
              <a:tr h="138645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ID</a:t>
                      </a:r>
                      <a:r>
                        <a:rPr lang="en-US" sz="1200" baseline="0" dirty="0" smtClean="0"/>
                        <a:t> </a:t>
                      </a:r>
                      <a:r>
                        <a:rPr lang="ru-RU" sz="1200" baseline="0" dirty="0" smtClean="0"/>
                        <a:t>запроса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4" name="Прямоугольник 13"/>
          <p:cNvSpPr/>
          <p:nvPr/>
        </p:nvSpPr>
        <p:spPr>
          <a:xfrm>
            <a:off x="3444558" y="1391174"/>
            <a:ext cx="1335741" cy="1402837"/>
          </a:xfrm>
          <a:prstGeom prst="rect">
            <a:avLst/>
          </a:pr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3015012" y="2875419"/>
            <a:ext cx="28007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одсчитать суммарный ранг ответов</a:t>
            </a:r>
            <a:r>
              <a:rPr lang="en-US" sz="1000" dirty="0" smtClean="0"/>
              <a:t> (sumRANK)</a:t>
            </a:r>
            <a:endParaRPr lang="ru-RU" sz="1000" dirty="0"/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245519"/>
              </p:ext>
            </p:extLst>
          </p:nvPr>
        </p:nvGraphicFramePr>
        <p:xfrm>
          <a:off x="3378816" y="1663907"/>
          <a:ext cx="192772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727"/>
              </a:tblGrid>
              <a:tr h="206602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i}, …</a:t>
                      </a:r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k}, …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9" name="Стрелка вправо 18"/>
          <p:cNvSpPr/>
          <p:nvPr/>
        </p:nvSpPr>
        <p:spPr>
          <a:xfrm>
            <a:off x="5496215" y="197914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5389143" y="167262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sumRANK</a:t>
            </a:r>
            <a:endParaRPr lang="ru-RU" sz="1000" dirty="0"/>
          </a:p>
        </p:txBody>
      </p:sp>
      <p:sp>
        <p:nvSpPr>
          <p:cNvPr id="21" name="Блок-схема: решение 20"/>
          <p:cNvSpPr>
            <a:spLocks noChangeAspect="1"/>
          </p:cNvSpPr>
          <p:nvPr/>
        </p:nvSpPr>
        <p:spPr>
          <a:xfrm>
            <a:off x="6225887" y="1654152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6118058" y="2071041"/>
            <a:ext cx="12923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sumRANK &lt; precision</a:t>
            </a:r>
            <a:endParaRPr lang="ru-RU" sz="1000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7417199" y="209259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7336701" y="1797644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25" name="TextBox 24"/>
          <p:cNvSpPr txBox="1"/>
          <p:nvPr/>
        </p:nvSpPr>
        <p:spPr>
          <a:xfrm>
            <a:off x="7908504" y="1599276"/>
            <a:ext cx="101181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"request003":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"false"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cxnSp>
        <p:nvCxnSpPr>
          <p:cNvPr id="28" name="Соединительная линия уступом 27"/>
          <p:cNvCxnSpPr>
            <a:stCxn id="25" idx="0"/>
          </p:cNvCxnSpPr>
          <p:nvPr/>
        </p:nvCxnSpPr>
        <p:spPr>
          <a:xfrm rot="16200000" flipV="1">
            <a:off x="5615232" y="-1199904"/>
            <a:ext cx="345828" cy="5252532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Соединительная линия уступом 30"/>
          <p:cNvCxnSpPr/>
          <p:nvPr/>
        </p:nvCxnSpPr>
        <p:spPr>
          <a:xfrm rot="10800000" flipV="1">
            <a:off x="1243173" y="1253445"/>
            <a:ext cx="1982912" cy="790420"/>
          </a:xfrm>
          <a:prstGeom prst="bentConnector3">
            <a:avLst>
              <a:gd name="adj1" fmla="val 9974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Стрелка вправо 34"/>
          <p:cNvSpPr/>
          <p:nvPr/>
        </p:nvSpPr>
        <p:spPr>
          <a:xfrm rot="5400000">
            <a:off x="6642351" y="2990775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TextBox 35"/>
          <p:cNvSpPr txBox="1"/>
          <p:nvPr/>
        </p:nvSpPr>
        <p:spPr>
          <a:xfrm>
            <a:off x="6862141" y="2815147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37" name="Стрелка вправо 36"/>
          <p:cNvSpPr/>
          <p:nvPr/>
        </p:nvSpPr>
        <p:spPr>
          <a:xfrm>
            <a:off x="6782144" y="3190872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7202282" y="2650501"/>
            <a:ext cx="10118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"request002":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654381" y="30717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 41"/>
          <p:cNvSpPr/>
          <p:nvPr/>
        </p:nvSpPr>
        <p:spPr>
          <a:xfrm>
            <a:off x="9522064" y="2569449"/>
            <a:ext cx="1335741" cy="1402837"/>
          </a:xfrm>
          <a:prstGeom prst="rect">
            <a:avLst/>
          </a:prstGeom>
          <a:noFill/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9261308" y="3972286"/>
            <a:ext cx="19511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одсчитать количество ответов  </a:t>
            </a:r>
          </a:p>
          <a:p>
            <a:r>
              <a:rPr lang="ru-RU" sz="1000" dirty="0"/>
              <a:t>с</a:t>
            </a:r>
            <a:r>
              <a:rPr lang="ru-RU" sz="1000" dirty="0" smtClean="0"/>
              <a:t> ненулевым рангом (</a:t>
            </a:r>
            <a:r>
              <a:rPr lang="en-US" sz="1000" dirty="0" smtClean="0"/>
              <a:t>count</a:t>
            </a:r>
            <a:r>
              <a:rPr lang="ru-RU" sz="1000" dirty="0" smtClean="0"/>
              <a:t>)</a:t>
            </a:r>
            <a:endParaRPr lang="ru-RU" sz="1000" dirty="0"/>
          </a:p>
        </p:txBody>
      </p:sp>
      <p:graphicFrame>
        <p:nvGraphicFramePr>
          <p:cNvPr id="44" name="Таблица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0556256"/>
              </p:ext>
            </p:extLst>
          </p:nvPr>
        </p:nvGraphicFramePr>
        <p:xfrm>
          <a:off x="9260459" y="2819054"/>
          <a:ext cx="192772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727"/>
              </a:tblGrid>
              <a:tr h="206602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i}, …</a:t>
                      </a:r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k}, …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5" name="Стрелка вправо 44"/>
          <p:cNvSpPr/>
          <p:nvPr/>
        </p:nvSpPr>
        <p:spPr>
          <a:xfrm>
            <a:off x="11339171" y="30613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97564" y="427200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Блок-схема: решение 46"/>
          <p:cNvSpPr>
            <a:spLocks noChangeAspect="1"/>
          </p:cNvSpPr>
          <p:nvPr/>
        </p:nvSpPr>
        <p:spPr>
          <a:xfrm>
            <a:off x="803417" y="3972286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968154" y="4372396"/>
            <a:ext cx="7505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Count == 1</a:t>
            </a:r>
            <a:endParaRPr lang="ru-RU" sz="1000" dirty="0"/>
          </a:p>
        </p:txBody>
      </p:sp>
      <p:sp>
        <p:nvSpPr>
          <p:cNvPr id="49" name="Стрелка вправо 48"/>
          <p:cNvSpPr/>
          <p:nvPr/>
        </p:nvSpPr>
        <p:spPr>
          <a:xfrm rot="16200000">
            <a:off x="1203624" y="3685849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Стрелка вправо 49"/>
          <p:cNvSpPr/>
          <p:nvPr/>
        </p:nvSpPr>
        <p:spPr>
          <a:xfrm>
            <a:off x="1323568" y="348961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2040299" y="3172067"/>
            <a:ext cx="10358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"request002":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1,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0.07018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sp>
        <p:nvSpPr>
          <p:cNvPr id="55" name="TextBox 54"/>
          <p:cNvSpPr txBox="1"/>
          <p:nvPr/>
        </p:nvSpPr>
        <p:spPr>
          <a:xfrm>
            <a:off x="885225" y="3676870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56" name="TextBox 55"/>
          <p:cNvSpPr txBox="1"/>
          <p:nvPr/>
        </p:nvSpPr>
        <p:spPr>
          <a:xfrm>
            <a:off x="790855" y="5190838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57" name="Стрелка вправо 56"/>
          <p:cNvSpPr/>
          <p:nvPr/>
        </p:nvSpPr>
        <p:spPr>
          <a:xfrm rot="5400000">
            <a:off x="1195333" y="5208278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Стрелка вправо 58"/>
          <p:cNvSpPr/>
          <p:nvPr/>
        </p:nvSpPr>
        <p:spPr>
          <a:xfrm>
            <a:off x="1335126" y="5408375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0" name="Соединительная линия уступом 59"/>
          <p:cNvCxnSpPr>
            <a:stCxn id="53" idx="0"/>
            <a:endCxn id="10" idx="2"/>
          </p:cNvCxnSpPr>
          <p:nvPr/>
        </p:nvCxnSpPr>
        <p:spPr>
          <a:xfrm rot="16200000" flipV="1">
            <a:off x="1765022" y="2378858"/>
            <a:ext cx="540352" cy="1046065"/>
          </a:xfrm>
          <a:prstGeom prst="bentConnector3">
            <a:avLst>
              <a:gd name="adj1" fmla="val 2718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4" name="Таблица 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932684"/>
              </p:ext>
            </p:extLst>
          </p:nvPr>
        </p:nvGraphicFramePr>
        <p:xfrm>
          <a:off x="1793997" y="5016588"/>
          <a:ext cx="192772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727"/>
              </a:tblGrid>
              <a:tr h="206602">
                <a:tc>
                  <a:txBody>
                    <a:bodyPr/>
                    <a:lstStyle/>
                    <a:p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i}, …</a:t>
                      </a:r>
                      <a:endParaRPr lang="ru-RU" sz="1200" dirty="0"/>
                    </a:p>
                  </a:txBody>
                  <a:tcPr/>
                </a:tc>
              </a:tr>
              <a:tr h="206602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</a:t>
                      </a:r>
                      <a:r>
                        <a:rPr lang="ru-RU" sz="1200" dirty="0" smtClean="0"/>
                        <a:t> документа</a:t>
                      </a:r>
                      <a:r>
                        <a:rPr lang="en-US" sz="1200" dirty="0" smtClean="0"/>
                        <a:t>, k}, …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5" name="Стрелка вправо 64"/>
          <p:cNvSpPr/>
          <p:nvPr/>
        </p:nvSpPr>
        <p:spPr>
          <a:xfrm>
            <a:off x="3875395" y="525437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6" name="Таблица 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071186"/>
              </p:ext>
            </p:extLst>
          </p:nvPr>
        </p:nvGraphicFramePr>
        <p:xfrm>
          <a:off x="4572130" y="5308370"/>
          <a:ext cx="1435937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937"/>
              </a:tblGrid>
              <a:tr h="19806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{ID </a:t>
                      </a:r>
                      <a:r>
                        <a:rPr lang="ru-RU" sz="1200" dirty="0" smtClean="0"/>
                        <a:t>документа</a:t>
                      </a:r>
                      <a:r>
                        <a:rPr lang="en-US" sz="1200" dirty="0" smtClean="0"/>
                        <a:t>, rank}</a:t>
                      </a:r>
                      <a:endParaRPr lang="ru-RU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3525674" y="5887428"/>
            <a:ext cx="12170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в</a:t>
            </a:r>
            <a:r>
              <a:rPr lang="ru-RU" sz="1000" dirty="0" smtClean="0"/>
              <a:t>ыбрать </a:t>
            </a:r>
            <a:r>
              <a:rPr lang="ru-RU" sz="1000" dirty="0" smtClean="0"/>
              <a:t>структуру</a:t>
            </a:r>
            <a:endParaRPr lang="ru-RU" sz="1000" dirty="0"/>
          </a:p>
        </p:txBody>
      </p:sp>
      <p:sp>
        <p:nvSpPr>
          <p:cNvPr id="68" name="TextBox 67"/>
          <p:cNvSpPr txBox="1"/>
          <p:nvPr/>
        </p:nvSpPr>
        <p:spPr>
          <a:xfrm>
            <a:off x="5029108" y="5630170"/>
            <a:ext cx="7088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структура</a:t>
            </a:r>
            <a:endParaRPr lang="ru-RU" sz="1000" dirty="0"/>
          </a:p>
        </p:txBody>
      </p:sp>
      <p:sp>
        <p:nvSpPr>
          <p:cNvPr id="69" name="Блок-схема: решение 68"/>
          <p:cNvSpPr>
            <a:spLocks noChangeAspect="1"/>
          </p:cNvSpPr>
          <p:nvPr/>
        </p:nvSpPr>
        <p:spPr>
          <a:xfrm>
            <a:off x="6728182" y="4941238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Стрелка вправо 69"/>
          <p:cNvSpPr/>
          <p:nvPr/>
        </p:nvSpPr>
        <p:spPr>
          <a:xfrm>
            <a:off x="6081780" y="52529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6730158" y="5334464"/>
            <a:ext cx="10342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Rank &lt; precision</a:t>
            </a:r>
            <a:endParaRPr lang="ru-RU" sz="1000" dirty="0"/>
          </a:p>
        </p:txBody>
      </p:sp>
      <p:sp>
        <p:nvSpPr>
          <p:cNvPr id="72" name="Стрелка вправо 71"/>
          <p:cNvSpPr/>
          <p:nvPr/>
        </p:nvSpPr>
        <p:spPr>
          <a:xfrm rot="16200000">
            <a:off x="6824915" y="4393604"/>
            <a:ext cx="823350" cy="13859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TextBox 72"/>
          <p:cNvSpPr txBox="1"/>
          <p:nvPr/>
        </p:nvSpPr>
        <p:spPr>
          <a:xfrm>
            <a:off x="6862141" y="4794657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74" name="Стрелка вправо 73"/>
          <p:cNvSpPr/>
          <p:nvPr/>
        </p:nvSpPr>
        <p:spPr>
          <a:xfrm>
            <a:off x="7953352" y="5382567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TextBox 74"/>
          <p:cNvSpPr txBox="1"/>
          <p:nvPr/>
        </p:nvSpPr>
        <p:spPr>
          <a:xfrm>
            <a:off x="7812187" y="5116995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78" name="TextBox 77"/>
          <p:cNvSpPr txBox="1"/>
          <p:nvPr/>
        </p:nvSpPr>
        <p:spPr>
          <a:xfrm>
            <a:off x="8366298" y="4111503"/>
            <a:ext cx="1249060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"answers":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"request001": 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"result": "true",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"relevance": [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0,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1.0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{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"docid": 2,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"rank": 0.94737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 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]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}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  </a:t>
            </a:r>
            <a:r>
              <a:rPr lang="ru-RU" altLang="ru-RU" sz="800" i="1" dirty="0">
                <a:solidFill>
                  <a:srgbClr val="808080"/>
                </a:solidFill>
                <a:latin typeface="JetBrains Mono"/>
              </a:rPr>
              <a:t>...</a:t>
            </a:r>
            <a:br>
              <a:rPr lang="ru-RU" altLang="ru-RU" sz="800" i="1" dirty="0">
                <a:solidFill>
                  <a:srgbClr val="808080"/>
                </a:solidFill>
                <a:latin typeface="JetBrains Mono"/>
              </a:rPr>
            </a:br>
            <a:r>
              <a:rPr lang="ru-RU" altLang="ru-RU" sz="800" i="1" dirty="0" smtClean="0">
                <a:solidFill>
                  <a:srgbClr val="808080"/>
                </a:solidFill>
                <a:latin typeface="JetBrains Mono"/>
              </a:rPr>
              <a:t> }</a:t>
            </a:r>
            <a:endParaRPr lang="ru-RU" sz="800" dirty="0"/>
          </a:p>
        </p:txBody>
      </p:sp>
      <p:cxnSp>
        <p:nvCxnSpPr>
          <p:cNvPr id="79" name="Соединительная линия уступом 78"/>
          <p:cNvCxnSpPr>
            <a:stCxn id="78" idx="0"/>
          </p:cNvCxnSpPr>
          <p:nvPr/>
        </p:nvCxnSpPr>
        <p:spPr>
          <a:xfrm rot="16200000" flipH="1" flipV="1">
            <a:off x="5279318" y="1552181"/>
            <a:ext cx="1152189" cy="6270831"/>
          </a:xfrm>
          <a:prstGeom prst="bentConnector4">
            <a:avLst>
              <a:gd name="adj1" fmla="val -16273"/>
              <a:gd name="adj2" fmla="val 1002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>
            <a:off x="9670526" y="5240105"/>
            <a:ext cx="88911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3" name="Рисунок 8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3479" y="4368745"/>
            <a:ext cx="1399925" cy="198000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80681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cxnSp>
        <p:nvCxnSpPr>
          <p:cNvPr id="92" name="Соединительная линия уступом 91"/>
          <p:cNvCxnSpPr/>
          <p:nvPr/>
        </p:nvCxnSpPr>
        <p:spPr>
          <a:xfrm rot="10800000">
            <a:off x="692733" y="2782729"/>
            <a:ext cx="9431687" cy="3230052"/>
          </a:xfrm>
          <a:prstGeom prst="bentConnector3">
            <a:avLst>
              <a:gd name="adj1" fmla="val 10010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02.01.2026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804879326"/>
              </p:ext>
            </p:extLst>
          </p:nvPr>
        </p:nvGraphicFramePr>
        <p:xfrm>
          <a:off x="1771650" y="2029224"/>
          <a:ext cx="8648700" cy="32882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02.01.2026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37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02.01.2026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02.01.2026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39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19122</TotalTime>
  <Words>2251</Words>
  <Application>Microsoft Office PowerPoint</Application>
  <PresentationFormat>Широкоэкранный</PresentationFormat>
  <Paragraphs>718</Paragraphs>
  <Slides>39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4" baseType="lpstr">
      <vt:lpstr>Arial</vt:lpstr>
      <vt:lpstr>Calibri</vt:lpstr>
      <vt:lpstr>Calibri Light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577</cp:revision>
  <dcterms:created xsi:type="dcterms:W3CDTF">2025-10-14T05:54:15Z</dcterms:created>
  <dcterms:modified xsi:type="dcterms:W3CDTF">2026-01-02T15:17:24Z</dcterms:modified>
</cp:coreProperties>
</file>
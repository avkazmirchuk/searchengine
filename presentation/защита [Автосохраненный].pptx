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2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4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303" r:id="rId10"/>
    <p:sldId id="299" r:id="rId11"/>
    <p:sldId id="301" r:id="rId12"/>
    <p:sldId id="302" r:id="rId13"/>
    <p:sldId id="291" r:id="rId14"/>
    <p:sldId id="279" r:id="rId15"/>
    <p:sldId id="292" r:id="rId16"/>
    <p:sldId id="293" r:id="rId17"/>
    <p:sldId id="280" r:id="rId18"/>
    <p:sldId id="281" r:id="rId19"/>
    <p:sldId id="294" r:id="rId20"/>
    <p:sldId id="295" r:id="rId21"/>
    <p:sldId id="296" r:id="rId22"/>
    <p:sldId id="300" r:id="rId23"/>
    <p:sldId id="298" r:id="rId24"/>
    <p:sldId id="283" r:id="rId25"/>
    <p:sldId id="272" r:id="rId26"/>
    <p:sldId id="259" r:id="rId27"/>
    <p:sldId id="271" r:id="rId28"/>
    <p:sldId id="287" r:id="rId29"/>
    <p:sldId id="285" r:id="rId30"/>
    <p:sldId id="290" r:id="rId31"/>
    <p:sldId id="297" r:id="rId32"/>
    <p:sldId id="257" r:id="rId33"/>
    <p:sldId id="269" r:id="rId34"/>
    <p:sldId id="289" r:id="rId35"/>
    <p:sldId id="278" r:id="rId36"/>
    <p:sldId id="258" r:id="rId37"/>
    <p:sldId id="276" r:id="rId38"/>
    <p:sldId id="277" r:id="rId39"/>
    <p:sldId id="288" r:id="rId40"/>
    <p:sldId id="263" r:id="rId4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6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980" userDrawn="1">
          <p15:clr>
            <a:srgbClr val="A4A3A4"/>
          </p15:clr>
        </p15:guide>
        <p15:guide id="4" orient="horz" pos="84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08"/>
      </p:cViewPr>
      <p:guideLst>
        <p:guide orient="horz" pos="3566"/>
        <p:guide pos="4339"/>
        <p:guide pos="1980"/>
        <p:guide orient="horz" pos="84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31849864"/>
        <c:axId val="24279672"/>
      </c:barChart>
      <c:catAx>
        <c:axId val="331849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79672"/>
        <c:crosses val="autoZero"/>
        <c:auto val="1"/>
        <c:lblAlgn val="ctr"/>
        <c:lblOffset val="100"/>
        <c:noMultiLvlLbl val="0"/>
      </c:catAx>
      <c:valAx>
        <c:axId val="242796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1849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4280848"/>
        <c:axId val="24276536"/>
      </c:barChart>
      <c:catAx>
        <c:axId val="242808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76536"/>
        <c:crosses val="autoZero"/>
        <c:auto val="1"/>
        <c:lblAlgn val="ctr"/>
        <c:lblOffset val="100"/>
        <c:noMultiLvlLbl val="0"/>
      </c:catAx>
      <c:valAx>
        <c:axId val="24276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808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4282808"/>
        <c:axId val="24281240"/>
      </c:barChart>
      <c:catAx>
        <c:axId val="242828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81240"/>
        <c:crosses val="autoZero"/>
        <c:auto val="1"/>
        <c:lblAlgn val="ctr"/>
        <c:lblOffset val="100"/>
        <c:noMultiLvlLbl val="0"/>
      </c:catAx>
      <c:valAx>
        <c:axId val="24281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828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4282024"/>
        <c:axId val="24276144"/>
      </c:barChart>
      <c:catAx>
        <c:axId val="242820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76144"/>
        <c:crosses val="autoZero"/>
        <c:auto val="1"/>
        <c:lblAlgn val="ctr"/>
        <c:lblOffset val="100"/>
        <c:noMultiLvlLbl val="0"/>
      </c:catAx>
      <c:valAx>
        <c:axId val="242761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820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4278104"/>
        <c:axId val="24278496"/>
      </c:barChart>
      <c:catAx>
        <c:axId val="24278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78496"/>
        <c:crosses val="autoZero"/>
        <c:auto val="1"/>
        <c:lblAlgn val="ctr"/>
        <c:lblOffset val="100"/>
        <c:noMultiLvlLbl val="0"/>
      </c:catAx>
      <c:valAx>
        <c:axId val="24278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78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470136"/>
        <c:axId val="478470920"/>
      </c:barChart>
      <c:catAx>
        <c:axId val="4784701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470920"/>
        <c:crosses val="autoZero"/>
        <c:auto val="1"/>
        <c:lblAlgn val="ctr"/>
        <c:lblOffset val="100"/>
        <c:noMultiLvlLbl val="0"/>
      </c:catAx>
      <c:valAx>
        <c:axId val="478470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4701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677216"/>
        <c:axId val="483674864"/>
      </c:barChart>
      <c:catAx>
        <c:axId val="483677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4864"/>
        <c:crosses val="autoZero"/>
        <c:auto val="1"/>
        <c:lblAlgn val="ctr"/>
        <c:lblOffset val="100"/>
        <c:noMultiLvlLbl val="0"/>
      </c:catAx>
      <c:valAx>
        <c:axId val="483674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72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677608"/>
        <c:axId val="483676824"/>
      </c:barChart>
      <c:catAx>
        <c:axId val="483677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6824"/>
        <c:crosses val="autoZero"/>
        <c:auto val="1"/>
        <c:lblAlgn val="ctr"/>
        <c:lblOffset val="100"/>
        <c:noMultiLvlLbl val="0"/>
      </c:catAx>
      <c:valAx>
        <c:axId val="4836768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7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678392"/>
        <c:axId val="483672120"/>
      </c:barChart>
      <c:catAx>
        <c:axId val="4836783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2120"/>
        <c:crosses val="autoZero"/>
        <c:auto val="1"/>
        <c:lblAlgn val="ctr"/>
        <c:lblOffset val="100"/>
        <c:noMultiLvlLbl val="0"/>
      </c:catAx>
      <c:valAx>
        <c:axId val="483672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83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5202424"/>
        <c:axId val="485203600"/>
      </c:barChart>
      <c:catAx>
        <c:axId val="485202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03600"/>
        <c:crosses val="autoZero"/>
        <c:auto val="1"/>
        <c:lblAlgn val="ctr"/>
        <c:lblOffset val="100"/>
        <c:noMultiLvlLbl val="0"/>
      </c:catAx>
      <c:valAx>
        <c:axId val="485203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02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676040"/>
        <c:axId val="24282416"/>
      </c:barChart>
      <c:catAx>
        <c:axId val="483676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4282416"/>
        <c:crosses val="autoZero"/>
        <c:auto val="1"/>
        <c:lblAlgn val="ctr"/>
        <c:lblOffset val="100"/>
        <c:noMultiLvlLbl val="0"/>
      </c:catAx>
      <c:valAx>
        <c:axId val="242824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60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6760216"/>
        <c:axId val="486764528"/>
      </c:barChart>
      <c:catAx>
        <c:axId val="486760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4528"/>
        <c:crosses val="autoZero"/>
        <c:auto val="1"/>
        <c:lblAlgn val="ctr"/>
        <c:lblOffset val="100"/>
        <c:noMultiLvlLbl val="0"/>
      </c:catAx>
      <c:valAx>
        <c:axId val="486764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02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6762568"/>
        <c:axId val="486764920"/>
      </c:barChart>
      <c:catAx>
        <c:axId val="486762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4920"/>
        <c:crosses val="autoZero"/>
        <c:auto val="1"/>
        <c:lblAlgn val="ctr"/>
        <c:lblOffset val="100"/>
        <c:noMultiLvlLbl val="0"/>
      </c:catAx>
      <c:valAx>
        <c:axId val="486764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2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6765704"/>
        <c:axId val="486766488"/>
      </c:barChart>
      <c:catAx>
        <c:axId val="486765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6488"/>
        <c:crosses val="autoZero"/>
        <c:auto val="1"/>
        <c:lblAlgn val="ctr"/>
        <c:lblOffset val="100"/>
        <c:noMultiLvlLbl val="0"/>
      </c:catAx>
      <c:valAx>
        <c:axId val="4867664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5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6766096"/>
        <c:axId val="486763352"/>
      </c:barChart>
      <c:catAx>
        <c:axId val="4867660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3352"/>
        <c:crosses val="autoZero"/>
        <c:auto val="1"/>
        <c:lblAlgn val="ctr"/>
        <c:lblOffset val="100"/>
        <c:noMultiLvlLbl val="0"/>
      </c:catAx>
      <c:valAx>
        <c:axId val="486763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766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2.2783370859700117E-2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3675648"/>
        <c:axId val="483676432"/>
      </c:barChart>
      <c:catAx>
        <c:axId val="483675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6432"/>
        <c:crosses val="autoZero"/>
        <c:auto val="1"/>
        <c:lblAlgn val="ctr"/>
        <c:lblOffset val="100"/>
        <c:noMultiLvlLbl val="0"/>
      </c:catAx>
      <c:valAx>
        <c:axId val="483676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56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6084912"/>
        <c:axId val="485206736"/>
      </c:barChart>
      <c:catAx>
        <c:axId val="486084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5206736"/>
        <c:crosses val="autoZero"/>
        <c:auto val="1"/>
        <c:lblAlgn val="ctr"/>
        <c:lblOffset val="100"/>
        <c:noMultiLvlLbl val="0"/>
      </c:catAx>
      <c:valAx>
        <c:axId val="485206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6084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3679176"/>
        <c:axId val="487219912"/>
      </c:barChart>
      <c:catAx>
        <c:axId val="483679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219912"/>
        <c:crosses val="autoZero"/>
        <c:auto val="1"/>
        <c:lblAlgn val="ctr"/>
        <c:lblOffset val="100"/>
        <c:noMultiLvlLbl val="0"/>
      </c:catAx>
      <c:valAx>
        <c:axId val="487219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3679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05.01.2026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 к пунктам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3118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надписи</a:t>
            </a:r>
            <a:r>
              <a:rPr lang="ru-RU" baseline="0" dirty="0" smtClean="0"/>
              <a:t> к отображениям и условиям.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Нарисовать временную базу пунктиром. Добавить </a:t>
            </a:r>
            <a:r>
              <a:rPr lang="en-US" dirty="0" smtClean="0"/>
              <a:t>ID </a:t>
            </a:r>
            <a:r>
              <a:rPr lang="ru-RU" dirty="0" smtClean="0"/>
              <a:t>запроса к структуре</a:t>
            </a:r>
            <a:r>
              <a:rPr lang="ru-RU" baseline="0" dirty="0" smtClean="0"/>
              <a:t>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r>
              <a:rPr lang="ru-RU" baseline="0" smtClean="0"/>
              <a:t>Проставить номера шагов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05.01.2026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3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52.png"/><Relationship Id="rId9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9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image" Target="../media/image5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9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49.png"/><Relationship Id="rId7" Type="http://schemas.openxmlformats.org/officeDocument/2006/relationships/image" Target="../media/image93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9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10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105.png"/><Relationship Id="rId2" Type="http://schemas.openxmlformats.org/officeDocument/2006/relationships/image" Target="../media/image48.png"/><Relationship Id="rId16" Type="http://schemas.openxmlformats.org/officeDocument/2006/relationships/image" Target="../media/image1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5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14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7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6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9.png"/><Relationship Id="rId10" Type="http://schemas.openxmlformats.org/officeDocument/2006/relationships/image" Target="../media/image125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4.png"/><Relationship Id="rId14" Type="http://schemas.openxmlformats.org/officeDocument/2006/relationships/image" Target="../media/image12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32.png"/><Relationship Id="rId7" Type="http://schemas.openxmlformats.org/officeDocument/2006/relationships/image" Target="../media/image1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11" Type="http://schemas.openxmlformats.org/officeDocument/2006/relationships/image" Target="../media/image138.png"/><Relationship Id="rId5" Type="http://schemas.openxmlformats.org/officeDocument/2006/relationships/image" Target="../media/image118.png"/><Relationship Id="rId10" Type="http://schemas.openxmlformats.org/officeDocument/2006/relationships/image" Target="../media/image137.png"/><Relationship Id="rId4" Type="http://schemas.openxmlformats.org/officeDocument/2006/relationships/image" Target="../media/image133.png"/><Relationship Id="rId9" Type="http://schemas.openxmlformats.org/officeDocument/2006/relationships/image" Target="../media/image1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10" Type="http://schemas.openxmlformats.org/officeDocument/2006/relationships/image" Target="../media/image146.png"/><Relationship Id="rId4" Type="http://schemas.openxmlformats.org/officeDocument/2006/relationships/image" Target="../media/image140.png"/><Relationship Id="rId9" Type="http://schemas.openxmlformats.org/officeDocument/2006/relationships/image" Target="../media/image1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4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55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</a:t>
            </a:r>
            <a:r>
              <a:rPr lang="ru-RU" sz="4000" dirty="0"/>
              <a:t>программы</a:t>
            </a: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90047" y="1936376"/>
            <a:ext cx="55593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1. Чтение файлов документов.</a:t>
            </a:r>
          </a:p>
          <a:p>
            <a:r>
              <a:rPr lang="ru-RU" dirty="0" smtClean="0"/>
              <a:t>2. Формирование базы индекса.</a:t>
            </a:r>
          </a:p>
          <a:p>
            <a:r>
              <a:rPr lang="ru-RU" dirty="0" smtClean="0"/>
              <a:t>3. Формирование базы относительной релевантности.</a:t>
            </a:r>
          </a:p>
          <a:p>
            <a:r>
              <a:rPr lang="ru-RU" dirty="0" smtClean="0"/>
              <a:t>4. Формирование результатов поиска.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8060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37296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95" y="4437515"/>
            <a:ext cx="1080000" cy="1527504"/>
          </a:xfrm>
          <a:prstGeom prst="rect">
            <a:avLst/>
          </a:prstGeom>
        </p:spPr>
      </p:pic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37391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8" name="Группа 7"/>
          <p:cNvGrpSpPr/>
          <p:nvPr/>
        </p:nvGrpSpPr>
        <p:grpSpPr>
          <a:xfrm>
            <a:off x="302781" y="2356783"/>
            <a:ext cx="1289135" cy="1205690"/>
            <a:chOff x="3601352" y="3368517"/>
            <a:chExt cx="1289135" cy="1205690"/>
          </a:xfrm>
        </p:grpSpPr>
        <p:grpSp>
          <p:nvGrpSpPr>
            <p:cNvPr id="66" name="Группа 65"/>
            <p:cNvGrpSpPr/>
            <p:nvPr/>
          </p:nvGrpSpPr>
          <p:grpSpPr>
            <a:xfrm>
              <a:off x="3601352" y="3368517"/>
              <a:ext cx="1289135" cy="1205690"/>
              <a:chOff x="57796" y="1752187"/>
              <a:chExt cx="1289135" cy="1205690"/>
            </a:xfrm>
          </p:grpSpPr>
          <p:sp>
            <p:nvSpPr>
              <p:cNvPr id="90" name="Блок-схема: процесс 89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TextBox 86"/>
              <p:cNvSpPr txBox="1"/>
              <p:nvPr/>
            </p:nvSpPr>
            <p:spPr>
              <a:xfrm>
                <a:off x="57796" y="2557767"/>
                <a:ext cx="12891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документ </a:t>
                </a:r>
              </a:p>
              <a:p>
                <a:r>
                  <a:rPr lang="ru-RU" sz="1000" dirty="0"/>
                  <a:t>и</a:t>
                </a:r>
                <a:r>
                  <a:rPr lang="ru-RU" sz="1000" dirty="0" smtClean="0"/>
                  <a:t>з базы документов</a:t>
                </a:r>
                <a:endParaRPr lang="ru-RU" sz="1000" dirty="0"/>
              </a:p>
            </p:txBody>
          </p:sp>
        </p:grpSp>
        <p:pic>
          <p:nvPicPr>
            <p:cNvPr id="18" name="Рисунок 1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37278" y="3381211"/>
              <a:ext cx="1009031" cy="713420"/>
            </a:xfrm>
            <a:prstGeom prst="rect">
              <a:avLst/>
            </a:prstGeom>
          </p:spPr>
        </p:pic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19" name="Группа 18"/>
          <p:cNvGrpSpPr/>
          <p:nvPr/>
        </p:nvGrpSpPr>
        <p:grpSpPr>
          <a:xfrm>
            <a:off x="5334714" y="2076725"/>
            <a:ext cx="1332000" cy="1332000"/>
            <a:chOff x="3659554" y="3351156"/>
            <a:chExt cx="1332000" cy="1332000"/>
          </a:xfrm>
        </p:grpSpPr>
        <p:grpSp>
          <p:nvGrpSpPr>
            <p:cNvPr id="97" name="Группа 96"/>
            <p:cNvGrpSpPr/>
            <p:nvPr/>
          </p:nvGrpSpPr>
          <p:grpSpPr>
            <a:xfrm>
              <a:off x="3659554" y="3351156"/>
              <a:ext cx="1332000" cy="1332000"/>
              <a:chOff x="7425120" y="1638785"/>
              <a:chExt cx="1332000" cy="1332000"/>
            </a:xfrm>
          </p:grpSpPr>
          <p:sp>
            <p:nvSpPr>
              <p:cNvPr id="99" name="Блок-схема: решение 98"/>
              <p:cNvSpPr>
                <a:spLocks noChangeAspect="1"/>
              </p:cNvSpPr>
              <p:nvPr/>
            </p:nvSpPr>
            <p:spPr>
              <a:xfrm>
                <a:off x="7425120" y="1638785"/>
                <a:ext cx="1332000" cy="1332000"/>
              </a:xfrm>
              <a:prstGeom prst="flowChartDecision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54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TextBox 101"/>
              <p:cNvSpPr txBox="1"/>
              <p:nvPr/>
            </p:nvSpPr>
            <p:spPr>
              <a:xfrm>
                <a:off x="7586140" y="2493826"/>
                <a:ext cx="10294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</a:t>
                </a:r>
                <a:r>
                  <a:rPr lang="en-US" sz="1000" dirty="0" smtClean="0"/>
                  <a:t>“word”</a:t>
                </a:r>
                <a:endParaRPr lang="ru-RU" sz="1000" dirty="0"/>
              </a:p>
              <a:p>
                <a:r>
                  <a:rPr lang="ru-RU" sz="1000" dirty="0" smtClean="0"/>
                  <a:t>в базе индекса </a:t>
                </a:r>
              </a:p>
            </p:txBody>
          </p:sp>
        </p:grpSp>
        <p:pic>
          <p:nvPicPr>
            <p:cNvPr id="14" name="Рисунок 13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31511" y="3641915"/>
              <a:ext cx="1008000" cy="712691"/>
            </a:xfrm>
            <a:prstGeom prst="rect">
              <a:avLst/>
            </a:prstGeom>
          </p:spPr>
        </p:pic>
      </p:grpSp>
      <p:grpSp>
        <p:nvGrpSpPr>
          <p:cNvPr id="20" name="Группа 19"/>
          <p:cNvGrpSpPr/>
          <p:nvPr/>
        </p:nvGrpSpPr>
        <p:grpSpPr>
          <a:xfrm>
            <a:off x="7584935" y="2075985"/>
            <a:ext cx="1332000" cy="1409039"/>
            <a:chOff x="3618172" y="3368517"/>
            <a:chExt cx="1332000" cy="1409039"/>
          </a:xfrm>
        </p:grpSpPr>
        <p:grpSp>
          <p:nvGrpSpPr>
            <p:cNvPr id="103" name="Группа 102"/>
            <p:cNvGrpSpPr/>
            <p:nvPr/>
          </p:nvGrpSpPr>
          <p:grpSpPr>
            <a:xfrm>
              <a:off x="3618172" y="3368517"/>
              <a:ext cx="1332000" cy="1409039"/>
              <a:chOff x="7425120" y="1638785"/>
              <a:chExt cx="1332000" cy="1409039"/>
            </a:xfrm>
          </p:grpSpPr>
          <p:sp>
            <p:nvSpPr>
              <p:cNvPr id="104" name="Блок-схема: решение 103"/>
              <p:cNvSpPr>
                <a:spLocks noChangeAspect="1"/>
              </p:cNvSpPr>
              <p:nvPr/>
            </p:nvSpPr>
            <p:spPr>
              <a:xfrm>
                <a:off x="7425120" y="1638785"/>
                <a:ext cx="1332000" cy="1332000"/>
              </a:xfrm>
              <a:prstGeom prst="flowChartDecision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54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TextBox 105"/>
              <p:cNvSpPr txBox="1"/>
              <p:nvPr/>
            </p:nvSpPr>
            <p:spPr>
              <a:xfrm>
                <a:off x="7637510" y="2493826"/>
                <a:ext cx="109196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</a:t>
                </a:r>
                <a:r>
                  <a:rPr lang="en-US" sz="1000" dirty="0"/>
                  <a:t>“ID doc”</a:t>
                </a:r>
                <a:endParaRPr lang="ru-RU" sz="1000" dirty="0"/>
              </a:p>
              <a:p>
                <a:r>
                  <a:rPr lang="ru-RU" sz="1000" dirty="0"/>
                  <a:t>п</a:t>
                </a:r>
                <a:r>
                  <a:rPr lang="ru-RU" sz="1000" dirty="0" smtClean="0"/>
                  <a:t>о </a:t>
                </a:r>
                <a:r>
                  <a:rPr lang="en-US" sz="1000" dirty="0" smtClean="0"/>
                  <a:t>“word” </a:t>
                </a:r>
                <a:r>
                  <a:rPr lang="ru-RU" sz="1000" dirty="0" smtClean="0"/>
                  <a:t>в базе</a:t>
                </a:r>
              </a:p>
              <a:p>
                <a:r>
                  <a:rPr lang="ru-RU" sz="1000" dirty="0" smtClean="0"/>
                  <a:t>индекса </a:t>
                </a:r>
              </a:p>
            </p:txBody>
          </p:sp>
        </p:grpSp>
        <p:pic>
          <p:nvPicPr>
            <p:cNvPr id="38" name="Рисунок 37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3480" y="3662455"/>
              <a:ext cx="1008000" cy="712699"/>
            </a:xfrm>
            <a:prstGeom prst="rect">
              <a:avLst/>
            </a:prstGeom>
          </p:spPr>
        </p:pic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" name="Группа 24"/>
            <p:cNvGrpSpPr/>
            <p:nvPr/>
          </p:nvGrpSpPr>
          <p:grpSpPr>
            <a:xfrm>
              <a:off x="3418147" y="3279032"/>
              <a:ext cx="2114150" cy="612000"/>
              <a:chOff x="10126789" y="1412131"/>
              <a:chExt cx="2114150" cy="612000"/>
            </a:xfrm>
          </p:grpSpPr>
          <p:pic>
            <p:nvPicPr>
              <p:cNvPr id="81" name="Рисунок 80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26789" y="1412131"/>
                <a:ext cx="432706" cy="612000"/>
              </a:xfrm>
              <a:prstGeom prst="rect">
                <a:avLst/>
              </a:prstGeom>
            </p:spPr>
          </p:pic>
          <p:grpSp>
            <p:nvGrpSpPr>
              <p:cNvPr id="71" name="Группа 70"/>
              <p:cNvGrpSpPr/>
              <p:nvPr/>
            </p:nvGrpSpPr>
            <p:grpSpPr>
              <a:xfrm>
                <a:off x="10496387" y="1569256"/>
                <a:ext cx="1744552" cy="288119"/>
                <a:chOff x="3901044" y="3386658"/>
                <a:chExt cx="1136885" cy="277113"/>
              </a:xfrm>
            </p:grpSpPr>
            <p:sp>
              <p:nvSpPr>
                <p:cNvPr id="72" name="Прямоугольник 71"/>
                <p:cNvSpPr/>
                <p:nvPr/>
              </p:nvSpPr>
              <p:spPr>
                <a:xfrm>
                  <a:off x="3901044" y="3401361"/>
                  <a:ext cx="1083709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73" name="TextBox 7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5" name="TextBox 74"/>
                <p:cNvSpPr txBox="1"/>
                <p:nvPr/>
              </p:nvSpPr>
              <p:spPr>
                <a:xfrm>
                  <a:off x="4274613" y="3386658"/>
                  <a:ext cx="76331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{ID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/>
                    <a:t>++N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}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77" name="Прямая соединительная линия 76"/>
                <p:cNvCxnSpPr/>
                <p:nvPr/>
              </p:nvCxnSpPr>
              <p:spPr>
                <a:xfrm>
                  <a:off x="4255468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0759"/>
            <a:ext cx="2736000" cy="1080535"/>
            <a:chOff x="8047264" y="3812134"/>
            <a:chExt cx="2736000" cy="1080535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812134"/>
              <a:ext cx="2702790" cy="1052216"/>
              <a:chOff x="8070359" y="3812134"/>
              <a:chExt cx="2702790" cy="1052216"/>
            </a:xfrm>
          </p:grpSpPr>
          <p:grpSp>
            <p:nvGrpSpPr>
              <p:cNvPr id="34" name="Группа 33"/>
              <p:cNvGrpSpPr/>
              <p:nvPr/>
            </p:nvGrpSpPr>
            <p:grpSpPr>
              <a:xfrm>
                <a:off x="8072881" y="3812134"/>
                <a:ext cx="2700268" cy="612000"/>
                <a:chOff x="7973527" y="4150359"/>
                <a:chExt cx="2700268" cy="612000"/>
              </a:xfrm>
            </p:grpSpPr>
            <p:pic>
              <p:nvPicPr>
                <p:cNvPr id="109" name="Рисунок 108"/>
                <p:cNvPicPr>
                  <a:picLocks noChangeAspect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73527" y="4150359"/>
                  <a:ext cx="432709" cy="612000"/>
                </a:xfrm>
                <a:prstGeom prst="rect">
                  <a:avLst/>
                </a:prstGeom>
              </p:spPr>
            </p:pic>
            <p:grpSp>
              <p:nvGrpSpPr>
                <p:cNvPr id="79" name="Группа 78"/>
                <p:cNvGrpSpPr/>
                <p:nvPr/>
              </p:nvGrpSpPr>
              <p:grpSpPr>
                <a:xfrm>
                  <a:off x="8341611" y="4312359"/>
                  <a:ext cx="2332184" cy="288000"/>
                  <a:chOff x="3901044" y="3386772"/>
                  <a:chExt cx="980731" cy="276999"/>
                </a:xfrm>
              </p:grpSpPr>
              <p:sp>
                <p:nvSpPr>
                  <p:cNvPr id="82" name="Прямоугольник 81"/>
                  <p:cNvSpPr/>
                  <p:nvPr/>
                </p:nvSpPr>
                <p:spPr>
                  <a:xfrm>
                    <a:off x="3901044" y="3401361"/>
                    <a:ext cx="935290" cy="252000"/>
                  </a:xfrm>
                  <a:prstGeom prst="rect">
                    <a:avLst/>
                  </a:prstGeom>
                  <a:solidFill>
                    <a:schemeClr val="accent1"/>
                  </a:solidFill>
                </p:spPr>
                <p:style>
                  <a:lnRef idx="2">
                    <a:schemeClr val="l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rgbClr r="0" g="0" b="0"/>
                  </a:fillRef>
                  <a:effectRef idx="0">
                    <a:schemeClr val="accent1">
                      <a:tint val="50000"/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>
                      <a:hueOff val="0"/>
                      <a:satOff val="0"/>
                      <a:lumOff val="0"/>
                      <a:alphaOff val="0"/>
                    </a:schemeClr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3901044" y="3386772"/>
                    <a:ext cx="51815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word</a:t>
                    </a:r>
                    <a:endParaRPr lang="ru-RU" sz="1200" b="1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84" name="TextBox 83"/>
                  <p:cNvSpPr txBox="1"/>
                  <p:nvPr/>
                </p:nvSpPr>
                <p:spPr>
                  <a:xfrm>
                    <a:off x="4138951" y="3387436"/>
                    <a:ext cx="742824" cy="26641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b="1" dirty="0">
                        <a:solidFill>
                          <a:schemeClr val="bg1"/>
                        </a:solidFill>
                      </a:rPr>
                      <a:t>{</a:t>
                    </a:r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ID doc</a:t>
                    </a:r>
                    <a:r>
                      <a:rPr lang="ru-RU" sz="1200" b="1" dirty="0" smtClean="0">
                        <a:solidFill>
                          <a:schemeClr val="bg1"/>
                        </a:solidFill>
                      </a:rPr>
                      <a:t>, </a:t>
                    </a:r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n}, </a:t>
                    </a:r>
                    <a:r>
                      <a:rPr lang="en-US" sz="1200" b="1" dirty="0" smtClean="0"/>
                      <a:t>{ID doc, 1}</a:t>
                    </a:r>
                    <a:endParaRPr lang="ru-RU" sz="1200" b="1" dirty="0"/>
                  </a:p>
                </p:txBody>
              </p:sp>
              <p:cxnSp>
                <p:nvCxnSpPr>
                  <p:cNvPr id="85" name="Прямая соединительная линия 84"/>
                  <p:cNvCxnSpPr/>
                  <p:nvPr/>
                </p:nvCxnSpPr>
                <p:spPr>
                  <a:xfrm>
                    <a:off x="4125830" y="3400745"/>
                    <a:ext cx="0" cy="252000"/>
                  </a:xfrm>
                  <a:prstGeom prst="line">
                    <a:avLst/>
                  </a:prstGeom>
                  <a:ln w="15875">
                    <a:solidFill>
                      <a:schemeClr val="bg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45" name="Рисунок 44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5187" y="3738539"/>
              <a:ext cx="432000" cy="611001"/>
            </a:xfrm>
            <a:prstGeom prst="rect">
              <a:avLst/>
            </a:prstGeom>
          </p:spPr>
        </p:pic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5690" y="1878992"/>
              <a:ext cx="1008000" cy="712698"/>
            </a:xfrm>
            <a:prstGeom prst="rect">
              <a:avLst/>
            </a:prstGeom>
          </p:spPr>
        </p:pic>
        <p:sp>
          <p:nvSpPr>
            <p:cNvPr id="103" name="TextBox 102"/>
            <p:cNvSpPr txBox="1"/>
            <p:nvPr/>
          </p:nvSpPr>
          <p:spPr>
            <a:xfrm>
              <a:off x="7586140" y="2493826"/>
              <a:ext cx="10005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5" name="Рисунок 8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5127" y="3476893"/>
            <a:ext cx="900000" cy="1272921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grpSp>
          <p:nvGrpSpPr>
            <p:cNvPr id="26" name="Группа 25"/>
            <p:cNvGrpSpPr/>
            <p:nvPr/>
          </p:nvGrpSpPr>
          <p:grpSpPr>
            <a:xfrm>
              <a:off x="4581717" y="4683566"/>
              <a:ext cx="1080000" cy="792000"/>
              <a:chOff x="4492549" y="4788138"/>
              <a:chExt cx="1080000" cy="792000"/>
            </a:xfrm>
          </p:grpSpPr>
          <p:sp>
            <p:nvSpPr>
              <p:cNvPr id="115" name="Блок-схема: процесс 114"/>
              <p:cNvSpPr/>
              <p:nvPr/>
            </p:nvSpPr>
            <p:spPr>
              <a:xfrm>
                <a:off x="4492549" y="4788138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114" name="Рисунок 11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03589" y="4800018"/>
                <a:ext cx="1008000" cy="712698"/>
              </a:xfrm>
              <a:prstGeom prst="rect">
                <a:avLst/>
              </a:prstGeom>
            </p:spPr>
          </p:pic>
        </p:grp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grpSp>
          <p:nvGrpSpPr>
            <p:cNvPr id="30" name="Группа 29"/>
            <p:cNvGrpSpPr/>
            <p:nvPr/>
          </p:nvGrpSpPr>
          <p:grpSpPr>
            <a:xfrm>
              <a:off x="87571" y="1752187"/>
              <a:ext cx="1080000" cy="792000"/>
              <a:chOff x="128868" y="1827400"/>
              <a:chExt cx="1080000" cy="792000"/>
            </a:xfrm>
          </p:grpSpPr>
          <p:sp>
            <p:nvSpPr>
              <p:cNvPr id="49" name="Блок-схема: процесс 48"/>
              <p:cNvSpPr/>
              <p:nvPr/>
            </p:nvSpPr>
            <p:spPr>
              <a:xfrm>
                <a:off x="128868" y="1827400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16" name="Рисунок 15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0048" y="1841887"/>
                <a:ext cx="1008000" cy="712691"/>
              </a:xfrm>
              <a:prstGeom prst="rect">
                <a:avLst/>
              </a:prstGeom>
            </p:spPr>
          </p:pic>
        </p:grp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97" name="Рисунок 19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5690" y="1878992"/>
              <a:ext cx="1008000" cy="712698"/>
            </a:xfrm>
            <a:prstGeom prst="rect">
              <a:avLst/>
            </a:prstGeom>
          </p:spPr>
        </p:pic>
        <p:sp>
          <p:nvSpPr>
            <p:cNvPr id="198" name="TextBox 197"/>
            <p:cNvSpPr txBox="1"/>
            <p:nvPr/>
          </p:nvSpPr>
          <p:spPr>
            <a:xfrm>
              <a:off x="7586140" y="2493826"/>
              <a:ext cx="10005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546091" y="4909273"/>
                <a:ext cx="1591422" cy="716089"/>
                <a:chOff x="9688883" y="3163833"/>
                <a:chExt cx="1591422" cy="716089"/>
              </a:xfrm>
            </p:grpSpPr>
            <p:pic>
              <p:nvPicPr>
                <p:cNvPr id="200" name="Рисунок 199"/>
                <p:cNvPicPr>
                  <a:picLocks noChangeAspect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88883" y="3268921"/>
                  <a:ext cx="432000" cy="611001"/>
                </a:xfrm>
                <a:prstGeom prst="rect">
                  <a:avLst/>
                </a:prstGeom>
              </p:spPr>
            </p:pic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690684"/>
              <a:ext cx="2461233" cy="1052948"/>
              <a:chOff x="9488296" y="1193881"/>
              <a:chExt cx="2461233" cy="105294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193881"/>
                <a:ext cx="2211359" cy="1052885"/>
                <a:chOff x="9645202" y="1421639"/>
                <a:chExt cx="2291531" cy="1052885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6" name="Группа 35"/>
                <p:cNvGrpSpPr/>
                <p:nvPr/>
              </p:nvGrpSpPr>
              <p:grpSpPr>
                <a:xfrm>
                  <a:off x="9754481" y="1421639"/>
                  <a:ext cx="1567987" cy="611001"/>
                  <a:chOff x="9659419" y="1504725"/>
                  <a:chExt cx="1567987" cy="611001"/>
                </a:xfrm>
              </p:grpSpPr>
              <p:grpSp>
                <p:nvGrpSpPr>
                  <p:cNvPr id="35" name="Группа 34"/>
                  <p:cNvGrpSpPr/>
                  <p:nvPr/>
                </p:nvGrpSpPr>
                <p:grpSpPr>
                  <a:xfrm>
                    <a:off x="10027817" y="1677793"/>
                    <a:ext cx="1199589" cy="277433"/>
                    <a:chOff x="10027817" y="1677793"/>
                    <a:chExt cx="1199589" cy="277433"/>
                  </a:xfrm>
                </p:grpSpPr>
                <p:grpSp>
                  <p:nvGrpSpPr>
                    <p:cNvPr id="122" name="Группа 121"/>
                    <p:cNvGrpSpPr/>
                    <p:nvPr/>
                  </p:nvGrpSpPr>
                  <p:grpSpPr>
                    <a:xfrm>
                      <a:off x="10027817" y="1678227"/>
                      <a:ext cx="1124988" cy="276999"/>
                      <a:chOff x="4158024" y="2850118"/>
                      <a:chExt cx="1188000" cy="276999"/>
                    </a:xfrm>
                  </p:grpSpPr>
                  <p:sp>
                    <p:nvSpPr>
                      <p:cNvPr id="150" name="Прямоугольник 149"/>
                      <p:cNvSpPr/>
                      <p:nvPr/>
                    </p:nvSpPr>
                    <p:spPr>
                      <a:xfrm>
                        <a:off x="4158024" y="2856828"/>
                        <a:ext cx="1188000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51" name="TextBox 150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>
                            <a:solidFill>
                              <a:schemeClr val="bg1"/>
                            </a:solidFill>
                          </a:rPr>
                          <a:t>ID doc</a:t>
                        </a:r>
                        <a:endParaRPr lang="ru-RU" sz="1200" b="1" dirty="0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cxnSp>
                    <p:nvCxnSpPr>
                      <p:cNvPr id="152" name="Прямая соединительная линия 151"/>
                      <p:cNvCxnSpPr/>
                      <p:nvPr/>
                    </p:nvCxnSpPr>
                    <p:spPr>
                      <a:xfrm>
                        <a:off x="4797726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6" name="TextBox 125"/>
                    <p:cNvSpPr txBox="1"/>
                    <p:nvPr/>
                  </p:nvSpPr>
                  <p:spPr>
                    <a:xfrm>
                      <a:off x="10628317" y="1677793"/>
                      <a:ext cx="599089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N</a:t>
                      </a:r>
                      <a:r>
                        <a:rPr lang="en-US" sz="1200" b="1" dirty="0" smtClean="0"/>
                        <a:t> + n</a:t>
                      </a:r>
                      <a:endParaRPr lang="ru-RU" sz="1200" b="1" dirty="0"/>
                    </a:p>
                  </p:txBody>
                </p:sp>
              </p:grpSp>
              <p:pic>
                <p:nvPicPr>
                  <p:cNvPr id="178" name="Рисунок 177"/>
                  <p:cNvPicPr>
                    <a:picLocks noChangeAspect="1"/>
                  </p:cNvPicPr>
                  <p:nvPr/>
                </p:nvPicPr>
                <p:blipFill>
                  <a:blip r:embed="rId1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659419" y="1504725"/>
                    <a:ext cx="432000" cy="611001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9688883" y="3163833"/>
                  <a:ext cx="1591422" cy="674993"/>
                  <a:chOff x="9688883" y="3163833"/>
                  <a:chExt cx="1591422" cy="674993"/>
                </a:xfrm>
              </p:grpSpPr>
              <p:pic>
                <p:nvPicPr>
                  <p:cNvPr id="112" name="Рисунок 111"/>
                  <p:cNvPicPr>
                    <a:picLocks noChangeAspect="1"/>
                  </p:cNvPicPr>
                  <p:nvPr/>
                </p:nvPicPr>
                <p:blipFill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688883" y="3227825"/>
                    <a:ext cx="432000" cy="611001"/>
                  </a:xfrm>
                  <a:prstGeom prst="rect">
                    <a:avLst/>
                  </a:prstGeom>
                </p:spPr>
              </p:pic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18289" y="3493135"/>
            <a:ext cx="1962796" cy="972000"/>
            <a:chOff x="-13219" y="4006835"/>
            <a:chExt cx="1962796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-13219" y="4040326"/>
              <a:ext cx="1962796" cy="896551"/>
              <a:chOff x="115671" y="3498093"/>
              <a:chExt cx="1962796" cy="89655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46" name="Группа 45"/>
              <p:cNvGrpSpPr/>
              <p:nvPr/>
            </p:nvGrpSpPr>
            <p:grpSpPr>
              <a:xfrm>
                <a:off x="115671" y="3498093"/>
                <a:ext cx="1962796" cy="611002"/>
                <a:chOff x="115671" y="3498093"/>
                <a:chExt cx="1962796" cy="611002"/>
              </a:xfrm>
            </p:grpSpPr>
            <p:pic>
              <p:nvPicPr>
                <p:cNvPr id="164" name="Рисунок 163"/>
                <p:cNvPicPr>
                  <a:picLocks noChangeAspect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5671" y="3498093"/>
                  <a:ext cx="432000" cy="611002"/>
                </a:xfrm>
                <a:prstGeom prst="rect">
                  <a:avLst/>
                </a:prstGeom>
              </p:spPr>
            </p:pic>
            <p:grpSp>
              <p:nvGrpSpPr>
                <p:cNvPr id="165" name="Группа 164"/>
                <p:cNvGrpSpPr/>
                <p:nvPr/>
              </p:nvGrpSpPr>
              <p:grpSpPr>
                <a:xfrm>
                  <a:off x="486398" y="3650153"/>
                  <a:ext cx="1592069" cy="288419"/>
                  <a:chOff x="3901044" y="3386772"/>
                  <a:chExt cx="1510974" cy="277402"/>
                </a:xfrm>
              </p:grpSpPr>
              <p:sp>
                <p:nvSpPr>
                  <p:cNvPr id="166" name="Прямоугольник 165"/>
                  <p:cNvSpPr/>
                  <p:nvPr/>
                </p:nvSpPr>
                <p:spPr>
                  <a:xfrm>
                    <a:off x="3901044" y="3401361"/>
                    <a:ext cx="1294871" cy="252000"/>
                  </a:xfrm>
                  <a:prstGeom prst="rect">
                    <a:avLst/>
                  </a:prstGeom>
                  <a:solidFill>
                    <a:schemeClr val="accent1"/>
                  </a:solidFill>
                </p:spPr>
                <p:style>
                  <a:lnRef idx="2">
                    <a:schemeClr val="lt1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rgbClr r="0" g="0" b="0"/>
                  </a:fillRef>
                  <a:effectRef idx="0">
                    <a:schemeClr val="accent1">
                      <a:tint val="50000"/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>
                      <a:hueOff val="0"/>
                      <a:satOff val="0"/>
                      <a:lumOff val="0"/>
                      <a:alphaOff val="0"/>
                    </a:schemeClr>
                  </a:fontRef>
                </p:style>
                <p:txBody>
                  <a:bodyPr rtlCol="0" anchor="ctr"/>
                  <a:lstStyle/>
                  <a:p>
                    <a:pPr algn="ctr"/>
                    <a:endParaRPr lang="ru-RU"/>
                  </a:p>
                </p:txBody>
              </p:sp>
              <p:sp>
                <p:nvSpPr>
                  <p:cNvPr id="167" name="TextBox 166"/>
                  <p:cNvSpPr txBox="1"/>
                  <p:nvPr/>
                </p:nvSpPr>
                <p:spPr>
                  <a:xfrm>
                    <a:off x="3901044" y="3386772"/>
                    <a:ext cx="485944" cy="26641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ID doc</a:t>
                    </a:r>
                    <a:endParaRPr lang="ru-RU" sz="1200" b="1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68" name="TextBox 167"/>
                  <p:cNvSpPr txBox="1"/>
                  <p:nvPr/>
                </p:nvSpPr>
                <p:spPr>
                  <a:xfrm>
                    <a:off x="4471854" y="3387175"/>
                    <a:ext cx="940164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ru-RU" sz="1200" b="1" dirty="0" smtClean="0"/>
                      <a:t> </a:t>
                    </a:r>
                    <a:r>
                      <a:rPr lang="en-US" sz="1200" b="1" dirty="0" smtClean="0"/>
                      <a:t>/ mAR</a:t>
                    </a:r>
                    <a:endParaRPr lang="ru-RU" sz="1200" b="1" dirty="0"/>
                  </a:p>
                </p:txBody>
              </p:sp>
              <p:cxnSp>
                <p:nvCxnSpPr>
                  <p:cNvPr id="169" name="Прямая соединительная линия 168"/>
                  <p:cNvCxnSpPr/>
                  <p:nvPr/>
                </p:nvCxnSpPr>
                <p:spPr>
                  <a:xfrm>
                    <a:off x="4451853" y="3400745"/>
                    <a:ext cx="0" cy="252000"/>
                  </a:xfrm>
                  <a:prstGeom prst="line">
                    <a:avLst/>
                  </a:prstGeom>
                  <a:ln w="15875">
                    <a:solidFill>
                      <a:schemeClr val="bg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</a:t>
              </a:r>
              <a:r>
                <a:rPr lang="ru-RU" sz="1000" dirty="0" smtClean="0"/>
                <a:t>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211965" y="5567845"/>
              <a:ext cx="600091" cy="442980"/>
              <a:chOff x="943413" y="6143551"/>
              <a:chExt cx="600091" cy="442980"/>
            </a:xfrm>
          </p:grpSpPr>
          <p:pic>
            <p:nvPicPr>
              <p:cNvPr id="81" name="Рисунок 80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43413" y="6165701"/>
                <a:ext cx="431632" cy="420830"/>
              </a:xfrm>
              <a:prstGeom prst="rect">
                <a:avLst/>
              </a:prstGeom>
            </p:spPr>
          </p:pic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13909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</a:t>
            </a:r>
            <a:r>
              <a:rPr lang="ru-RU" sz="1000" dirty="0" smtClean="0"/>
              <a:t>релевантности 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125" name="Рисунок 1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7954" y="1742913"/>
            <a:ext cx="1008000" cy="712692"/>
          </a:xfrm>
          <a:prstGeom prst="rect">
            <a:avLst/>
          </a:prstGeom>
        </p:spPr>
      </p:pic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</a:t>
            </a:r>
            <a:r>
              <a:rPr lang="ru-RU" sz="1000" dirty="0" smtClean="0"/>
              <a:t>текущего запроса </a:t>
            </a:r>
            <a:r>
              <a:rPr lang="ru-RU" sz="1000" dirty="0" smtClean="0"/>
              <a:t>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1418"/>
            <a:ext cx="1889878" cy="1589753"/>
            <a:chOff x="3440185" y="1648693"/>
            <a:chExt cx="1889878" cy="1589753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pic>
          <p:nvPicPr>
            <p:cNvPr id="34" name="Рисунок 3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05603" y="1648693"/>
              <a:ext cx="432706" cy="612000"/>
            </a:xfrm>
            <a:prstGeom prst="rect">
              <a:avLst/>
            </a:prstGeom>
          </p:spPr>
        </p:pic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58" name="Рисунок 5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7725" y="4801739"/>
              <a:ext cx="1008000" cy="712698"/>
            </a:xfrm>
            <a:prstGeom prst="rect">
              <a:avLst/>
            </a:prstGeom>
          </p:spPr>
        </p:pic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9" name="Группа 8"/>
          <p:cNvGrpSpPr/>
          <p:nvPr/>
        </p:nvGrpSpPr>
        <p:grpSpPr>
          <a:xfrm>
            <a:off x="321007" y="2265190"/>
            <a:ext cx="1268296" cy="1212075"/>
            <a:chOff x="1301464" y="3213113"/>
            <a:chExt cx="1268296" cy="1212075"/>
          </a:xfrm>
        </p:grpSpPr>
        <p:grpSp>
          <p:nvGrpSpPr>
            <p:cNvPr id="103" name="Группа 102"/>
            <p:cNvGrpSpPr/>
            <p:nvPr/>
          </p:nvGrpSpPr>
          <p:grpSpPr>
            <a:xfrm>
              <a:off x="1301464" y="3219498"/>
              <a:ext cx="1268296" cy="1205690"/>
              <a:chOff x="57796" y="1752187"/>
              <a:chExt cx="1268296" cy="1205690"/>
            </a:xfrm>
          </p:grpSpPr>
          <p:sp>
            <p:nvSpPr>
              <p:cNvPr id="106" name="Блок-схема: процесс 105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TextBox 104"/>
              <p:cNvSpPr txBox="1"/>
              <p:nvPr/>
            </p:nvSpPr>
            <p:spPr>
              <a:xfrm>
                <a:off x="57796" y="2557767"/>
                <a:ext cx="1268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</a:t>
                </a:r>
                <a:r>
                  <a:rPr lang="ru-RU" sz="1000" dirty="0"/>
                  <a:t>а</a:t>
                </a:r>
                <a:r>
                  <a:rPr lang="ru-RU" sz="1000" dirty="0" smtClean="0"/>
                  <a:t> </a:t>
                </a:r>
              </a:p>
              <a:p>
                <a:r>
                  <a:rPr lang="ru-RU" sz="1000" dirty="0"/>
                  <a:t>и</a:t>
                </a:r>
                <a:r>
                  <a:rPr lang="ru-RU" sz="1000" dirty="0" smtClean="0"/>
                  <a:t>з базы ответов</a:t>
                </a:r>
                <a:endParaRPr lang="ru-RU" sz="1000" dirty="0"/>
              </a:p>
            </p:txBody>
          </p:sp>
        </p:grpSp>
        <p:pic>
          <p:nvPicPr>
            <p:cNvPr id="15" name="Рисунок 1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4208" y="3213113"/>
              <a:ext cx="1008000" cy="712698"/>
            </a:xfrm>
            <a:prstGeom prst="rect">
              <a:avLst/>
            </a:prstGeom>
          </p:spPr>
        </p:pic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96" name="Рисунок 95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59752" y="2213712"/>
                <a:ext cx="432706" cy="612000"/>
              </a:xfrm>
              <a:prstGeom prst="rect">
                <a:avLst/>
              </a:prstGeom>
            </p:spPr>
          </p:pic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04879326"/>
              </p:ext>
            </p:extLst>
          </p:nvPr>
        </p:nvGraphicFramePr>
        <p:xfrm>
          <a:off x="1771650" y="2029224"/>
          <a:ext cx="8648700" cy="3288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40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21004</TotalTime>
  <Words>2554</Words>
  <Application>Microsoft Office PowerPoint</Application>
  <PresentationFormat>Широкоэкранный</PresentationFormat>
  <Paragraphs>819</Paragraphs>
  <Slides>40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715</cp:revision>
  <dcterms:created xsi:type="dcterms:W3CDTF">2025-10-14T05:54:15Z</dcterms:created>
  <dcterms:modified xsi:type="dcterms:W3CDTF">2026-01-05T18:52:00Z</dcterms:modified>
</cp:coreProperties>
</file>
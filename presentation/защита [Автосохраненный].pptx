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1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2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42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303" r:id="rId10"/>
    <p:sldId id="299" r:id="rId11"/>
    <p:sldId id="301" r:id="rId12"/>
    <p:sldId id="302" r:id="rId13"/>
    <p:sldId id="291" r:id="rId14"/>
    <p:sldId id="279" r:id="rId15"/>
    <p:sldId id="292" r:id="rId16"/>
    <p:sldId id="293" r:id="rId17"/>
    <p:sldId id="280" r:id="rId18"/>
    <p:sldId id="281" r:id="rId19"/>
    <p:sldId id="294" r:id="rId20"/>
    <p:sldId id="295" r:id="rId21"/>
    <p:sldId id="296" r:id="rId22"/>
    <p:sldId id="300" r:id="rId23"/>
    <p:sldId id="298" r:id="rId24"/>
    <p:sldId id="283" r:id="rId25"/>
    <p:sldId id="272" r:id="rId26"/>
    <p:sldId id="259" r:id="rId27"/>
    <p:sldId id="271" r:id="rId28"/>
    <p:sldId id="287" r:id="rId29"/>
    <p:sldId id="285" r:id="rId30"/>
    <p:sldId id="290" r:id="rId31"/>
    <p:sldId id="297" r:id="rId32"/>
    <p:sldId id="257" r:id="rId33"/>
    <p:sldId id="269" r:id="rId34"/>
    <p:sldId id="289" r:id="rId35"/>
    <p:sldId id="278" r:id="rId36"/>
    <p:sldId id="258" r:id="rId37"/>
    <p:sldId id="276" r:id="rId38"/>
    <p:sldId id="277" r:id="rId39"/>
    <p:sldId id="288" r:id="rId40"/>
    <p:sldId id="263" r:id="rId4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770" userDrawn="1">
          <p15:clr>
            <a:srgbClr val="A4A3A4"/>
          </p15:clr>
        </p15:guide>
        <p15:guide id="2" pos="4656" userDrawn="1">
          <p15:clr>
            <a:srgbClr val="A4A3A4"/>
          </p15:clr>
        </p15:guide>
        <p15:guide id="3" pos="1345" userDrawn="1">
          <p15:clr>
            <a:srgbClr val="A4A3A4"/>
          </p15:clr>
        </p15:guide>
        <p15:guide id="4" orient="horz" pos="179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12" autoAdjust="0"/>
    <p:restoredTop sz="96400" autoAdjust="0"/>
  </p:normalViewPr>
  <p:slideViewPr>
    <p:cSldViewPr snapToGrid="0">
      <p:cViewPr varScale="1">
        <p:scale>
          <a:sx n="93" d="100"/>
          <a:sy n="93" d="100"/>
        </p:scale>
        <p:origin x="114" y="408"/>
      </p:cViewPr>
      <p:guideLst>
        <p:guide orient="horz" pos="3770"/>
        <p:guide pos="4656"/>
        <p:guide pos="1345"/>
        <p:guide orient="horz" pos="179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6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7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8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31219192"/>
        <c:axId val="331219584"/>
      </c:barChart>
      <c:catAx>
        <c:axId val="3312191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31219584"/>
        <c:crosses val="autoZero"/>
        <c:auto val="1"/>
        <c:lblAlgn val="ctr"/>
        <c:lblOffset val="100"/>
        <c:noMultiLvlLbl val="0"/>
      </c:catAx>
      <c:valAx>
        <c:axId val="331219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312191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818619894735381E-3"/>
                  <c:y val="7.3806072401600325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86594731214154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907275479454601E-3"/>
                  <c:y val="1.9758081399462033E-2"/>
                </c:manualLayout>
              </c:layout>
              <c:tx>
                <c:rich>
                  <a:bodyPr/>
                  <a:lstStyle/>
                  <a:p>
                    <a:fld id="{9CD5091D-5C4C-4259-8716-D3BBB64CBD3D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(0,378)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2767570720326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31221936"/>
        <c:axId val="331222328"/>
      </c:barChart>
      <c:catAx>
        <c:axId val="3312219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31222328"/>
        <c:crosses val="autoZero"/>
        <c:auto val="1"/>
        <c:lblAlgn val="ctr"/>
        <c:lblOffset val="100"/>
        <c:noMultiLvlLbl val="0"/>
      </c:catAx>
      <c:valAx>
        <c:axId val="3312223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312219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38E-3"/>
                  <c:y val="1.6548839244075662E-2"/>
                </c:manualLayout>
              </c:layout>
              <c:tx>
                <c:rich>
                  <a:bodyPr/>
                  <a:lstStyle/>
                  <a:p>
                    <a:fld id="{6A320D31-3F99-4F68-823D-66A3A26BC4C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60918147830990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3049005479089651E-3"/>
                  <c:y val="2.6142275078724072E-2"/>
                </c:manualLayout>
              </c:layout>
              <c:tx>
                <c:rich>
                  <a:bodyPr/>
                  <a:lstStyle/>
                  <a:p>
                    <a:fld id="{D2D0D791-12B8-4838-9964-87FCB6B9E0A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(0,653)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111545075433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31215272"/>
        <c:axId val="331215664"/>
      </c:barChart>
      <c:catAx>
        <c:axId val="3312152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31215664"/>
        <c:crosses val="autoZero"/>
        <c:auto val="1"/>
        <c:lblAlgn val="ctr"/>
        <c:lblOffset val="100"/>
        <c:noMultiLvlLbl val="0"/>
      </c:catAx>
      <c:valAx>
        <c:axId val="331215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312152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9569302204905E-2"/>
                  <c:y val="7.4366491834306579E-3"/>
                </c:manualLayout>
              </c:layout>
              <c:tx>
                <c:rich>
                  <a:bodyPr/>
                  <a:lstStyle/>
                  <a:p>
                    <a:fld id="{6877D898-7D52-4495-882D-03A97BA591F0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4138899008516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130551491569175E-3"/>
                  <c:y val="2.1533440189474985E-2"/>
                </c:manualLayout>
              </c:layout>
              <c:tx>
                <c:rich>
                  <a:bodyPr/>
                  <a:lstStyle/>
                  <a:p>
                    <a:fld id="{7E7207FD-8380-4417-BFFD-C98A4E535B1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(1,335)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0014151803262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3229288"/>
        <c:axId val="473233208"/>
      </c:barChart>
      <c:catAx>
        <c:axId val="4732292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233208"/>
        <c:crosses val="autoZero"/>
        <c:auto val="1"/>
        <c:lblAlgn val="ctr"/>
        <c:lblOffset val="100"/>
        <c:noMultiLvlLbl val="0"/>
      </c:catAx>
      <c:valAx>
        <c:axId val="4732332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2292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5214798677125392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1239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3230464"/>
        <c:axId val="473230856"/>
      </c:barChart>
      <c:catAx>
        <c:axId val="4732304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230856"/>
        <c:crosses val="autoZero"/>
        <c:auto val="1"/>
        <c:lblAlgn val="ctr"/>
        <c:lblOffset val="100"/>
        <c:noMultiLvlLbl val="0"/>
      </c:catAx>
      <c:valAx>
        <c:axId val="4732308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2304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2.593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3231640"/>
        <c:axId val="473226152"/>
      </c:barChart>
      <c:catAx>
        <c:axId val="4732316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226152"/>
        <c:crosses val="autoZero"/>
        <c:auto val="1"/>
        <c:lblAlgn val="ctr"/>
        <c:lblOffset val="100"/>
        <c:noMultiLvlLbl val="0"/>
      </c:catAx>
      <c:valAx>
        <c:axId val="473226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2316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4.9580000000000002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3232032"/>
        <c:axId val="473232424"/>
      </c:barChart>
      <c:catAx>
        <c:axId val="4732320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232424"/>
        <c:crosses val="autoZero"/>
        <c:auto val="1"/>
        <c:lblAlgn val="ctr"/>
        <c:lblOffset val="100"/>
        <c:noMultiLvlLbl val="0"/>
      </c:catAx>
      <c:valAx>
        <c:axId val="4732324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2320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7.5490000000000004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3228112"/>
        <c:axId val="473232816"/>
      </c:barChart>
      <c:catAx>
        <c:axId val="473228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232816"/>
        <c:crosses val="autoZero"/>
        <c:auto val="1"/>
        <c:lblAlgn val="ctr"/>
        <c:lblOffset val="100"/>
        <c:noMultiLvlLbl val="0"/>
      </c:catAx>
      <c:valAx>
        <c:axId val="473232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2281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4684287812040577E-3"/>
                  <c:y val="-1.3905343717188479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3226936"/>
        <c:axId val="473227328"/>
      </c:barChart>
      <c:catAx>
        <c:axId val="4732269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227328"/>
        <c:crosses val="autoZero"/>
        <c:auto val="1"/>
        <c:lblAlgn val="ctr"/>
        <c:lblOffset val="100"/>
        <c:noMultiLvlLbl val="0"/>
      </c:catAx>
      <c:valAx>
        <c:axId val="4732273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2269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8056488"/>
        <c:axId val="478061192"/>
      </c:barChart>
      <c:catAx>
        <c:axId val="4780564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061192"/>
        <c:crosses val="autoZero"/>
        <c:auto val="1"/>
        <c:lblAlgn val="ctr"/>
        <c:lblOffset val="100"/>
        <c:noMultiLvlLbl val="0"/>
      </c:catAx>
      <c:valAx>
        <c:axId val="478061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0564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305039787798344E-3"/>
                  <c:y val="3.07263910806818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60477453580901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8056096"/>
        <c:axId val="478062760"/>
      </c:barChart>
      <c:catAx>
        <c:axId val="4780560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062760"/>
        <c:crosses val="autoZero"/>
        <c:auto val="1"/>
        <c:lblAlgn val="ctr"/>
        <c:lblOffset val="100"/>
        <c:noMultiLvlLbl val="0"/>
      </c:catAx>
      <c:valAx>
        <c:axId val="478062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0560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8057272"/>
        <c:axId val="478057664"/>
      </c:barChart>
      <c:catAx>
        <c:axId val="4780572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057664"/>
        <c:crosses val="autoZero"/>
        <c:auto val="1"/>
        <c:lblAlgn val="ctr"/>
        <c:lblOffset val="100"/>
        <c:noMultiLvlLbl val="0"/>
      </c:catAx>
      <c:valAx>
        <c:axId val="478057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0572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(2,983)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4.8639999999999999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(2,866)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4.8540000000000001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8058448"/>
        <c:axId val="478060408"/>
      </c:barChart>
      <c:catAx>
        <c:axId val="4780584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060408"/>
        <c:crosses val="autoZero"/>
        <c:auto val="1"/>
        <c:lblAlgn val="ctr"/>
        <c:lblOffset val="100"/>
        <c:noMultiLvlLbl val="0"/>
      </c:catAx>
      <c:valAx>
        <c:axId val="4780604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0584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(5,664)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9.2799999999999994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5409E-3"/>
                  <c:y val="3.9894623084597472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(5,589)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787798408488062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9.4440000000000008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8058840"/>
        <c:axId val="478059624"/>
      </c:barChart>
      <c:catAx>
        <c:axId val="4780588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059624"/>
        <c:crosses val="autoZero"/>
        <c:auto val="1"/>
        <c:lblAlgn val="ctr"/>
        <c:lblOffset val="100"/>
        <c:noMultiLvlLbl val="0"/>
      </c:catAx>
      <c:valAx>
        <c:axId val="478059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0588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(8,655)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13.791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(8,404)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13.92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8060800"/>
        <c:axId val="478061584"/>
      </c:barChart>
      <c:catAx>
        <c:axId val="4780608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061584"/>
        <c:crosses val="autoZero"/>
        <c:auto val="1"/>
        <c:lblAlgn val="ctr"/>
        <c:lblOffset val="100"/>
        <c:noMultiLvlLbl val="0"/>
      </c:catAx>
      <c:valAx>
        <c:axId val="47806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0608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2.2783370859700117E-2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293328"/>
        <c:axId val="480186240"/>
      </c:barChart>
      <c:catAx>
        <c:axId val="4802933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0186240"/>
        <c:crosses val="autoZero"/>
        <c:auto val="1"/>
        <c:lblAlgn val="ctr"/>
        <c:lblOffset val="100"/>
        <c:noMultiLvlLbl val="0"/>
      </c:catAx>
      <c:valAx>
        <c:axId val="4801862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02933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чтение текстовых файлов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81551320"/>
        <c:axId val="481552104"/>
      </c:barChart>
      <c:catAx>
        <c:axId val="4815513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552104"/>
        <c:crosses val="autoZero"/>
        <c:auto val="1"/>
        <c:lblAlgn val="ctr"/>
        <c:lblOffset val="100"/>
        <c:noMultiLvlLbl val="0"/>
      </c:catAx>
      <c:valAx>
        <c:axId val="4815521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5513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формирование базы индекса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 (из базы документов)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(с чтением документов)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2.9820000000000002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несколько потоков (из файлов)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2.8820000000000001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81548968"/>
        <c:axId val="481556808"/>
      </c:barChart>
      <c:catAx>
        <c:axId val="4815489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556808"/>
        <c:crosses val="autoZero"/>
        <c:auto val="1"/>
        <c:lblAlgn val="ctr"/>
        <c:lblOffset val="100"/>
        <c:noMultiLvlLbl val="0"/>
      </c:catAx>
      <c:valAx>
        <c:axId val="4815568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5489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04.01.2026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к значку диспетчера </a:t>
            </a:r>
            <a:r>
              <a:rPr lang="ru-RU" baseline="0" dirty="0" err="1" smtClean="0"/>
              <a:t>логирование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Заменить значок функции в диспетчере на множество файлов и документов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картинки к пунктам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31182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надписи</a:t>
            </a:r>
            <a:r>
              <a:rPr lang="ru-RU" baseline="0" dirty="0" smtClean="0"/>
              <a:t> к отображениям и условиям. Проставить номера шагов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763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Нарисовать временную базу пунктиром. Добавить </a:t>
            </a:r>
            <a:r>
              <a:rPr lang="en-US" dirty="0" smtClean="0"/>
              <a:t>ID </a:t>
            </a:r>
            <a:r>
              <a:rPr lang="ru-RU" dirty="0" smtClean="0"/>
              <a:t>запроса к структуре</a:t>
            </a:r>
            <a:r>
              <a:rPr lang="ru-RU" baseline="0" dirty="0" smtClean="0"/>
              <a:t>. Проставить номера шагов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7946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. </a:t>
            </a:r>
            <a:r>
              <a:rPr lang="ru-RU" baseline="0" smtClean="0"/>
              <a:t>Проставить номера шагов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44223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Расписать плюсы и минусы. Добавить контейнер соответствия на входе операции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снимок консоли и лога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записи: читает множество файлов за раз и последовательно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картинки</a:t>
            </a:r>
            <a:r>
              <a:rPr lang="ru-RU" baseline="0" dirty="0" smtClean="0"/>
              <a:t> лога, консоли</a:t>
            </a:r>
            <a:r>
              <a:rPr lang="ru-RU" baseline="0" smtClean="0"/>
              <a:t>, ответов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03337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Указать, количество потоков в которых происходит работа.</a:t>
            </a:r>
            <a:r>
              <a:rPr lang="ru-RU" baseline="0" dirty="0" smtClean="0"/>
              <a:t> Количество документов. Слов в документе. 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903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04.01.2026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04.01.2026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04.01.2026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04.01.2026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04.01.2026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04.01.2026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04.01.2026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04.01.2026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04.01.2026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04.01.2026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3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31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30.png"/><Relationship Id="rId1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30.png"/><Relationship Id="rId18" Type="http://schemas.openxmlformats.org/officeDocument/2006/relationships/image" Target="../media/image27.png"/><Relationship Id="rId3" Type="http://schemas.openxmlformats.org/officeDocument/2006/relationships/image" Target="../media/image48.png"/><Relationship Id="rId7" Type="http://schemas.openxmlformats.org/officeDocument/2006/relationships/image" Target="../media/image37.png"/><Relationship Id="rId12" Type="http://schemas.openxmlformats.org/officeDocument/2006/relationships/image" Target="../media/image29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11" Type="http://schemas.openxmlformats.org/officeDocument/2006/relationships/image" Target="../media/image55.png"/><Relationship Id="rId5" Type="http://schemas.openxmlformats.org/officeDocument/2006/relationships/image" Target="../media/image50.png"/><Relationship Id="rId15" Type="http://schemas.openxmlformats.org/officeDocument/2006/relationships/image" Target="../media/image42.png"/><Relationship Id="rId10" Type="http://schemas.openxmlformats.org/officeDocument/2006/relationships/image" Target="../media/image54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Relationship Id="rId1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42.png"/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12" Type="http://schemas.openxmlformats.org/officeDocument/2006/relationships/image" Target="../media/image4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30.png"/><Relationship Id="rId5" Type="http://schemas.openxmlformats.org/officeDocument/2006/relationships/image" Target="../media/image39.png"/><Relationship Id="rId15" Type="http://schemas.openxmlformats.org/officeDocument/2006/relationships/image" Target="../media/image62.png"/><Relationship Id="rId10" Type="http://schemas.openxmlformats.org/officeDocument/2006/relationships/image" Target="../media/image29.png"/><Relationship Id="rId4" Type="http://schemas.openxmlformats.org/officeDocument/2006/relationships/image" Target="../media/image38.png"/><Relationship Id="rId9" Type="http://schemas.openxmlformats.org/officeDocument/2006/relationships/image" Target="../media/image61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1.png"/><Relationship Id="rId18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8.png"/><Relationship Id="rId12" Type="http://schemas.openxmlformats.org/officeDocument/2006/relationships/image" Target="../media/image70.png"/><Relationship Id="rId17" Type="http://schemas.openxmlformats.org/officeDocument/2006/relationships/image" Target="../media/image42.png"/><Relationship Id="rId2" Type="http://schemas.openxmlformats.org/officeDocument/2006/relationships/image" Target="../media/image63.png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5" Type="http://schemas.openxmlformats.org/officeDocument/2006/relationships/image" Target="../media/image30.png"/><Relationship Id="rId10" Type="http://schemas.openxmlformats.org/officeDocument/2006/relationships/image" Target="../media/image28.png"/><Relationship Id="rId19" Type="http://schemas.openxmlformats.org/officeDocument/2006/relationships/image" Target="../media/image27.png"/><Relationship Id="rId4" Type="http://schemas.openxmlformats.org/officeDocument/2006/relationships/image" Target="../media/image48.png"/><Relationship Id="rId9" Type="http://schemas.openxmlformats.org/officeDocument/2006/relationships/image" Target="../media/image68.pn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3.pn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5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58.png"/><Relationship Id="rId7" Type="http://schemas.openxmlformats.org/officeDocument/2006/relationships/image" Target="../media/image8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11" Type="http://schemas.openxmlformats.org/officeDocument/2006/relationships/image" Target="../media/image85.png"/><Relationship Id="rId5" Type="http://schemas.openxmlformats.org/officeDocument/2006/relationships/image" Target="../media/image79.png"/><Relationship Id="rId10" Type="http://schemas.openxmlformats.org/officeDocument/2006/relationships/image" Target="../media/image84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86.pn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.png"/><Relationship Id="rId5" Type="http://schemas.openxmlformats.org/officeDocument/2006/relationships/image" Target="../media/image870.png"/><Relationship Id="rId4" Type="http://schemas.openxmlformats.org/officeDocument/2006/relationships/image" Target="../media/image8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94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49.png"/><Relationship Id="rId7" Type="http://schemas.openxmlformats.org/officeDocument/2006/relationships/image" Target="../media/image91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7" Type="http://schemas.openxmlformats.org/officeDocument/2006/relationships/image" Target="../media/image95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10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56.png"/><Relationship Id="rId1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44.png"/><Relationship Id="rId17" Type="http://schemas.openxmlformats.org/officeDocument/2006/relationships/image" Target="../media/image103.png"/><Relationship Id="rId2" Type="http://schemas.openxmlformats.org/officeDocument/2006/relationships/image" Target="../media/image48.png"/><Relationship Id="rId16" Type="http://schemas.openxmlformats.org/officeDocument/2006/relationships/image" Target="../media/image10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1" Type="http://schemas.openxmlformats.org/officeDocument/2006/relationships/image" Target="../media/image42.png"/><Relationship Id="rId5" Type="http://schemas.openxmlformats.org/officeDocument/2006/relationships/image" Target="../media/image37.png"/><Relationship Id="rId15" Type="http://schemas.openxmlformats.org/officeDocument/2006/relationships/image" Target="../media/image27.png"/><Relationship Id="rId10" Type="http://schemas.openxmlformats.org/officeDocument/2006/relationships/image" Target="../media/image41.png"/><Relationship Id="rId4" Type="http://schemas.openxmlformats.org/officeDocument/2006/relationships/image" Target="../media/image51.png"/><Relationship Id="rId9" Type="http://schemas.openxmlformats.org/officeDocument/2006/relationships/image" Target="../media/image30.png"/><Relationship Id="rId14" Type="http://schemas.openxmlformats.org/officeDocument/2006/relationships/image" Target="../media/image5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04.png"/><Relationship Id="rId7" Type="http://schemas.openxmlformats.org/officeDocument/2006/relationships/image" Target="../media/image10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113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12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11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8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.png"/><Relationship Id="rId13" Type="http://schemas.openxmlformats.org/officeDocument/2006/relationships/image" Target="../media/image125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53.png"/><Relationship Id="rId17" Type="http://schemas.openxmlformats.org/officeDocument/2006/relationships/image" Target="../media/image129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128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24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3" Type="http://schemas.openxmlformats.org/officeDocument/2006/relationships/image" Target="../media/image130.png"/><Relationship Id="rId7" Type="http://schemas.openxmlformats.org/officeDocument/2006/relationships/image" Target="../media/image1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4.png"/><Relationship Id="rId11" Type="http://schemas.openxmlformats.org/officeDocument/2006/relationships/image" Target="../media/image136.png"/><Relationship Id="rId5" Type="http://schemas.openxmlformats.org/officeDocument/2006/relationships/image" Target="../media/image116.png"/><Relationship Id="rId10" Type="http://schemas.openxmlformats.org/officeDocument/2006/relationships/image" Target="../media/image135.png"/><Relationship Id="rId4" Type="http://schemas.openxmlformats.org/officeDocument/2006/relationships/image" Target="../media/image131.png"/><Relationship Id="rId9" Type="http://schemas.openxmlformats.org/officeDocument/2006/relationships/image" Target="../media/image134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3" Type="http://schemas.openxmlformats.org/officeDocument/2006/relationships/image" Target="../media/image137.png"/><Relationship Id="rId7" Type="http://schemas.openxmlformats.org/officeDocument/2006/relationships/image" Target="../media/image14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0.png"/><Relationship Id="rId5" Type="http://schemas.openxmlformats.org/officeDocument/2006/relationships/image" Target="../media/image139.png"/><Relationship Id="rId10" Type="http://schemas.openxmlformats.org/officeDocument/2006/relationships/image" Target="../media/image144.png"/><Relationship Id="rId4" Type="http://schemas.openxmlformats.org/officeDocument/2006/relationships/image" Target="../media/image138.png"/><Relationship Id="rId9" Type="http://schemas.openxmlformats.org/officeDocument/2006/relationships/image" Target="../media/image1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2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4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53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5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57859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5946581"/>
            <a:ext cx="1540875" cy="81787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5661694"/>
            <a:ext cx="1415007" cy="828211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717" y="2846285"/>
            <a:ext cx="163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72" y="2895415"/>
            <a:ext cx="636330" cy="90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373" y="2887472"/>
            <a:ext cx="636330" cy="90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2887162"/>
            <a:ext cx="636330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746" y="2887163"/>
            <a:ext cx="636330" cy="9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04.01.2026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91650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18" name="Рисунок 1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770" y="1998534"/>
            <a:ext cx="763598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078" y="1993941"/>
            <a:ext cx="763597" cy="108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52" y="1995094"/>
            <a:ext cx="763597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159" y="1998534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31332"/>
            <a:ext cx="381798" cy="54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</a:t>
            </a:r>
            <a:r>
              <a:rPr lang="ru-RU" sz="4000" dirty="0"/>
              <a:t>программы</a:t>
            </a:r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90047" y="1936376"/>
            <a:ext cx="55593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1. Чтение файлов документов.</a:t>
            </a:r>
          </a:p>
          <a:p>
            <a:r>
              <a:rPr lang="ru-RU" dirty="0" smtClean="0"/>
              <a:t>2. Формирование базы индекса.</a:t>
            </a:r>
          </a:p>
          <a:p>
            <a:r>
              <a:rPr lang="ru-RU" dirty="0" smtClean="0"/>
              <a:t>3. Формирование базы относительной релевантности.</a:t>
            </a:r>
          </a:p>
          <a:p>
            <a:r>
              <a:rPr lang="ru-RU" dirty="0" smtClean="0"/>
              <a:t>4. Формирование результатов поиска.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68060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459075" y="2207798"/>
            <a:ext cx="90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6079" y="1488784"/>
            <a:ext cx="540000" cy="763753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 rot="5400000">
            <a:off x="263292" y="3351415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1593659" y="954959"/>
            <a:ext cx="27093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определены (документ закончился)</a:t>
            </a:r>
            <a:endParaRPr lang="ru-RU" sz="1000" dirty="0"/>
          </a:p>
        </p:txBody>
      </p:sp>
      <p:sp>
        <p:nvSpPr>
          <p:cNvPr id="15" name="TextBox 14"/>
          <p:cNvSpPr txBox="1"/>
          <p:nvPr/>
        </p:nvSpPr>
        <p:spPr>
          <a:xfrm>
            <a:off x="2582516" y="2707699"/>
            <a:ext cx="9829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выбрать слово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3719353" y="2239699"/>
            <a:ext cx="19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Блок-схема: решение 36"/>
          <p:cNvSpPr>
            <a:spLocks noChangeAspect="1"/>
          </p:cNvSpPr>
          <p:nvPr/>
        </p:nvSpPr>
        <p:spPr>
          <a:xfrm>
            <a:off x="5943781" y="1804496"/>
            <a:ext cx="1332000" cy="1332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Стрелка вправо 39"/>
          <p:cNvSpPr/>
          <p:nvPr/>
        </p:nvSpPr>
        <p:spPr>
          <a:xfrm rot="5400000">
            <a:off x="6436898" y="3288849"/>
            <a:ext cx="360000" cy="180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679456" y="3064748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лово</a:t>
            </a:r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037" y="3368517"/>
            <a:ext cx="763598" cy="1080000"/>
          </a:xfrm>
          <a:prstGeom prst="rect">
            <a:avLst/>
          </a:prstGeom>
        </p:spPr>
      </p:pic>
      <p:sp>
        <p:nvSpPr>
          <p:cNvPr id="47" name="Стрелка вправо 46"/>
          <p:cNvSpPr/>
          <p:nvPr/>
        </p:nvSpPr>
        <p:spPr>
          <a:xfrm>
            <a:off x="7381020" y="2376682"/>
            <a:ext cx="540000" cy="180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7221685" y="2010866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слово</a:t>
            </a:r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49" name="Блок-схема: решение 48"/>
          <p:cNvSpPr>
            <a:spLocks noChangeAspect="1"/>
          </p:cNvSpPr>
          <p:nvPr/>
        </p:nvSpPr>
        <p:spPr>
          <a:xfrm>
            <a:off x="8045469" y="1796973"/>
            <a:ext cx="1332000" cy="1332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Стрелка вправо 51"/>
          <p:cNvSpPr/>
          <p:nvPr/>
        </p:nvSpPr>
        <p:spPr>
          <a:xfrm rot="5400000">
            <a:off x="8545258" y="3288849"/>
            <a:ext cx="360000" cy="180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9238051" y="194060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д</a:t>
            </a:r>
            <a:r>
              <a:rPr lang="ru-RU" sz="1000" dirty="0" smtClean="0"/>
              <a:t>окумент</a:t>
            </a:r>
          </a:p>
          <a:p>
            <a:r>
              <a:rPr lang="ru-RU" sz="1000" dirty="0" smtClean="0"/>
              <a:t>присутствует</a:t>
            </a:r>
            <a:endParaRPr lang="en-US" sz="1000" dirty="0" smtClean="0"/>
          </a:p>
        </p:txBody>
      </p:sp>
      <p:sp>
        <p:nvSpPr>
          <p:cNvPr id="55" name="Стрелка вправо 54"/>
          <p:cNvSpPr/>
          <p:nvPr/>
        </p:nvSpPr>
        <p:spPr>
          <a:xfrm>
            <a:off x="9513872" y="2305920"/>
            <a:ext cx="540000" cy="180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0" name="Соединительная линия уступом 59"/>
          <p:cNvCxnSpPr/>
          <p:nvPr/>
        </p:nvCxnSpPr>
        <p:spPr>
          <a:xfrm rot="10800000">
            <a:off x="2948359" y="5575693"/>
            <a:ext cx="9031308" cy="1643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Соединительная линия уступом 75"/>
          <p:cNvCxnSpPr/>
          <p:nvPr/>
        </p:nvCxnSpPr>
        <p:spPr>
          <a:xfrm rot="5400000" flipH="1" flipV="1">
            <a:off x="1728242" y="4313170"/>
            <a:ext cx="2501713" cy="366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Рисунок 6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74" y="3914805"/>
            <a:ext cx="1423164" cy="2012862"/>
          </a:xfrm>
          <a:prstGeom prst="rect">
            <a:avLst/>
          </a:prstGeom>
        </p:spPr>
      </p:pic>
      <p:cxnSp>
        <p:nvCxnSpPr>
          <p:cNvPr id="67" name="Соединительная линия уступом 66"/>
          <p:cNvCxnSpPr/>
          <p:nvPr/>
        </p:nvCxnSpPr>
        <p:spPr>
          <a:xfrm rot="5400000" flipH="1" flipV="1">
            <a:off x="3234653" y="1774279"/>
            <a:ext cx="1194395" cy="204446"/>
          </a:xfrm>
          <a:prstGeom prst="bentConnector3">
            <a:avLst>
              <a:gd name="adj1" fmla="val 969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Соединительная линия уступом 73"/>
          <p:cNvCxnSpPr>
            <a:endCxn id="18" idx="0"/>
          </p:cNvCxnSpPr>
          <p:nvPr/>
        </p:nvCxnSpPr>
        <p:spPr>
          <a:xfrm rot="10800000" flipV="1">
            <a:off x="833298" y="1279303"/>
            <a:ext cx="3117288" cy="756169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238604" y="2637010"/>
            <a:ext cx="119295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документ</a:t>
            </a:r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6790" y="1412126"/>
            <a:ext cx="763598" cy="1080000"/>
          </a:xfrm>
          <a:prstGeom prst="rect">
            <a:avLst/>
          </a:prstGeom>
        </p:spPr>
      </p:pic>
      <p:cxnSp>
        <p:nvCxnSpPr>
          <p:cNvPr id="95" name="Соединительная линия уступом 94"/>
          <p:cNvCxnSpPr>
            <a:stCxn id="64" idx="2"/>
          </p:cNvCxnSpPr>
          <p:nvPr/>
        </p:nvCxnSpPr>
        <p:spPr>
          <a:xfrm rot="5400000">
            <a:off x="6117530" y="4894747"/>
            <a:ext cx="654280" cy="707610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Соединительная линия уступом 97"/>
          <p:cNvCxnSpPr/>
          <p:nvPr/>
        </p:nvCxnSpPr>
        <p:spPr>
          <a:xfrm rot="16200000" flipH="1">
            <a:off x="8768634" y="4980646"/>
            <a:ext cx="699649" cy="503147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Соединительная линия уступом 100"/>
          <p:cNvCxnSpPr>
            <a:stCxn id="75" idx="2"/>
          </p:cNvCxnSpPr>
          <p:nvPr/>
        </p:nvCxnSpPr>
        <p:spPr>
          <a:xfrm rot="5400000">
            <a:off x="10381214" y="4069209"/>
            <a:ext cx="2993301" cy="1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9" name="Рисунок 10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3459" y="3411001"/>
            <a:ext cx="763598" cy="108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782" y="2035473"/>
            <a:ext cx="1009031" cy="713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4129" y="5606680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индекса</a:t>
            </a:r>
            <a:endParaRPr lang="ru-RU" sz="1000" dirty="0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1551" y="2036669"/>
            <a:ext cx="1008000" cy="7127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48256" y="2064208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grpSp>
        <p:nvGrpSpPr>
          <p:cNvPr id="31" name="Группа 30"/>
          <p:cNvGrpSpPr/>
          <p:nvPr/>
        </p:nvGrpSpPr>
        <p:grpSpPr>
          <a:xfrm>
            <a:off x="4116609" y="2010069"/>
            <a:ext cx="1188000" cy="288000"/>
            <a:chOff x="3901044" y="3386772"/>
            <a:chExt cx="1294871" cy="276999"/>
          </a:xfrm>
        </p:grpSpPr>
        <p:sp>
          <p:nvSpPr>
            <p:cNvPr id="26" name="Прямоугольник 25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01044" y="3386772"/>
              <a:ext cx="5181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word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532529" y="3386772"/>
              <a:ext cx="590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ID doc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Прямая соединительная линия 29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7694" y="2099462"/>
            <a:ext cx="1008000" cy="712691"/>
          </a:xfrm>
          <a:prstGeom prst="rect">
            <a:avLst/>
          </a:prstGeom>
        </p:spPr>
      </p:pic>
      <p:grpSp>
        <p:nvGrpSpPr>
          <p:cNvPr id="63" name="Группа 62"/>
          <p:cNvGrpSpPr/>
          <p:nvPr/>
        </p:nvGrpSpPr>
        <p:grpSpPr>
          <a:xfrm>
            <a:off x="6012102" y="4644236"/>
            <a:ext cx="1908918" cy="288000"/>
            <a:chOff x="3901044" y="3386772"/>
            <a:chExt cx="1571648" cy="276999"/>
          </a:xfrm>
        </p:grpSpPr>
        <p:sp>
          <p:nvSpPr>
            <p:cNvPr id="64" name="Прямоугольник 63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3901044" y="3386772"/>
              <a:ext cx="49688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4532528" y="3386772"/>
              <a:ext cx="9401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/>
                <a:t>{ID doc</a:t>
              </a:r>
              <a:r>
                <a:rPr lang="ru-RU" sz="1200" b="1" dirty="0" smtClean="0"/>
                <a:t>, 1</a:t>
              </a:r>
              <a:r>
                <a:rPr lang="en-US" sz="1200" b="1" dirty="0" smtClean="0"/>
                <a:t>}</a:t>
              </a:r>
              <a:endParaRPr lang="ru-RU" sz="1200" b="1" dirty="0"/>
            </a:p>
          </p:txBody>
        </p:sp>
        <p:cxnSp>
          <p:nvCxnSpPr>
            <p:cNvPr id="70" name="Прямая соединительная линия 69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 32"/>
          <p:cNvSpPr/>
          <p:nvPr/>
        </p:nvSpPr>
        <p:spPr>
          <a:xfrm>
            <a:off x="6409624" y="4057165"/>
            <a:ext cx="439543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0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ru-RU" sz="4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71" name="Группа 70"/>
          <p:cNvGrpSpPr/>
          <p:nvPr/>
        </p:nvGrpSpPr>
        <p:grpSpPr>
          <a:xfrm>
            <a:off x="10194747" y="2284559"/>
            <a:ext cx="2401369" cy="288000"/>
            <a:chOff x="3901044" y="3386772"/>
            <a:chExt cx="1571648" cy="276999"/>
          </a:xfrm>
        </p:grpSpPr>
        <p:sp>
          <p:nvSpPr>
            <p:cNvPr id="72" name="Прямоугольник 71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3901044" y="3386772"/>
              <a:ext cx="5181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word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4532528" y="3386772"/>
              <a:ext cx="9401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{ID doc</a:t>
              </a:r>
              <a:r>
                <a:rPr lang="ru-RU" sz="1200" b="1" dirty="0" smtClean="0">
                  <a:solidFill>
                    <a:schemeClr val="bg1"/>
                  </a:solidFill>
                </a:rPr>
                <a:t>, </a:t>
              </a:r>
              <a:r>
                <a:rPr lang="en-US" sz="1200" b="1" dirty="0" smtClean="0"/>
                <a:t>++N</a:t>
              </a:r>
              <a:r>
                <a:rPr lang="en-US" sz="1200" b="1" dirty="0" smtClean="0">
                  <a:solidFill>
                    <a:schemeClr val="bg1"/>
                  </a:solidFill>
                </a:rPr>
                <a:t>}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p:cxnSp>
          <p:nvCxnSpPr>
            <p:cNvPr id="77" name="Прямая соединительная линия 76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TextBox 77"/>
          <p:cNvSpPr txBox="1"/>
          <p:nvPr/>
        </p:nvSpPr>
        <p:spPr>
          <a:xfrm>
            <a:off x="7737718" y="3117062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д</a:t>
            </a:r>
            <a:r>
              <a:rPr lang="ru-RU" sz="1000" dirty="0" smtClean="0"/>
              <a:t>окумент</a:t>
            </a:r>
          </a:p>
          <a:p>
            <a:r>
              <a:rPr lang="ru-RU" sz="1000" dirty="0" smtClean="0"/>
              <a:t>отсутствует</a:t>
            </a:r>
            <a:endParaRPr lang="en-US" sz="1000" dirty="0" smtClean="0"/>
          </a:p>
        </p:txBody>
      </p:sp>
      <p:grpSp>
        <p:nvGrpSpPr>
          <p:cNvPr id="79" name="Группа 78"/>
          <p:cNvGrpSpPr/>
          <p:nvPr/>
        </p:nvGrpSpPr>
        <p:grpSpPr>
          <a:xfrm>
            <a:off x="8444345" y="4312359"/>
            <a:ext cx="3737386" cy="288000"/>
            <a:chOff x="3901044" y="3386772"/>
            <a:chExt cx="1571648" cy="276999"/>
          </a:xfrm>
        </p:grpSpPr>
        <p:sp>
          <p:nvSpPr>
            <p:cNvPr id="82" name="Прямоугольник 81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3901044" y="3386772"/>
              <a:ext cx="5181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word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4532528" y="3386772"/>
              <a:ext cx="940164" cy="1010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</a:rPr>
                <a:t>{</a:t>
              </a:r>
              <a:r>
                <a:rPr lang="en-US" sz="1200" b="1" dirty="0" smtClean="0">
                  <a:solidFill>
                    <a:schemeClr val="bg1"/>
                  </a:solidFill>
                </a:rPr>
                <a:t>ID doc</a:t>
              </a:r>
              <a:r>
                <a:rPr lang="ru-RU" sz="1200" b="1" dirty="0" smtClean="0">
                  <a:solidFill>
                    <a:schemeClr val="bg1"/>
                  </a:solidFill>
                </a:rPr>
                <a:t>, </a:t>
              </a:r>
              <a:r>
                <a:rPr lang="en-US" sz="1200" b="1" dirty="0" smtClean="0">
                  <a:solidFill>
                    <a:schemeClr val="bg1"/>
                  </a:solidFill>
                </a:rPr>
                <a:t>n}, </a:t>
              </a:r>
              <a:r>
                <a:rPr lang="en-US" sz="1200" b="1" dirty="0" smtClean="0"/>
                <a:t>{ID doc, 1}</a:t>
              </a:r>
              <a:endParaRPr lang="ru-RU" sz="1200" b="1" dirty="0"/>
            </a:p>
          </p:txBody>
        </p:sp>
        <p:cxnSp>
          <p:nvCxnSpPr>
            <p:cNvPr id="85" name="Прямая соединительная линия 84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8" name="Рисунок 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3979" y="2092757"/>
            <a:ext cx="1008000" cy="712699"/>
          </a:xfrm>
          <a:prstGeom prst="rect">
            <a:avLst/>
          </a:prstGeom>
        </p:spPr>
      </p:pic>
      <p:sp>
        <p:nvSpPr>
          <p:cNvPr id="59" name="Блок-схема: процесс 58"/>
          <p:cNvSpPr/>
          <p:nvPr/>
        </p:nvSpPr>
        <p:spPr>
          <a:xfrm>
            <a:off x="252448" y="2015001"/>
            <a:ext cx="1296000" cy="1080000"/>
          </a:xfrm>
          <a:prstGeom prst="flowChartProcess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Блок-схема: процесс 88"/>
          <p:cNvSpPr/>
          <p:nvPr/>
        </p:nvSpPr>
        <p:spPr>
          <a:xfrm>
            <a:off x="2471289" y="2045306"/>
            <a:ext cx="1296000" cy="1080000"/>
          </a:xfrm>
          <a:prstGeom prst="flowChartProcess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относительной релевантности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281296" y="1989389"/>
            <a:ext cx="90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3545533" y="2038811"/>
            <a:ext cx="90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5648074" y="2080016"/>
            <a:ext cx="936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Стрелка вправо 28"/>
          <p:cNvSpPr/>
          <p:nvPr/>
        </p:nvSpPr>
        <p:spPr>
          <a:xfrm rot="16200000">
            <a:off x="1794517" y="5591673"/>
            <a:ext cx="540000" cy="12640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Соединительная линия уступом 33"/>
          <p:cNvCxnSpPr>
            <a:stCxn id="221" idx="3"/>
            <a:endCxn id="42" idx="0"/>
          </p:cNvCxnSpPr>
          <p:nvPr/>
        </p:nvCxnSpPr>
        <p:spPr>
          <a:xfrm flipH="1" flipV="1">
            <a:off x="5021492" y="1795930"/>
            <a:ext cx="6224208" cy="961024"/>
          </a:xfrm>
          <a:prstGeom prst="bentConnector4">
            <a:avLst>
              <a:gd name="adj1" fmla="val -3673"/>
              <a:gd name="adj2" fmla="val 12867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Соединительная линия уступом 37"/>
          <p:cNvCxnSpPr>
            <a:stCxn id="25" idx="1"/>
            <a:endCxn id="17" idx="2"/>
          </p:cNvCxnSpPr>
          <p:nvPr/>
        </p:nvCxnSpPr>
        <p:spPr>
          <a:xfrm rot="10800000" flipV="1">
            <a:off x="2807264" y="2314015"/>
            <a:ext cx="2840811" cy="703391"/>
          </a:xfrm>
          <a:prstGeom prst="bentConnector4">
            <a:avLst>
              <a:gd name="adj1" fmla="val -7113"/>
              <a:gd name="adj2" fmla="val 16901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069626" y="5766980"/>
            <a:ext cx="140775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ортировать </a:t>
            </a:r>
            <a:r>
              <a:rPr lang="ru-RU" sz="1000" dirty="0" smtClean="0"/>
              <a:t>базу</a:t>
            </a:r>
          </a:p>
          <a:p>
            <a:r>
              <a:rPr lang="ru-RU" sz="1000" dirty="0" smtClean="0"/>
              <a:t>Ответов </a:t>
            </a:r>
            <a:r>
              <a:rPr lang="ru-RU" sz="1000" dirty="0" smtClean="0"/>
              <a:t>по </a:t>
            </a:r>
            <a:r>
              <a:rPr lang="ru-RU" sz="1000" dirty="0" smtClean="0"/>
              <a:t>убыванию </a:t>
            </a:r>
          </a:p>
          <a:p>
            <a:r>
              <a:rPr lang="ru-RU" sz="1000" dirty="0" smtClean="0"/>
              <a:t>релевантности</a:t>
            </a:r>
            <a:endParaRPr lang="ru-RU" sz="1000" dirty="0"/>
          </a:p>
        </p:txBody>
      </p:sp>
      <p:sp>
        <p:nvSpPr>
          <p:cNvPr id="63" name="Стрелка вправо 62"/>
          <p:cNvSpPr/>
          <p:nvPr/>
        </p:nvSpPr>
        <p:spPr>
          <a:xfrm rot="5400000">
            <a:off x="710489" y="308634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4" name="Соединительная линия уступом 63"/>
          <p:cNvCxnSpPr>
            <a:stCxn id="194" idx="3"/>
            <a:endCxn id="12" idx="2"/>
          </p:cNvCxnSpPr>
          <p:nvPr/>
        </p:nvCxnSpPr>
        <p:spPr>
          <a:xfrm flipH="1" flipV="1">
            <a:off x="625511" y="2800242"/>
            <a:ext cx="6944822" cy="2832608"/>
          </a:xfrm>
          <a:prstGeom prst="bentConnector4">
            <a:avLst>
              <a:gd name="adj1" fmla="val -3292"/>
              <a:gd name="adj2" fmla="val -2333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Стрелка вправо 77"/>
          <p:cNvSpPr/>
          <p:nvPr/>
        </p:nvSpPr>
        <p:spPr>
          <a:xfrm rot="5400000">
            <a:off x="981468" y="46485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8336" y="5083080"/>
            <a:ext cx="763598" cy="10800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851475" y="5074553"/>
            <a:ext cx="434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RR</a:t>
            </a:r>
            <a:endParaRPr lang="ru-RU" dirty="0"/>
          </a:p>
        </p:txBody>
      </p:sp>
      <p:sp>
        <p:nvSpPr>
          <p:cNvPr id="84" name="Стрелка вправо 83"/>
          <p:cNvSpPr/>
          <p:nvPr/>
        </p:nvSpPr>
        <p:spPr>
          <a:xfrm>
            <a:off x="2208184" y="5384877"/>
            <a:ext cx="864455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5" name="Рисунок 8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2833" y="4551280"/>
            <a:ext cx="1478458" cy="209106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9586" y="1311247"/>
            <a:ext cx="540000" cy="76375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398386" y="1890367"/>
            <a:ext cx="55656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запрос</a:t>
            </a:r>
            <a:endParaRPr lang="ru-RU" sz="1000" dirty="0"/>
          </a:p>
        </p:txBody>
      </p:sp>
      <p:grpSp>
        <p:nvGrpSpPr>
          <p:cNvPr id="40" name="Группа 39"/>
          <p:cNvGrpSpPr/>
          <p:nvPr/>
        </p:nvGrpSpPr>
        <p:grpSpPr>
          <a:xfrm>
            <a:off x="2271343" y="1812864"/>
            <a:ext cx="1080000" cy="1204543"/>
            <a:chOff x="2254103" y="1736622"/>
            <a:chExt cx="1080000" cy="1204543"/>
          </a:xfrm>
        </p:grpSpPr>
        <p:sp>
          <p:nvSpPr>
            <p:cNvPr id="17" name="TextBox 16"/>
            <p:cNvSpPr txBox="1"/>
            <p:nvPr/>
          </p:nvSpPr>
          <p:spPr>
            <a:xfrm>
              <a:off x="2298542" y="2541055"/>
              <a:ext cx="9829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ru-RU" sz="1000" dirty="0" smtClean="0"/>
                <a:t>слово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запроса</a:t>
              </a:r>
              <a:endParaRPr lang="ru-RU" sz="1000" dirty="0"/>
            </a:p>
          </p:txBody>
        </p:sp>
        <p:grpSp>
          <p:nvGrpSpPr>
            <p:cNvPr id="27" name="Группа 26"/>
            <p:cNvGrpSpPr/>
            <p:nvPr/>
          </p:nvGrpSpPr>
          <p:grpSpPr>
            <a:xfrm>
              <a:off x="2254103" y="1736622"/>
              <a:ext cx="1080000" cy="792000"/>
              <a:chOff x="2254103" y="1736622"/>
              <a:chExt cx="1080000" cy="792000"/>
            </a:xfrm>
          </p:grpSpPr>
          <p:pic>
            <p:nvPicPr>
              <p:cNvPr id="28" name="Рисунок 27"/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62864" y="1742962"/>
                <a:ext cx="1008000" cy="712699"/>
              </a:xfrm>
              <a:prstGeom prst="rect">
                <a:avLst/>
              </a:prstGeom>
            </p:spPr>
          </p:pic>
          <p:sp>
            <p:nvSpPr>
              <p:cNvPr id="59" name="Блок-схема: процесс 58"/>
              <p:cNvSpPr/>
              <p:nvPr/>
            </p:nvSpPr>
            <p:spPr>
              <a:xfrm>
                <a:off x="2254103" y="1736622"/>
                <a:ext cx="1080000" cy="792000"/>
              </a:xfrm>
              <a:prstGeom prst="flowChartProcess">
                <a:avLst/>
              </a:prstGeom>
              <a:noFill/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grpSp>
        <p:nvGrpSpPr>
          <p:cNvPr id="37" name="Группа 36"/>
          <p:cNvGrpSpPr/>
          <p:nvPr/>
        </p:nvGrpSpPr>
        <p:grpSpPr>
          <a:xfrm>
            <a:off x="3587785" y="1791379"/>
            <a:ext cx="540000" cy="277176"/>
            <a:chOff x="4111934" y="2883423"/>
            <a:chExt cx="1188000" cy="277176"/>
          </a:xfrm>
        </p:grpSpPr>
        <p:sp>
          <p:nvSpPr>
            <p:cNvPr id="66" name="Прямоугольник 65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111934" y="2883423"/>
              <a:ext cx="11399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</p:grpSp>
      <p:grpSp>
        <p:nvGrpSpPr>
          <p:cNvPr id="47" name="Группа 46"/>
          <p:cNvGrpSpPr/>
          <p:nvPr/>
        </p:nvGrpSpPr>
        <p:grpSpPr>
          <a:xfrm>
            <a:off x="5718282" y="1767239"/>
            <a:ext cx="900000" cy="277534"/>
            <a:chOff x="6369282" y="1767075"/>
            <a:chExt cx="969877" cy="277534"/>
          </a:xfrm>
        </p:grpSpPr>
        <p:grpSp>
          <p:nvGrpSpPr>
            <p:cNvPr id="71" name="Группа 70"/>
            <p:cNvGrpSpPr/>
            <p:nvPr/>
          </p:nvGrpSpPr>
          <p:grpSpPr>
            <a:xfrm>
              <a:off x="6369282" y="1767610"/>
              <a:ext cx="969877" cy="276999"/>
              <a:chOff x="4158024" y="2850118"/>
              <a:chExt cx="1188000" cy="276999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4158024" y="2856828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4161798" y="2850118"/>
                <a:ext cx="7790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ID doc</a:t>
                </a:r>
                <a:endParaRPr lang="ru-RU" sz="1200" b="1" dirty="0"/>
              </a:p>
            </p:txBody>
          </p:sp>
          <p:cxnSp>
            <p:nvCxnSpPr>
              <p:cNvPr id="74" name="Прямая соединительная линия 73"/>
              <p:cNvCxnSpPr/>
              <p:nvPr/>
            </p:nvCxnSpPr>
            <p:spPr>
              <a:xfrm>
                <a:off x="4938011" y="285440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TextBox 43"/>
            <p:cNvSpPr txBox="1"/>
            <p:nvPr/>
          </p:nvSpPr>
          <p:spPr>
            <a:xfrm>
              <a:off x="7031534" y="1767075"/>
              <a:ext cx="2888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n</a:t>
              </a:r>
              <a:endParaRPr lang="ru-RU" sz="1200" b="1" dirty="0"/>
            </a:p>
          </p:txBody>
        </p:sp>
      </p:grpSp>
      <p:grpSp>
        <p:nvGrpSpPr>
          <p:cNvPr id="43" name="Группа 42"/>
          <p:cNvGrpSpPr/>
          <p:nvPr/>
        </p:nvGrpSpPr>
        <p:grpSpPr>
          <a:xfrm>
            <a:off x="3208147" y="3728072"/>
            <a:ext cx="1422184" cy="1203129"/>
            <a:chOff x="4430768" y="4683566"/>
            <a:chExt cx="1422184" cy="1203129"/>
          </a:xfrm>
        </p:grpSpPr>
        <p:grpSp>
          <p:nvGrpSpPr>
            <p:cNvPr id="26" name="Группа 25"/>
            <p:cNvGrpSpPr/>
            <p:nvPr/>
          </p:nvGrpSpPr>
          <p:grpSpPr>
            <a:xfrm>
              <a:off x="4581717" y="4683566"/>
              <a:ext cx="1080000" cy="792000"/>
              <a:chOff x="4492549" y="4788138"/>
              <a:chExt cx="1080000" cy="792000"/>
            </a:xfrm>
          </p:grpSpPr>
          <p:pic>
            <p:nvPicPr>
              <p:cNvPr id="114" name="Рисунок 113"/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03589" y="4800018"/>
                <a:ext cx="1008000" cy="712698"/>
              </a:xfrm>
              <a:prstGeom prst="rect">
                <a:avLst/>
              </a:prstGeom>
            </p:spPr>
          </p:pic>
          <p:sp>
            <p:nvSpPr>
              <p:cNvPr id="115" name="Блок-схема: процесс 114"/>
              <p:cNvSpPr/>
              <p:nvPr/>
            </p:nvSpPr>
            <p:spPr>
              <a:xfrm>
                <a:off x="4492549" y="4788138"/>
                <a:ext cx="1080000" cy="792000"/>
              </a:xfrm>
              <a:prstGeom prst="flowChartProcess">
                <a:avLst/>
              </a:prstGeom>
              <a:noFill/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16" name="TextBox 115"/>
            <p:cNvSpPr txBox="1"/>
            <p:nvPr/>
          </p:nvSpPr>
          <p:spPr>
            <a:xfrm>
              <a:off x="4430768" y="5486585"/>
              <a:ext cx="14221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</a:t>
              </a:r>
              <a:r>
                <a:rPr lang="en-US" sz="1000" dirty="0" smtClean="0"/>
                <a:t> </a:t>
              </a:r>
              <a:endParaRPr lang="ru-RU" sz="1000" dirty="0" smtClean="0"/>
            </a:p>
            <a:p>
              <a:r>
                <a:rPr lang="ru-RU" sz="1000" dirty="0" smtClean="0"/>
                <a:t>из базы документов</a:t>
              </a:r>
              <a:endParaRPr lang="ru-RU" sz="1000" dirty="0"/>
            </a:p>
          </p:txBody>
        </p:sp>
      </p:grpSp>
      <p:sp>
        <p:nvSpPr>
          <p:cNvPr id="117" name="Стрелка вправо 116"/>
          <p:cNvSpPr/>
          <p:nvPr/>
        </p:nvSpPr>
        <p:spPr>
          <a:xfrm>
            <a:off x="4601401" y="3954909"/>
            <a:ext cx="90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8" name="Группа 117"/>
          <p:cNvGrpSpPr/>
          <p:nvPr/>
        </p:nvGrpSpPr>
        <p:grpSpPr>
          <a:xfrm>
            <a:off x="4642481" y="3589484"/>
            <a:ext cx="590226" cy="277176"/>
            <a:chOff x="4111934" y="2883423"/>
            <a:chExt cx="1217341" cy="277176"/>
          </a:xfrm>
        </p:grpSpPr>
        <p:sp>
          <p:nvSpPr>
            <p:cNvPr id="119" name="Прямоугольник 118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4111934" y="2883423"/>
              <a:ext cx="12173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</p:grpSp>
      <p:sp>
        <p:nvSpPr>
          <p:cNvPr id="130" name="TextBox 129"/>
          <p:cNvSpPr txBox="1"/>
          <p:nvPr/>
        </p:nvSpPr>
        <p:spPr>
          <a:xfrm>
            <a:off x="5629186" y="6480119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132" name="TextBox 131"/>
          <p:cNvSpPr txBox="1"/>
          <p:nvPr/>
        </p:nvSpPr>
        <p:spPr>
          <a:xfrm>
            <a:off x="6482914" y="2962283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</a:t>
            </a:r>
            <a:r>
              <a:rPr lang="en-US" sz="1000" dirty="0" smtClean="0"/>
              <a:t>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48" name="Группа 47"/>
          <p:cNvGrpSpPr/>
          <p:nvPr/>
        </p:nvGrpSpPr>
        <p:grpSpPr>
          <a:xfrm>
            <a:off x="746489" y="3597500"/>
            <a:ext cx="1962796" cy="896551"/>
            <a:chOff x="115671" y="3498093"/>
            <a:chExt cx="1962796" cy="896551"/>
          </a:xfrm>
        </p:grpSpPr>
        <p:sp>
          <p:nvSpPr>
            <p:cNvPr id="87" name="TextBox 86"/>
            <p:cNvSpPr txBox="1"/>
            <p:nvPr/>
          </p:nvSpPr>
          <p:spPr>
            <a:xfrm>
              <a:off x="205921" y="3994534"/>
              <a:ext cx="164484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 smtClean="0"/>
                <a:t>рассчитать</a:t>
              </a:r>
              <a:r>
                <a:rPr lang="ru-RU" sz="1000" dirty="0" smtClean="0"/>
                <a:t> относительную</a:t>
              </a:r>
            </a:p>
            <a:p>
              <a:r>
                <a:rPr lang="ru-RU" sz="1000" dirty="0" smtClean="0"/>
                <a:t>релевантность </a:t>
              </a:r>
              <a:r>
                <a:rPr lang="ru-RU" sz="1000" dirty="0" smtClean="0"/>
                <a:t>(</a:t>
              </a:r>
              <a:r>
                <a:rPr lang="en-US" sz="1000" dirty="0" smtClean="0"/>
                <a:t>RR</a:t>
              </a:r>
              <a:r>
                <a:rPr lang="ru-RU" sz="1000" dirty="0" smtClean="0"/>
                <a:t>)</a:t>
              </a:r>
              <a:endParaRPr lang="ru-RU" sz="1000" dirty="0"/>
            </a:p>
          </p:txBody>
        </p:sp>
        <p:grpSp>
          <p:nvGrpSpPr>
            <p:cNvPr id="46" name="Группа 45"/>
            <p:cNvGrpSpPr/>
            <p:nvPr/>
          </p:nvGrpSpPr>
          <p:grpSpPr>
            <a:xfrm>
              <a:off x="115671" y="3498093"/>
              <a:ext cx="1962796" cy="611002"/>
              <a:chOff x="115671" y="3498093"/>
              <a:chExt cx="1962796" cy="611002"/>
            </a:xfrm>
          </p:grpSpPr>
          <p:pic>
            <p:nvPicPr>
              <p:cNvPr id="164" name="Рисунок 163"/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5671" y="3498093"/>
                <a:ext cx="432000" cy="611002"/>
              </a:xfrm>
              <a:prstGeom prst="rect">
                <a:avLst/>
              </a:prstGeom>
            </p:spPr>
          </p:pic>
          <p:grpSp>
            <p:nvGrpSpPr>
              <p:cNvPr id="165" name="Группа 164"/>
              <p:cNvGrpSpPr/>
              <p:nvPr/>
            </p:nvGrpSpPr>
            <p:grpSpPr>
              <a:xfrm>
                <a:off x="486398" y="3650148"/>
                <a:ext cx="1592069" cy="298693"/>
                <a:chOff x="3901044" y="3386772"/>
                <a:chExt cx="1510974" cy="287284"/>
              </a:xfrm>
            </p:grpSpPr>
            <p:sp>
              <p:nvSpPr>
                <p:cNvPr id="166" name="Прямоугольник 165"/>
                <p:cNvSpPr/>
                <p:nvPr/>
              </p:nvSpPr>
              <p:spPr>
                <a:xfrm>
                  <a:off x="3901044" y="3401361"/>
                  <a:ext cx="1294871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67" name="TextBox 166"/>
                <p:cNvSpPr txBox="1"/>
                <p:nvPr/>
              </p:nvSpPr>
              <p:spPr>
                <a:xfrm>
                  <a:off x="3901044" y="3386772"/>
                  <a:ext cx="485944" cy="26641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68" name="TextBox 167"/>
                <p:cNvSpPr txBox="1"/>
                <p:nvPr/>
              </p:nvSpPr>
              <p:spPr>
                <a:xfrm>
                  <a:off x="4471854" y="3397057"/>
                  <a:ext cx="9401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</a:t>
                  </a:r>
                  <a:r>
                    <a:rPr lang="ru-RU" sz="1200" b="1" dirty="0" smtClean="0"/>
                    <a:t> </a:t>
                  </a:r>
                  <a:r>
                    <a:rPr lang="en-US" sz="1200" b="1" dirty="0" smtClean="0"/>
                    <a:t>/ mAR</a:t>
                  </a:r>
                  <a:endParaRPr lang="ru-RU" sz="1200" b="1" dirty="0"/>
                </a:p>
              </p:txBody>
            </p:sp>
            <p:cxnSp>
              <p:nvCxnSpPr>
                <p:cNvPr id="169" name="Прямая соединительная линия 168"/>
                <p:cNvCxnSpPr/>
                <p:nvPr/>
              </p:nvCxnSpPr>
              <p:spPr>
                <a:xfrm>
                  <a:off x="4451853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41" name="Группа 40"/>
          <p:cNvGrpSpPr/>
          <p:nvPr/>
        </p:nvGrpSpPr>
        <p:grpSpPr>
          <a:xfrm>
            <a:off x="4300570" y="1787904"/>
            <a:ext cx="1544012" cy="1615211"/>
            <a:chOff x="4771901" y="1870780"/>
            <a:chExt cx="1544012" cy="161521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4937737" y="1870780"/>
              <a:ext cx="1167555" cy="1044000"/>
              <a:chOff x="4950950" y="1840422"/>
              <a:chExt cx="1167555" cy="1044000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4950950" y="2475177"/>
                <a:ext cx="116755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оиск в базе</a:t>
                </a:r>
              </a:p>
              <a:p>
                <a:r>
                  <a:rPr lang="ru-RU" sz="1000" dirty="0" smtClean="0"/>
                  <a:t>индекса </a:t>
                </a:r>
                <a:r>
                  <a:rPr lang="ru-RU" sz="1000" dirty="0" smtClean="0"/>
                  <a:t>по </a:t>
                </a:r>
                <a:r>
                  <a:rPr lang="en-US" sz="1000" dirty="0" smtClean="0"/>
                  <a:t>word”</a:t>
                </a:r>
                <a:endParaRPr lang="ru-RU" sz="1000" dirty="0" smtClean="0"/>
              </a:p>
            </p:txBody>
          </p:sp>
          <p:pic>
            <p:nvPicPr>
              <p:cNvPr id="42" name="Рисунок 41"/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002036" y="1848448"/>
                <a:ext cx="1008000" cy="712699"/>
              </a:xfrm>
              <a:prstGeom prst="rect">
                <a:avLst/>
              </a:prstGeom>
            </p:spPr>
          </p:pic>
          <p:sp>
            <p:nvSpPr>
              <p:cNvPr id="70" name="Блок-схема: процесс 69"/>
              <p:cNvSpPr/>
              <p:nvPr/>
            </p:nvSpPr>
            <p:spPr>
              <a:xfrm>
                <a:off x="4991327" y="1840422"/>
                <a:ext cx="1080000" cy="1044000"/>
              </a:xfrm>
              <a:prstGeom prst="flowChartProcess">
                <a:avLst/>
              </a:prstGeom>
              <a:noFill/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>
              <a:off x="4771901" y="2931993"/>
              <a:ext cx="154401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выбрать </a:t>
              </a:r>
              <a:r>
                <a:rPr lang="en-US" sz="1000" dirty="0"/>
                <a:t>ID </a:t>
              </a:r>
              <a:r>
                <a:rPr lang="ru-RU" sz="1000" dirty="0"/>
                <a:t>документа и </a:t>
              </a:r>
            </a:p>
            <a:p>
              <a:r>
                <a:rPr lang="ru-RU" sz="1000" dirty="0"/>
                <a:t>количество вхождений</a:t>
              </a:r>
            </a:p>
            <a:p>
              <a:r>
                <a:rPr lang="ru-RU" sz="1000" dirty="0" smtClean="0"/>
                <a:t>слова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документ</a:t>
              </a:r>
              <a:endParaRPr lang="ru-RU" sz="1000" dirty="0"/>
            </a:p>
          </p:txBody>
        </p:sp>
      </p:grpSp>
      <p:grpSp>
        <p:nvGrpSpPr>
          <p:cNvPr id="39" name="Группа 38"/>
          <p:cNvGrpSpPr/>
          <p:nvPr/>
        </p:nvGrpSpPr>
        <p:grpSpPr>
          <a:xfrm>
            <a:off x="57887" y="1594552"/>
            <a:ext cx="1135247" cy="1205690"/>
            <a:chOff x="57796" y="1752187"/>
            <a:chExt cx="1135247" cy="1205690"/>
          </a:xfrm>
        </p:grpSpPr>
        <p:grpSp>
          <p:nvGrpSpPr>
            <p:cNvPr id="30" name="Группа 29"/>
            <p:cNvGrpSpPr/>
            <p:nvPr/>
          </p:nvGrpSpPr>
          <p:grpSpPr>
            <a:xfrm>
              <a:off x="87571" y="1752187"/>
              <a:ext cx="1080000" cy="792000"/>
              <a:chOff x="128868" y="1827400"/>
              <a:chExt cx="1080000" cy="792000"/>
            </a:xfrm>
          </p:grpSpPr>
          <p:pic>
            <p:nvPicPr>
              <p:cNvPr id="16" name="Рисунок 15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0048" y="1841887"/>
                <a:ext cx="1008000" cy="712691"/>
              </a:xfrm>
              <a:prstGeom prst="rect">
                <a:avLst/>
              </a:prstGeom>
            </p:spPr>
          </p:pic>
          <p:sp>
            <p:nvSpPr>
              <p:cNvPr id="49" name="Блок-схема: процесс 48"/>
              <p:cNvSpPr/>
              <p:nvPr/>
            </p:nvSpPr>
            <p:spPr>
              <a:xfrm>
                <a:off x="128868" y="1827400"/>
                <a:ext cx="1080000" cy="792000"/>
              </a:xfrm>
              <a:prstGeom prst="flowChartProcess">
                <a:avLst/>
              </a:prstGeom>
              <a:noFill/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57796" y="2557767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ru-RU" sz="1000" dirty="0" smtClean="0"/>
                <a:t>запрос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запросов</a:t>
              </a:r>
              <a:endParaRPr lang="ru-RU" sz="1000" dirty="0"/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5605351" y="3526654"/>
            <a:ext cx="1332000" cy="1332000"/>
            <a:chOff x="7425120" y="1638785"/>
            <a:chExt cx="1332000" cy="1332000"/>
          </a:xfrm>
        </p:grpSpPr>
        <p:sp>
          <p:nvSpPr>
            <p:cNvPr id="101" name="Блок-схема: решение 100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5690" y="1878992"/>
              <a:ext cx="1008000" cy="712698"/>
            </a:xfrm>
            <a:prstGeom prst="rect">
              <a:avLst/>
            </a:prstGeom>
          </p:spPr>
        </p:pic>
        <p:sp>
          <p:nvSpPr>
            <p:cNvPr id="103" name="TextBox 102"/>
            <p:cNvSpPr txBox="1"/>
            <p:nvPr/>
          </p:nvSpPr>
          <p:spPr>
            <a:xfrm>
              <a:off x="7586140" y="2493826"/>
              <a:ext cx="10005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</a:t>
              </a:r>
              <a:r>
                <a:rPr lang="ru-RU" sz="1000" dirty="0" smtClean="0"/>
                <a:t> </a:t>
              </a:r>
            </a:p>
          </p:txBody>
        </p:sp>
      </p:grpSp>
      <p:sp>
        <p:nvSpPr>
          <p:cNvPr id="111" name="TextBox 110"/>
          <p:cNvSpPr txBox="1"/>
          <p:nvPr/>
        </p:nvSpPr>
        <p:spPr>
          <a:xfrm>
            <a:off x="8012327" y="1824146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182" name="Стрелка вправо 181"/>
          <p:cNvSpPr/>
          <p:nvPr/>
        </p:nvSpPr>
        <p:spPr>
          <a:xfrm>
            <a:off x="2617588" y="39736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7" name="TextBox 186"/>
          <p:cNvSpPr txBox="1"/>
          <p:nvPr/>
        </p:nvSpPr>
        <p:spPr>
          <a:xfrm>
            <a:off x="4999749" y="4596117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195" name="Группа 194"/>
          <p:cNvGrpSpPr/>
          <p:nvPr/>
        </p:nvGrpSpPr>
        <p:grpSpPr>
          <a:xfrm>
            <a:off x="6690241" y="1635006"/>
            <a:ext cx="1332000" cy="1332000"/>
            <a:chOff x="7425120" y="1638785"/>
            <a:chExt cx="1332000" cy="1332000"/>
          </a:xfrm>
        </p:grpSpPr>
        <p:sp>
          <p:nvSpPr>
            <p:cNvPr id="196" name="Блок-схема: решение 195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97" name="Рисунок 196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5690" y="1878992"/>
              <a:ext cx="1008000" cy="712698"/>
            </a:xfrm>
            <a:prstGeom prst="rect">
              <a:avLst/>
            </a:prstGeom>
          </p:spPr>
        </p:pic>
        <p:sp>
          <p:nvSpPr>
            <p:cNvPr id="198" name="TextBox 197"/>
            <p:cNvSpPr txBox="1"/>
            <p:nvPr/>
          </p:nvSpPr>
          <p:spPr>
            <a:xfrm>
              <a:off x="7586140" y="2493826"/>
              <a:ext cx="10005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</a:t>
              </a:r>
              <a:r>
                <a:rPr lang="ru-RU" sz="1000" dirty="0" smtClean="0"/>
                <a:t> </a:t>
              </a:r>
            </a:p>
          </p:txBody>
        </p:sp>
      </p:grpSp>
      <p:grpSp>
        <p:nvGrpSpPr>
          <p:cNvPr id="69" name="Группа 68"/>
          <p:cNvGrpSpPr/>
          <p:nvPr/>
        </p:nvGrpSpPr>
        <p:grpSpPr>
          <a:xfrm>
            <a:off x="5194333" y="4982193"/>
            <a:ext cx="2393389" cy="1160486"/>
            <a:chOff x="9200791" y="4929821"/>
            <a:chExt cx="2393389" cy="1160486"/>
          </a:xfrm>
        </p:grpSpPr>
        <p:sp>
          <p:nvSpPr>
            <p:cNvPr id="194" name="Блок-схема: процесс 193"/>
            <p:cNvSpPr/>
            <p:nvPr/>
          </p:nvSpPr>
          <p:spPr>
            <a:xfrm>
              <a:off x="9200791" y="5070649"/>
              <a:ext cx="2376000" cy="1019658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50" name="Группа 49"/>
            <p:cNvGrpSpPr/>
            <p:nvPr/>
          </p:nvGrpSpPr>
          <p:grpSpPr>
            <a:xfrm>
              <a:off x="9218180" y="4929821"/>
              <a:ext cx="2376000" cy="1159801"/>
              <a:chOff x="9228455" y="4909273"/>
              <a:chExt cx="2371067" cy="1159801"/>
            </a:xfrm>
          </p:grpSpPr>
          <p:sp>
            <p:nvSpPr>
              <p:cNvPr id="163" name="TextBox 162"/>
              <p:cNvSpPr txBox="1"/>
              <p:nvPr/>
            </p:nvSpPr>
            <p:spPr>
              <a:xfrm>
                <a:off x="9228455" y="5515076"/>
                <a:ext cx="2371067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д</a:t>
                </a:r>
                <a:r>
                  <a:rPr lang="ru-RU" sz="1000" dirty="0" smtClean="0"/>
                  <a:t>обавить в базу ответов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</a:t>
                </a:r>
              </a:p>
              <a:p>
                <a:r>
                  <a:rPr lang="ru-RU" sz="1000" dirty="0" smtClean="0"/>
                  <a:t>и нулевое количество вхождений </a:t>
                </a:r>
                <a:r>
                  <a:rPr lang="ru-RU" sz="1000" b="1" u="sng" dirty="0" smtClean="0"/>
                  <a:t>слов</a:t>
                </a:r>
              </a:p>
              <a:p>
                <a:r>
                  <a:rPr lang="ru-RU" sz="1000" dirty="0" smtClean="0"/>
                  <a:t>в </a:t>
                </a:r>
                <a:r>
                  <a:rPr lang="ru-RU" sz="1000" dirty="0" smtClean="0"/>
                  <a:t>документ</a:t>
                </a:r>
                <a:endParaRPr lang="ru-RU" sz="1000" dirty="0"/>
              </a:p>
            </p:txBody>
          </p:sp>
          <p:grpSp>
            <p:nvGrpSpPr>
              <p:cNvPr id="199" name="Группа 198"/>
              <p:cNvGrpSpPr/>
              <p:nvPr/>
            </p:nvGrpSpPr>
            <p:grpSpPr>
              <a:xfrm>
                <a:off x="9546091" y="4909273"/>
                <a:ext cx="1591422" cy="716089"/>
                <a:chOff x="9688883" y="3163833"/>
                <a:chExt cx="1591422" cy="716089"/>
              </a:xfrm>
            </p:grpSpPr>
            <p:pic>
              <p:nvPicPr>
                <p:cNvPr id="200" name="Рисунок 199"/>
                <p:cNvPicPr>
                  <a:picLocks noChangeAspect="1"/>
                </p:cNvPicPr>
                <p:nvPr/>
              </p:nvPicPr>
              <p:blipFill>
                <a:blip r:embed="rId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88883" y="3268921"/>
                  <a:ext cx="432000" cy="611001"/>
                </a:xfrm>
                <a:prstGeom prst="rect">
                  <a:avLst/>
                </a:prstGeom>
              </p:spPr>
            </p:pic>
            <p:sp>
              <p:nvSpPr>
                <p:cNvPr id="201" name="Прямоугольник 200"/>
                <p:cNvSpPr>
                  <a:spLocks noChangeAspect="1"/>
                </p:cNvSpPr>
                <p:nvPr/>
              </p:nvSpPr>
              <p:spPr>
                <a:xfrm>
                  <a:off x="10038614" y="3163833"/>
                  <a:ext cx="335299" cy="540000"/>
                </a:xfrm>
                <a:prstGeom prst="rect">
                  <a:avLst/>
                </a:prstGeom>
                <a:noFill/>
              </p:spPr>
              <p:txBody>
                <a:bodyPr wrap="none" lIns="91440" tIns="45720" rIns="91440" bIns="45720">
                  <a:spAutoFit/>
                </a:bodyPr>
                <a:lstStyle/>
                <a:p>
                  <a:pPr algn="ctr"/>
                  <a:r>
                    <a:rPr lang="ru-RU" sz="4000" b="0" cap="none" spc="0" dirty="0" smtClean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rPr>
                    <a:t>+</a:t>
                  </a:r>
                  <a:endParaRPr lang="ru-RU" sz="40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endParaRPr>
                </a:p>
              </p:txBody>
            </p:sp>
            <p:grpSp>
              <p:nvGrpSpPr>
                <p:cNvPr id="202" name="Группа 201"/>
                <p:cNvGrpSpPr/>
                <p:nvPr/>
              </p:nvGrpSpPr>
              <p:grpSpPr>
                <a:xfrm>
                  <a:off x="10390922" y="3395741"/>
                  <a:ext cx="889383" cy="277433"/>
                  <a:chOff x="6369280" y="1767176"/>
                  <a:chExt cx="864000" cy="277433"/>
                </a:xfrm>
              </p:grpSpPr>
              <p:grpSp>
                <p:nvGrpSpPr>
                  <p:cNvPr id="203" name="Группа 202"/>
                  <p:cNvGrpSpPr/>
                  <p:nvPr/>
                </p:nvGrpSpPr>
                <p:grpSpPr>
                  <a:xfrm>
                    <a:off x="6369280" y="1767610"/>
                    <a:ext cx="864000" cy="276999"/>
                    <a:chOff x="4158024" y="2850118"/>
                    <a:chExt cx="1058312" cy="276999"/>
                  </a:xfrm>
                </p:grpSpPr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4158024" y="2856828"/>
                      <a:ext cx="1058312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206" name="TextBox 205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ID doc</a:t>
                      </a:r>
                      <a:endParaRPr lang="ru-RU" sz="1200" b="1" dirty="0"/>
                    </a:p>
                  </p:txBody>
                </p:sp>
                <p:cxnSp>
                  <p:nvCxnSpPr>
                    <p:cNvPr id="207" name="Прямая соединительная линия 206"/>
                    <p:cNvCxnSpPr/>
                    <p:nvPr/>
                  </p:nvCxnSpPr>
                  <p:spPr>
                    <a:xfrm>
                      <a:off x="4845752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04" name="TextBox 203"/>
                  <p:cNvSpPr txBox="1"/>
                  <p:nvPr/>
                </p:nvSpPr>
                <p:spPr>
                  <a:xfrm>
                    <a:off x="6947998" y="1767176"/>
                    <a:ext cx="222735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1200" b="1" dirty="0"/>
                      <a:t>0</a:t>
                    </a:r>
                    <a:endParaRPr lang="ru-RU" sz="1200" b="1" dirty="0"/>
                  </a:p>
                </p:txBody>
              </p:sp>
            </p:grpSp>
          </p:grpSp>
        </p:grpSp>
      </p:grpSp>
      <p:grpSp>
        <p:nvGrpSpPr>
          <p:cNvPr id="77" name="Группа 76"/>
          <p:cNvGrpSpPr/>
          <p:nvPr/>
        </p:nvGrpSpPr>
        <p:grpSpPr>
          <a:xfrm>
            <a:off x="8725700" y="1748954"/>
            <a:ext cx="2532082" cy="2016000"/>
            <a:chOff x="9456553" y="648782"/>
            <a:chExt cx="2532082" cy="2016000"/>
          </a:xfrm>
        </p:grpSpPr>
        <p:grpSp>
          <p:nvGrpSpPr>
            <p:cNvPr id="68" name="Группа 67"/>
            <p:cNvGrpSpPr/>
            <p:nvPr/>
          </p:nvGrpSpPr>
          <p:grpSpPr>
            <a:xfrm>
              <a:off x="9527402" y="690684"/>
              <a:ext cx="2461233" cy="1052948"/>
              <a:chOff x="9488296" y="1193881"/>
              <a:chExt cx="2461233" cy="1052948"/>
            </a:xfrm>
          </p:grpSpPr>
          <p:grpSp>
            <p:nvGrpSpPr>
              <p:cNvPr id="52" name="Группа 51"/>
              <p:cNvGrpSpPr/>
              <p:nvPr/>
            </p:nvGrpSpPr>
            <p:grpSpPr>
              <a:xfrm>
                <a:off x="9738170" y="1193881"/>
                <a:ext cx="2211359" cy="1052885"/>
                <a:chOff x="9645202" y="1421639"/>
                <a:chExt cx="2291531" cy="1052885"/>
              </a:xfrm>
            </p:grpSpPr>
            <p:sp>
              <p:nvSpPr>
                <p:cNvPr id="153" name="TextBox 152"/>
                <p:cNvSpPr txBox="1"/>
                <p:nvPr/>
              </p:nvSpPr>
              <p:spPr>
                <a:xfrm>
                  <a:off x="9645202" y="1920526"/>
                  <a:ext cx="2291531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в</a:t>
                  </a:r>
                  <a:r>
                    <a:rPr lang="ru-RU" sz="1000" dirty="0" smtClean="0"/>
                    <a:t> базе ответов, увеличить количество </a:t>
                  </a:r>
                  <a:r>
                    <a:rPr lang="ru-RU" sz="1000" dirty="0" smtClean="0"/>
                    <a:t>вхождений </a:t>
                  </a:r>
                  <a:r>
                    <a:rPr lang="ru-RU" sz="1000" b="1" u="sng" dirty="0" smtClean="0"/>
                    <a:t>слов</a:t>
                  </a:r>
                  <a:r>
                    <a:rPr lang="en-US" sz="1000" dirty="0" smtClean="0"/>
                    <a:t> </a:t>
                  </a:r>
                  <a:r>
                    <a:rPr lang="ru-RU" sz="1000" dirty="0" smtClean="0"/>
                    <a:t>в документ</a:t>
                  </a:r>
                  <a:endParaRPr lang="en-US" sz="1000" dirty="0" smtClean="0"/>
                </a:p>
              </p:txBody>
            </p:sp>
            <p:grpSp>
              <p:nvGrpSpPr>
                <p:cNvPr id="36" name="Группа 35"/>
                <p:cNvGrpSpPr/>
                <p:nvPr/>
              </p:nvGrpSpPr>
              <p:grpSpPr>
                <a:xfrm>
                  <a:off x="9754481" y="1421639"/>
                  <a:ext cx="1567987" cy="611001"/>
                  <a:chOff x="9659419" y="1504725"/>
                  <a:chExt cx="1567987" cy="611001"/>
                </a:xfrm>
              </p:grpSpPr>
              <p:grpSp>
                <p:nvGrpSpPr>
                  <p:cNvPr id="35" name="Группа 34"/>
                  <p:cNvGrpSpPr/>
                  <p:nvPr/>
                </p:nvGrpSpPr>
                <p:grpSpPr>
                  <a:xfrm>
                    <a:off x="10027817" y="1677793"/>
                    <a:ext cx="1199589" cy="277433"/>
                    <a:chOff x="10027817" y="1677793"/>
                    <a:chExt cx="1199589" cy="277433"/>
                  </a:xfrm>
                </p:grpSpPr>
                <p:grpSp>
                  <p:nvGrpSpPr>
                    <p:cNvPr id="122" name="Группа 121"/>
                    <p:cNvGrpSpPr/>
                    <p:nvPr/>
                  </p:nvGrpSpPr>
                  <p:grpSpPr>
                    <a:xfrm>
                      <a:off x="10027817" y="1678227"/>
                      <a:ext cx="1124988" cy="276999"/>
                      <a:chOff x="4158024" y="2850118"/>
                      <a:chExt cx="1188000" cy="276999"/>
                    </a:xfrm>
                  </p:grpSpPr>
                  <p:sp>
                    <p:nvSpPr>
                      <p:cNvPr id="150" name="Прямоугольник 149"/>
                      <p:cNvSpPr/>
                      <p:nvPr/>
                    </p:nvSpPr>
                    <p:spPr>
                      <a:xfrm>
                        <a:off x="4158024" y="2856828"/>
                        <a:ext cx="1188000" cy="26200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</p:spPr>
                    <p:style>
                      <a:lnRef idx="2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lnRef>
                      <a:fillRef idx="1">
                        <a:scrgbClr r="0" g="0" b="0"/>
                      </a:fillRef>
                      <a:effectRef idx="0">
                        <a:schemeClr val="accent1">
                          <a:tint val="50000"/>
                          <a:hueOff val="0"/>
                          <a:satOff val="0"/>
                          <a:lumOff val="0"/>
                          <a:alphaOff val="0"/>
                        </a:schemeClr>
                      </a:effectRef>
                      <a:fontRef idx="minor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ru-RU" dirty="0"/>
                      </a:p>
                    </p:txBody>
                  </p:sp>
                  <p:sp>
                    <p:nvSpPr>
                      <p:cNvPr id="151" name="TextBox 150"/>
                      <p:cNvSpPr txBox="1"/>
                      <p:nvPr/>
                    </p:nvSpPr>
                    <p:spPr>
                      <a:xfrm>
                        <a:off x="4161798" y="2850118"/>
                        <a:ext cx="72296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sz="1200" b="1" dirty="0" smtClean="0">
                            <a:solidFill>
                              <a:schemeClr val="bg1"/>
                            </a:solidFill>
                          </a:rPr>
                          <a:t>ID doc</a:t>
                        </a:r>
                        <a:endParaRPr lang="ru-RU" sz="1200" b="1" dirty="0">
                          <a:solidFill>
                            <a:schemeClr val="bg1"/>
                          </a:solidFill>
                        </a:endParaRPr>
                      </a:p>
                    </p:txBody>
                  </p:sp>
                  <p:cxnSp>
                    <p:nvCxnSpPr>
                      <p:cNvPr id="152" name="Прямая соединительная линия 151"/>
                      <p:cNvCxnSpPr/>
                      <p:nvPr/>
                    </p:nvCxnSpPr>
                    <p:spPr>
                      <a:xfrm>
                        <a:off x="4797726" y="2854401"/>
                        <a:ext cx="0" cy="262008"/>
                      </a:xfrm>
                      <a:prstGeom prst="line">
                        <a:avLst/>
                      </a:prstGeom>
                      <a:ln w="15875">
                        <a:solidFill>
                          <a:schemeClr val="bg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26" name="TextBox 125"/>
                    <p:cNvSpPr txBox="1"/>
                    <p:nvPr/>
                  </p:nvSpPr>
                  <p:spPr>
                    <a:xfrm>
                      <a:off x="10628317" y="1677793"/>
                      <a:ext cx="599089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</a:rPr>
                        <a:t>N</a:t>
                      </a:r>
                      <a:r>
                        <a:rPr lang="en-US" sz="1200" b="1" dirty="0" smtClean="0"/>
                        <a:t> + n</a:t>
                      </a:r>
                      <a:endParaRPr lang="ru-RU" sz="1200" b="1" dirty="0"/>
                    </a:p>
                  </p:txBody>
                </p:sp>
              </p:grpSp>
              <p:pic>
                <p:nvPicPr>
                  <p:cNvPr id="178" name="Рисунок 177"/>
                  <p:cNvPicPr>
                    <a:picLocks noChangeAspect="1"/>
                  </p:cNvPicPr>
                  <p:nvPr/>
                </p:nvPicPr>
                <p:blipFill>
                  <a:blip r:embed="rId11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659419" y="1504725"/>
                    <a:ext cx="432000" cy="611001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213" name="Блок-схема: процесс 212"/>
              <p:cNvSpPr/>
              <p:nvPr/>
            </p:nvSpPr>
            <p:spPr>
              <a:xfrm>
                <a:off x="9488296" y="1227171"/>
                <a:ext cx="2376000" cy="1019658"/>
              </a:xfrm>
              <a:prstGeom prst="flowChartProcess">
                <a:avLst/>
              </a:prstGeom>
              <a:noFill/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75" name="Группа 74"/>
            <p:cNvGrpSpPr/>
            <p:nvPr/>
          </p:nvGrpSpPr>
          <p:grpSpPr>
            <a:xfrm>
              <a:off x="9527461" y="1793968"/>
              <a:ext cx="2376000" cy="792000"/>
              <a:chOff x="3108276" y="3428385"/>
              <a:chExt cx="2376000" cy="792000"/>
            </a:xfrm>
          </p:grpSpPr>
          <p:grpSp>
            <p:nvGrpSpPr>
              <p:cNvPr id="56" name="Группа 5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62" name="TextBox 61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  <a:endParaRPr lang="ru-RU" sz="1000" dirty="0" smtClean="0"/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</a:t>
                  </a:r>
                  <a:r>
                    <a:rPr lang="en-US" sz="1000" dirty="0" smtClean="0"/>
                    <a:t>(mAR)</a:t>
                  </a:r>
                  <a:endParaRPr lang="ru-RU" sz="1000" dirty="0"/>
                </a:p>
              </p:txBody>
            </p:sp>
            <p:sp>
              <p:nvSpPr>
                <p:cNvPr id="147" name="TextBox 146"/>
                <p:cNvSpPr txBox="1"/>
                <p:nvPr/>
              </p:nvSpPr>
              <p:spPr>
                <a:xfrm>
                  <a:off x="9764755" y="2651229"/>
                  <a:ext cx="126829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dirty="0" smtClean="0"/>
                    <a:t>mAR = </a:t>
                  </a:r>
                  <a:r>
                    <a:rPr lang="en-US" sz="1000" dirty="0" smtClean="0"/>
                    <a:t>MAX(mAR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149" name="Блок-схема: процесс 148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  <p:sp>
            <p:nvSpPr>
              <p:cNvPr id="214" name="Блок-схема: процесс 213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noFill/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21" name="Блок-схема: процесс 220"/>
            <p:cNvSpPr/>
            <p:nvPr/>
          </p:nvSpPr>
          <p:spPr>
            <a:xfrm>
              <a:off x="9456553" y="648782"/>
              <a:ext cx="2520000" cy="2016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8720175" y="3823282"/>
            <a:ext cx="2520000" cy="1980000"/>
            <a:chOff x="9441303" y="3093773"/>
            <a:chExt cx="2520000" cy="1980000"/>
          </a:xfrm>
        </p:grpSpPr>
        <p:grpSp>
          <p:nvGrpSpPr>
            <p:cNvPr id="65" name="Группа 64"/>
            <p:cNvGrpSpPr/>
            <p:nvPr/>
          </p:nvGrpSpPr>
          <p:grpSpPr>
            <a:xfrm>
              <a:off x="9495254" y="3105833"/>
              <a:ext cx="2439000" cy="1047331"/>
              <a:chOff x="9452773" y="3197372"/>
              <a:chExt cx="2439000" cy="1047331"/>
            </a:xfrm>
          </p:grpSpPr>
          <p:grpSp>
            <p:nvGrpSpPr>
              <p:cNvPr id="55" name="Группа 54"/>
              <p:cNvGrpSpPr/>
              <p:nvPr/>
            </p:nvGrpSpPr>
            <p:grpSpPr>
              <a:xfrm>
                <a:off x="9452773" y="3197372"/>
                <a:ext cx="2439000" cy="996514"/>
                <a:chOff x="9418704" y="3163833"/>
                <a:chExt cx="2439000" cy="996514"/>
              </a:xfrm>
            </p:grpSpPr>
            <p:grpSp>
              <p:nvGrpSpPr>
                <p:cNvPr id="45" name="Группа 44"/>
                <p:cNvGrpSpPr/>
                <p:nvPr/>
              </p:nvGrpSpPr>
              <p:grpSpPr>
                <a:xfrm>
                  <a:off x="9688883" y="3163833"/>
                  <a:ext cx="1591422" cy="716089"/>
                  <a:chOff x="9688883" y="3163833"/>
                  <a:chExt cx="1591422" cy="716089"/>
                </a:xfrm>
              </p:grpSpPr>
              <p:pic>
                <p:nvPicPr>
                  <p:cNvPr id="112" name="Рисунок 111"/>
                  <p:cNvPicPr>
                    <a:picLocks noChangeAspect="1"/>
                  </p:cNvPicPr>
                  <p:nvPr/>
                </p:nvPicPr>
                <p:blipFill>
                  <a:blip r:embed="rId7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688883" y="3268921"/>
                    <a:ext cx="432000" cy="611001"/>
                  </a:xfrm>
                  <a:prstGeom prst="rect">
                    <a:avLst/>
                  </a:prstGeom>
                </p:spPr>
              </p:pic>
              <p:sp>
                <p:nvSpPr>
                  <p:cNvPr id="159" name="Прямоугольник 158"/>
                  <p:cNvSpPr>
                    <a:spLocks noChangeAspect="1"/>
                  </p:cNvSpPr>
                  <p:nvPr/>
                </p:nvSpPr>
                <p:spPr>
                  <a:xfrm>
                    <a:off x="10038614" y="3163833"/>
                    <a:ext cx="335299" cy="540000"/>
                  </a:xfrm>
                  <a:prstGeom prst="rect">
                    <a:avLst/>
                  </a:prstGeom>
                  <a:noFill/>
                </p:spPr>
                <p:txBody>
                  <a:bodyPr wrap="none" lIns="91440" tIns="45720" rIns="91440" bIns="45720">
                    <a:spAutoFit/>
                  </a:bodyPr>
                  <a:lstStyle/>
                  <a:p>
                    <a:pPr algn="ctr"/>
                    <a:r>
                      <a:rPr lang="ru-RU" sz="4000" b="0" cap="none" spc="0" dirty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a:t>+</a:t>
                    </a:r>
                    <a:endParaRPr lang="ru-RU" sz="4000" b="0" cap="none" spc="0" dirty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endParaRPr>
                  </a:p>
                </p:txBody>
              </p:sp>
              <p:grpSp>
                <p:nvGrpSpPr>
                  <p:cNvPr id="160" name="Группа 159"/>
                  <p:cNvGrpSpPr/>
                  <p:nvPr/>
                </p:nvGrpSpPr>
                <p:grpSpPr>
                  <a:xfrm>
                    <a:off x="10390922" y="3395741"/>
                    <a:ext cx="889383" cy="277433"/>
                    <a:chOff x="6369280" y="1767176"/>
                    <a:chExt cx="864000" cy="277433"/>
                  </a:xfrm>
                </p:grpSpPr>
                <p:grpSp>
                  <p:nvGrpSpPr>
                    <p:cNvPr id="161" name="Группа 160"/>
                    <p:cNvGrpSpPr/>
                    <p:nvPr/>
                  </p:nvGrpSpPr>
                  <p:grpSpPr>
                    <a:xfrm>
                      <a:off x="6369280" y="1767610"/>
                      <a:ext cx="864000" cy="276999"/>
                      <a:chOff x="4158024" y="2850118"/>
                      <a:chExt cx="1058312" cy="276999"/>
                    </a:xfrm>
                  </p:grpSpPr>
                  <p:sp>
                    <p:nvSpPr>
                      <p:cNvPr id="174" name="Прямоугольник 173"/>
                      <p:cNvSpPr/>
                      <p:nvPr/>
                    </p:nvSpPr>
                    <p:spPr>
                      <a:xfrm>
                        <a:off x="4158024" y="2856828"/>
                        <a:ext cx="1058312" cy="26200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</p:spPr>
                    <p:style>
                      <a:lnRef idx="2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lnRef>
                      <a:fillRef idx="1">
                        <a:scrgbClr r="0" g="0" b="0"/>
                      </a:fillRef>
                      <a:effectRef idx="0">
                        <a:schemeClr val="accent1">
                          <a:tint val="50000"/>
                          <a:hueOff val="0"/>
                          <a:satOff val="0"/>
                          <a:lumOff val="0"/>
                          <a:alphaOff val="0"/>
                        </a:schemeClr>
                      </a:effectRef>
                      <a:fontRef idx="minor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ru-RU" dirty="0"/>
                      </a:p>
                    </p:txBody>
                  </p:sp>
                  <p:sp>
                    <p:nvSpPr>
                      <p:cNvPr id="175" name="TextBox 174"/>
                      <p:cNvSpPr txBox="1"/>
                      <p:nvPr/>
                    </p:nvSpPr>
                    <p:spPr>
                      <a:xfrm>
                        <a:off x="4161798" y="2850118"/>
                        <a:ext cx="72296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sz="1200" b="1" dirty="0" smtClean="0"/>
                          <a:t>ID doc</a:t>
                        </a:r>
                        <a:endParaRPr lang="ru-RU" sz="1200" b="1" dirty="0"/>
                      </a:p>
                    </p:txBody>
                  </p:sp>
                  <p:cxnSp>
                    <p:nvCxnSpPr>
                      <p:cNvPr id="176" name="Прямая соединительная линия 175"/>
                      <p:cNvCxnSpPr/>
                      <p:nvPr/>
                    </p:nvCxnSpPr>
                    <p:spPr>
                      <a:xfrm>
                        <a:off x="4845752" y="2854401"/>
                        <a:ext cx="0" cy="262008"/>
                      </a:xfrm>
                      <a:prstGeom prst="line">
                        <a:avLst/>
                      </a:prstGeom>
                      <a:ln w="15875">
                        <a:solidFill>
                          <a:schemeClr val="bg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72" name="TextBox 171"/>
                    <p:cNvSpPr txBox="1"/>
                    <p:nvPr/>
                  </p:nvSpPr>
                  <p:spPr>
                    <a:xfrm>
                      <a:off x="6947998" y="1767176"/>
                      <a:ext cx="22273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n</a:t>
                      </a:r>
                      <a:endParaRPr lang="ru-RU" sz="1200" b="1" dirty="0"/>
                    </a:p>
                  </p:txBody>
                </p:sp>
              </p:grpSp>
            </p:grpSp>
            <p:sp>
              <p:nvSpPr>
                <p:cNvPr id="177" name="TextBox 176"/>
                <p:cNvSpPr txBox="1"/>
                <p:nvPr/>
              </p:nvSpPr>
              <p:spPr>
                <a:xfrm>
                  <a:off x="9418704" y="3760237"/>
                  <a:ext cx="243900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д</a:t>
                  </a:r>
                  <a:r>
                    <a:rPr lang="ru-RU" sz="1000" dirty="0" smtClean="0"/>
                    <a:t>обавить в базу ответов </a:t>
                  </a:r>
                  <a:r>
                    <a:rPr lang="en-US" sz="1000" dirty="0"/>
                    <a:t>ID </a:t>
                  </a:r>
                  <a:r>
                    <a:rPr lang="ru-RU" sz="1000" dirty="0"/>
                    <a:t>документа </a:t>
                  </a:r>
                  <a:r>
                    <a:rPr lang="ru-RU" sz="1000" dirty="0" smtClean="0"/>
                    <a:t>и количество вхождений слова </a:t>
                  </a:r>
                  <a:r>
                    <a:rPr lang="ru-RU" sz="1000" dirty="0"/>
                    <a:t>в </a:t>
                  </a:r>
                  <a:r>
                    <a:rPr lang="ru-RU" sz="1000" dirty="0" smtClean="0"/>
                    <a:t>документ</a:t>
                  </a:r>
                  <a:endParaRPr lang="ru-RU" sz="1000" dirty="0"/>
                </a:p>
              </p:txBody>
            </p:sp>
          </p:grpSp>
          <p:sp>
            <p:nvSpPr>
              <p:cNvPr id="212" name="Блок-схема: процесс 211"/>
              <p:cNvSpPr/>
              <p:nvPr/>
            </p:nvSpPr>
            <p:spPr>
              <a:xfrm>
                <a:off x="9474706" y="3272703"/>
                <a:ext cx="2376000" cy="972000"/>
              </a:xfrm>
              <a:prstGeom prst="flowChartProcess">
                <a:avLst/>
              </a:prstGeom>
              <a:noFill/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215" name="Группа 214"/>
            <p:cNvGrpSpPr/>
            <p:nvPr/>
          </p:nvGrpSpPr>
          <p:grpSpPr>
            <a:xfrm>
              <a:off x="9517187" y="4196799"/>
              <a:ext cx="2376000" cy="792000"/>
              <a:chOff x="3108276" y="3428385"/>
              <a:chExt cx="2376000" cy="792000"/>
            </a:xfrm>
          </p:grpSpPr>
          <p:grpSp>
            <p:nvGrpSpPr>
              <p:cNvPr id="216" name="Группа 21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218" name="TextBox 217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  <a:endParaRPr lang="ru-RU" sz="1000" dirty="0" smtClean="0"/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</a:t>
                  </a:r>
                  <a:r>
                    <a:rPr lang="en-US" sz="1000" dirty="0" smtClean="0"/>
                    <a:t>(mAR)</a:t>
                  </a:r>
                  <a:endParaRPr lang="ru-RU" sz="1000" dirty="0"/>
                </a:p>
              </p:txBody>
            </p:sp>
            <p:sp>
              <p:nvSpPr>
                <p:cNvPr id="219" name="TextBox 218"/>
                <p:cNvSpPr txBox="1"/>
                <p:nvPr/>
              </p:nvSpPr>
              <p:spPr>
                <a:xfrm>
                  <a:off x="9764755" y="2651229"/>
                  <a:ext cx="126829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dirty="0" smtClean="0"/>
                    <a:t>mAR = </a:t>
                  </a:r>
                  <a:r>
                    <a:rPr lang="en-US" sz="1000" dirty="0" smtClean="0"/>
                    <a:t>MAX(mAR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220" name="Блок-схема: процесс 219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  <p:sp>
            <p:nvSpPr>
              <p:cNvPr id="217" name="Блок-схема: процесс 216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noFill/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22" name="Блок-схема: процесс 221"/>
            <p:cNvSpPr/>
            <p:nvPr/>
          </p:nvSpPr>
          <p:spPr>
            <a:xfrm>
              <a:off x="9441303" y="3093773"/>
              <a:ext cx="2520000" cy="1980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226" name="Соединительная линия уступом 225"/>
          <p:cNvCxnSpPr>
            <a:stCxn id="222" idx="3"/>
            <a:endCxn id="70" idx="0"/>
          </p:cNvCxnSpPr>
          <p:nvPr/>
        </p:nvCxnSpPr>
        <p:spPr>
          <a:xfrm flipH="1" flipV="1">
            <a:off x="5046783" y="1787904"/>
            <a:ext cx="6193392" cy="3025378"/>
          </a:xfrm>
          <a:prstGeom prst="bentConnector4">
            <a:avLst>
              <a:gd name="adj1" fmla="val -3691"/>
              <a:gd name="adj2" fmla="val 10755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Соединительная линия уступом 240"/>
          <p:cNvCxnSpPr>
            <a:stCxn id="196" idx="3"/>
            <a:endCxn id="221" idx="1"/>
          </p:cNvCxnSpPr>
          <p:nvPr/>
        </p:nvCxnSpPr>
        <p:spPr>
          <a:xfrm>
            <a:off x="8022241" y="2301006"/>
            <a:ext cx="703459" cy="455948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Соединительная линия уступом 244"/>
          <p:cNvCxnSpPr>
            <a:stCxn id="196" idx="2"/>
            <a:endCxn id="222" idx="1"/>
          </p:cNvCxnSpPr>
          <p:nvPr/>
        </p:nvCxnSpPr>
        <p:spPr>
          <a:xfrm rot="16200000" flipH="1">
            <a:off x="7115070" y="3208177"/>
            <a:ext cx="1846276" cy="1363934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Соединительная линия уступом 247"/>
          <p:cNvCxnSpPr>
            <a:stCxn id="101" idx="2"/>
            <a:endCxn id="194" idx="1"/>
          </p:cNvCxnSpPr>
          <p:nvPr/>
        </p:nvCxnSpPr>
        <p:spPr>
          <a:xfrm rot="5400000">
            <a:off x="5345744" y="4707243"/>
            <a:ext cx="774196" cy="1077018"/>
          </a:xfrm>
          <a:prstGeom prst="bentConnector4">
            <a:avLst>
              <a:gd name="adj1" fmla="val 17074"/>
              <a:gd name="adj2" fmla="val 14125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Стрелка вправо 255"/>
          <p:cNvSpPr/>
          <p:nvPr/>
        </p:nvSpPr>
        <p:spPr>
          <a:xfrm>
            <a:off x="11631797" y="355909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767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результатов поиска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442610" y="2334743"/>
            <a:ext cx="123944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</a:t>
            </a:r>
            <a:r>
              <a:rPr lang="en-US" sz="1000" dirty="0" smtClean="0"/>
              <a:t>ID </a:t>
            </a:r>
            <a:r>
              <a:rPr lang="ru-RU" sz="1000" dirty="0" smtClean="0"/>
              <a:t>запроса</a:t>
            </a:r>
            <a:endParaRPr lang="ru-RU" sz="10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919778" y="1960152"/>
            <a:ext cx="12421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3015012" y="2740323"/>
            <a:ext cx="28007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одсчитать суммарный ранг ответов</a:t>
            </a:r>
            <a:r>
              <a:rPr lang="en-US" sz="1000" dirty="0" smtClean="0"/>
              <a:t> (sumRANK)</a:t>
            </a:r>
            <a:endParaRPr lang="ru-RU" sz="1000" dirty="0"/>
          </a:p>
        </p:txBody>
      </p:sp>
      <p:sp>
        <p:nvSpPr>
          <p:cNvPr id="19" name="Стрелка вправо 18"/>
          <p:cNvSpPr/>
          <p:nvPr/>
        </p:nvSpPr>
        <p:spPr>
          <a:xfrm>
            <a:off x="5363562" y="192784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5389143" y="1672625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sumRANK</a:t>
            </a:r>
            <a:endParaRPr lang="ru-RU" sz="1000" dirty="0"/>
          </a:p>
        </p:txBody>
      </p:sp>
      <p:sp>
        <p:nvSpPr>
          <p:cNvPr id="21" name="Блок-схема: решение 20"/>
          <p:cNvSpPr>
            <a:spLocks noChangeAspect="1"/>
          </p:cNvSpPr>
          <p:nvPr/>
        </p:nvSpPr>
        <p:spPr>
          <a:xfrm>
            <a:off x="6072049" y="1520738"/>
            <a:ext cx="1332000" cy="1332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6118058" y="2071041"/>
            <a:ext cx="12923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sumRANK &lt; precision</a:t>
            </a:r>
            <a:endParaRPr lang="ru-RU" sz="1000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7417199" y="2092592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TextBox 23"/>
          <p:cNvSpPr txBox="1"/>
          <p:nvPr/>
        </p:nvSpPr>
        <p:spPr>
          <a:xfrm>
            <a:off x="7202282" y="1725283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25" name="TextBox 24"/>
          <p:cNvSpPr txBox="1"/>
          <p:nvPr/>
        </p:nvSpPr>
        <p:spPr>
          <a:xfrm>
            <a:off x="7908504" y="1599276"/>
            <a:ext cx="101181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"answers":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"request003":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"result": "false"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}}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/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}</a:t>
            </a:r>
            <a:endParaRPr lang="ru-RU" sz="800" dirty="0"/>
          </a:p>
        </p:txBody>
      </p:sp>
      <p:cxnSp>
        <p:nvCxnSpPr>
          <p:cNvPr id="28" name="Соединительная линия уступом 27"/>
          <p:cNvCxnSpPr>
            <a:stCxn id="95" idx="0"/>
            <a:endCxn id="15" idx="0"/>
          </p:cNvCxnSpPr>
          <p:nvPr/>
        </p:nvCxnSpPr>
        <p:spPr>
          <a:xfrm rot="16200000" flipH="1" flipV="1">
            <a:off x="4684726" y="-2151797"/>
            <a:ext cx="122529" cy="7403815"/>
          </a:xfrm>
          <a:prstGeom prst="bentConnector3">
            <a:avLst>
              <a:gd name="adj1" fmla="val -18656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Стрелка вправо 34"/>
          <p:cNvSpPr/>
          <p:nvPr/>
        </p:nvSpPr>
        <p:spPr>
          <a:xfrm rot="5400000">
            <a:off x="6642351" y="2990775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TextBox 35"/>
          <p:cNvSpPr txBox="1"/>
          <p:nvPr/>
        </p:nvSpPr>
        <p:spPr>
          <a:xfrm>
            <a:off x="5847273" y="2888674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37" name="Стрелка вправо 36"/>
          <p:cNvSpPr/>
          <p:nvPr/>
        </p:nvSpPr>
        <p:spPr>
          <a:xfrm>
            <a:off x="6782144" y="3190872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7212715" y="2701990"/>
            <a:ext cx="101181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"answers":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"request002":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"result": "true",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}}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/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}</a:t>
            </a:r>
            <a:endParaRPr lang="ru-RU" sz="800" dirty="0"/>
          </a:p>
        </p:txBody>
      </p:sp>
      <p:sp>
        <p:nvSpPr>
          <p:cNvPr id="41" name="Стрелка вправо 40"/>
          <p:cNvSpPr/>
          <p:nvPr/>
        </p:nvSpPr>
        <p:spPr>
          <a:xfrm>
            <a:off x="8654381" y="30717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Прямоугольник 41"/>
          <p:cNvSpPr/>
          <p:nvPr/>
        </p:nvSpPr>
        <p:spPr>
          <a:xfrm>
            <a:off x="9645352" y="2148210"/>
            <a:ext cx="1745199" cy="1402837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TextBox 42"/>
          <p:cNvSpPr txBox="1"/>
          <p:nvPr/>
        </p:nvSpPr>
        <p:spPr>
          <a:xfrm>
            <a:off x="9384596" y="3551047"/>
            <a:ext cx="19511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одсчитать количество ответов  </a:t>
            </a:r>
          </a:p>
          <a:p>
            <a:r>
              <a:rPr lang="ru-RU" sz="1000" dirty="0"/>
              <a:t>с</a:t>
            </a:r>
            <a:r>
              <a:rPr lang="ru-RU" sz="1000" dirty="0" smtClean="0"/>
              <a:t> ненулевым рангом (</a:t>
            </a:r>
            <a:r>
              <a:rPr lang="en-US" sz="1000" dirty="0" smtClean="0"/>
              <a:t>count</a:t>
            </a:r>
            <a:r>
              <a:rPr lang="ru-RU" sz="1000" dirty="0" smtClean="0"/>
              <a:t>)</a:t>
            </a:r>
            <a:endParaRPr lang="ru-RU" sz="1000" dirty="0"/>
          </a:p>
        </p:txBody>
      </p:sp>
      <p:sp>
        <p:nvSpPr>
          <p:cNvPr id="45" name="Стрелка вправо 44"/>
          <p:cNvSpPr/>
          <p:nvPr/>
        </p:nvSpPr>
        <p:spPr>
          <a:xfrm>
            <a:off x="11462459" y="264012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1424213" y="51142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Блок-схема: решение 46"/>
          <p:cNvSpPr>
            <a:spLocks noChangeAspect="1"/>
          </p:cNvSpPr>
          <p:nvPr/>
        </p:nvSpPr>
        <p:spPr>
          <a:xfrm>
            <a:off x="1950240" y="4639584"/>
            <a:ext cx="1332000" cy="1332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2231496" y="5196653"/>
            <a:ext cx="7505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Count == 1</a:t>
            </a:r>
            <a:endParaRPr lang="ru-RU" sz="1000" dirty="0"/>
          </a:p>
        </p:txBody>
      </p:sp>
      <p:sp>
        <p:nvSpPr>
          <p:cNvPr id="49" name="Стрелка вправо 48"/>
          <p:cNvSpPr/>
          <p:nvPr/>
        </p:nvSpPr>
        <p:spPr>
          <a:xfrm rot="16200000">
            <a:off x="2456912" y="4414448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Стрелка вправо 49"/>
          <p:cNvSpPr/>
          <p:nvPr/>
        </p:nvSpPr>
        <p:spPr>
          <a:xfrm>
            <a:off x="2576856" y="4218212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3098313" y="3245846"/>
            <a:ext cx="103586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"answers":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"request002":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"result": "true",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"docid": 1,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"rank": 0.07018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...}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/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}</a:t>
            </a:r>
            <a:endParaRPr lang="ru-RU" sz="800" dirty="0"/>
          </a:p>
        </p:txBody>
      </p:sp>
      <p:sp>
        <p:nvSpPr>
          <p:cNvPr id="55" name="TextBox 54"/>
          <p:cNvSpPr txBox="1"/>
          <p:nvPr/>
        </p:nvSpPr>
        <p:spPr>
          <a:xfrm>
            <a:off x="1662423" y="4382365"/>
            <a:ext cx="9188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  <p:sp>
        <p:nvSpPr>
          <p:cNvPr id="59" name="Стрелка вправо 58"/>
          <p:cNvSpPr/>
          <p:nvPr/>
        </p:nvSpPr>
        <p:spPr>
          <a:xfrm>
            <a:off x="3248836" y="5213473"/>
            <a:ext cx="668075" cy="1497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0" name="Соединительная линия уступом 59"/>
          <p:cNvCxnSpPr>
            <a:stCxn id="93" idx="3"/>
            <a:endCxn id="76" idx="2"/>
          </p:cNvCxnSpPr>
          <p:nvPr/>
        </p:nvCxnSpPr>
        <p:spPr>
          <a:xfrm flipH="1" flipV="1">
            <a:off x="1082106" y="2634798"/>
            <a:ext cx="3187361" cy="1259219"/>
          </a:xfrm>
          <a:prstGeom prst="bentConnector4">
            <a:avLst>
              <a:gd name="adj1" fmla="val -7172"/>
              <a:gd name="adj2" fmla="val 6539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Стрелка вправо 64"/>
          <p:cNvSpPr/>
          <p:nvPr/>
        </p:nvSpPr>
        <p:spPr>
          <a:xfrm>
            <a:off x="5741095" y="5269730"/>
            <a:ext cx="871558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Блок-схема: решение 68"/>
          <p:cNvSpPr>
            <a:spLocks noChangeAspect="1"/>
          </p:cNvSpPr>
          <p:nvPr/>
        </p:nvSpPr>
        <p:spPr>
          <a:xfrm>
            <a:off x="6728182" y="4941238"/>
            <a:ext cx="1080000" cy="1080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6730158" y="5334464"/>
            <a:ext cx="101021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r</a:t>
            </a:r>
            <a:r>
              <a:rPr lang="en-US" sz="1000" dirty="0" smtClean="0"/>
              <a:t>ank &lt; precision</a:t>
            </a:r>
            <a:endParaRPr lang="ru-RU" sz="1000" dirty="0"/>
          </a:p>
        </p:txBody>
      </p:sp>
      <p:sp>
        <p:nvSpPr>
          <p:cNvPr id="72" name="Стрелка вправо 71"/>
          <p:cNvSpPr/>
          <p:nvPr/>
        </p:nvSpPr>
        <p:spPr>
          <a:xfrm rot="16200000">
            <a:off x="6824915" y="4393604"/>
            <a:ext cx="823350" cy="13859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TextBox 72"/>
          <p:cNvSpPr txBox="1"/>
          <p:nvPr/>
        </p:nvSpPr>
        <p:spPr>
          <a:xfrm>
            <a:off x="6862141" y="4794657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74" name="Стрелка вправо 73"/>
          <p:cNvSpPr/>
          <p:nvPr/>
        </p:nvSpPr>
        <p:spPr>
          <a:xfrm>
            <a:off x="7953352" y="5382567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TextBox 74"/>
          <p:cNvSpPr txBox="1"/>
          <p:nvPr/>
        </p:nvSpPr>
        <p:spPr>
          <a:xfrm>
            <a:off x="7812187" y="5116995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sp>
        <p:nvSpPr>
          <p:cNvPr id="78" name="TextBox 77"/>
          <p:cNvSpPr txBox="1"/>
          <p:nvPr/>
        </p:nvSpPr>
        <p:spPr>
          <a:xfrm>
            <a:off x="8293840" y="4099794"/>
            <a:ext cx="1229824" cy="16927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"answers":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"request001":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"result": "true",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"relevance": </a:t>
            </a: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[{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/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"docid": 0,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"rank": 1.0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},{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/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"docid": 2,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"rank": 0.94737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}]}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/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...</a:t>
            </a:r>
            <a:endParaRPr lang="en-US" altLang="ru-RU" sz="800" i="1" dirty="0" smtClean="0">
              <a:solidFill>
                <a:srgbClr val="808080"/>
              </a:solidFill>
              <a:latin typeface="JetBrains Mono"/>
            </a:endParaRPr>
          </a:p>
          <a:p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}</a:t>
            </a:r>
            <a:endParaRPr lang="ru-RU" sz="800" dirty="0"/>
          </a:p>
        </p:txBody>
      </p:sp>
      <p:cxnSp>
        <p:nvCxnSpPr>
          <p:cNvPr id="79" name="Соединительная линия уступом 78"/>
          <p:cNvCxnSpPr>
            <a:stCxn id="135" idx="0"/>
            <a:endCxn id="129" idx="0"/>
          </p:cNvCxnSpPr>
          <p:nvPr/>
        </p:nvCxnSpPr>
        <p:spPr>
          <a:xfrm rot="16200000" flipH="1" flipV="1">
            <a:off x="6506032" y="2416504"/>
            <a:ext cx="727734" cy="4078718"/>
          </a:xfrm>
          <a:prstGeom prst="bentConnector3">
            <a:avLst>
              <a:gd name="adj1" fmla="val -3141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Стрелка вправо 81"/>
          <p:cNvSpPr/>
          <p:nvPr/>
        </p:nvSpPr>
        <p:spPr>
          <a:xfrm rot="5400000">
            <a:off x="88746" y="2917790"/>
            <a:ext cx="88911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TextBox 83"/>
          <p:cNvSpPr txBox="1"/>
          <p:nvPr/>
        </p:nvSpPr>
        <p:spPr>
          <a:xfrm>
            <a:off x="240198" y="4396737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ответ</a:t>
            </a:r>
            <a:r>
              <a:rPr lang="ru-RU" sz="1000" dirty="0"/>
              <a:t>ы</a:t>
            </a:r>
          </a:p>
        </p:txBody>
      </p:sp>
      <p:cxnSp>
        <p:nvCxnSpPr>
          <p:cNvPr id="92" name="Соединительная линия уступом 91"/>
          <p:cNvCxnSpPr>
            <a:stCxn id="78" idx="3"/>
            <a:endCxn id="76" idx="2"/>
          </p:cNvCxnSpPr>
          <p:nvPr/>
        </p:nvCxnSpPr>
        <p:spPr>
          <a:xfrm flipH="1" flipV="1">
            <a:off x="1082106" y="2634798"/>
            <a:ext cx="8441558" cy="2311382"/>
          </a:xfrm>
          <a:prstGeom prst="bentConnector4">
            <a:avLst>
              <a:gd name="adj1" fmla="val -2708"/>
              <a:gd name="adj2" fmla="val -5570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83" y="1611376"/>
            <a:ext cx="1008000" cy="712698"/>
          </a:xfrm>
          <a:prstGeom prst="rect">
            <a:avLst/>
          </a:prstGeom>
        </p:spPr>
      </p:pic>
      <p:sp>
        <p:nvSpPr>
          <p:cNvPr id="76" name="Блок-схема: процесс 75"/>
          <p:cNvSpPr/>
          <p:nvPr/>
        </p:nvSpPr>
        <p:spPr>
          <a:xfrm>
            <a:off x="434106" y="1554798"/>
            <a:ext cx="1296000" cy="1080000"/>
          </a:xfrm>
          <a:prstGeom prst="flowChartProcess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7" name="Группа 76"/>
          <p:cNvGrpSpPr/>
          <p:nvPr/>
        </p:nvGrpSpPr>
        <p:grpSpPr>
          <a:xfrm>
            <a:off x="1843104" y="1648609"/>
            <a:ext cx="1188000" cy="277176"/>
            <a:chOff x="4111934" y="2883423"/>
            <a:chExt cx="1188000" cy="277176"/>
          </a:xfrm>
        </p:grpSpPr>
        <p:sp>
          <p:nvSpPr>
            <p:cNvPr id="80" name="Прямоугольник 79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111934" y="2883423"/>
              <a:ext cx="8448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ID request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86" name="Блок-схема: процесс 85"/>
          <p:cNvSpPr/>
          <p:nvPr/>
        </p:nvSpPr>
        <p:spPr>
          <a:xfrm>
            <a:off x="3451135" y="1603528"/>
            <a:ext cx="1748336" cy="1080000"/>
          </a:xfrm>
          <a:prstGeom prst="flowChartProcess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61" y="1484309"/>
            <a:ext cx="545554" cy="771609"/>
          </a:xfrm>
          <a:prstGeom prst="rect">
            <a:avLst/>
          </a:prstGeom>
        </p:spPr>
      </p:pic>
      <p:grpSp>
        <p:nvGrpSpPr>
          <p:cNvPr id="87" name="Группа 86"/>
          <p:cNvGrpSpPr/>
          <p:nvPr/>
        </p:nvGrpSpPr>
        <p:grpSpPr>
          <a:xfrm>
            <a:off x="3875395" y="1808475"/>
            <a:ext cx="1188000" cy="277176"/>
            <a:chOff x="4111934" y="2883423"/>
            <a:chExt cx="1188000" cy="277176"/>
          </a:xfrm>
        </p:grpSpPr>
        <p:sp>
          <p:nvSpPr>
            <p:cNvPr id="88" name="Прямоугольник 87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4111934" y="2883423"/>
              <a:ext cx="590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ID doc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p:cxnSp>
          <p:nvCxnSpPr>
            <p:cNvPr id="90" name="Прямая соединительная линия 89"/>
            <p:cNvCxnSpPr/>
            <p:nvPr/>
          </p:nvCxnSpPr>
          <p:spPr>
            <a:xfrm>
              <a:off x="4670958" y="2897951"/>
              <a:ext cx="0" cy="262008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1" name="TextBox 90"/>
          <p:cNvSpPr txBox="1"/>
          <p:nvPr/>
        </p:nvSpPr>
        <p:spPr>
          <a:xfrm>
            <a:off x="4472365" y="1819667"/>
            <a:ext cx="8268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>
                <a:solidFill>
                  <a:schemeClr val="bg1"/>
                </a:solidFill>
              </a:rPr>
              <a:t>rank</a:t>
            </a:r>
            <a:endParaRPr lang="ru-RU" sz="12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/>
              <p:cNvSpPr txBox="1"/>
              <p:nvPr/>
            </p:nvSpPr>
            <p:spPr>
              <a:xfrm>
                <a:off x="3440185" y="2166007"/>
                <a:ext cx="1688091" cy="5252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𝑠𝑢𝑚𝑅𝐴𝑁𝐾</m:t>
                      </m:r>
                      <m:r>
                        <a:rPr lang="pt-BR" sz="10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𝑑𝑜𝑐</m:t>
                          </m:r>
                          <m:r>
                            <a:rPr lang="pt-BR" sz="100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𝑟𝑎𝑛𝑘</m:t>
                          </m:r>
                        </m:e>
                      </m:nary>
                    </m:oMath>
                  </m:oMathPara>
                </a14:m>
                <a:endParaRPr lang="ru-RU" sz="1000" dirty="0"/>
              </a:p>
            </p:txBody>
          </p:sp>
        </mc:Choice>
        <mc:Fallback xmlns="">
          <p:sp>
            <p:nvSpPr>
              <p:cNvPr id="38" name="Text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0185" y="2166007"/>
                <a:ext cx="1688091" cy="525208"/>
              </a:xfrm>
              <a:prstGeom prst="rect">
                <a:avLst/>
              </a:prstGeom>
              <a:blipFill rotWithShape="0">
                <a:blip r:embed="rId5"/>
                <a:stretch>
                  <a:fillRect t="-87209" r="-24910" b="-1395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Блок-схема: процесс 92"/>
          <p:cNvSpPr/>
          <p:nvPr/>
        </p:nvSpPr>
        <p:spPr>
          <a:xfrm>
            <a:off x="2973467" y="3218748"/>
            <a:ext cx="1296000" cy="1350537"/>
          </a:xfrm>
          <a:prstGeom prst="flowChartProcess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4" name="Блок-схема: процесс 93"/>
          <p:cNvSpPr/>
          <p:nvPr/>
        </p:nvSpPr>
        <p:spPr>
          <a:xfrm>
            <a:off x="7118411" y="2681049"/>
            <a:ext cx="1296000" cy="1080000"/>
          </a:xfrm>
          <a:prstGeom prst="flowChartProcess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Блок-схема: процесс 94"/>
          <p:cNvSpPr/>
          <p:nvPr/>
        </p:nvSpPr>
        <p:spPr>
          <a:xfrm>
            <a:off x="7799898" y="1488847"/>
            <a:ext cx="1296000" cy="1080000"/>
          </a:xfrm>
          <a:prstGeom prst="flowChartProcess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/>
              <p:cNvSpPr txBox="1"/>
              <p:nvPr/>
            </p:nvSpPr>
            <p:spPr>
              <a:xfrm>
                <a:off x="9615217" y="2958649"/>
                <a:ext cx="1795876" cy="5368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𝑐𝑜𝑢𝑛𝑡</m:t>
                      </m:r>
                      <m:r>
                        <a:rPr lang="pt-BR" sz="10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𝑑𝑜𝑐</m:t>
                          </m:r>
                          <m:r>
                            <a:rPr lang="pt-BR" sz="100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𝑟𝑎𝑛𝑘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&gt;0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𝑟𝑎𝑛𝑘</m:t>
                          </m:r>
                        </m:e>
                      </m:nary>
                    </m:oMath>
                  </m:oMathPara>
                </a14:m>
                <a:endParaRPr lang="ru-RU" sz="1000" dirty="0"/>
              </a:p>
            </p:txBody>
          </p:sp>
        </mc:Choice>
        <mc:Fallback xmlns="">
          <p:sp>
            <p:nvSpPr>
              <p:cNvPr id="97" name="TextBox 9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5217" y="2958649"/>
                <a:ext cx="1795876" cy="536878"/>
              </a:xfrm>
              <a:prstGeom prst="rect">
                <a:avLst/>
              </a:prstGeom>
              <a:blipFill rotWithShape="0">
                <a:blip r:embed="rId6"/>
                <a:stretch>
                  <a:fillRect t="-85227" r="-13220" b="-1340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8" name="Рисунок 9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0246" y="2099693"/>
            <a:ext cx="545554" cy="771609"/>
          </a:xfrm>
          <a:prstGeom prst="rect">
            <a:avLst/>
          </a:prstGeom>
        </p:spPr>
      </p:pic>
      <p:grpSp>
        <p:nvGrpSpPr>
          <p:cNvPr id="99" name="Группа 98"/>
          <p:cNvGrpSpPr/>
          <p:nvPr/>
        </p:nvGrpSpPr>
        <p:grpSpPr>
          <a:xfrm>
            <a:off x="10135074" y="2372356"/>
            <a:ext cx="1188000" cy="277176"/>
            <a:chOff x="4111934" y="2883423"/>
            <a:chExt cx="1188000" cy="277176"/>
          </a:xfrm>
        </p:grpSpPr>
        <p:sp>
          <p:nvSpPr>
            <p:cNvPr id="100" name="Прямоугольник 99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4111934" y="2883423"/>
              <a:ext cx="590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ID doc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p:cxnSp>
          <p:nvCxnSpPr>
            <p:cNvPr id="102" name="Прямая соединительная линия 101"/>
            <p:cNvCxnSpPr/>
            <p:nvPr/>
          </p:nvCxnSpPr>
          <p:spPr>
            <a:xfrm>
              <a:off x="4670958" y="2897951"/>
              <a:ext cx="0" cy="262008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TextBox 106"/>
          <p:cNvSpPr txBox="1"/>
          <p:nvPr/>
        </p:nvSpPr>
        <p:spPr>
          <a:xfrm>
            <a:off x="10726794" y="2371893"/>
            <a:ext cx="8268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>
                <a:solidFill>
                  <a:schemeClr val="bg1"/>
                </a:solidFill>
              </a:rPr>
              <a:t>rank</a:t>
            </a:r>
            <a:endParaRPr lang="ru-RU" sz="1200" b="1" dirty="0">
              <a:solidFill>
                <a:schemeClr val="bg1"/>
              </a:solidFill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3019224" y="5460025"/>
            <a:ext cx="12410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м</a:t>
            </a:r>
            <a:r>
              <a:rPr lang="ru-RU" sz="1000" dirty="0" smtClean="0"/>
              <a:t>ножество ответов</a:t>
            </a:r>
            <a:endParaRPr lang="ru-RU" sz="1000" dirty="0"/>
          </a:p>
        </p:txBody>
      </p:sp>
      <p:pic>
        <p:nvPicPr>
          <p:cNvPr id="58" name="Рисунок 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7999" y="4781191"/>
            <a:ext cx="1008000" cy="712698"/>
          </a:xfrm>
          <a:prstGeom prst="rect">
            <a:avLst/>
          </a:prstGeom>
        </p:spPr>
      </p:pic>
      <p:sp>
        <p:nvSpPr>
          <p:cNvPr id="129" name="Блок-схема: процесс 128"/>
          <p:cNvSpPr/>
          <p:nvPr/>
        </p:nvSpPr>
        <p:spPr>
          <a:xfrm>
            <a:off x="4182540" y="4819730"/>
            <a:ext cx="1296000" cy="1080000"/>
          </a:xfrm>
          <a:prstGeom prst="flowChartProcess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TextBox 129"/>
          <p:cNvSpPr txBox="1"/>
          <p:nvPr/>
        </p:nvSpPr>
        <p:spPr>
          <a:xfrm>
            <a:off x="4324857" y="5600837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ранг</a:t>
            </a:r>
            <a:endParaRPr lang="ru-RU" sz="1000" dirty="0"/>
          </a:p>
        </p:txBody>
      </p:sp>
      <p:grpSp>
        <p:nvGrpSpPr>
          <p:cNvPr id="131" name="Группа 130"/>
          <p:cNvGrpSpPr/>
          <p:nvPr/>
        </p:nvGrpSpPr>
        <p:grpSpPr>
          <a:xfrm>
            <a:off x="5653229" y="4999041"/>
            <a:ext cx="1188000" cy="277176"/>
            <a:chOff x="4111934" y="2883423"/>
            <a:chExt cx="1188000" cy="277176"/>
          </a:xfrm>
        </p:grpSpPr>
        <p:sp>
          <p:nvSpPr>
            <p:cNvPr id="132" name="Прямоугольник 131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4111934" y="2883423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35" name="Блок-схема: процесс 134"/>
          <p:cNvSpPr/>
          <p:nvPr/>
        </p:nvSpPr>
        <p:spPr>
          <a:xfrm>
            <a:off x="8261258" y="4091996"/>
            <a:ext cx="1296000" cy="1657750"/>
          </a:xfrm>
          <a:prstGeom prst="flowChartProcess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9" name="Рисунок 14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392" y="3449821"/>
            <a:ext cx="800787" cy="1132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53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04.01.2026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043406979"/>
              </p:ext>
            </p:extLst>
          </p:nvPr>
        </p:nvGraphicFramePr>
        <p:xfrm>
          <a:off x="1771650" y="2029224"/>
          <a:ext cx="8648700" cy="3242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34366962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87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0178757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14 дополнительных потоках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04.01.2026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866086831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Рисунок 1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9116058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57516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4,7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15473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4,6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14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04.01.2026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86282750"/>
              </p:ext>
            </p:extLst>
          </p:nvPr>
        </p:nvGraphicFramePr>
        <p:xfrm>
          <a:off x="1773237" y="2029224"/>
          <a:ext cx="8648700" cy="3278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98149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 Очевидно, что он значительно меньше </a:t>
            </a:r>
          </a:p>
          <a:p>
            <a:r>
              <a:rPr lang="ru-RU" dirty="0"/>
              <a:t>о</a:t>
            </a:r>
            <a:r>
              <a:rPr lang="ru-RU" dirty="0" smtClean="0"/>
              <a:t>бъёма базы документов.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70" name="Группа 69"/>
          <p:cNvGrpSpPr/>
          <p:nvPr/>
        </p:nvGrpSpPr>
        <p:grpSpPr>
          <a:xfrm>
            <a:off x="5078220" y="1628446"/>
            <a:ext cx="1803288" cy="1800000"/>
            <a:chOff x="9409488" y="1632400"/>
            <a:chExt cx="1803288" cy="1800000"/>
          </a:xfrm>
        </p:grpSpPr>
        <p:grpSp>
          <p:nvGrpSpPr>
            <p:cNvPr id="23" name="Группа 22"/>
            <p:cNvGrpSpPr/>
            <p:nvPr/>
          </p:nvGrpSpPr>
          <p:grpSpPr>
            <a:xfrm>
              <a:off x="9409488" y="1632400"/>
              <a:ext cx="1800000" cy="1800000"/>
              <a:chOff x="6093193" y="1986699"/>
              <a:chExt cx="1440000" cy="1442301"/>
            </a:xfrm>
          </p:grpSpPr>
          <p:grpSp>
            <p:nvGrpSpPr>
              <p:cNvPr id="24" name="Группа 2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26" name="Скругленный прямоугольник 2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2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dirty="0"/>
                    <a:t>Documents</a:t>
                  </a:r>
                  <a:endParaRPr lang="ru-RU" b="1" kern="1200" dirty="0"/>
                </a:p>
              </p:txBody>
            </p:sp>
          </p:grpSp>
          <p:sp>
            <p:nvSpPr>
              <p:cNvPr id="25" name="Прямоугольник 2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>
                    <a:solidFill>
                      <a:schemeClr val="tx1"/>
                    </a:solidFill>
                  </a:rPr>
                  <a:t>Обновить базу </a:t>
                </a:r>
                <a:r>
                  <a:rPr lang="ru-RU" sz="1100" dirty="0" smtClean="0">
                    <a:solidFill>
                      <a:schemeClr val="tx1"/>
                    </a:solidFill>
                  </a:rPr>
                  <a:t>путей файлов документов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0" name="Рисунок 4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49179" y="1995341"/>
              <a:ext cx="763597" cy="1080000"/>
            </a:xfrm>
            <a:prstGeom prst="rect">
              <a:avLst/>
            </a:prstGeom>
          </p:spPr>
        </p:pic>
      </p:grpSp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56" name="Рисунок 5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4426" y="3068312"/>
            <a:ext cx="509064" cy="720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Dispatcher</a:t>
                  </a:r>
                  <a:endParaRPr lang="ru-RU" b="1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Operations</a:t>
                  </a:r>
                  <a:endParaRPr lang="ru-RU" b="1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80" name="Рисунок 79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98085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7850608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175511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объёмы баз путей файлов документов</a:t>
            </a: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объёма базы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540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04.01.2026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017630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46267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919656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sp>
        <p:nvSpPr>
          <p:cNvPr id="71" name="Стрелка вправо 70"/>
          <p:cNvSpPr/>
          <p:nvPr/>
        </p:nvSpPr>
        <p:spPr>
          <a:xfrm rot="16200000">
            <a:off x="6233736" y="4674433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04.01.2026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04.01.2026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04.01.2026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872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517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2043820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04.01.2026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060728" y="4001372"/>
            <a:ext cx="5915209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в</a:t>
            </a:r>
            <a:r>
              <a:rPr lang="ru-RU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46723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891653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464745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717856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8497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8533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342142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3111117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291353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483303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04.01.2026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04.01.2026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31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804879326"/>
              </p:ext>
            </p:extLst>
          </p:nvPr>
        </p:nvGraphicFramePr>
        <p:xfrm>
          <a:off x="1771650" y="2029224"/>
          <a:ext cx="8648700" cy="32882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путей файлов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4201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04.01.2026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32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04.01.2026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33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612981151"/>
              </p:ext>
            </p:extLst>
          </p:nvPr>
        </p:nvGraphicFramePr>
        <p:xfrm>
          <a:off x="2074609" y="2020888"/>
          <a:ext cx="393290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240014798"/>
              </p:ext>
            </p:extLst>
          </p:nvPr>
        </p:nvGraphicFramePr>
        <p:xfrm>
          <a:off x="6174660" y="2020888"/>
          <a:ext cx="414921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?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применения многопоточности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2919688" y="4905682"/>
            <a:ext cx="2221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 раза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6574787" y="4905682"/>
            <a:ext cx="3359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3,9 раза и 4,1 раза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04.01.2026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04.01.2026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35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04.01.2026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36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04.01.2026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37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04.01.2026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38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04.01.2026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04.01.2026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40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20367</TotalTime>
  <Words>2389</Words>
  <Application>Microsoft Office PowerPoint</Application>
  <PresentationFormat>Широкоэкранный</PresentationFormat>
  <Paragraphs>767</Paragraphs>
  <Slides>40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40</vt:i4>
      </vt:variant>
    </vt:vector>
  </HeadingPairs>
  <TitlesOfParts>
    <vt:vector size="45" baseType="lpstr">
      <vt:lpstr>Calibri</vt:lpstr>
      <vt:lpstr>Calibri Light</vt:lpstr>
      <vt:lpstr>Cambria Math</vt:lpstr>
      <vt:lpstr>JetBrains Mono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649</cp:revision>
  <dcterms:created xsi:type="dcterms:W3CDTF">2025-10-14T05:54:15Z</dcterms:created>
  <dcterms:modified xsi:type="dcterms:W3CDTF">2026-01-04T20:41:30Z</dcterms:modified>
</cp:coreProperties>
</file>
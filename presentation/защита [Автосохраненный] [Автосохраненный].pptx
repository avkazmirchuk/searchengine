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32"/>
  </p:notesMasterIdLst>
  <p:sldIdLst>
    <p:sldId id="275" r:id="rId2"/>
    <p:sldId id="284" r:id="rId3"/>
    <p:sldId id="286" r:id="rId4"/>
    <p:sldId id="260" r:id="rId5"/>
    <p:sldId id="282" r:id="rId6"/>
    <p:sldId id="264" r:id="rId7"/>
    <p:sldId id="266" r:id="rId8"/>
    <p:sldId id="268" r:id="rId9"/>
    <p:sldId id="299" r:id="rId10"/>
    <p:sldId id="301" r:id="rId11"/>
    <p:sldId id="302" r:id="rId12"/>
    <p:sldId id="291" r:id="rId13"/>
    <p:sldId id="279" r:id="rId14"/>
    <p:sldId id="292" r:id="rId15"/>
    <p:sldId id="293" r:id="rId16"/>
    <p:sldId id="280" r:id="rId17"/>
    <p:sldId id="281" r:id="rId18"/>
    <p:sldId id="294" r:id="rId19"/>
    <p:sldId id="295" r:id="rId20"/>
    <p:sldId id="296" r:id="rId21"/>
    <p:sldId id="300" r:id="rId22"/>
    <p:sldId id="298" r:id="rId23"/>
    <p:sldId id="283" r:id="rId24"/>
    <p:sldId id="272" r:id="rId25"/>
    <p:sldId id="259" r:id="rId26"/>
    <p:sldId id="271" r:id="rId27"/>
    <p:sldId id="287" r:id="rId28"/>
    <p:sldId id="285" r:id="rId29"/>
    <p:sldId id="290" r:id="rId30"/>
    <p:sldId id="257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6720" userDrawn="1">
          <p15:clr>
            <a:srgbClr val="A4A3A4"/>
          </p15:clr>
        </p15:guide>
        <p15:guide id="3" pos="4089" userDrawn="1">
          <p15:clr>
            <a:srgbClr val="A4A3A4"/>
          </p15:clr>
        </p15:guide>
        <p15:guide id="4" orient="horz" pos="9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4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9DBFBE"/>
    <a:srgbClr val="DB8631"/>
    <a:srgbClr val="DF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6400" autoAdjust="0"/>
  </p:normalViewPr>
  <p:slideViewPr>
    <p:cSldViewPr snapToGrid="0">
      <p:cViewPr varScale="1">
        <p:scale>
          <a:sx n="112" d="100"/>
          <a:sy n="112" d="100"/>
        </p:scale>
        <p:origin x="240" y="108"/>
      </p:cViewPr>
      <p:guideLst>
        <p:guide orient="horz" pos="2273"/>
        <p:guide pos="6720"/>
        <p:guide pos="4089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5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843 файла (100'000 слов в каждом)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(1,444)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14.759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8'427 файлов (10'000 слов в каждом)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ED520A0-7E7B-4C61-A020-96DD0A413605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(2,109)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111.065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84'268 файлов (1000 слов в каждом)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6D05939F-E248-42C5-8CB9-547A52A5D49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(6,615)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848.16399999999999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52755696"/>
        <c:axId val="352752560"/>
      </c:barChart>
      <c:catAx>
        <c:axId val="352755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52752560"/>
        <c:crosses val="autoZero"/>
        <c:auto val="1"/>
        <c:lblAlgn val="ctr"/>
        <c:lblOffset val="100"/>
        <c:noMultiLvlLbl val="0"/>
      </c:catAx>
      <c:valAx>
        <c:axId val="352752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52755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843 файла (100'000 слов)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18619894735381E-3"/>
                  <c:y val="7.3806072401600325E-3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(1,444)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86594731214154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14.759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2907275479454601E-3"/>
                  <c:y val="1.9758081399462033E-2"/>
                </c:manualLayout>
              </c:layout>
              <c:tx>
                <c:rich>
                  <a:bodyPr/>
                  <a:lstStyle/>
                  <a:p>
                    <a:fld id="{9CD5091D-5C4C-4259-8716-D3BBB64CBD3D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(0,378)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27675707203268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2.0699999999999998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52754520"/>
        <c:axId val="352756088"/>
      </c:barChart>
      <c:catAx>
        <c:axId val="352754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52756088"/>
        <c:crosses val="autoZero"/>
        <c:auto val="1"/>
        <c:lblAlgn val="ctr"/>
        <c:lblOffset val="100"/>
        <c:noMultiLvlLbl val="0"/>
      </c:catAx>
      <c:valAx>
        <c:axId val="352756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52754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8'427 файлов (</a:t>
            </a:r>
            <a:r>
              <a:rPr lang="ru-RU" dirty="0" smtClean="0"/>
              <a:t>10'000 слов)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638E-3"/>
                  <c:y val="1.6548839244075662E-2"/>
                </c:manualLayout>
              </c:layout>
              <c:tx>
                <c:rich>
                  <a:bodyPr/>
                  <a:lstStyle/>
                  <a:p>
                    <a:fld id="{6A320D31-3F99-4F68-823D-66A3A26BC4C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(2,109)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0918147830990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111.065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3049005479089651E-3"/>
                  <c:y val="2.6142275078724072E-2"/>
                </c:manualLayout>
              </c:layout>
              <c:tx>
                <c:rich>
                  <a:bodyPr/>
                  <a:lstStyle/>
                  <a:p>
                    <a:fld id="{D2D0D791-12B8-4838-9964-87FCB6B9E0A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(0,653)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111545075433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14.834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473296"/>
        <c:axId val="382469376"/>
      </c:barChart>
      <c:catAx>
        <c:axId val="38247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2469376"/>
        <c:crosses val="autoZero"/>
        <c:auto val="1"/>
        <c:lblAlgn val="ctr"/>
        <c:lblOffset val="100"/>
        <c:noMultiLvlLbl val="0"/>
      </c:catAx>
      <c:valAx>
        <c:axId val="382469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2473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84'268 файлов (1000 слов)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229569302204905E-2"/>
                  <c:y val="7.4366491834306579E-3"/>
                </c:manualLayout>
              </c:layout>
              <c:tx>
                <c:rich>
                  <a:bodyPr/>
                  <a:lstStyle/>
                  <a:p>
                    <a:fld id="{6877D898-7D52-4495-882D-03A97BA591F0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(6,615)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64138899008516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848.16399999999999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130551491569175E-3"/>
                  <c:y val="2.1533440189474985E-2"/>
                </c:manualLayout>
              </c:layout>
              <c:tx>
                <c:rich>
                  <a:bodyPr/>
                  <a:lstStyle/>
                  <a:p>
                    <a:fld id="{7E7207FD-8380-4417-BFFD-C98A4E535B1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(1,335)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20014151803262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116.48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5838296"/>
        <c:axId val="385836336"/>
      </c:barChart>
      <c:catAx>
        <c:axId val="385838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5836336"/>
        <c:crosses val="autoZero"/>
        <c:auto val="1"/>
        <c:lblAlgn val="ctr"/>
        <c:lblOffset val="100"/>
        <c:noMultiLvlLbl val="0"/>
      </c:catAx>
      <c:valAx>
        <c:axId val="38583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5838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415 МБ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8.5214798677125392E-3"/>
                </c:manualLayout>
              </c:layout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11.794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831 МБ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2707BA8-7D01-4AE2-A91A-322CD5B7F951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23.141999999999999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1239 МБ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256D7052-E7BB-46BA-8714-EB96970C6872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35.051000000000002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5834768"/>
        <c:axId val="385832416"/>
      </c:barChart>
      <c:catAx>
        <c:axId val="385834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5832416"/>
        <c:crosses val="autoZero"/>
        <c:auto val="1"/>
        <c:lblAlgn val="ctr"/>
        <c:lblOffset val="100"/>
        <c:noMultiLvlLbl val="0"/>
      </c:catAx>
      <c:valAx>
        <c:axId val="38583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5834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7.3804267631520813E-3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11.794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97582618764699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2.593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687816"/>
        <c:axId val="472682720"/>
      </c:barChart>
      <c:catAx>
        <c:axId val="472687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82720"/>
        <c:crosses val="autoZero"/>
        <c:auto val="1"/>
        <c:lblAlgn val="ctr"/>
        <c:lblOffset val="100"/>
        <c:noMultiLvlLbl val="0"/>
      </c:catAx>
      <c:valAx>
        <c:axId val="472682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87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6055E-3"/>
                  <c:y val="7.380426763152081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23.141999999999999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61424555557319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4.9580000000000002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688208"/>
        <c:axId val="472688992"/>
      </c:barChart>
      <c:catAx>
        <c:axId val="472688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88992"/>
        <c:crosses val="autoZero"/>
        <c:auto val="1"/>
        <c:lblAlgn val="ctr"/>
        <c:lblOffset val="100"/>
        <c:noMultiLvlLbl val="0"/>
      </c:catAx>
      <c:valAx>
        <c:axId val="47268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88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539165447470623E-2"/>
                  <c:y val="7.436649183430636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35.051000000000002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15334401894750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7.5490000000000004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683504"/>
        <c:axId val="472683896"/>
      </c:barChart>
      <c:catAx>
        <c:axId val="47268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83896"/>
        <c:crosses val="autoZero"/>
        <c:auto val="1"/>
        <c:lblAlgn val="ctr"/>
        <c:lblOffset val="100"/>
        <c:noMultiLvlLbl val="0"/>
      </c:catAx>
      <c:valAx>
        <c:axId val="472683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8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объём файлов: 415 МБ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4684287812040577E-3"/>
                  <c:y val="-1.3905343717188479E-3"/>
                </c:manualLayout>
              </c:layout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(244,31)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425.45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объём файлов: 831 МБ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2707BA8-7D01-4AE2-A91A-322CD5B7F95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(483,04)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839.69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объём файлов: 1'239 МБ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256D7052-E7BB-46BA-8714-EB96970C6872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(712,82)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1263.1199999999999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685464"/>
        <c:axId val="472685856"/>
      </c:barChart>
      <c:catAx>
        <c:axId val="472685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85856"/>
        <c:crosses val="autoZero"/>
        <c:auto val="1"/>
        <c:lblAlgn val="ctr"/>
        <c:lblOffset val="100"/>
        <c:noMultiLvlLbl val="0"/>
      </c:catAx>
      <c:valAx>
        <c:axId val="472685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685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объём</a:t>
            </a:r>
            <a:r>
              <a:rPr lang="ru-RU" baseline="0" dirty="0" smtClean="0"/>
              <a:t>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270591176103311E-3"/>
                  <c:y val="2.5717071247991292E-2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(244,31)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94708994708994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425.45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7636684303350969E-3"/>
                  <c:y val="1.9758442353477852E-2"/>
                </c:manualLayout>
              </c:layout>
              <c:tx>
                <c:rich>
                  <a:bodyPr/>
                  <a:lstStyle/>
                  <a:p>
                    <a:fld id="{0BA42F23-6CD2-4FF8-8BE3-6FD6CAEF5CBA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(256,27)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506172839506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0.05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474472"/>
        <c:axId val="382472512"/>
      </c:barChart>
      <c:catAx>
        <c:axId val="382474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2472512"/>
        <c:crosses val="autoZero"/>
        <c:auto val="1"/>
        <c:lblAlgn val="ctr"/>
        <c:lblOffset val="100"/>
        <c:noMultiLvlLbl val="0"/>
      </c:catAx>
      <c:valAx>
        <c:axId val="3824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2474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2419313081430219E-17"/>
                  <c:y val="2.1132594292017574E-2"/>
                </c:manualLayout>
              </c:layout>
              <c:tx>
                <c:rich>
                  <a:bodyPr/>
                  <a:lstStyle/>
                  <a:p>
                    <a:fld id="{7C4F8136-262A-452F-80A7-F4CB068E2A89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(483,04)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09814323607425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839.69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305039787798344E-3"/>
                  <c:y val="3.07263910806818E-2"/>
                </c:manualLayout>
              </c:layout>
              <c:tx>
                <c:rich>
                  <a:bodyPr/>
                  <a:lstStyle/>
                  <a:p>
                    <a:fld id="{A11A5DC9-F46B-4980-9541-A707D22C4D4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(460,68)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604774535809018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400656"/>
        <c:axId val="472402224"/>
      </c:barChart>
      <c:catAx>
        <c:axId val="47240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02224"/>
        <c:crosses val="autoZero"/>
        <c:auto val="1"/>
        <c:lblAlgn val="ctr"/>
        <c:lblOffset val="100"/>
        <c:noMultiLvlLbl val="0"/>
      </c:catAx>
      <c:valAx>
        <c:axId val="472402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0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321803320362724E-2"/>
                  <c:y val="1.6674722703220343E-2"/>
                </c:manualLayout>
              </c:layout>
              <c:tx>
                <c:rich>
                  <a:bodyPr/>
                  <a:lstStyle/>
                  <a:p>
                    <a:fld id="{DEED02E5-FF85-4134-9F96-1C126EECC4D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(712,82)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411343350796260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1263.1199999999999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295693022048986E-2"/>
                  <c:y val="3.0771513709264734E-2"/>
                </c:manualLayout>
              </c:layout>
              <c:tx>
                <c:rich>
                  <a:bodyPr/>
                  <a:lstStyle/>
                  <a:p>
                    <a:fld id="{B78428FD-48B2-4E6C-AA22-4E87BAE7610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(710,21)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42935702515595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401048"/>
        <c:axId val="472397520"/>
      </c:barChart>
      <c:catAx>
        <c:axId val="472401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397520"/>
        <c:crosses val="autoZero"/>
        <c:auto val="1"/>
        <c:lblAlgn val="ctr"/>
        <c:lblOffset val="100"/>
        <c:noMultiLvlLbl val="0"/>
      </c:catAx>
      <c:valAx>
        <c:axId val="472397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01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объём</a:t>
            </a:r>
            <a:r>
              <a:rPr lang="ru-RU" baseline="0" dirty="0" smtClean="0"/>
              <a:t>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270591176103311E-3"/>
                  <c:y val="2.5717071247991292E-2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(2,983)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94708994708994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4.8639999999999999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7636684303350969E-3"/>
                  <c:y val="1.9758442353477852E-2"/>
                </c:manualLayout>
              </c:layout>
              <c:tx>
                <c:rich>
                  <a:bodyPr/>
                  <a:lstStyle/>
                  <a:p>
                    <a:fld id="{0BA42F23-6CD2-4FF8-8BE3-6FD6CAEF5CBA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(2,866)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506172839506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4.8540000000000001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396344"/>
        <c:axId val="472397912"/>
      </c:barChart>
      <c:catAx>
        <c:axId val="472396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397912"/>
        <c:crosses val="autoZero"/>
        <c:auto val="1"/>
        <c:lblAlgn val="ctr"/>
        <c:lblOffset val="100"/>
        <c:noMultiLvlLbl val="0"/>
      </c:catAx>
      <c:valAx>
        <c:axId val="472397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396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2419313081430219E-17"/>
                  <c:y val="2.1132594292017574E-2"/>
                </c:manualLayout>
              </c:layout>
              <c:tx>
                <c:rich>
                  <a:bodyPr/>
                  <a:lstStyle/>
                  <a:p>
                    <a:fld id="{7C4F8136-262A-452F-80A7-F4CB068E2A89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(5,664)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09814323607425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9.2799999999999994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5409E-3"/>
                  <c:y val="3.9894623084597472E-2"/>
                </c:manualLayout>
              </c:layout>
              <c:tx>
                <c:rich>
                  <a:bodyPr/>
                  <a:lstStyle/>
                  <a:p>
                    <a:fld id="{A11A5DC9-F46B-4980-9541-A707D22C4D4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(5,589)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787798408488062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9.4440000000000008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399872"/>
        <c:axId val="472401440"/>
      </c:barChart>
      <c:catAx>
        <c:axId val="472399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01440"/>
        <c:crosses val="autoZero"/>
        <c:auto val="1"/>
        <c:lblAlgn val="ctr"/>
        <c:lblOffset val="100"/>
        <c:noMultiLvlLbl val="0"/>
      </c:catAx>
      <c:valAx>
        <c:axId val="47240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399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321803320362724E-2"/>
                  <c:y val="1.6674722703220343E-2"/>
                </c:manualLayout>
              </c:layout>
              <c:tx>
                <c:rich>
                  <a:bodyPr/>
                  <a:lstStyle/>
                  <a:p>
                    <a:fld id="{DEED02E5-FF85-4134-9F96-1C126EECC4D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(8,655)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411343350796260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13.791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295693022048986E-2"/>
                  <c:y val="3.0771513709264734E-2"/>
                </c:manualLayout>
              </c:layout>
              <c:tx>
                <c:rich>
                  <a:bodyPr/>
                  <a:lstStyle/>
                  <a:p>
                    <a:fld id="{B78428FD-48B2-4E6C-AA22-4E87BAE7610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(8,404)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42935702515595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13.92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397128"/>
        <c:axId val="472403400"/>
      </c:barChart>
      <c:catAx>
        <c:axId val="472397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03400"/>
        <c:crosses val="autoZero"/>
        <c:auto val="1"/>
        <c:lblAlgn val="ctr"/>
        <c:lblOffset val="100"/>
        <c:noMultiLvlLbl val="0"/>
      </c:catAx>
      <c:valAx>
        <c:axId val="472403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397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1389FE-DC0E-4066-92F3-3CCEB251EAFB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54A1BCD-286B-4DA3-949B-D8FB85C0D014}">
      <dgm:prSet phldrT="[Текст]" custT="1"/>
      <dgm:spPr/>
      <dgm:t>
        <a:bodyPr anchor="t" anchorCtr="0"/>
        <a:lstStyle/>
        <a:p>
          <a:r>
            <a:rPr lang="en-US" sz="3200" b="0" dirty="0" smtClean="0"/>
            <a:t>Search</a:t>
          </a:r>
        </a:p>
        <a:p>
          <a:r>
            <a:rPr lang="en-US" sz="3200" b="0" dirty="0" smtClean="0"/>
            <a:t>Engine</a:t>
          </a:r>
          <a:endParaRPr lang="ru-RU" sz="3200" b="0" dirty="0"/>
        </a:p>
      </dgm:t>
    </dgm:pt>
    <dgm:pt modelId="{86863718-AB7B-421A-B53D-D29B3222815B}" type="parTrans" cxnId="{CC4FE5FD-B7C9-40BA-872B-498CE774840A}">
      <dgm:prSet/>
      <dgm:spPr/>
      <dgm:t>
        <a:bodyPr/>
        <a:lstStyle/>
        <a:p>
          <a:endParaRPr lang="ru-RU"/>
        </a:p>
      </dgm:t>
    </dgm:pt>
    <dgm:pt modelId="{48FE42EB-D914-4DC9-BA5F-17D664563849}" type="sibTrans" cxnId="{CC4FE5FD-B7C9-40BA-872B-498CE774840A}">
      <dgm:prSet/>
      <dgm:spPr/>
      <dgm:t>
        <a:bodyPr/>
        <a:lstStyle/>
        <a:p>
          <a:endParaRPr lang="ru-RU"/>
        </a:p>
      </dgm:t>
    </dgm:pt>
    <dgm:pt modelId="{258A11A1-AFD8-47D2-BC45-8BBE869DEB52}">
      <dgm:prSet phldrT="[Текст]" custT="1"/>
      <dgm:spPr/>
      <dgm:t>
        <a:bodyPr anchor="t" anchorCtr="0"/>
        <a:lstStyle/>
        <a:p>
          <a:r>
            <a:rPr lang="en-US" sz="1800" b="0" dirty="0" smtClean="0"/>
            <a:t>Converter</a:t>
          </a:r>
        </a:p>
        <a:p>
          <a:r>
            <a:rPr lang="en-US" sz="1800" b="0" dirty="0" smtClean="0"/>
            <a:t>JSON </a:t>
          </a:r>
          <a:endParaRPr lang="ru-RU" sz="1800" b="0" dirty="0"/>
        </a:p>
      </dgm:t>
    </dgm:pt>
    <dgm:pt modelId="{0320C3D9-2B7B-4CF1-930A-C9D1714593A9}" type="parTrans" cxnId="{18EF6DB3-3087-4F3E-882C-92F6C8F6899C}">
      <dgm:prSet/>
      <dgm:spPr>
        <a:ln>
          <a:headEnd type="none"/>
          <a:tailEnd type="triangle"/>
        </a:ln>
      </dgm:spPr>
      <dgm:t>
        <a:bodyPr/>
        <a:lstStyle/>
        <a:p>
          <a:endParaRPr lang="ru-RU"/>
        </a:p>
      </dgm:t>
    </dgm:pt>
    <dgm:pt modelId="{383D3AFB-4D80-4300-A0A1-03CD0A94377A}" type="sibTrans" cxnId="{18EF6DB3-3087-4F3E-882C-92F6C8F6899C}">
      <dgm:prSet/>
      <dgm:spPr/>
      <dgm:t>
        <a:bodyPr/>
        <a:lstStyle/>
        <a:p>
          <a:endParaRPr lang="ru-RU"/>
        </a:p>
      </dgm:t>
    </dgm:pt>
    <dgm:pt modelId="{1D3FBEC9-571B-458F-ACA0-2710242E71A4}">
      <dgm:prSet phldrT="[Текст]" custT="1"/>
      <dgm:spPr/>
      <dgm:t>
        <a:bodyPr anchor="t" anchorCtr="0"/>
        <a:lstStyle/>
        <a:p>
          <a:r>
            <a:rPr lang="en-US" sz="1800" b="0" dirty="0" smtClean="0"/>
            <a:t>Documents </a:t>
          </a:r>
          <a:endParaRPr lang="ru-RU" sz="1800" b="0" dirty="0"/>
        </a:p>
      </dgm:t>
    </dgm:pt>
    <dgm:pt modelId="{96897B08-3730-437B-BBBF-A34ED6D96B87}" type="parTrans" cxnId="{387408DC-5588-4A36-8421-958F33884D48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1881E3BC-8B21-47AD-834A-9C36C92986B6}" type="sibTrans" cxnId="{387408DC-5588-4A36-8421-958F33884D48}">
      <dgm:prSet/>
      <dgm:spPr/>
      <dgm:t>
        <a:bodyPr/>
        <a:lstStyle/>
        <a:p>
          <a:endParaRPr lang="ru-RU"/>
        </a:p>
      </dgm:t>
    </dgm:pt>
    <dgm:pt modelId="{04A48D68-CC72-4B7D-B019-6E9B41D34E99}">
      <dgm:prSet custT="1"/>
      <dgm:spPr/>
      <dgm:t>
        <a:bodyPr anchor="t" anchorCtr="0"/>
        <a:lstStyle/>
        <a:p>
          <a:r>
            <a:rPr lang="ru-RU" sz="1800" b="0" dirty="0" smtClean="0"/>
            <a:t>Requests </a:t>
          </a:r>
          <a:endParaRPr lang="ru-RU" sz="1800" b="0" dirty="0"/>
        </a:p>
      </dgm:t>
    </dgm:pt>
    <dgm:pt modelId="{09175996-8951-4E60-ACF9-F91AAA0AB774}" type="parTrans" cxnId="{E5EA6C4C-7F99-4297-909F-4EA4E535C5BB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2AAAFEF9-961D-4F4B-9B00-9201546214F0}" type="sibTrans" cxnId="{E5EA6C4C-7F99-4297-909F-4EA4E535C5BB}">
      <dgm:prSet/>
      <dgm:spPr/>
      <dgm:t>
        <a:bodyPr/>
        <a:lstStyle/>
        <a:p>
          <a:endParaRPr lang="ru-RU"/>
        </a:p>
      </dgm:t>
    </dgm:pt>
    <dgm:pt modelId="{CC6EFFBD-D857-44D8-A554-1C53B719B6DA}">
      <dgm:prSet custT="1"/>
      <dgm:spPr/>
      <dgm:t>
        <a:bodyPr anchor="t" anchorCtr="0"/>
        <a:lstStyle/>
        <a:p>
          <a:r>
            <a:rPr lang="en-US" sz="1800" b="0" dirty="0" smtClean="0"/>
            <a:t>InvertedIndex </a:t>
          </a:r>
          <a:endParaRPr lang="ru-RU" sz="1800" b="0" dirty="0"/>
        </a:p>
      </dgm:t>
    </dgm:pt>
    <dgm:pt modelId="{2E57BB01-68FA-4D0D-8C7A-B42E79CEB108}" type="parTrans" cxnId="{9259EE65-3344-4279-B2DE-CD2D0F3E076D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D0BC1636-D907-4B63-ACD9-B489EF98EBA4}" type="sibTrans" cxnId="{9259EE65-3344-4279-B2DE-CD2D0F3E076D}">
      <dgm:prSet/>
      <dgm:spPr/>
      <dgm:t>
        <a:bodyPr/>
        <a:lstStyle/>
        <a:p>
          <a:endParaRPr lang="ru-RU"/>
        </a:p>
      </dgm:t>
    </dgm:pt>
    <dgm:pt modelId="{1B13CC71-181F-4215-A78C-EB5B97876B1E}">
      <dgm:prSet custT="1"/>
      <dgm:spPr/>
      <dgm:t>
        <a:bodyPr anchor="t" anchorCtr="0"/>
        <a:lstStyle/>
        <a:p>
          <a:r>
            <a:rPr lang="en-US" sz="1800" b="0" dirty="0" smtClean="0"/>
            <a:t>Relevant</a:t>
          </a:r>
        </a:p>
        <a:p>
          <a:r>
            <a:rPr lang="en-US" sz="1800" b="0" dirty="0" smtClean="0"/>
            <a:t>Response </a:t>
          </a:r>
          <a:endParaRPr lang="ru-RU" sz="1800" b="0" dirty="0"/>
        </a:p>
      </dgm:t>
    </dgm:pt>
    <dgm:pt modelId="{AA62E804-61D2-4247-AB46-39B7B206B101}" type="parTrans" cxnId="{62E61146-244B-49BE-8FAC-4DB94D94975C}">
      <dgm:prSet/>
      <dgm:spPr>
        <a:ln>
          <a:solidFill>
            <a:scrgbClr r="0" g="0" b="0"/>
          </a:solidFill>
          <a:tailEnd type="triangle"/>
        </a:ln>
      </dgm:spPr>
      <dgm:t>
        <a:bodyPr/>
        <a:lstStyle/>
        <a:p>
          <a:endParaRPr lang="ru-RU"/>
        </a:p>
      </dgm:t>
    </dgm:pt>
    <dgm:pt modelId="{5251CEE5-3A1B-49CF-B520-A0D16AA827C4}" type="sibTrans" cxnId="{62E61146-244B-49BE-8FAC-4DB94D94975C}">
      <dgm:prSet/>
      <dgm:spPr/>
      <dgm:t>
        <a:bodyPr/>
        <a:lstStyle/>
        <a:p>
          <a:endParaRPr lang="ru-RU"/>
        </a:p>
      </dgm:t>
    </dgm:pt>
    <dgm:pt modelId="{EC1AF752-7BDE-4D7F-BBE3-D620E8B4D26C}">
      <dgm:prSet custT="1"/>
      <dgm:spPr/>
      <dgm:t>
        <a:bodyPr anchor="t" anchorCtr="0"/>
        <a:lstStyle/>
        <a:p>
          <a:r>
            <a:rPr lang="en-US" sz="1800" b="0" dirty="0" smtClean="0"/>
            <a:t>Dispatcher</a:t>
          </a:r>
        </a:p>
        <a:p>
          <a:r>
            <a:rPr lang="en-US" sz="1800" b="0" dirty="0" smtClean="0"/>
            <a:t>Operations</a:t>
          </a:r>
          <a:endParaRPr lang="ru-RU" sz="1800" b="0" dirty="0"/>
        </a:p>
      </dgm:t>
    </dgm:pt>
    <dgm:pt modelId="{4A4C6070-4A61-47AA-8ABA-32229F0F8F3A}" type="parTrans" cxnId="{82616DB1-0687-468F-BA64-08D535074412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86117725-F453-45C3-BDED-502035BCFDCA}" type="sibTrans" cxnId="{82616DB1-0687-468F-BA64-08D535074412}">
      <dgm:prSet/>
      <dgm:spPr/>
      <dgm:t>
        <a:bodyPr/>
        <a:lstStyle/>
        <a:p>
          <a:endParaRPr lang="ru-RU"/>
        </a:p>
      </dgm:t>
    </dgm:pt>
    <dgm:pt modelId="{4D30D1BA-01EB-42FE-A7D6-8969C3AB4CB0}" type="pres">
      <dgm:prSet presAssocID="{4E1389FE-DC0E-4066-92F3-3CCEB251EAF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5E52D266-CB75-4768-8AAD-3E1F25AADB5A}" type="pres">
      <dgm:prSet presAssocID="{854A1BCD-286B-4DA3-949B-D8FB85C0D014}" presName="singleCycle" presStyleCnt="0"/>
      <dgm:spPr/>
    </dgm:pt>
    <dgm:pt modelId="{628E21F9-F946-457A-B5D6-7107E4B5B54D}" type="pres">
      <dgm:prSet presAssocID="{854A1BCD-286B-4DA3-949B-D8FB85C0D014}" presName="singleCenter" presStyleLbl="node1" presStyleIdx="0" presStyleCnt="7" custScaleX="163189" custScaleY="163189" custLinFactNeighborX="-67" custLinFactNeighborY="36555">
        <dgm:presLayoutVars>
          <dgm:chMax val="7"/>
          <dgm:chPref val="7"/>
        </dgm:presLayoutVars>
      </dgm:prSet>
      <dgm:spPr/>
      <dgm:t>
        <a:bodyPr/>
        <a:lstStyle/>
        <a:p>
          <a:endParaRPr lang="ru-RU"/>
        </a:p>
      </dgm:t>
    </dgm:pt>
    <dgm:pt modelId="{667DE06D-C223-4C57-8F2C-DDC107791A47}" type="pres">
      <dgm:prSet presAssocID="{0320C3D9-2B7B-4CF1-930A-C9D1714593A9}" presName="Name56" presStyleLbl="parChTrans1D2" presStyleIdx="0" presStyleCnt="6"/>
      <dgm:spPr/>
      <dgm:t>
        <a:bodyPr/>
        <a:lstStyle/>
        <a:p>
          <a:endParaRPr lang="ru-RU"/>
        </a:p>
      </dgm:t>
    </dgm:pt>
    <dgm:pt modelId="{F29DD78D-084E-44BB-95B2-65781CA7A531}" type="pres">
      <dgm:prSet presAssocID="{258A11A1-AFD8-47D2-BC45-8BBE869DEB52}" presName="text0" presStyleLbl="node1" presStyleIdx="1" presStyleCnt="7" custScaleX="221423" custScaleY="221423" custRadScaleRad="266228" custRadScaleInc="-24898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390B38-AF76-4E62-872B-309581DF08C7}" type="pres">
      <dgm:prSet presAssocID="{4A4C6070-4A61-47AA-8ABA-32229F0F8F3A}" presName="Name56" presStyleLbl="parChTrans1D2" presStyleIdx="1" presStyleCnt="6"/>
      <dgm:spPr/>
      <dgm:t>
        <a:bodyPr/>
        <a:lstStyle/>
        <a:p>
          <a:endParaRPr lang="ru-RU"/>
        </a:p>
      </dgm:t>
    </dgm:pt>
    <dgm:pt modelId="{24EC1B40-97B8-4A97-A728-C57093596661}" type="pres">
      <dgm:prSet presAssocID="{EC1AF752-7BDE-4D7F-BBE3-D620E8B4D26C}" presName="text0" presStyleLbl="node1" presStyleIdx="2" presStyleCnt="7" custScaleX="199281" custScaleY="199281" custRadScaleRad="271649" custRadScaleInc="-55329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086A69-6FE7-48AB-8D4E-831F6AAADB3F}" type="pres">
      <dgm:prSet presAssocID="{96897B08-3730-437B-BBBF-A34ED6D96B87}" presName="Name56" presStyleLbl="parChTrans1D2" presStyleIdx="2" presStyleCnt="6"/>
      <dgm:spPr/>
      <dgm:t>
        <a:bodyPr/>
        <a:lstStyle/>
        <a:p>
          <a:endParaRPr lang="ru-RU"/>
        </a:p>
      </dgm:t>
    </dgm:pt>
    <dgm:pt modelId="{D5C3917E-2284-4E85-847C-82C5C871E472}" type="pres">
      <dgm:prSet presAssocID="{1D3FBEC9-571B-458F-ACA0-2710242E71A4}" presName="text0" presStyleLbl="node1" presStyleIdx="3" presStyleCnt="7" custScaleX="221423" custScaleY="221423" custRadScaleRad="149942" custRadScaleInc="5911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503B29C-C796-4217-A6E0-D8D0E4C12287}" type="pres">
      <dgm:prSet presAssocID="{09175996-8951-4E60-ACF9-F91AAA0AB774}" presName="Name56" presStyleLbl="parChTrans1D2" presStyleIdx="3" presStyleCnt="6"/>
      <dgm:spPr/>
      <dgm:t>
        <a:bodyPr/>
        <a:lstStyle/>
        <a:p>
          <a:endParaRPr lang="ru-RU"/>
        </a:p>
      </dgm:t>
    </dgm:pt>
    <dgm:pt modelId="{76784C24-975E-4373-9AB0-0D36214A64F1}" type="pres">
      <dgm:prSet presAssocID="{04A48D68-CC72-4B7D-B019-6E9B41D34E99}" presName="text0" presStyleLbl="node1" presStyleIdx="4" presStyleCnt="7" custScaleX="221423" custScaleY="221423" custRadScaleRad="151451" custRadScaleInc="-39187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3D5C2B-B6D2-4298-9DAF-A69442F1C2D7}" type="pres">
      <dgm:prSet presAssocID="{2E57BB01-68FA-4D0D-8C7A-B42E79CEB108}" presName="Name56" presStyleLbl="parChTrans1D2" presStyleIdx="4" presStyleCnt="6"/>
      <dgm:spPr/>
      <dgm:t>
        <a:bodyPr/>
        <a:lstStyle/>
        <a:p>
          <a:endParaRPr lang="ru-RU"/>
        </a:p>
      </dgm:t>
    </dgm:pt>
    <dgm:pt modelId="{635D6D0E-E44D-465D-9B55-5006A2372644}" type="pres">
      <dgm:prSet presAssocID="{CC6EFFBD-D857-44D8-A554-1C53B719B6DA}" presName="text0" presStyleLbl="node1" presStyleIdx="5" presStyleCnt="7" custScaleX="221423" custScaleY="221423" custRadScaleRad="69473" custRadScaleInc="39795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5660FC-29F0-4ECD-9736-2F09D9960928}" type="pres">
      <dgm:prSet presAssocID="{AA62E804-61D2-4247-AB46-39B7B206B101}" presName="Name56" presStyleLbl="parChTrans1D2" presStyleIdx="5" presStyleCnt="6"/>
      <dgm:spPr/>
      <dgm:t>
        <a:bodyPr/>
        <a:lstStyle/>
        <a:p>
          <a:endParaRPr lang="ru-RU"/>
        </a:p>
      </dgm:t>
    </dgm:pt>
    <dgm:pt modelId="{EF6A00EF-2BA3-4AAD-B69B-A8E8767F6738}" type="pres">
      <dgm:prSet presAssocID="{1B13CC71-181F-4215-A78C-EB5B97876B1E}" presName="text0" presStyleLbl="node1" presStyleIdx="6" presStyleCnt="7" custScaleX="221423" custScaleY="221423" custRadScaleRad="263386" custRadScaleInc="44856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2E61146-244B-49BE-8FAC-4DB94D94975C}" srcId="{854A1BCD-286B-4DA3-949B-D8FB85C0D014}" destId="{1B13CC71-181F-4215-A78C-EB5B97876B1E}" srcOrd="5" destOrd="0" parTransId="{AA62E804-61D2-4247-AB46-39B7B206B101}" sibTransId="{5251CEE5-3A1B-49CF-B520-A0D16AA827C4}"/>
    <dgm:cxn modelId="{FED975EE-D761-4513-BBC6-C4F43BA48D5C}" type="presOf" srcId="{AA62E804-61D2-4247-AB46-39B7B206B101}" destId="{645660FC-29F0-4ECD-9736-2F09D9960928}" srcOrd="0" destOrd="0" presId="urn:microsoft.com/office/officeart/2008/layout/RadialCluster"/>
    <dgm:cxn modelId="{8563956E-C855-41EB-B38B-85C1FE7C630E}" type="presOf" srcId="{96897B08-3730-437B-BBBF-A34ED6D96B87}" destId="{8F086A69-6FE7-48AB-8D4E-831F6AAADB3F}" srcOrd="0" destOrd="0" presId="urn:microsoft.com/office/officeart/2008/layout/RadialCluster"/>
    <dgm:cxn modelId="{A3E73796-D0F5-47ED-9D00-E296C65583ED}" type="presOf" srcId="{09175996-8951-4E60-ACF9-F91AAA0AB774}" destId="{1503B29C-C796-4217-A6E0-D8D0E4C12287}" srcOrd="0" destOrd="0" presId="urn:microsoft.com/office/officeart/2008/layout/RadialCluster"/>
    <dgm:cxn modelId="{6E19CDCE-7287-479A-8768-CB375E2D63DF}" type="presOf" srcId="{04A48D68-CC72-4B7D-B019-6E9B41D34E99}" destId="{76784C24-975E-4373-9AB0-0D36214A64F1}" srcOrd="0" destOrd="0" presId="urn:microsoft.com/office/officeart/2008/layout/RadialCluster"/>
    <dgm:cxn modelId="{387408DC-5588-4A36-8421-958F33884D48}" srcId="{854A1BCD-286B-4DA3-949B-D8FB85C0D014}" destId="{1D3FBEC9-571B-458F-ACA0-2710242E71A4}" srcOrd="2" destOrd="0" parTransId="{96897B08-3730-437B-BBBF-A34ED6D96B87}" sibTransId="{1881E3BC-8B21-47AD-834A-9C36C92986B6}"/>
    <dgm:cxn modelId="{ECCE758F-4761-4107-8EAA-6A1AF38863BD}" type="presOf" srcId="{CC6EFFBD-D857-44D8-A554-1C53B719B6DA}" destId="{635D6D0E-E44D-465D-9B55-5006A2372644}" srcOrd="0" destOrd="0" presId="urn:microsoft.com/office/officeart/2008/layout/RadialCluster"/>
    <dgm:cxn modelId="{E2950397-7973-45B7-9A8A-B5287CF7676E}" type="presOf" srcId="{258A11A1-AFD8-47D2-BC45-8BBE869DEB52}" destId="{F29DD78D-084E-44BB-95B2-65781CA7A531}" srcOrd="0" destOrd="0" presId="urn:microsoft.com/office/officeart/2008/layout/RadialCluster"/>
    <dgm:cxn modelId="{ACC19EC5-2801-4EFF-A589-088C61DC03E2}" type="presOf" srcId="{1B13CC71-181F-4215-A78C-EB5B97876B1E}" destId="{EF6A00EF-2BA3-4AAD-B69B-A8E8767F6738}" srcOrd="0" destOrd="0" presId="urn:microsoft.com/office/officeart/2008/layout/RadialCluster"/>
    <dgm:cxn modelId="{23172C1A-FF43-4712-A764-5DF55D8ECD91}" type="presOf" srcId="{854A1BCD-286B-4DA3-949B-D8FB85C0D014}" destId="{628E21F9-F946-457A-B5D6-7107E4B5B54D}" srcOrd="0" destOrd="0" presId="urn:microsoft.com/office/officeart/2008/layout/RadialCluster"/>
    <dgm:cxn modelId="{8150D778-0444-4BA5-9CA0-483EB123B395}" type="presOf" srcId="{4A4C6070-4A61-47AA-8ABA-32229F0F8F3A}" destId="{65390B38-AF76-4E62-872B-309581DF08C7}" srcOrd="0" destOrd="0" presId="urn:microsoft.com/office/officeart/2008/layout/RadialCluster"/>
    <dgm:cxn modelId="{9259EE65-3344-4279-B2DE-CD2D0F3E076D}" srcId="{854A1BCD-286B-4DA3-949B-D8FB85C0D014}" destId="{CC6EFFBD-D857-44D8-A554-1C53B719B6DA}" srcOrd="4" destOrd="0" parTransId="{2E57BB01-68FA-4D0D-8C7A-B42E79CEB108}" sibTransId="{D0BC1636-D907-4B63-ACD9-B489EF98EBA4}"/>
    <dgm:cxn modelId="{A65AEC00-A92B-45EA-B572-F456BD1979A4}" type="presOf" srcId="{4E1389FE-DC0E-4066-92F3-3CCEB251EAFB}" destId="{4D30D1BA-01EB-42FE-A7D6-8969C3AB4CB0}" srcOrd="0" destOrd="0" presId="urn:microsoft.com/office/officeart/2008/layout/RadialCluster"/>
    <dgm:cxn modelId="{CC4FE5FD-B7C9-40BA-872B-498CE774840A}" srcId="{4E1389FE-DC0E-4066-92F3-3CCEB251EAFB}" destId="{854A1BCD-286B-4DA3-949B-D8FB85C0D014}" srcOrd="0" destOrd="0" parTransId="{86863718-AB7B-421A-B53D-D29B3222815B}" sibTransId="{48FE42EB-D914-4DC9-BA5F-17D664563849}"/>
    <dgm:cxn modelId="{4A475A00-F60B-410B-8470-9EA0E1C3E244}" type="presOf" srcId="{EC1AF752-7BDE-4D7F-BBE3-D620E8B4D26C}" destId="{24EC1B40-97B8-4A97-A728-C57093596661}" srcOrd="0" destOrd="0" presId="urn:microsoft.com/office/officeart/2008/layout/RadialCluster"/>
    <dgm:cxn modelId="{B51B8D91-8E4E-44B0-82BF-67EF5A3FA512}" type="presOf" srcId="{0320C3D9-2B7B-4CF1-930A-C9D1714593A9}" destId="{667DE06D-C223-4C57-8F2C-DDC107791A47}" srcOrd="0" destOrd="0" presId="urn:microsoft.com/office/officeart/2008/layout/RadialCluster"/>
    <dgm:cxn modelId="{6D6CF6BD-20AB-45DE-BD8F-7724AB08659B}" type="presOf" srcId="{2E57BB01-68FA-4D0D-8C7A-B42E79CEB108}" destId="{B23D5C2B-B6D2-4298-9DAF-A69442F1C2D7}" srcOrd="0" destOrd="0" presId="urn:microsoft.com/office/officeart/2008/layout/RadialCluster"/>
    <dgm:cxn modelId="{18EF6DB3-3087-4F3E-882C-92F6C8F6899C}" srcId="{854A1BCD-286B-4DA3-949B-D8FB85C0D014}" destId="{258A11A1-AFD8-47D2-BC45-8BBE869DEB52}" srcOrd="0" destOrd="0" parTransId="{0320C3D9-2B7B-4CF1-930A-C9D1714593A9}" sibTransId="{383D3AFB-4D80-4300-A0A1-03CD0A94377A}"/>
    <dgm:cxn modelId="{82616DB1-0687-468F-BA64-08D535074412}" srcId="{854A1BCD-286B-4DA3-949B-D8FB85C0D014}" destId="{EC1AF752-7BDE-4D7F-BBE3-D620E8B4D26C}" srcOrd="1" destOrd="0" parTransId="{4A4C6070-4A61-47AA-8ABA-32229F0F8F3A}" sibTransId="{86117725-F453-45C3-BDED-502035BCFDCA}"/>
    <dgm:cxn modelId="{E5EA6C4C-7F99-4297-909F-4EA4E535C5BB}" srcId="{854A1BCD-286B-4DA3-949B-D8FB85C0D014}" destId="{04A48D68-CC72-4B7D-B019-6E9B41D34E99}" srcOrd="3" destOrd="0" parTransId="{09175996-8951-4E60-ACF9-F91AAA0AB774}" sibTransId="{2AAAFEF9-961D-4F4B-9B00-9201546214F0}"/>
    <dgm:cxn modelId="{A235A3CB-5F90-4F69-8898-4DE6004F3496}" type="presOf" srcId="{1D3FBEC9-571B-458F-ACA0-2710242E71A4}" destId="{D5C3917E-2284-4E85-847C-82C5C871E472}" srcOrd="0" destOrd="0" presId="urn:microsoft.com/office/officeart/2008/layout/RadialCluster"/>
    <dgm:cxn modelId="{5AD69A6B-CB80-4E03-A72F-5A07B14F4C34}" type="presParOf" srcId="{4D30D1BA-01EB-42FE-A7D6-8969C3AB4CB0}" destId="{5E52D266-CB75-4768-8AAD-3E1F25AADB5A}" srcOrd="0" destOrd="0" presId="urn:microsoft.com/office/officeart/2008/layout/RadialCluster"/>
    <dgm:cxn modelId="{69B1E336-CFCF-4C37-886D-EDC779F92721}" type="presParOf" srcId="{5E52D266-CB75-4768-8AAD-3E1F25AADB5A}" destId="{628E21F9-F946-457A-B5D6-7107E4B5B54D}" srcOrd="0" destOrd="0" presId="urn:microsoft.com/office/officeart/2008/layout/RadialCluster"/>
    <dgm:cxn modelId="{A04E5BCF-6F09-4DAB-8840-ADD4DB3392BB}" type="presParOf" srcId="{5E52D266-CB75-4768-8AAD-3E1F25AADB5A}" destId="{667DE06D-C223-4C57-8F2C-DDC107791A47}" srcOrd="1" destOrd="0" presId="urn:microsoft.com/office/officeart/2008/layout/RadialCluster"/>
    <dgm:cxn modelId="{BA9157D2-DCEC-4BC9-95EF-343DE775A4D7}" type="presParOf" srcId="{5E52D266-CB75-4768-8AAD-3E1F25AADB5A}" destId="{F29DD78D-084E-44BB-95B2-65781CA7A531}" srcOrd="2" destOrd="0" presId="urn:microsoft.com/office/officeart/2008/layout/RadialCluster"/>
    <dgm:cxn modelId="{E8BC91C4-2DC3-42B2-9BA9-F56293B707B1}" type="presParOf" srcId="{5E52D266-CB75-4768-8AAD-3E1F25AADB5A}" destId="{65390B38-AF76-4E62-872B-309581DF08C7}" srcOrd="3" destOrd="0" presId="urn:microsoft.com/office/officeart/2008/layout/RadialCluster"/>
    <dgm:cxn modelId="{042839E4-B763-46EA-87EE-EE06661E3D9B}" type="presParOf" srcId="{5E52D266-CB75-4768-8AAD-3E1F25AADB5A}" destId="{24EC1B40-97B8-4A97-A728-C57093596661}" srcOrd="4" destOrd="0" presId="urn:microsoft.com/office/officeart/2008/layout/RadialCluster"/>
    <dgm:cxn modelId="{B85FC336-03B4-49D2-9CC6-9AA95F1C34E7}" type="presParOf" srcId="{5E52D266-CB75-4768-8AAD-3E1F25AADB5A}" destId="{8F086A69-6FE7-48AB-8D4E-831F6AAADB3F}" srcOrd="5" destOrd="0" presId="urn:microsoft.com/office/officeart/2008/layout/RadialCluster"/>
    <dgm:cxn modelId="{29559A72-5EAD-4EBA-B16B-DB53657E0299}" type="presParOf" srcId="{5E52D266-CB75-4768-8AAD-3E1F25AADB5A}" destId="{D5C3917E-2284-4E85-847C-82C5C871E472}" srcOrd="6" destOrd="0" presId="urn:microsoft.com/office/officeart/2008/layout/RadialCluster"/>
    <dgm:cxn modelId="{908EAE80-FE21-4C39-A5D4-31C8FA10A3E5}" type="presParOf" srcId="{5E52D266-CB75-4768-8AAD-3E1F25AADB5A}" destId="{1503B29C-C796-4217-A6E0-D8D0E4C12287}" srcOrd="7" destOrd="0" presId="urn:microsoft.com/office/officeart/2008/layout/RadialCluster"/>
    <dgm:cxn modelId="{88105C48-CAB0-4F8A-ADCC-2C98020ED30C}" type="presParOf" srcId="{5E52D266-CB75-4768-8AAD-3E1F25AADB5A}" destId="{76784C24-975E-4373-9AB0-0D36214A64F1}" srcOrd="8" destOrd="0" presId="urn:microsoft.com/office/officeart/2008/layout/RadialCluster"/>
    <dgm:cxn modelId="{0DAF3D5A-2530-4C3E-8F80-E1F826BA4A03}" type="presParOf" srcId="{5E52D266-CB75-4768-8AAD-3E1F25AADB5A}" destId="{B23D5C2B-B6D2-4298-9DAF-A69442F1C2D7}" srcOrd="9" destOrd="0" presId="urn:microsoft.com/office/officeart/2008/layout/RadialCluster"/>
    <dgm:cxn modelId="{BC7CF5A9-ADB3-4904-B2E5-6EEB9AE9C93F}" type="presParOf" srcId="{5E52D266-CB75-4768-8AAD-3E1F25AADB5A}" destId="{635D6D0E-E44D-465D-9B55-5006A2372644}" srcOrd="10" destOrd="0" presId="urn:microsoft.com/office/officeart/2008/layout/RadialCluster"/>
    <dgm:cxn modelId="{EF7B19F2-A724-4421-A7A2-858E13A60F58}" type="presParOf" srcId="{5E52D266-CB75-4768-8AAD-3E1F25AADB5A}" destId="{645660FC-29F0-4ECD-9736-2F09D9960928}" srcOrd="11" destOrd="0" presId="urn:microsoft.com/office/officeart/2008/layout/RadialCluster"/>
    <dgm:cxn modelId="{AC3EBBCC-3344-4ECF-B120-5447CC47B44F}" type="presParOf" srcId="{5E52D266-CB75-4768-8AAD-3E1F25AADB5A}" destId="{EF6A00EF-2BA3-4AAD-B69B-A8E8767F6738}" srcOrd="12" destOrd="0" presId="urn:microsoft.com/office/officeart/2008/layout/RadialCluster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97C37A-15F9-479B-99A3-F6B494A17A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CC3452-B333-4F90-887E-97722077E109}">
      <dgm:prSet phldrT="[Текст]" custT="1"/>
      <dgm:spPr/>
      <dgm:t>
        <a:bodyPr/>
        <a:lstStyle/>
        <a:p>
          <a:r>
            <a:rPr lang="ru-RU" sz="2400" dirty="0" smtClean="0"/>
            <a:t>Функции библиотеки</a:t>
          </a:r>
          <a:endParaRPr lang="ru-RU" sz="2400" dirty="0"/>
        </a:p>
      </dgm:t>
    </dgm:pt>
    <dgm:pt modelId="{35712032-4428-4257-9017-747507727C01}" type="parTrans" cxnId="{6E5F6FAF-D8FF-4B9A-95AB-5E41E36C5067}">
      <dgm:prSet/>
      <dgm:spPr/>
      <dgm:t>
        <a:bodyPr/>
        <a:lstStyle/>
        <a:p>
          <a:endParaRPr lang="ru-RU"/>
        </a:p>
      </dgm:t>
    </dgm:pt>
    <dgm:pt modelId="{E4073338-D12C-4A4B-BB0F-7A4D7334FDF9}" type="sibTrans" cxnId="{6E5F6FAF-D8FF-4B9A-95AB-5E41E36C5067}">
      <dgm:prSet/>
      <dgm:spPr/>
      <dgm:t>
        <a:bodyPr/>
        <a:lstStyle/>
        <a:p>
          <a:endParaRPr lang="ru-RU"/>
        </a:p>
      </dgm:t>
    </dgm:pt>
    <dgm:pt modelId="{9B56D241-76D7-4251-B32B-D23DBA23DD57}">
      <dgm:prSet phldrT="[Текст]"/>
      <dgm:spPr/>
      <dgm:t>
        <a:bodyPr/>
        <a:lstStyle/>
        <a:p>
          <a:r>
            <a:rPr lang="ru-RU" dirty="0" smtClean="0"/>
            <a:t>Предоставляет 5 уровней логирования</a:t>
          </a:r>
          <a:endParaRPr lang="ru-RU" dirty="0"/>
        </a:p>
      </dgm:t>
    </dgm:pt>
    <dgm:pt modelId="{6FF665C2-6B19-4231-9619-04858625CE9E}" type="parTrans" cxnId="{8A696FEE-1277-452D-A088-A2A0DAE032E4}">
      <dgm:prSet/>
      <dgm:spPr/>
      <dgm:t>
        <a:bodyPr/>
        <a:lstStyle/>
        <a:p>
          <a:endParaRPr lang="ru-RU"/>
        </a:p>
      </dgm:t>
    </dgm:pt>
    <dgm:pt modelId="{033FF7EA-AA5C-45DB-95B2-A6FC5F7DCF5A}" type="sibTrans" cxnId="{8A696FEE-1277-452D-A088-A2A0DAE032E4}">
      <dgm:prSet/>
      <dgm:spPr/>
      <dgm:t>
        <a:bodyPr/>
        <a:lstStyle/>
        <a:p>
          <a:endParaRPr lang="ru-RU"/>
        </a:p>
      </dgm:t>
    </dgm:pt>
    <dgm:pt modelId="{D02487A7-D405-4913-B5D3-9E4B813ED8A3}">
      <dgm:prSet phldrT="[Текст]" custT="1"/>
      <dgm:spPr/>
      <dgm:t>
        <a:bodyPr/>
        <a:lstStyle/>
        <a:p>
          <a:r>
            <a:rPr lang="ru-RU" sz="2400" dirty="0" smtClean="0"/>
            <a:t>Внутренние функции</a:t>
          </a:r>
          <a:endParaRPr lang="ru-RU" sz="2400" dirty="0"/>
        </a:p>
      </dgm:t>
    </dgm:pt>
    <dgm:pt modelId="{5A3BC19E-47B9-4A58-9EB8-BD29DF168158}" type="parTrans" cxnId="{8C4092E5-17AE-4DF4-B0A6-9820210905D1}">
      <dgm:prSet/>
      <dgm:spPr/>
      <dgm:t>
        <a:bodyPr/>
        <a:lstStyle/>
        <a:p>
          <a:endParaRPr lang="ru-RU"/>
        </a:p>
      </dgm:t>
    </dgm:pt>
    <dgm:pt modelId="{94DB38CC-2E78-4908-B401-D8F6866C6328}" type="sibTrans" cxnId="{8C4092E5-17AE-4DF4-B0A6-9820210905D1}">
      <dgm:prSet/>
      <dgm:spPr/>
      <dgm:t>
        <a:bodyPr/>
        <a:lstStyle/>
        <a:p>
          <a:endParaRPr lang="ru-RU"/>
        </a:p>
      </dgm:t>
    </dgm:pt>
    <dgm:pt modelId="{8BFD0C5C-B51E-4EC7-ADD9-528DAF03ABF3}">
      <dgm:prSet phldrT="[Текст]"/>
      <dgm:spPr/>
      <dgm:t>
        <a:bodyPr/>
        <a:lstStyle/>
        <a:p>
          <a:r>
            <a:rPr lang="ru-RU" dirty="0" smtClean="0"/>
            <a:t>Записывает сообщения в лог-файлы в другом потоке</a:t>
          </a:r>
          <a:endParaRPr lang="ru-RU" dirty="0"/>
        </a:p>
      </dgm:t>
    </dgm:pt>
    <dgm:pt modelId="{BB8B7341-F9C0-4D44-BFF3-EF4184FB971B}" type="parTrans" cxnId="{EABBA5E9-2939-4F28-A387-DD26B4742B91}">
      <dgm:prSet/>
      <dgm:spPr/>
      <dgm:t>
        <a:bodyPr/>
        <a:lstStyle/>
        <a:p>
          <a:endParaRPr lang="ru-RU"/>
        </a:p>
      </dgm:t>
    </dgm:pt>
    <dgm:pt modelId="{F42BB69E-AF42-478D-B006-D93189C1974B}" type="sibTrans" cxnId="{EABBA5E9-2939-4F28-A387-DD26B4742B91}">
      <dgm:prSet/>
      <dgm:spPr/>
      <dgm:t>
        <a:bodyPr/>
        <a:lstStyle/>
        <a:p>
          <a:endParaRPr lang="ru-RU"/>
        </a:p>
      </dgm:t>
    </dgm:pt>
    <dgm:pt modelId="{E63A86B8-E71D-4DCF-8529-FC80F323294E}">
      <dgm:prSet phldrT="[Текст]"/>
      <dgm:spPr/>
      <dgm:t>
        <a:bodyPr/>
        <a:lstStyle/>
        <a:p>
          <a:r>
            <a:rPr lang="ru-RU" dirty="0" smtClean="0"/>
            <a:t>Выводит события в консоль в другом потоке и процессе</a:t>
          </a:r>
          <a:endParaRPr lang="ru-RU" dirty="0"/>
        </a:p>
      </dgm:t>
    </dgm:pt>
    <dgm:pt modelId="{47AF8924-2A5F-4625-AE87-F524E7E949DD}" type="parTrans" cxnId="{0A75C6FB-C679-4699-9B74-0EDF79087546}">
      <dgm:prSet/>
      <dgm:spPr/>
      <dgm:t>
        <a:bodyPr/>
        <a:lstStyle/>
        <a:p>
          <a:endParaRPr lang="ru-RU"/>
        </a:p>
      </dgm:t>
    </dgm:pt>
    <dgm:pt modelId="{B71E376A-E657-4C43-BF6D-716913A47424}" type="sibTrans" cxnId="{0A75C6FB-C679-4699-9B74-0EDF79087546}">
      <dgm:prSet/>
      <dgm:spPr/>
      <dgm:t>
        <a:bodyPr/>
        <a:lstStyle/>
        <a:p>
          <a:endParaRPr lang="ru-RU"/>
        </a:p>
      </dgm:t>
    </dgm:pt>
    <dgm:pt modelId="{055380E7-1356-4300-812C-461537FDAF9B}">
      <dgm:prSet phldrT="[Текст]"/>
      <dgm:spPr/>
      <dgm:t>
        <a:bodyPr/>
        <a:lstStyle/>
        <a:p>
          <a:r>
            <a:rPr lang="ru-RU" dirty="0" smtClean="0"/>
            <a:t>Регулирует интервал времени использования файла</a:t>
          </a:r>
          <a:endParaRPr lang="ru-RU" dirty="0"/>
        </a:p>
      </dgm:t>
    </dgm:pt>
    <dgm:pt modelId="{75C7FA51-3E92-4F51-A151-B733AF643E08}" type="parTrans" cxnId="{292E37D6-5817-418F-8356-00BAA360ED99}">
      <dgm:prSet/>
      <dgm:spPr/>
      <dgm:t>
        <a:bodyPr/>
        <a:lstStyle/>
        <a:p>
          <a:endParaRPr lang="ru-RU"/>
        </a:p>
      </dgm:t>
    </dgm:pt>
    <dgm:pt modelId="{1BF5A7B9-846E-49DC-AE12-12C6C253096B}" type="sibTrans" cxnId="{292E37D6-5817-418F-8356-00BAA360ED99}">
      <dgm:prSet/>
      <dgm:spPr/>
      <dgm:t>
        <a:bodyPr/>
        <a:lstStyle/>
        <a:p>
          <a:endParaRPr lang="ru-RU"/>
        </a:p>
      </dgm:t>
    </dgm:pt>
    <dgm:pt modelId="{36FF98E9-5656-4EF7-8B92-CC6F2A5F3655}">
      <dgm:prSet phldrT="[Текст]"/>
      <dgm:spPr/>
      <dgm:t>
        <a:bodyPr/>
        <a:lstStyle/>
        <a:p>
          <a:r>
            <a:rPr lang="ru-RU" dirty="0" smtClean="0"/>
            <a:t>Регулирует интервал времени хранения файла</a:t>
          </a:r>
          <a:endParaRPr lang="ru-RU" dirty="0"/>
        </a:p>
      </dgm:t>
    </dgm:pt>
    <dgm:pt modelId="{8E8E9C50-21B7-4177-99CD-CFA3DFF060E1}" type="parTrans" cxnId="{E9A4FEA3-CFB4-4EE6-8C72-DE0E32EC7C9E}">
      <dgm:prSet/>
      <dgm:spPr/>
      <dgm:t>
        <a:bodyPr/>
        <a:lstStyle/>
        <a:p>
          <a:endParaRPr lang="ru-RU"/>
        </a:p>
      </dgm:t>
    </dgm:pt>
    <dgm:pt modelId="{CF367263-300A-4100-B1C8-2469043859E7}" type="sibTrans" cxnId="{E9A4FEA3-CFB4-4EE6-8C72-DE0E32EC7C9E}">
      <dgm:prSet/>
      <dgm:spPr/>
      <dgm:t>
        <a:bodyPr/>
        <a:lstStyle/>
        <a:p>
          <a:endParaRPr lang="ru-RU"/>
        </a:p>
      </dgm:t>
    </dgm:pt>
    <dgm:pt modelId="{A765A4A8-D9EA-411B-BB69-52A9710F2630}">
      <dgm:prSet phldrT="[Текст]"/>
      <dgm:spPr/>
      <dgm:t>
        <a:bodyPr/>
        <a:lstStyle/>
        <a:p>
          <a:endParaRPr lang="ru-RU" dirty="0"/>
        </a:p>
      </dgm:t>
    </dgm:pt>
    <dgm:pt modelId="{EA7E045F-72D8-4A79-B9BB-E4709CC8F5FF}" type="parTrans" cxnId="{A6156309-2BA0-4C3C-9452-55FC45A16B5C}">
      <dgm:prSet/>
      <dgm:spPr/>
      <dgm:t>
        <a:bodyPr/>
        <a:lstStyle/>
        <a:p>
          <a:endParaRPr lang="ru-RU"/>
        </a:p>
      </dgm:t>
    </dgm:pt>
    <dgm:pt modelId="{7C87BFC3-5B3B-466A-AA3A-26DFAF5EB4D8}" type="sibTrans" cxnId="{A6156309-2BA0-4C3C-9452-55FC45A16B5C}">
      <dgm:prSet/>
      <dgm:spPr/>
      <dgm:t>
        <a:bodyPr/>
        <a:lstStyle/>
        <a:p>
          <a:endParaRPr lang="ru-RU"/>
        </a:p>
      </dgm:t>
    </dgm:pt>
    <dgm:pt modelId="{C10E8076-8318-4B9B-A3D2-9D98281FA950}" type="pres">
      <dgm:prSet presAssocID="{DE97C37A-15F9-479B-99A3-F6B494A17A2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44F0C9A-3648-4916-982F-AF9587978149}" type="pres">
      <dgm:prSet presAssocID="{48CC3452-B333-4F90-887E-97722077E109}" presName="parentText" presStyleLbl="node1" presStyleIdx="0" presStyleCnt="2" custScaleY="105672" custLinFactNeighborX="-124" custLinFactNeighborY="-1946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2725D4B-59A7-40CF-AA8E-A27EC37530B2}" type="pres">
      <dgm:prSet presAssocID="{48CC3452-B333-4F90-887E-97722077E109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5C9815-44A2-4551-A509-FE6F0947C3DB}" type="pres">
      <dgm:prSet presAssocID="{D02487A7-D405-4913-B5D3-9E4B813ED8A3}" presName="parentText" presStyleLbl="node1" presStyleIdx="1" presStyleCnt="2" custScaleY="10567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271FDF-D644-48A5-8BBB-391AF85E26F5}" type="pres">
      <dgm:prSet presAssocID="{D02487A7-D405-4913-B5D3-9E4B813ED8A3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C6F249-C43F-44BD-A69C-06024208D4CD}" type="presOf" srcId="{D02487A7-D405-4913-B5D3-9E4B813ED8A3}" destId="{6C5C9815-44A2-4551-A509-FE6F0947C3DB}" srcOrd="0" destOrd="0" presId="urn:microsoft.com/office/officeart/2005/8/layout/vList2"/>
    <dgm:cxn modelId="{292E37D6-5817-418F-8356-00BAA360ED99}" srcId="{D02487A7-D405-4913-B5D3-9E4B813ED8A3}" destId="{055380E7-1356-4300-812C-461537FDAF9B}" srcOrd="2" destOrd="0" parTransId="{75C7FA51-3E92-4F51-A151-B733AF643E08}" sibTransId="{1BF5A7B9-846E-49DC-AE12-12C6C253096B}"/>
    <dgm:cxn modelId="{BB4D84FE-B35E-426F-AB9F-453154F18EFF}" type="presOf" srcId="{E63A86B8-E71D-4DCF-8529-FC80F323294E}" destId="{84271FDF-D644-48A5-8BBB-391AF85E26F5}" srcOrd="0" destOrd="1" presId="urn:microsoft.com/office/officeart/2005/8/layout/vList2"/>
    <dgm:cxn modelId="{6E5F6FAF-D8FF-4B9A-95AB-5E41E36C5067}" srcId="{DE97C37A-15F9-479B-99A3-F6B494A17A28}" destId="{48CC3452-B333-4F90-887E-97722077E109}" srcOrd="0" destOrd="0" parTransId="{35712032-4428-4257-9017-747507727C01}" sibTransId="{E4073338-D12C-4A4B-BB0F-7A4D7334FDF9}"/>
    <dgm:cxn modelId="{65FDA107-F44B-492D-A4B2-474539DB3F44}" type="presOf" srcId="{A765A4A8-D9EA-411B-BB69-52A9710F2630}" destId="{84271FDF-D644-48A5-8BBB-391AF85E26F5}" srcOrd="0" destOrd="4" presId="urn:microsoft.com/office/officeart/2005/8/layout/vList2"/>
    <dgm:cxn modelId="{6CF9AE95-5CBE-4130-BDA5-89517B80A488}" type="presOf" srcId="{48CC3452-B333-4F90-887E-97722077E109}" destId="{A44F0C9A-3648-4916-982F-AF9587978149}" srcOrd="0" destOrd="0" presId="urn:microsoft.com/office/officeart/2005/8/layout/vList2"/>
    <dgm:cxn modelId="{8C4092E5-17AE-4DF4-B0A6-9820210905D1}" srcId="{DE97C37A-15F9-479B-99A3-F6B494A17A28}" destId="{D02487A7-D405-4913-B5D3-9E4B813ED8A3}" srcOrd="1" destOrd="0" parTransId="{5A3BC19E-47B9-4A58-9EB8-BD29DF168158}" sibTransId="{94DB38CC-2E78-4908-B401-D8F6866C6328}"/>
    <dgm:cxn modelId="{8A696FEE-1277-452D-A088-A2A0DAE032E4}" srcId="{48CC3452-B333-4F90-887E-97722077E109}" destId="{9B56D241-76D7-4251-B32B-D23DBA23DD57}" srcOrd="0" destOrd="0" parTransId="{6FF665C2-6B19-4231-9619-04858625CE9E}" sibTransId="{033FF7EA-AA5C-45DB-95B2-A6FC5F7DCF5A}"/>
    <dgm:cxn modelId="{EABBA5E9-2939-4F28-A387-DD26B4742B91}" srcId="{D02487A7-D405-4913-B5D3-9E4B813ED8A3}" destId="{8BFD0C5C-B51E-4EC7-ADD9-528DAF03ABF3}" srcOrd="0" destOrd="0" parTransId="{BB8B7341-F9C0-4D44-BFF3-EF4184FB971B}" sibTransId="{F42BB69E-AF42-478D-B006-D93189C1974B}"/>
    <dgm:cxn modelId="{0A75C6FB-C679-4699-9B74-0EDF79087546}" srcId="{D02487A7-D405-4913-B5D3-9E4B813ED8A3}" destId="{E63A86B8-E71D-4DCF-8529-FC80F323294E}" srcOrd="1" destOrd="0" parTransId="{47AF8924-2A5F-4625-AE87-F524E7E949DD}" sibTransId="{B71E376A-E657-4C43-BF6D-716913A47424}"/>
    <dgm:cxn modelId="{ACECFABB-76FA-40CD-9BBD-5943CA621126}" type="presOf" srcId="{DE97C37A-15F9-479B-99A3-F6B494A17A28}" destId="{C10E8076-8318-4B9B-A3D2-9D98281FA950}" srcOrd="0" destOrd="0" presId="urn:microsoft.com/office/officeart/2005/8/layout/vList2"/>
    <dgm:cxn modelId="{A6156309-2BA0-4C3C-9452-55FC45A16B5C}" srcId="{D02487A7-D405-4913-B5D3-9E4B813ED8A3}" destId="{A765A4A8-D9EA-411B-BB69-52A9710F2630}" srcOrd="4" destOrd="0" parTransId="{EA7E045F-72D8-4A79-B9BB-E4709CC8F5FF}" sibTransId="{7C87BFC3-5B3B-466A-AA3A-26DFAF5EB4D8}"/>
    <dgm:cxn modelId="{37AA7197-7AF4-41DC-87A5-948259B6B358}" type="presOf" srcId="{36FF98E9-5656-4EF7-8B92-CC6F2A5F3655}" destId="{84271FDF-D644-48A5-8BBB-391AF85E26F5}" srcOrd="0" destOrd="3" presId="urn:microsoft.com/office/officeart/2005/8/layout/vList2"/>
    <dgm:cxn modelId="{A8E51018-5A4E-4B00-952F-D37BA21810CA}" type="presOf" srcId="{9B56D241-76D7-4251-B32B-D23DBA23DD57}" destId="{F2725D4B-59A7-40CF-AA8E-A27EC37530B2}" srcOrd="0" destOrd="0" presId="urn:microsoft.com/office/officeart/2005/8/layout/vList2"/>
    <dgm:cxn modelId="{E9A4FEA3-CFB4-4EE6-8C72-DE0E32EC7C9E}" srcId="{D02487A7-D405-4913-B5D3-9E4B813ED8A3}" destId="{36FF98E9-5656-4EF7-8B92-CC6F2A5F3655}" srcOrd="3" destOrd="0" parTransId="{8E8E9C50-21B7-4177-99CD-CFA3DFF060E1}" sibTransId="{CF367263-300A-4100-B1C8-2469043859E7}"/>
    <dgm:cxn modelId="{10FBC9D2-A87E-47C9-90AC-21A4E8F04A6E}" type="presOf" srcId="{055380E7-1356-4300-812C-461537FDAF9B}" destId="{84271FDF-D644-48A5-8BBB-391AF85E26F5}" srcOrd="0" destOrd="2" presId="urn:microsoft.com/office/officeart/2005/8/layout/vList2"/>
    <dgm:cxn modelId="{928B8612-29A1-4AF7-8C9C-B2E81B819C0C}" type="presOf" srcId="{8BFD0C5C-B51E-4EC7-ADD9-528DAF03ABF3}" destId="{84271FDF-D644-48A5-8BBB-391AF85E26F5}" srcOrd="0" destOrd="0" presId="urn:microsoft.com/office/officeart/2005/8/layout/vList2"/>
    <dgm:cxn modelId="{8A6C2138-6402-4452-9E4D-3C076A465B77}" type="presParOf" srcId="{C10E8076-8318-4B9B-A3D2-9D98281FA950}" destId="{A44F0C9A-3648-4916-982F-AF9587978149}" srcOrd="0" destOrd="0" presId="urn:microsoft.com/office/officeart/2005/8/layout/vList2"/>
    <dgm:cxn modelId="{D0F92004-6579-41C3-A714-E6EDACAF1E01}" type="presParOf" srcId="{C10E8076-8318-4B9B-A3D2-9D98281FA950}" destId="{F2725D4B-59A7-40CF-AA8E-A27EC37530B2}" srcOrd="1" destOrd="0" presId="urn:microsoft.com/office/officeart/2005/8/layout/vList2"/>
    <dgm:cxn modelId="{0A75F33F-A9F7-4CF5-B884-15CA5ACF7B1A}" type="presParOf" srcId="{C10E8076-8318-4B9B-A3D2-9D98281FA950}" destId="{6C5C9815-44A2-4551-A509-FE6F0947C3DB}" srcOrd="2" destOrd="0" presId="urn:microsoft.com/office/officeart/2005/8/layout/vList2"/>
    <dgm:cxn modelId="{5BA7020F-13A4-483D-8003-BB6D7E210669}" type="presParOf" srcId="{C10E8076-8318-4B9B-A3D2-9D98281FA950}" destId="{84271FDF-D644-48A5-8BBB-391AF85E26F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654343-DB53-42AB-A74A-F1B8C77FC7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E623F1E-8BE3-4C3D-8265-19EDBBBD0197}">
      <dgm:prSet phldrT="[Текст]" custT="1"/>
      <dgm:spPr/>
      <dgm:t>
        <a:bodyPr/>
        <a:lstStyle/>
        <a:p>
          <a:r>
            <a:rPr lang="ru-RU" sz="2400" dirty="0" smtClean="0"/>
            <a:t>Функции библиотеки</a:t>
          </a:r>
          <a:endParaRPr lang="ru-RU" sz="2400" dirty="0"/>
        </a:p>
      </dgm:t>
    </dgm:pt>
    <dgm:pt modelId="{DC9D396A-E0D1-49AA-A782-4C3FBF25DB9D}" type="parTrans" cxnId="{1DC3C6B9-EDD0-4B3C-817F-3B6C7FA796B1}">
      <dgm:prSet/>
      <dgm:spPr/>
      <dgm:t>
        <a:bodyPr/>
        <a:lstStyle/>
        <a:p>
          <a:endParaRPr lang="ru-RU"/>
        </a:p>
      </dgm:t>
    </dgm:pt>
    <dgm:pt modelId="{D487729C-3736-4AB6-8A23-244116BE78F6}" type="sibTrans" cxnId="{1DC3C6B9-EDD0-4B3C-817F-3B6C7FA796B1}">
      <dgm:prSet/>
      <dgm:spPr/>
      <dgm:t>
        <a:bodyPr/>
        <a:lstStyle/>
        <a:p>
          <a:endParaRPr lang="ru-RU"/>
        </a:p>
      </dgm:t>
    </dgm:pt>
    <dgm:pt modelId="{79306A6F-DF62-4B70-AEAA-7AACBA933274}">
      <dgm:prSet phldrT="[Текст]"/>
      <dgm:spPr/>
      <dgm:t>
        <a:bodyPr/>
        <a:lstStyle/>
        <a:p>
          <a:r>
            <a:rPr lang="ru-RU" dirty="0" smtClean="0"/>
            <a:t>Прочитать/записать текстовый файл</a:t>
          </a:r>
          <a:endParaRPr lang="ru-RU" dirty="0"/>
        </a:p>
      </dgm:t>
    </dgm:pt>
    <dgm:pt modelId="{ED6D6C32-A6A4-4F53-BECD-31DF94AB2F2D}" type="parTrans" cxnId="{BAC2D091-19B2-47EA-A560-CF3C9EE07EEE}">
      <dgm:prSet/>
      <dgm:spPr/>
      <dgm:t>
        <a:bodyPr/>
        <a:lstStyle/>
        <a:p>
          <a:endParaRPr lang="ru-RU"/>
        </a:p>
      </dgm:t>
    </dgm:pt>
    <dgm:pt modelId="{3C0A9A96-F363-4021-A337-B08E7E4FF28B}" type="sibTrans" cxnId="{BAC2D091-19B2-47EA-A560-CF3C9EE07EEE}">
      <dgm:prSet/>
      <dgm:spPr/>
      <dgm:t>
        <a:bodyPr/>
        <a:lstStyle/>
        <a:p>
          <a:endParaRPr lang="ru-RU"/>
        </a:p>
      </dgm:t>
    </dgm:pt>
    <dgm:pt modelId="{1EF42ADA-5F02-4E46-BE50-FEA15D3D173E}">
      <dgm:prSet phldrT="[Текст]" custT="1"/>
      <dgm:spPr/>
      <dgm:t>
        <a:bodyPr/>
        <a:lstStyle/>
        <a:p>
          <a:r>
            <a:rPr lang="ru-RU" sz="2400" dirty="0" smtClean="0"/>
            <a:t>Проверка при работе с файлами</a:t>
          </a:r>
          <a:endParaRPr lang="ru-RU" sz="2400" dirty="0"/>
        </a:p>
      </dgm:t>
    </dgm:pt>
    <dgm:pt modelId="{3C59A9C2-E01F-46D5-B3B1-192E43353452}" type="parTrans" cxnId="{6436DBCA-1735-4B6C-96BD-2870F8DDD555}">
      <dgm:prSet/>
      <dgm:spPr/>
      <dgm:t>
        <a:bodyPr/>
        <a:lstStyle/>
        <a:p>
          <a:endParaRPr lang="ru-RU"/>
        </a:p>
      </dgm:t>
    </dgm:pt>
    <dgm:pt modelId="{16D47AF7-45E3-4CA0-A461-E4B2D347912E}" type="sibTrans" cxnId="{6436DBCA-1735-4B6C-96BD-2870F8DDD555}">
      <dgm:prSet/>
      <dgm:spPr/>
      <dgm:t>
        <a:bodyPr/>
        <a:lstStyle/>
        <a:p>
          <a:endParaRPr lang="ru-RU"/>
        </a:p>
      </dgm:t>
    </dgm:pt>
    <dgm:pt modelId="{573D393A-66A2-446E-BFEF-C3FBF1C42C84}">
      <dgm:prSet phldrT="[Текст]"/>
      <dgm:spPr/>
      <dgm:t>
        <a:bodyPr/>
        <a:lstStyle/>
        <a:p>
          <a:r>
            <a:rPr lang="ru-RU" dirty="0" smtClean="0"/>
            <a:t>Проверка на существование файла</a:t>
          </a:r>
          <a:endParaRPr lang="ru-RU" dirty="0"/>
        </a:p>
      </dgm:t>
    </dgm:pt>
    <dgm:pt modelId="{8FB5C8FE-E193-41CA-9D85-84904BACA977}" type="parTrans" cxnId="{48A65D49-CABF-4D36-AE62-7F08CF0329A8}">
      <dgm:prSet/>
      <dgm:spPr/>
      <dgm:t>
        <a:bodyPr/>
        <a:lstStyle/>
        <a:p>
          <a:endParaRPr lang="ru-RU"/>
        </a:p>
      </dgm:t>
    </dgm:pt>
    <dgm:pt modelId="{20177508-7C4A-44B7-9491-F2F874B79DF0}" type="sibTrans" cxnId="{48A65D49-CABF-4D36-AE62-7F08CF0329A8}">
      <dgm:prSet/>
      <dgm:spPr/>
      <dgm:t>
        <a:bodyPr/>
        <a:lstStyle/>
        <a:p>
          <a:endParaRPr lang="ru-RU"/>
        </a:p>
      </dgm:t>
    </dgm:pt>
    <dgm:pt modelId="{6BC8465F-F152-4B2B-B6B0-8BEFA793F1E3}">
      <dgm:prSet phldrT="[Текст]"/>
      <dgm:spPr/>
      <dgm:t>
        <a:bodyPr/>
        <a:lstStyle/>
        <a:p>
          <a:r>
            <a:rPr lang="ru-RU" dirty="0" smtClean="0"/>
            <a:t>Прочитать/записать </a:t>
          </a:r>
          <a:r>
            <a:rPr lang="en-US" dirty="0" smtClean="0"/>
            <a:t>JSON-</a:t>
          </a:r>
          <a:r>
            <a:rPr lang="ru-RU" dirty="0" smtClean="0"/>
            <a:t>файл</a:t>
          </a:r>
          <a:endParaRPr lang="ru-RU" dirty="0"/>
        </a:p>
      </dgm:t>
    </dgm:pt>
    <dgm:pt modelId="{9A34D1F0-FD46-4312-B06F-D5D631444813}" type="parTrans" cxnId="{3CD1693C-FD15-4008-95EC-E01AA2B4F014}">
      <dgm:prSet/>
      <dgm:spPr/>
      <dgm:t>
        <a:bodyPr/>
        <a:lstStyle/>
        <a:p>
          <a:endParaRPr lang="ru-RU"/>
        </a:p>
      </dgm:t>
    </dgm:pt>
    <dgm:pt modelId="{A9B214D6-FC85-452E-A1AA-6CACFC7D5066}" type="sibTrans" cxnId="{3CD1693C-FD15-4008-95EC-E01AA2B4F014}">
      <dgm:prSet/>
      <dgm:spPr/>
      <dgm:t>
        <a:bodyPr/>
        <a:lstStyle/>
        <a:p>
          <a:endParaRPr lang="ru-RU"/>
        </a:p>
      </dgm:t>
    </dgm:pt>
    <dgm:pt modelId="{A11CB2FD-A157-4C68-83D6-C4C5B942172A}">
      <dgm:prSet phldrT="[Текст]"/>
      <dgm:spPr/>
      <dgm:t>
        <a:bodyPr/>
        <a:lstStyle/>
        <a:p>
          <a:r>
            <a:rPr lang="ru-RU" dirty="0" smtClean="0"/>
            <a:t>Проверить </a:t>
          </a:r>
          <a:r>
            <a:rPr lang="en-US" dirty="0" smtClean="0"/>
            <a:t>JSON-</a:t>
          </a:r>
          <a:r>
            <a:rPr lang="ru-RU" dirty="0" smtClean="0"/>
            <a:t>структуру на соответствие шаблону</a:t>
          </a:r>
          <a:endParaRPr lang="ru-RU" dirty="0"/>
        </a:p>
      </dgm:t>
    </dgm:pt>
    <dgm:pt modelId="{0253DC1D-0C3C-405D-93F7-80D19AD67065}" type="parTrans" cxnId="{F3B4AF9B-7FE3-40D3-BA22-E241A2CE68FB}">
      <dgm:prSet/>
      <dgm:spPr/>
      <dgm:t>
        <a:bodyPr/>
        <a:lstStyle/>
        <a:p>
          <a:endParaRPr lang="ru-RU"/>
        </a:p>
      </dgm:t>
    </dgm:pt>
    <dgm:pt modelId="{72CE49A4-A530-4D9D-B4FC-D654EF8E746F}" type="sibTrans" cxnId="{F3B4AF9B-7FE3-40D3-BA22-E241A2CE68FB}">
      <dgm:prSet/>
      <dgm:spPr/>
      <dgm:t>
        <a:bodyPr/>
        <a:lstStyle/>
        <a:p>
          <a:endParaRPr lang="ru-RU"/>
        </a:p>
      </dgm:t>
    </dgm:pt>
    <dgm:pt modelId="{6EC4C7A0-7E2A-47DE-B2E1-3DBF10A006E4}">
      <dgm:prSet phldrT="[Текст]"/>
      <dgm:spPr/>
      <dgm:t>
        <a:bodyPr/>
        <a:lstStyle/>
        <a:p>
          <a:r>
            <a:rPr lang="ru-RU" dirty="0" smtClean="0"/>
            <a:t>Проверка на открытие файла</a:t>
          </a:r>
          <a:endParaRPr lang="ru-RU" dirty="0"/>
        </a:p>
      </dgm:t>
    </dgm:pt>
    <dgm:pt modelId="{153CCD8A-EEDE-42A6-83D5-2DBF09F852E6}" type="parTrans" cxnId="{A077084D-BD82-48E8-9493-C824B2A7DEC1}">
      <dgm:prSet/>
      <dgm:spPr/>
      <dgm:t>
        <a:bodyPr/>
        <a:lstStyle/>
        <a:p>
          <a:endParaRPr lang="ru-RU"/>
        </a:p>
      </dgm:t>
    </dgm:pt>
    <dgm:pt modelId="{18B62E41-65DF-4ED6-9329-DB071B0EAC9F}" type="sibTrans" cxnId="{A077084D-BD82-48E8-9493-C824B2A7DEC1}">
      <dgm:prSet/>
      <dgm:spPr/>
      <dgm:t>
        <a:bodyPr/>
        <a:lstStyle/>
        <a:p>
          <a:endParaRPr lang="ru-RU"/>
        </a:p>
      </dgm:t>
    </dgm:pt>
    <dgm:pt modelId="{017FE366-74F1-4A0F-BBA6-BE17472606E3}">
      <dgm:prSet phldrT="[Текст]"/>
      <dgm:spPr/>
      <dgm:t>
        <a:bodyPr/>
        <a:lstStyle/>
        <a:p>
          <a:r>
            <a:rPr lang="ru-RU" dirty="0" smtClean="0"/>
            <a:t>Проверка на ошибки во время чтения/записи файла</a:t>
          </a:r>
          <a:endParaRPr lang="ru-RU" dirty="0"/>
        </a:p>
      </dgm:t>
    </dgm:pt>
    <dgm:pt modelId="{6204BB66-3532-4E4F-B7A3-5D564691C70E}" type="parTrans" cxnId="{ABE72B95-550F-4C6F-A736-9AEE0A6AFA42}">
      <dgm:prSet/>
      <dgm:spPr/>
      <dgm:t>
        <a:bodyPr/>
        <a:lstStyle/>
        <a:p>
          <a:endParaRPr lang="ru-RU"/>
        </a:p>
      </dgm:t>
    </dgm:pt>
    <dgm:pt modelId="{84425D09-E092-4EB6-A849-487EBDBB914D}" type="sibTrans" cxnId="{ABE72B95-550F-4C6F-A736-9AEE0A6AFA42}">
      <dgm:prSet/>
      <dgm:spPr/>
      <dgm:t>
        <a:bodyPr/>
        <a:lstStyle/>
        <a:p>
          <a:endParaRPr lang="ru-RU"/>
        </a:p>
      </dgm:t>
    </dgm:pt>
    <dgm:pt modelId="{F0E2124C-8CCA-471D-943A-B8A9321110B7}">
      <dgm:prSet phldrT="[Текст]"/>
      <dgm:spPr/>
      <dgm:t>
        <a:bodyPr/>
        <a:lstStyle/>
        <a:p>
          <a:r>
            <a:rPr lang="ru-RU" dirty="0" smtClean="0"/>
            <a:t>Проверить </a:t>
          </a:r>
          <a:r>
            <a:rPr lang="en-US" dirty="0" smtClean="0"/>
            <a:t>JSON-</a:t>
          </a:r>
          <a:r>
            <a:rPr lang="ru-RU" dirty="0" smtClean="0"/>
            <a:t>структуру на целостность</a:t>
          </a:r>
          <a:endParaRPr lang="ru-RU" dirty="0"/>
        </a:p>
      </dgm:t>
    </dgm:pt>
    <dgm:pt modelId="{D19A251A-1BA9-4500-9FB7-8EEA4BC32A72}" type="parTrans" cxnId="{23BCE721-A79D-4BBF-8558-5F1141562632}">
      <dgm:prSet/>
      <dgm:spPr/>
      <dgm:t>
        <a:bodyPr/>
        <a:lstStyle/>
        <a:p>
          <a:endParaRPr lang="ru-RU"/>
        </a:p>
      </dgm:t>
    </dgm:pt>
    <dgm:pt modelId="{0EB1B89D-68F3-4204-9BA3-DFD1C3A4526A}" type="sibTrans" cxnId="{23BCE721-A79D-4BBF-8558-5F1141562632}">
      <dgm:prSet/>
      <dgm:spPr/>
      <dgm:t>
        <a:bodyPr/>
        <a:lstStyle/>
        <a:p>
          <a:endParaRPr lang="ru-RU"/>
        </a:p>
      </dgm:t>
    </dgm:pt>
    <dgm:pt modelId="{8997A8C5-71D1-4253-A406-6EEF7A742701}" type="pres">
      <dgm:prSet presAssocID="{43654343-DB53-42AB-A74A-F1B8C77FC7A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9E4810E-52F3-40F0-9593-6C037BA1D12A}" type="pres">
      <dgm:prSet presAssocID="{2E623F1E-8BE3-4C3D-8265-19EDBBBD0197}" presName="parentText" presStyleLbl="node1" presStyleIdx="0" presStyleCnt="2" custScaleX="100000" custScaleY="106750" custLinFactNeighborY="-483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5A264F-F3DF-4EEC-8B66-102C93BB9818}" type="pres">
      <dgm:prSet presAssocID="{2E623F1E-8BE3-4C3D-8265-19EDBBBD0197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7F1F5C-6D75-4492-8EF1-6580ED92ACAF}" type="pres">
      <dgm:prSet presAssocID="{1EF42ADA-5F02-4E46-BE50-FEA15D3D173E}" presName="parentText" presStyleLbl="node1" presStyleIdx="1" presStyleCnt="2" custScaleX="100000" custScaleY="106750" custLinFactNeighborX="187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7A1B8A-9783-4C29-9201-29A02D448FA4}" type="pres">
      <dgm:prSet presAssocID="{1EF42ADA-5F02-4E46-BE50-FEA15D3D173E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3BCE721-A79D-4BBF-8558-5F1141562632}" srcId="{2E623F1E-8BE3-4C3D-8265-19EDBBBD0197}" destId="{F0E2124C-8CCA-471D-943A-B8A9321110B7}" srcOrd="3" destOrd="0" parTransId="{D19A251A-1BA9-4500-9FB7-8EEA4BC32A72}" sibTransId="{0EB1B89D-68F3-4204-9BA3-DFD1C3A4526A}"/>
    <dgm:cxn modelId="{F3B4AF9B-7FE3-40D3-BA22-E241A2CE68FB}" srcId="{2E623F1E-8BE3-4C3D-8265-19EDBBBD0197}" destId="{A11CB2FD-A157-4C68-83D6-C4C5B942172A}" srcOrd="2" destOrd="0" parTransId="{0253DC1D-0C3C-405D-93F7-80D19AD67065}" sibTransId="{72CE49A4-A530-4D9D-B4FC-D654EF8E746F}"/>
    <dgm:cxn modelId="{6CF4803D-F75D-4A12-AC1C-B72C879BD512}" type="presOf" srcId="{1EF42ADA-5F02-4E46-BE50-FEA15D3D173E}" destId="{557F1F5C-6D75-4492-8EF1-6580ED92ACAF}" srcOrd="0" destOrd="0" presId="urn:microsoft.com/office/officeart/2005/8/layout/vList2"/>
    <dgm:cxn modelId="{4D98B2F0-948C-433F-8FFC-AAC710408A78}" type="presOf" srcId="{F0E2124C-8CCA-471D-943A-B8A9321110B7}" destId="{625A264F-F3DF-4EEC-8B66-102C93BB9818}" srcOrd="0" destOrd="3" presId="urn:microsoft.com/office/officeart/2005/8/layout/vList2"/>
    <dgm:cxn modelId="{BAC2D091-19B2-47EA-A560-CF3C9EE07EEE}" srcId="{2E623F1E-8BE3-4C3D-8265-19EDBBBD0197}" destId="{79306A6F-DF62-4B70-AEAA-7AACBA933274}" srcOrd="0" destOrd="0" parTransId="{ED6D6C32-A6A4-4F53-BECD-31DF94AB2F2D}" sibTransId="{3C0A9A96-F363-4021-A337-B08E7E4FF28B}"/>
    <dgm:cxn modelId="{ABE72B95-550F-4C6F-A736-9AEE0A6AFA42}" srcId="{1EF42ADA-5F02-4E46-BE50-FEA15D3D173E}" destId="{017FE366-74F1-4A0F-BBA6-BE17472606E3}" srcOrd="2" destOrd="0" parTransId="{6204BB66-3532-4E4F-B7A3-5D564691C70E}" sibTransId="{84425D09-E092-4EB6-A849-487EBDBB914D}"/>
    <dgm:cxn modelId="{D817F523-88F6-435B-AF3D-410EB41D04C7}" type="presOf" srcId="{79306A6F-DF62-4B70-AEAA-7AACBA933274}" destId="{625A264F-F3DF-4EEC-8B66-102C93BB9818}" srcOrd="0" destOrd="0" presId="urn:microsoft.com/office/officeart/2005/8/layout/vList2"/>
    <dgm:cxn modelId="{48A65D49-CABF-4D36-AE62-7F08CF0329A8}" srcId="{1EF42ADA-5F02-4E46-BE50-FEA15D3D173E}" destId="{573D393A-66A2-446E-BFEF-C3FBF1C42C84}" srcOrd="0" destOrd="0" parTransId="{8FB5C8FE-E193-41CA-9D85-84904BACA977}" sibTransId="{20177508-7C4A-44B7-9491-F2F874B79DF0}"/>
    <dgm:cxn modelId="{C3CFC676-C5FC-4571-B86C-5A148CFD44A5}" type="presOf" srcId="{6EC4C7A0-7E2A-47DE-B2E1-3DBF10A006E4}" destId="{657A1B8A-9783-4C29-9201-29A02D448FA4}" srcOrd="0" destOrd="1" presId="urn:microsoft.com/office/officeart/2005/8/layout/vList2"/>
    <dgm:cxn modelId="{64AA8193-3439-4C5F-B251-813F4773F941}" type="presOf" srcId="{43654343-DB53-42AB-A74A-F1B8C77FC7AB}" destId="{8997A8C5-71D1-4253-A406-6EEF7A742701}" srcOrd="0" destOrd="0" presId="urn:microsoft.com/office/officeart/2005/8/layout/vList2"/>
    <dgm:cxn modelId="{F10569FF-8F86-4F84-B533-45D6AE975FD5}" type="presOf" srcId="{A11CB2FD-A157-4C68-83D6-C4C5B942172A}" destId="{625A264F-F3DF-4EEC-8B66-102C93BB9818}" srcOrd="0" destOrd="2" presId="urn:microsoft.com/office/officeart/2005/8/layout/vList2"/>
    <dgm:cxn modelId="{A077084D-BD82-48E8-9493-C824B2A7DEC1}" srcId="{1EF42ADA-5F02-4E46-BE50-FEA15D3D173E}" destId="{6EC4C7A0-7E2A-47DE-B2E1-3DBF10A006E4}" srcOrd="1" destOrd="0" parTransId="{153CCD8A-EEDE-42A6-83D5-2DBF09F852E6}" sibTransId="{18B62E41-65DF-4ED6-9329-DB071B0EAC9F}"/>
    <dgm:cxn modelId="{050D1CCC-6CCB-47AC-B1B0-006D5C3B9463}" type="presOf" srcId="{017FE366-74F1-4A0F-BBA6-BE17472606E3}" destId="{657A1B8A-9783-4C29-9201-29A02D448FA4}" srcOrd="0" destOrd="2" presId="urn:microsoft.com/office/officeart/2005/8/layout/vList2"/>
    <dgm:cxn modelId="{CAD3D820-E2B7-4353-8121-030808F9E88E}" type="presOf" srcId="{2E623F1E-8BE3-4C3D-8265-19EDBBBD0197}" destId="{B9E4810E-52F3-40F0-9593-6C037BA1D12A}" srcOrd="0" destOrd="0" presId="urn:microsoft.com/office/officeart/2005/8/layout/vList2"/>
    <dgm:cxn modelId="{3CD1693C-FD15-4008-95EC-E01AA2B4F014}" srcId="{2E623F1E-8BE3-4C3D-8265-19EDBBBD0197}" destId="{6BC8465F-F152-4B2B-B6B0-8BEFA793F1E3}" srcOrd="1" destOrd="0" parTransId="{9A34D1F0-FD46-4312-B06F-D5D631444813}" sibTransId="{A9B214D6-FC85-452E-A1AA-6CACFC7D5066}"/>
    <dgm:cxn modelId="{1DC3C6B9-EDD0-4B3C-817F-3B6C7FA796B1}" srcId="{43654343-DB53-42AB-A74A-F1B8C77FC7AB}" destId="{2E623F1E-8BE3-4C3D-8265-19EDBBBD0197}" srcOrd="0" destOrd="0" parTransId="{DC9D396A-E0D1-49AA-A782-4C3FBF25DB9D}" sibTransId="{D487729C-3736-4AB6-8A23-244116BE78F6}"/>
    <dgm:cxn modelId="{8D2F85D3-D5F7-4AFE-ACBB-57AD0CD0C668}" type="presOf" srcId="{6BC8465F-F152-4B2B-B6B0-8BEFA793F1E3}" destId="{625A264F-F3DF-4EEC-8B66-102C93BB9818}" srcOrd="0" destOrd="1" presId="urn:microsoft.com/office/officeart/2005/8/layout/vList2"/>
    <dgm:cxn modelId="{E8D8967D-C691-4B22-97CC-DB357D43275D}" type="presOf" srcId="{573D393A-66A2-446E-BFEF-C3FBF1C42C84}" destId="{657A1B8A-9783-4C29-9201-29A02D448FA4}" srcOrd="0" destOrd="0" presId="urn:microsoft.com/office/officeart/2005/8/layout/vList2"/>
    <dgm:cxn modelId="{6436DBCA-1735-4B6C-96BD-2870F8DDD555}" srcId="{43654343-DB53-42AB-A74A-F1B8C77FC7AB}" destId="{1EF42ADA-5F02-4E46-BE50-FEA15D3D173E}" srcOrd="1" destOrd="0" parTransId="{3C59A9C2-E01F-46D5-B3B1-192E43353452}" sibTransId="{16D47AF7-45E3-4CA0-A461-E4B2D347912E}"/>
    <dgm:cxn modelId="{B0F92AEA-C73F-4AC3-ADE5-AD6CDED41AA6}" type="presParOf" srcId="{8997A8C5-71D1-4253-A406-6EEF7A742701}" destId="{B9E4810E-52F3-40F0-9593-6C037BA1D12A}" srcOrd="0" destOrd="0" presId="urn:microsoft.com/office/officeart/2005/8/layout/vList2"/>
    <dgm:cxn modelId="{E4A5257F-7DB9-4081-9EE2-928FC54713AA}" type="presParOf" srcId="{8997A8C5-71D1-4253-A406-6EEF7A742701}" destId="{625A264F-F3DF-4EEC-8B66-102C93BB9818}" srcOrd="1" destOrd="0" presId="urn:microsoft.com/office/officeart/2005/8/layout/vList2"/>
    <dgm:cxn modelId="{637DB6D7-B307-41C3-8B70-014AB2C84E55}" type="presParOf" srcId="{8997A8C5-71D1-4253-A406-6EEF7A742701}" destId="{557F1F5C-6D75-4492-8EF1-6580ED92ACAF}" srcOrd="2" destOrd="0" presId="urn:microsoft.com/office/officeart/2005/8/layout/vList2"/>
    <dgm:cxn modelId="{C7445A9E-61AD-411A-98E4-88100172EE7C}" type="presParOf" srcId="{8997A8C5-71D1-4253-A406-6EEF7A742701}" destId="{657A1B8A-9783-4C29-9201-29A02D448FA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7DA49-9917-4A7E-BE43-A1E4A72285DB}" type="datetimeFigureOut">
              <a:rPr lang="ru-RU" smtClean="0"/>
              <a:t>14.02.2026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D1B74-7F90-4CBF-9224-F66A6D7BD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98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Выделить наиболее интересное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653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93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934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748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67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794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422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457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59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156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344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117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Написать вывод из графиков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876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Написать вывод из графиков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687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766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081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027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987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996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94A6-AC0E-4564-848B-C9299726F19B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79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45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F089-DB3A-44EC-8E6C-70C807261B64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52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74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E4F1-295B-4CC0-A10F-3BDEF5F6B9B6}" type="datetime1">
              <a:rPr lang="ru-RU" smtClean="0"/>
              <a:t>14.02.2026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30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14.02.2026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4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07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A82D743-4282-4860-9AE2-FAD442C19B6D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85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2F36-14C5-4E46-8DE1-22F5FE5A6635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21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F09E-5B73-4FCA-A245-E4B9F24EF6E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93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EF1CB-1F45-4BB0-ACA2-7F2CD691ED8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41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78E439-9BA7-4640-B448-B030DCC85B49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70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0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8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35.png"/><Relationship Id="rId5" Type="http://schemas.openxmlformats.org/officeDocument/2006/relationships/image" Target="../media/image22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0.png"/><Relationship Id="rId18" Type="http://schemas.openxmlformats.org/officeDocument/2006/relationships/image" Target="../media/image35.png"/><Relationship Id="rId3" Type="http://schemas.openxmlformats.org/officeDocument/2006/relationships/image" Target="../media/image45.png"/><Relationship Id="rId7" Type="http://schemas.openxmlformats.org/officeDocument/2006/relationships/image" Target="../media/image22.png"/><Relationship Id="rId12" Type="http://schemas.openxmlformats.org/officeDocument/2006/relationships/image" Target="../media/image49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34.png"/><Relationship Id="rId5" Type="http://schemas.openxmlformats.org/officeDocument/2006/relationships/image" Target="../media/image47.png"/><Relationship Id="rId15" Type="http://schemas.openxmlformats.org/officeDocument/2006/relationships/image" Target="../media/image51.png"/><Relationship Id="rId10" Type="http://schemas.openxmlformats.org/officeDocument/2006/relationships/image" Target="../media/image33.png"/><Relationship Id="rId4" Type="http://schemas.openxmlformats.org/officeDocument/2006/relationships/image" Target="../media/image46.png"/><Relationship Id="rId9" Type="http://schemas.openxmlformats.org/officeDocument/2006/relationships/image" Target="../media/image32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33.png"/><Relationship Id="rId12" Type="http://schemas.openxmlformats.org/officeDocument/2006/relationships/image" Target="../media/image5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57.png"/><Relationship Id="rId5" Type="http://schemas.openxmlformats.org/officeDocument/2006/relationships/image" Target="../media/image23.png"/><Relationship Id="rId15" Type="http://schemas.openxmlformats.org/officeDocument/2006/relationships/image" Target="../media/image37.png"/><Relationship Id="rId10" Type="http://schemas.openxmlformats.org/officeDocument/2006/relationships/image" Target="../media/image56.png"/><Relationship Id="rId4" Type="http://schemas.openxmlformats.org/officeDocument/2006/relationships/image" Target="../media/image22.png"/><Relationship Id="rId9" Type="http://schemas.openxmlformats.org/officeDocument/2006/relationships/image" Target="../media/image55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33.png"/><Relationship Id="rId18" Type="http://schemas.openxmlformats.org/officeDocument/2006/relationships/image" Target="../media/image37.png"/><Relationship Id="rId3" Type="http://schemas.openxmlformats.org/officeDocument/2006/relationships/image" Target="../media/image45.png"/><Relationship Id="rId7" Type="http://schemas.openxmlformats.org/officeDocument/2006/relationships/image" Target="../media/image63.png"/><Relationship Id="rId12" Type="http://schemas.openxmlformats.org/officeDocument/2006/relationships/image" Target="../media/image32.png"/><Relationship Id="rId17" Type="http://schemas.openxmlformats.org/officeDocument/2006/relationships/image" Target="../media/image36.png"/><Relationship Id="rId2" Type="http://schemas.openxmlformats.org/officeDocument/2006/relationships/image" Target="../media/image60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62.png"/><Relationship Id="rId15" Type="http://schemas.openxmlformats.org/officeDocument/2006/relationships/image" Target="../media/image20.png"/><Relationship Id="rId10" Type="http://schemas.openxmlformats.org/officeDocument/2006/relationships/image" Target="../media/image22.png"/><Relationship Id="rId19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1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86.png"/><Relationship Id="rId5" Type="http://schemas.openxmlformats.org/officeDocument/2006/relationships/image" Target="../media/image83.png"/><Relationship Id="rId10" Type="http://schemas.openxmlformats.org/officeDocument/2006/relationships/image" Target="../media/image85.png"/><Relationship Id="rId4" Type="http://schemas.openxmlformats.org/officeDocument/2006/relationships/image" Target="../media/image88.png"/><Relationship Id="rId9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9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9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8.png"/><Relationship Id="rId4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00.png"/><Relationship Id="rId18" Type="http://schemas.openxmlformats.org/officeDocument/2006/relationships/image" Target="../media/image35.png"/><Relationship Id="rId3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99.png"/><Relationship Id="rId17" Type="http://schemas.openxmlformats.org/officeDocument/2006/relationships/image" Target="../media/image53.png"/><Relationship Id="rId2" Type="http://schemas.openxmlformats.org/officeDocument/2006/relationships/image" Target="../media/image45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20.png"/><Relationship Id="rId5" Type="http://schemas.openxmlformats.org/officeDocument/2006/relationships/image" Target="../media/image23.png"/><Relationship Id="rId15" Type="http://schemas.openxmlformats.org/officeDocument/2006/relationships/image" Target="../media/image51.png"/><Relationship Id="rId10" Type="http://schemas.openxmlformats.org/officeDocument/2006/relationships/image" Target="../media/image48.png"/><Relationship Id="rId4" Type="http://schemas.openxmlformats.org/officeDocument/2006/relationships/image" Target="../media/image22.png"/><Relationship Id="rId9" Type="http://schemas.openxmlformats.org/officeDocument/2006/relationships/image" Target="../media/image49.png"/><Relationship Id="rId1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10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09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0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48.png"/><Relationship Id="rId17" Type="http://schemas.openxmlformats.org/officeDocument/2006/relationships/image" Target="../media/image126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21.pn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124.png"/><Relationship Id="rId10" Type="http://schemas.openxmlformats.org/officeDocument/2006/relationships/image" Target="../media/image120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19.png"/><Relationship Id="rId14" Type="http://schemas.openxmlformats.org/officeDocument/2006/relationships/image" Target="../media/image1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3" Type="http://schemas.openxmlformats.org/officeDocument/2006/relationships/image" Target="../media/image127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33.png"/><Relationship Id="rId5" Type="http://schemas.openxmlformats.org/officeDocument/2006/relationships/image" Target="../media/image113.png"/><Relationship Id="rId10" Type="http://schemas.openxmlformats.org/officeDocument/2006/relationships/image" Target="../media/image132.png"/><Relationship Id="rId4" Type="http://schemas.openxmlformats.org/officeDocument/2006/relationships/image" Target="../media/image128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</a:t>
            </a:fld>
            <a:endParaRPr lang="ru-RU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121" y="1455079"/>
            <a:ext cx="2876550" cy="900112"/>
          </a:xfr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5" y="1466737"/>
            <a:ext cx="3651277" cy="4608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8" y="3301543"/>
            <a:ext cx="2876084" cy="90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8" y="5156878"/>
            <a:ext cx="2876083" cy="90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6" y="2376581"/>
            <a:ext cx="2876085" cy="90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7" y="4232905"/>
            <a:ext cx="2876084" cy="900000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Немного о себе</a:t>
            </a:r>
            <a:endParaRPr lang="ru-RU" sz="4000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Специализации по направлениям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8983925" y="1726262"/>
            <a:ext cx="29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Клиентские и серверные ОС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986684" y="2654711"/>
            <a:ext cx="216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Сетевые технологии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986683" y="4493341"/>
            <a:ext cx="203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Почтовые системы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986681" y="5397908"/>
            <a:ext cx="258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Системы виртуализации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986682" y="3539613"/>
            <a:ext cx="2495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Управление доменами </a:t>
            </a:r>
            <a:endParaRPr lang="ru-RU" dirty="0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flipH="1">
            <a:off x="5373832" y="1449388"/>
            <a:ext cx="6495" cy="4613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72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</a:t>
            </a:fld>
            <a:endParaRPr lang="ru-RU"/>
          </a:p>
        </p:txBody>
      </p:sp>
      <p:grpSp>
        <p:nvGrpSpPr>
          <p:cNvPr id="40" name="Группа 39"/>
          <p:cNvGrpSpPr/>
          <p:nvPr/>
        </p:nvGrpSpPr>
        <p:grpSpPr>
          <a:xfrm>
            <a:off x="448231" y="2450579"/>
            <a:ext cx="1227272" cy="706992"/>
            <a:chOff x="1072736" y="1946935"/>
            <a:chExt cx="1227272" cy="861059"/>
          </a:xfrm>
        </p:grpSpPr>
        <p:sp>
          <p:nvSpPr>
            <p:cNvPr id="12" name="Прямоугольник с двумя усеченными противолежащими углами 11"/>
            <p:cNvSpPr/>
            <p:nvPr/>
          </p:nvSpPr>
          <p:spPr>
            <a:xfrm rot="5400000">
              <a:off x="1351001" y="1858988"/>
              <a:ext cx="670741" cy="1227272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1236674" y="1946935"/>
              <a:ext cx="819455" cy="756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</a:t>
              </a:r>
              <a:endParaRPr lang="ru-RU" sz="4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5" name="Группа 34"/>
          <p:cNvGrpSpPr>
            <a:grpSpLocks noChangeAspect="1"/>
          </p:cNvGrpSpPr>
          <p:nvPr/>
        </p:nvGrpSpPr>
        <p:grpSpPr>
          <a:xfrm>
            <a:off x="513733" y="4948707"/>
            <a:ext cx="1065731" cy="540000"/>
            <a:chOff x="2098995" y="3860219"/>
            <a:chExt cx="1349927" cy="776776"/>
          </a:xfrm>
        </p:grpSpPr>
        <p:sp>
          <p:nvSpPr>
            <p:cNvPr id="14" name="Прямоугольник с двумя усеченными противолежащими углами 13"/>
            <p:cNvSpPr/>
            <p:nvPr/>
          </p:nvSpPr>
          <p:spPr>
            <a:xfrm rot="5400000">
              <a:off x="2385571" y="3578292"/>
              <a:ext cx="776776" cy="1340630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2098995" y="3906079"/>
              <a:ext cx="134992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QML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3" name="Группа 32"/>
          <p:cNvGrpSpPr>
            <a:grpSpLocks/>
          </p:cNvGrpSpPr>
          <p:nvPr/>
        </p:nvGrpSpPr>
        <p:grpSpPr>
          <a:xfrm>
            <a:off x="243316" y="4236340"/>
            <a:ext cx="1620000" cy="540000"/>
            <a:chOff x="1065200" y="4719370"/>
            <a:chExt cx="1848465" cy="795777"/>
          </a:xfrm>
        </p:grpSpPr>
        <p:sp>
          <p:nvSpPr>
            <p:cNvPr id="16" name="Прямоугольник с двумя усеченными противолежащими углами 15"/>
            <p:cNvSpPr/>
            <p:nvPr/>
          </p:nvSpPr>
          <p:spPr>
            <a:xfrm rot="5400000">
              <a:off x="1591544" y="4193026"/>
              <a:ext cx="795777" cy="1848465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/>
            <p:cNvSpPr>
              <a:spLocks noChangeAspect="1"/>
            </p:cNvSpPr>
            <p:nvPr/>
          </p:nvSpPr>
          <p:spPr>
            <a:xfrm>
              <a:off x="1141285" y="4772566"/>
              <a:ext cx="1692000" cy="461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 Designer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4" name="Группа 33"/>
          <p:cNvGrpSpPr>
            <a:grpSpLocks/>
          </p:cNvGrpSpPr>
          <p:nvPr/>
        </p:nvGrpSpPr>
        <p:grpSpPr>
          <a:xfrm>
            <a:off x="312146" y="3520790"/>
            <a:ext cx="1476000" cy="540000"/>
            <a:chOff x="1268299" y="3626000"/>
            <a:chExt cx="1848465" cy="795777"/>
          </a:xfrm>
        </p:grpSpPr>
        <p:sp>
          <p:nvSpPr>
            <p:cNvPr id="18" name="Прямоугольник с двумя усеченными противолежащими углами 17"/>
            <p:cNvSpPr/>
            <p:nvPr/>
          </p:nvSpPr>
          <p:spPr>
            <a:xfrm rot="5400000">
              <a:off x="1794643" y="3099656"/>
              <a:ext cx="795777" cy="1848465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1435286" y="3679414"/>
              <a:ext cx="1525032" cy="461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 Creator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980000" y="900000"/>
            <a:ext cx="986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типы</a:t>
            </a:r>
            <a:r>
              <a:rPr lang="en-US" sz="1600" dirty="0" smtClean="0"/>
              <a:t> </a:t>
            </a:r>
            <a:r>
              <a:rPr lang="ru-RU" sz="1600" dirty="0"/>
              <a:t>данных</a:t>
            </a:r>
            <a:r>
              <a:rPr lang="ru-RU" sz="1600" dirty="0" smtClean="0"/>
              <a:t>, константы и строки, массивы, </a:t>
            </a:r>
            <a:r>
              <a:rPr lang="ru-RU" sz="1600" dirty="0"/>
              <a:t>ветвления, </a:t>
            </a:r>
            <a:r>
              <a:rPr lang="ru-RU" sz="1600" dirty="0" smtClean="0"/>
              <a:t>циклы, функции, преобразование типов, </a:t>
            </a:r>
          </a:p>
          <a:p>
            <a:r>
              <a:rPr lang="ru-RU" sz="1600" dirty="0" smtClean="0"/>
              <a:t>ссылки и указатели, работа с файлами, перечисления и структуры, макросы и препроцессор, </a:t>
            </a:r>
          </a:p>
          <a:p>
            <a:r>
              <a:rPr lang="ru-RU" sz="1600" dirty="0" smtClean="0"/>
              <a:t>перегрузка функций, шаблоны функций, ООП, перегрузка операторов, семантика перемещения, </a:t>
            </a:r>
          </a:p>
          <a:p>
            <a:r>
              <a:rPr lang="ru-RU" sz="1600" dirty="0" smtClean="0"/>
              <a:t>умные указатели, наследование, виртуальные функции, шаблоны классов, </a:t>
            </a:r>
            <a:r>
              <a:rPr lang="en-US" sz="1600" dirty="0" smtClean="0"/>
              <a:t>STL, </a:t>
            </a:r>
            <a:r>
              <a:rPr lang="ru-RU" sz="1600" dirty="0" smtClean="0"/>
              <a:t>многопоточность, </a:t>
            </a:r>
          </a:p>
          <a:p>
            <a:r>
              <a:rPr lang="ru-RU" sz="1600" dirty="0" smtClean="0"/>
              <a:t>исключения, свойства типов, шаблонное метапрограммирование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997" y="5580000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описание правил сборки проекта</a:t>
            </a:r>
            <a:endParaRPr lang="ru-RU" sz="1600" dirty="0"/>
          </a:p>
        </p:txBody>
      </p:sp>
      <p:grpSp>
        <p:nvGrpSpPr>
          <p:cNvPr id="28" name="Группа 27"/>
          <p:cNvGrpSpPr>
            <a:grpSpLocks noChangeAspect="1"/>
          </p:cNvGrpSpPr>
          <p:nvPr/>
        </p:nvGrpSpPr>
        <p:grpSpPr>
          <a:xfrm>
            <a:off x="843409" y="5693155"/>
            <a:ext cx="410079" cy="468000"/>
            <a:chOff x="1501166" y="5420382"/>
            <a:chExt cx="530641" cy="605587"/>
          </a:xfrm>
        </p:grpSpPr>
        <p:pic>
          <p:nvPicPr>
            <p:cNvPr id="21" name="Рисунок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2784" y="5420382"/>
              <a:ext cx="436649" cy="437075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501166" y="5789289"/>
              <a:ext cx="530641" cy="236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CMake</a:t>
              </a:r>
              <a:endParaRPr lang="ru-RU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979999" y="4140000"/>
            <a:ext cx="9864000" cy="72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визуальное </a:t>
            </a:r>
            <a:r>
              <a:rPr lang="ru-RU" sz="1600" dirty="0"/>
              <a:t>проектирования графических </a:t>
            </a:r>
            <a:r>
              <a:rPr lang="ru-RU" sz="1600" dirty="0" smtClean="0"/>
              <a:t>интерфейсов</a:t>
            </a:r>
            <a:r>
              <a:rPr lang="en-US" sz="1600" dirty="0" smtClean="0"/>
              <a:t> </a:t>
            </a:r>
            <a:r>
              <a:rPr lang="ru-RU" sz="1600" dirty="0" smtClean="0"/>
              <a:t>без написания кода</a:t>
            </a:r>
            <a:endParaRPr lang="ru-RU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1980000" y="3420000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создание </a:t>
            </a:r>
            <a:r>
              <a:rPr lang="ru-RU" sz="1600" dirty="0"/>
              <a:t>кроссплатформенных приложений с графическим </a:t>
            </a:r>
            <a:r>
              <a:rPr lang="ru-RU" sz="1600" dirty="0" smtClean="0"/>
              <a:t>интерфейсом</a:t>
            </a:r>
            <a:r>
              <a:rPr lang="en-US" sz="1600" dirty="0" smtClean="0"/>
              <a:t> </a:t>
            </a:r>
            <a:r>
              <a:rPr lang="ru-RU" sz="1600" dirty="0" smtClean="0"/>
              <a:t>пользователя</a:t>
            </a:r>
            <a:endParaRPr lang="ru-RU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1980000" y="4859999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разработка пользовательских элементов </a:t>
            </a:r>
            <a:r>
              <a:rPr lang="ru-RU" sz="1600" dirty="0"/>
              <a:t>интерфейсов, у</a:t>
            </a:r>
            <a:r>
              <a:rPr lang="ru-RU" sz="1600" dirty="0" smtClean="0"/>
              <a:t>правление </a:t>
            </a:r>
            <a:r>
              <a:rPr lang="ru-RU" sz="1600" dirty="0"/>
              <a:t>размещением </a:t>
            </a:r>
            <a:r>
              <a:rPr lang="ru-RU" sz="1600" dirty="0" smtClean="0"/>
              <a:t>элементов, </a:t>
            </a:r>
            <a:r>
              <a:rPr lang="ru-RU" sz="1600" dirty="0"/>
              <a:t>э</a:t>
            </a:r>
            <a:r>
              <a:rPr lang="ru-RU" sz="1600" dirty="0" smtClean="0"/>
              <a:t>лементы графики, </a:t>
            </a:r>
            <a:r>
              <a:rPr lang="ru-RU" sz="1600" dirty="0"/>
              <a:t>п</a:t>
            </a:r>
            <a:r>
              <a:rPr lang="ru-RU" sz="1600" dirty="0" smtClean="0"/>
              <a:t>ользовательский ввод, анимация, </a:t>
            </a:r>
            <a:r>
              <a:rPr lang="en-US" sz="1600" dirty="0"/>
              <a:t>3D-</a:t>
            </a:r>
            <a:r>
              <a:rPr lang="ru-RU" sz="1600" dirty="0"/>
              <a:t>графика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0000" y="2339999"/>
            <a:ext cx="9864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концепция межобъектных коммуникаций – сигналы и слоты, </a:t>
            </a:r>
            <a:r>
              <a:rPr lang="en-US" sz="1600" dirty="0" smtClean="0"/>
              <a:t>qmake, </a:t>
            </a:r>
            <a:r>
              <a:rPr lang="ru-RU" sz="1600" dirty="0" smtClean="0"/>
              <a:t>библиотека контейнеров, виджеты, события, графика, </a:t>
            </a:r>
            <a:r>
              <a:rPr lang="ru-RU" sz="1600" dirty="0"/>
              <a:t>мультимедиа, </a:t>
            </a:r>
            <a:r>
              <a:rPr lang="ru-RU" sz="1600" dirty="0" smtClean="0"/>
              <a:t>анимация, </a:t>
            </a:r>
            <a:r>
              <a:rPr lang="en-US" sz="1600" dirty="0" smtClean="0"/>
              <a:t>SDI- </a:t>
            </a:r>
            <a:r>
              <a:rPr lang="ru-RU" sz="1600" dirty="0"/>
              <a:t>и М</a:t>
            </a:r>
            <a:r>
              <a:rPr lang="en-US" sz="1600" dirty="0"/>
              <a:t>DI-</a:t>
            </a:r>
            <a:r>
              <a:rPr lang="ru-RU" sz="1600" dirty="0" smtClean="0"/>
              <a:t>приложения, </a:t>
            </a:r>
            <a:r>
              <a:rPr lang="ru-RU" sz="1600" dirty="0"/>
              <a:t>р</a:t>
            </a:r>
            <a:r>
              <a:rPr lang="ru-RU" sz="1600" dirty="0" smtClean="0"/>
              <a:t>абота </a:t>
            </a:r>
            <a:r>
              <a:rPr lang="ru-RU" sz="1600" dirty="0"/>
              <a:t>с файлами, каталогами </a:t>
            </a:r>
            <a:endParaRPr lang="ru-RU" sz="1600" dirty="0" smtClean="0"/>
          </a:p>
          <a:p>
            <a:r>
              <a:rPr lang="ru-RU" sz="1600" dirty="0" smtClean="0"/>
              <a:t>и </a:t>
            </a:r>
            <a:r>
              <a:rPr lang="ru-RU" sz="1600" dirty="0"/>
              <a:t>потоками </a:t>
            </a:r>
            <a:r>
              <a:rPr lang="ru-RU" sz="1600" dirty="0" smtClean="0"/>
              <a:t>ввода/вывода, </a:t>
            </a:r>
            <a:r>
              <a:rPr lang="ru-RU" sz="1600" dirty="0"/>
              <a:t>п</a:t>
            </a:r>
            <a:r>
              <a:rPr lang="ru-RU" sz="1600" dirty="0" smtClean="0"/>
              <a:t>роцессы </a:t>
            </a:r>
            <a:r>
              <a:rPr lang="ru-RU" sz="1600" dirty="0"/>
              <a:t>и потоки</a:t>
            </a:r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Полученные знания по прохождению курса</a:t>
            </a:r>
            <a:endParaRPr lang="ru-RU" sz="4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Рисунок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29" y="1323177"/>
            <a:ext cx="543670" cy="612000"/>
          </a:xfrm>
          <a:prstGeom prst="rect">
            <a:avLst/>
          </a:prstGeom>
        </p:spPr>
      </p:pic>
      <p:cxnSp>
        <p:nvCxnSpPr>
          <p:cNvPr id="42" name="Прямая соединительная линия 41"/>
          <p:cNvCxnSpPr/>
          <p:nvPr/>
        </p:nvCxnSpPr>
        <p:spPr>
          <a:xfrm>
            <a:off x="324000" y="234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324000" y="342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324000" y="414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324000" y="486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324000" y="558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08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782" y="2878537"/>
            <a:ext cx="2799853" cy="3960000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</a:t>
            </a:fld>
            <a:endParaRPr lang="ru-RU"/>
          </a:p>
        </p:txBody>
      </p:sp>
      <p:sp>
        <p:nvSpPr>
          <p:cNvPr id="5" name="Стрелка вправо 4"/>
          <p:cNvSpPr/>
          <p:nvPr/>
        </p:nvSpPr>
        <p:spPr>
          <a:xfrm rot="5400000">
            <a:off x="1503522" y="3839150"/>
            <a:ext cx="576576" cy="179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право 5"/>
          <p:cNvSpPr/>
          <p:nvPr/>
        </p:nvSpPr>
        <p:spPr>
          <a:xfrm>
            <a:off x="2515907" y="464243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88972" y="2547876"/>
            <a:ext cx="2793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JSON-</a:t>
            </a:r>
            <a:r>
              <a:rPr lang="ru-RU" dirty="0" smtClean="0"/>
              <a:t>файл конфигурации: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общая конфигурация;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массив имён файлов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44407" y="5079593"/>
            <a:ext cx="1863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названия файлов документов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31" y="1575082"/>
            <a:ext cx="763598" cy="108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772" y="4079017"/>
            <a:ext cx="1018133" cy="144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813" y="3476710"/>
            <a:ext cx="2036258" cy="288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379" y="1896861"/>
            <a:ext cx="763598" cy="108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14178" y="2856559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JSON- </a:t>
            </a:r>
            <a:r>
              <a:rPr lang="ru-RU" dirty="0" smtClean="0"/>
              <a:t>файл запросов</a:t>
            </a:r>
          </a:p>
        </p:txBody>
      </p:sp>
      <p:sp>
        <p:nvSpPr>
          <p:cNvPr id="17" name="Стрелка вправо 16"/>
          <p:cNvSpPr/>
          <p:nvPr/>
        </p:nvSpPr>
        <p:spPr>
          <a:xfrm>
            <a:off x="6364610" y="2347903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825" y="1868760"/>
            <a:ext cx="763597" cy="108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73" y="2849045"/>
            <a:ext cx="137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</a:t>
            </a:r>
            <a:r>
              <a:rPr lang="ru-RU" dirty="0" smtClean="0"/>
              <a:t>писок слов</a:t>
            </a:r>
          </a:p>
        </p:txBody>
      </p:sp>
      <p:sp>
        <p:nvSpPr>
          <p:cNvPr id="21" name="Стрелка вправо 20"/>
          <p:cNvSpPr/>
          <p:nvPr/>
        </p:nvSpPr>
        <p:spPr>
          <a:xfrm>
            <a:off x="5607552" y="463435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>
            <a:off x="8627343" y="4640561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834" y="4327239"/>
            <a:ext cx="763605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38855" y="5602682"/>
            <a:ext cx="209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JSON- </a:t>
            </a:r>
            <a:r>
              <a:rPr lang="ru-RU" dirty="0" smtClean="0"/>
              <a:t>файл ответов</a:t>
            </a:r>
            <a:endParaRPr lang="ru-RU" dirty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Цель проекта</a:t>
            </a:r>
            <a:endParaRPr lang="ru-RU" sz="4000" dirty="0"/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Принцип работы поискового движка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244642" y="5883521"/>
            <a:ext cx="2129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</a:t>
            </a:r>
            <a:r>
              <a:rPr lang="ru-RU" dirty="0" smtClean="0"/>
              <a:t>ндексация файлов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066503" y="5736043"/>
            <a:ext cx="2641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поиск ответов в индексе</a:t>
            </a:r>
            <a:endParaRPr lang="ru-RU" dirty="0"/>
          </a:p>
        </p:txBody>
      </p:sp>
      <p:sp>
        <p:nvSpPr>
          <p:cNvPr id="29" name="Стрелка вправо 28"/>
          <p:cNvSpPr/>
          <p:nvPr/>
        </p:nvSpPr>
        <p:spPr>
          <a:xfrm rot="5400000">
            <a:off x="7109730" y="335500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1148133" y="343730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2337483" y="391819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6347688" y="157085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6611197" y="314507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5453058" y="390880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8458741" y="391863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279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92443960"/>
              </p:ext>
            </p:extLst>
          </p:nvPr>
        </p:nvGraphicFramePr>
        <p:xfrm>
          <a:off x="1091380" y="1846263"/>
          <a:ext cx="10058400" cy="404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070964" y="2533656"/>
            <a:ext cx="1328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Содержит базу </a:t>
            </a:r>
          </a:p>
          <a:p>
            <a:r>
              <a:rPr lang="ru-RU" sz="1200" dirty="0" smtClean="0"/>
              <a:t>документов</a:t>
            </a:r>
            <a:endParaRPr lang="ru-RU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210100" y="2533656"/>
            <a:ext cx="1814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Индексирует </a:t>
            </a:r>
          </a:p>
          <a:p>
            <a:r>
              <a:rPr lang="ru-RU" sz="1200" dirty="0"/>
              <a:t>д</a:t>
            </a:r>
            <a:r>
              <a:rPr lang="ru-RU" sz="1200" dirty="0" smtClean="0"/>
              <a:t>окументы и содержит базу индекса</a:t>
            </a:r>
            <a:endParaRPr lang="ru-RU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1087447" y="2537243"/>
            <a:ext cx="132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Реализует работу с </a:t>
            </a:r>
            <a:r>
              <a:rPr lang="en-US" sz="1200" dirty="0" smtClean="0"/>
              <a:t>JSON-</a:t>
            </a:r>
            <a:r>
              <a:rPr lang="ru-RU" sz="1200" dirty="0" smtClean="0"/>
              <a:t>бъектами и хранит их</a:t>
            </a:r>
            <a:endParaRPr lang="ru-RU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394683" y="2533655"/>
            <a:ext cx="1814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Содержит базу </a:t>
            </a:r>
          </a:p>
          <a:p>
            <a:r>
              <a:rPr lang="ru-RU" sz="1200" dirty="0" smtClean="0"/>
              <a:t>запросов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9317327" y="2533654"/>
            <a:ext cx="1814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Определяет релевантность ответов и содержит базу релевантности</a:t>
            </a:r>
            <a:endParaRPr lang="ru-RU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5639" y="5038712"/>
            <a:ext cx="1647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</a:t>
            </a:r>
            <a:r>
              <a:rPr lang="ru-RU" sz="1200" dirty="0" smtClean="0"/>
              <a:t>еализует </a:t>
            </a:r>
            <a:r>
              <a:rPr lang="ru-RU" sz="1200" dirty="0"/>
              <a:t>диспетчер операций c файлами и JSON-объектами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24" y="5285769"/>
            <a:ext cx="509065" cy="720000"/>
          </a:xfrm>
          <a:prstGeom prst="rect">
            <a:avLst/>
          </a:prstGeom>
        </p:spPr>
      </p:pic>
      <p:grpSp>
        <p:nvGrpSpPr>
          <p:cNvPr id="34" name="Группа 33"/>
          <p:cNvGrpSpPr/>
          <p:nvPr/>
        </p:nvGrpSpPr>
        <p:grpSpPr>
          <a:xfrm>
            <a:off x="7837125" y="4264944"/>
            <a:ext cx="1620003" cy="1620003"/>
            <a:chOff x="0" y="2424394"/>
            <a:chExt cx="1620003" cy="1620003"/>
          </a:xfrm>
        </p:grpSpPr>
        <p:sp>
          <p:nvSpPr>
            <p:cNvPr id="35" name="Скругленный прямоугольник 34"/>
            <p:cNvSpPr/>
            <p:nvPr/>
          </p:nvSpPr>
          <p:spPr>
            <a:xfrm>
              <a:off x="0" y="2424394"/>
              <a:ext cx="1620003" cy="1620003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Скругленный прямоугольник 4"/>
            <p:cNvSpPr/>
            <p:nvPr/>
          </p:nvSpPr>
          <p:spPr>
            <a:xfrm>
              <a:off x="79082" y="2503476"/>
              <a:ext cx="1461839" cy="14618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800" tIns="50800" rIns="50800" bIns="50800" numCol="1" spcCol="1270" anchor="t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 smtClean="0"/>
                <a:t>Logger</a:t>
              </a:r>
              <a:endParaRPr lang="ru-RU" kern="1200" dirty="0"/>
            </a:p>
          </p:txBody>
        </p:sp>
      </p:grpSp>
      <p:pic>
        <p:nvPicPr>
          <p:cNvPr id="42" name="Рисунок 4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84" y="5336045"/>
            <a:ext cx="509070" cy="720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35" y="5268704"/>
            <a:ext cx="509065" cy="72000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339" y="5327159"/>
            <a:ext cx="476195" cy="673510"/>
          </a:xfrm>
          <a:prstGeom prst="rect">
            <a:avLst/>
          </a:prstGeom>
        </p:spPr>
      </p:pic>
      <p:sp>
        <p:nvSpPr>
          <p:cNvPr id="3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Классы, используемые в проекте</a:t>
            </a:r>
            <a:endParaRPr lang="ru-RU" sz="4000" dirty="0"/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Назначение классов. 6 основных классов, вспомогательный класс и две библиотеки</a:t>
            </a:r>
            <a:endParaRPr lang="ru-RU" sz="2400" dirty="0"/>
          </a:p>
        </p:txBody>
      </p:sp>
      <p:grpSp>
        <p:nvGrpSpPr>
          <p:cNvPr id="39" name="Группа 38"/>
          <p:cNvGrpSpPr/>
          <p:nvPr/>
        </p:nvGrpSpPr>
        <p:grpSpPr>
          <a:xfrm>
            <a:off x="9504790" y="4264944"/>
            <a:ext cx="1620003" cy="1620003"/>
            <a:chOff x="0" y="2424394"/>
            <a:chExt cx="1620003" cy="1620003"/>
          </a:xfrm>
        </p:grpSpPr>
        <p:sp>
          <p:nvSpPr>
            <p:cNvPr id="41" name="Скругленный прямоугольник 40"/>
            <p:cNvSpPr/>
            <p:nvPr/>
          </p:nvSpPr>
          <p:spPr>
            <a:xfrm>
              <a:off x="0" y="2424394"/>
              <a:ext cx="1620003" cy="1620003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Скругленный прямоугольник 4"/>
            <p:cNvSpPr/>
            <p:nvPr/>
          </p:nvSpPr>
          <p:spPr>
            <a:xfrm>
              <a:off x="79082" y="2503476"/>
              <a:ext cx="1461839" cy="14618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800" tIns="50800" rIns="50800" bIns="50800" numCol="1" spcCol="1270" anchor="t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err="1" smtClean="0"/>
                <a:t>fileOperations</a:t>
              </a:r>
              <a:endParaRPr lang="ru-RU" kern="1200" dirty="0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9503962" y="5043071"/>
            <a:ext cx="1616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Библиотека. Чтение и запись файлов с проверкой, проверка </a:t>
            </a:r>
            <a:r>
              <a:rPr lang="en-US" sz="1200" dirty="0" smtClean="0"/>
              <a:t>JSON</a:t>
            </a:r>
            <a:r>
              <a:rPr lang="ru-RU" sz="1200" dirty="0" smtClean="0"/>
              <a:t>-объектов</a:t>
            </a:r>
            <a:endParaRPr lang="ru-RU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7835612" y="5042414"/>
            <a:ext cx="1621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Библиотека. Логирует события в лог-файлы и в консоль</a:t>
            </a:r>
            <a:endParaRPr lang="ru-RU" sz="1200" dirty="0"/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942" y="5322017"/>
            <a:ext cx="476195" cy="673510"/>
          </a:xfrm>
          <a:prstGeom prst="rect">
            <a:avLst/>
          </a:prstGeom>
        </p:spPr>
      </p:pic>
      <p:grpSp>
        <p:nvGrpSpPr>
          <p:cNvPr id="51" name="Группа 50"/>
          <p:cNvGrpSpPr>
            <a:grpSpLocks noChangeAspect="1"/>
          </p:cNvGrpSpPr>
          <p:nvPr/>
        </p:nvGrpSpPr>
        <p:grpSpPr>
          <a:xfrm>
            <a:off x="5373479" y="5611131"/>
            <a:ext cx="216000" cy="216000"/>
            <a:chOff x="3899929" y="338038"/>
            <a:chExt cx="903543" cy="903543"/>
          </a:xfrm>
        </p:grpSpPr>
        <p:sp>
          <p:nvSpPr>
            <p:cNvPr id="52" name="Овал 51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800" kern="1200" dirty="0" smtClean="0"/>
                <a:t>С</a:t>
              </a:r>
              <a:endParaRPr lang="ru-RU" sz="800" kern="1200" dirty="0"/>
            </a:p>
          </p:txBody>
        </p:sp>
      </p:grpSp>
      <p:grpSp>
        <p:nvGrpSpPr>
          <p:cNvPr id="54" name="Группа 53"/>
          <p:cNvGrpSpPr>
            <a:grpSpLocks noChangeAspect="1"/>
          </p:cNvGrpSpPr>
          <p:nvPr/>
        </p:nvGrpSpPr>
        <p:grpSpPr>
          <a:xfrm>
            <a:off x="5606688" y="5611187"/>
            <a:ext cx="216000" cy="216000"/>
            <a:chOff x="3899929" y="338038"/>
            <a:chExt cx="903543" cy="903543"/>
          </a:xfrm>
        </p:grpSpPr>
        <p:sp>
          <p:nvSpPr>
            <p:cNvPr id="55" name="Овал 54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/>
                <a:t>D</a:t>
              </a:r>
              <a:endParaRPr lang="ru-RU" sz="800" kern="1200" dirty="0"/>
            </a:p>
          </p:txBody>
        </p:sp>
      </p:grpSp>
      <p:grpSp>
        <p:nvGrpSpPr>
          <p:cNvPr id="57" name="Группа 56"/>
          <p:cNvGrpSpPr>
            <a:grpSpLocks noChangeAspect="1"/>
          </p:cNvGrpSpPr>
          <p:nvPr/>
        </p:nvGrpSpPr>
        <p:grpSpPr>
          <a:xfrm>
            <a:off x="5839228" y="5614199"/>
            <a:ext cx="216000" cy="216000"/>
            <a:chOff x="5151860" y="405415"/>
            <a:chExt cx="1083633" cy="1083633"/>
          </a:xfrm>
        </p:grpSpPr>
        <p:sp>
          <p:nvSpPr>
            <p:cNvPr id="58" name="Овал 57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II</a:t>
              </a:r>
              <a:endParaRPr lang="ru-RU" sz="800" kern="1200" dirty="0"/>
            </a:p>
          </p:txBody>
        </p:sp>
      </p:grpSp>
      <p:grpSp>
        <p:nvGrpSpPr>
          <p:cNvPr id="60" name="Группа 59"/>
          <p:cNvGrpSpPr>
            <a:grpSpLocks noChangeAspect="1"/>
          </p:cNvGrpSpPr>
          <p:nvPr/>
        </p:nvGrpSpPr>
        <p:grpSpPr>
          <a:xfrm>
            <a:off x="6076740" y="5612875"/>
            <a:ext cx="216000" cy="216000"/>
            <a:chOff x="5151860" y="405415"/>
            <a:chExt cx="866907" cy="866907"/>
          </a:xfrm>
        </p:grpSpPr>
        <p:sp>
          <p:nvSpPr>
            <p:cNvPr id="61" name="Овал 60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2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R</a:t>
              </a:r>
              <a:endParaRPr lang="ru-RU" sz="800" kern="1200" dirty="0"/>
            </a:p>
          </p:txBody>
        </p:sp>
      </p:grpSp>
      <p:grpSp>
        <p:nvGrpSpPr>
          <p:cNvPr id="63" name="Группа 62"/>
          <p:cNvGrpSpPr>
            <a:grpSpLocks noChangeAspect="1"/>
          </p:cNvGrpSpPr>
          <p:nvPr/>
        </p:nvGrpSpPr>
        <p:grpSpPr>
          <a:xfrm>
            <a:off x="6312865" y="5612549"/>
            <a:ext cx="216000" cy="216000"/>
            <a:chOff x="2197456" y="405415"/>
            <a:chExt cx="1083633" cy="1083633"/>
          </a:xfrm>
        </p:grpSpPr>
        <p:sp>
          <p:nvSpPr>
            <p:cNvPr id="64" name="Овал 63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5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RR</a:t>
              </a:r>
              <a:endParaRPr lang="en-US" sz="800" kern="1200" dirty="0" smtClean="0"/>
            </a:p>
          </p:txBody>
        </p:sp>
      </p:grpSp>
      <p:pic>
        <p:nvPicPr>
          <p:cNvPr id="66" name="Рисунок 6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54" y="3017015"/>
            <a:ext cx="509068" cy="720000"/>
          </a:xfrm>
          <a:prstGeom prst="rect">
            <a:avLst/>
          </a:prstGeom>
        </p:spPr>
      </p:pic>
      <p:pic>
        <p:nvPicPr>
          <p:cNvPr id="67" name="Рисунок 6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54" y="3014128"/>
            <a:ext cx="509066" cy="7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52252" y="5043903"/>
            <a:ext cx="1944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О</a:t>
            </a:r>
            <a:r>
              <a:rPr lang="ru-RU" sz="1200" dirty="0" smtClean="0"/>
              <a:t>рганизует </a:t>
            </a:r>
          </a:p>
          <a:p>
            <a:r>
              <a:rPr lang="ru-RU" sz="1200" dirty="0" smtClean="0"/>
              <a:t>взаимодействие </a:t>
            </a:r>
            <a:r>
              <a:rPr lang="ru-RU" sz="1200" dirty="0"/>
              <a:t>между </a:t>
            </a:r>
            <a:endParaRPr lang="ru-RU" sz="1200" dirty="0" smtClean="0"/>
          </a:p>
          <a:p>
            <a:r>
              <a:rPr lang="ru-RU" sz="1200" dirty="0" smtClean="0"/>
              <a:t>классами</a:t>
            </a:r>
            <a:endParaRPr lang="ru-RU" sz="1200" dirty="0"/>
          </a:p>
        </p:txBody>
      </p:sp>
      <p:pic>
        <p:nvPicPr>
          <p:cNvPr id="68" name="Рисунок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99" y="3016910"/>
            <a:ext cx="509066" cy="720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310" y="2888812"/>
            <a:ext cx="636330" cy="9000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963" y="2884424"/>
            <a:ext cx="636330" cy="900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106" y="2878033"/>
            <a:ext cx="636330" cy="900000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337" y="2887244"/>
            <a:ext cx="63633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6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" y="3798258"/>
            <a:ext cx="1260000" cy="1782091"/>
          </a:xfrm>
          <a:prstGeom prst="rect">
            <a:avLst/>
          </a:prstGeom>
        </p:spPr>
      </p:pic>
      <p:pic>
        <p:nvPicPr>
          <p:cNvPr id="90" name="Рисунок 8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11" y="3358341"/>
            <a:ext cx="1260000" cy="1782091"/>
          </a:xfrm>
          <a:prstGeom prst="rect">
            <a:avLst/>
          </a:prstGeom>
        </p:spPr>
      </p:pic>
      <p:pic>
        <p:nvPicPr>
          <p:cNvPr id="77" name="Рисунок 7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929" y="3365393"/>
            <a:ext cx="1260000" cy="1782091"/>
          </a:xfrm>
          <a:prstGeom prst="rect">
            <a:avLst/>
          </a:prstGeom>
        </p:spPr>
      </p:pic>
      <p:sp>
        <p:nvSpPr>
          <p:cNvPr id="68" name="Стрелка вправо 67"/>
          <p:cNvSpPr/>
          <p:nvPr/>
        </p:nvSpPr>
        <p:spPr>
          <a:xfrm>
            <a:off x="185413" y="1170032"/>
            <a:ext cx="11880000" cy="2880000"/>
          </a:xfrm>
          <a:prstGeom prst="rightArrow">
            <a:avLst>
              <a:gd name="adj1" fmla="val 87005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14.02.2026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5</a:t>
            </a:fld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2862549" y="5606739"/>
            <a:ext cx="720000" cy="720000"/>
            <a:chOff x="2197456" y="405415"/>
            <a:chExt cx="1083633" cy="1083633"/>
          </a:xfrm>
        </p:grpSpPr>
        <p:sp>
          <p:nvSpPr>
            <p:cNvPr id="7" name="Овал 6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Search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Engine</a:t>
              </a:r>
              <a:endParaRPr lang="ru-RU" sz="1100" kern="1200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7737" y="5478396"/>
            <a:ext cx="1289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пути файлов: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конфигурации;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запросов</a:t>
            </a:r>
            <a:r>
              <a:rPr lang="ru-RU" sz="1000" dirty="0"/>
              <a:t>;</a:t>
            </a:r>
            <a:r>
              <a:rPr lang="en-US" sz="1000" dirty="0" smtClean="0"/>
              <a:t> </a:t>
            </a:r>
            <a:endParaRPr lang="ru-RU" sz="1000" dirty="0" smtClean="0"/>
          </a:p>
          <a:p>
            <a:pPr marL="285750" indent="-285750">
              <a:buFontTx/>
              <a:buChar char="-"/>
            </a:pPr>
            <a:r>
              <a:rPr lang="ru-RU" sz="1000" dirty="0" smtClean="0"/>
              <a:t>ответов</a:t>
            </a:r>
            <a:endParaRPr lang="ru-RU" sz="1000" dirty="0"/>
          </a:p>
        </p:txBody>
      </p:sp>
      <p:sp>
        <p:nvSpPr>
          <p:cNvPr id="53" name="Стрелка вправо 52"/>
          <p:cNvSpPr/>
          <p:nvPr/>
        </p:nvSpPr>
        <p:spPr>
          <a:xfrm rot="16200000">
            <a:off x="11007975" y="348715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Стрелка вправо 56"/>
          <p:cNvSpPr/>
          <p:nvPr/>
        </p:nvSpPr>
        <p:spPr>
          <a:xfrm rot="16200000">
            <a:off x="6871576" y="4884235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2570125" y="4527033"/>
            <a:ext cx="12891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п</a:t>
            </a:r>
            <a:r>
              <a:rPr lang="ru-RU" sz="1000" dirty="0" smtClean="0"/>
              <a:t>ути файлов: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конфигурации;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запросов</a:t>
            </a:r>
            <a:r>
              <a:rPr lang="ru-RU" sz="1000" dirty="0"/>
              <a:t>;</a:t>
            </a:r>
            <a:r>
              <a:rPr lang="en-US" sz="1000" dirty="0" smtClean="0"/>
              <a:t> </a:t>
            </a:r>
            <a:endParaRPr lang="ru-RU" sz="1000" dirty="0" smtClean="0"/>
          </a:p>
        </p:txBody>
      </p:sp>
      <p:grpSp>
        <p:nvGrpSpPr>
          <p:cNvPr id="69" name="Группа 68"/>
          <p:cNvGrpSpPr/>
          <p:nvPr/>
        </p:nvGrpSpPr>
        <p:grpSpPr>
          <a:xfrm>
            <a:off x="6787229" y="5433977"/>
            <a:ext cx="720000" cy="720000"/>
            <a:chOff x="3899929" y="338038"/>
            <a:chExt cx="903543" cy="903543"/>
          </a:xfrm>
        </p:grpSpPr>
        <p:sp>
          <p:nvSpPr>
            <p:cNvPr id="70" name="Овал 69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1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dirty="0" smtClean="0"/>
                <a:t>Documents</a:t>
              </a:r>
              <a:endParaRPr lang="ru-RU" sz="1050" kern="1200" dirty="0"/>
            </a:p>
          </p:txBody>
        </p:sp>
      </p:grpSp>
      <p:sp>
        <p:nvSpPr>
          <p:cNvPr id="72" name="Стрелка вправо 71"/>
          <p:cNvSpPr/>
          <p:nvPr/>
        </p:nvSpPr>
        <p:spPr>
          <a:xfrm rot="16200000">
            <a:off x="6851096" y="3489684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Стрелка вправо 72"/>
          <p:cNvSpPr/>
          <p:nvPr/>
        </p:nvSpPr>
        <p:spPr>
          <a:xfrm rot="16200000">
            <a:off x="10048015" y="349007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Стрелка вправо 73"/>
          <p:cNvSpPr/>
          <p:nvPr/>
        </p:nvSpPr>
        <p:spPr>
          <a:xfrm rot="16200000">
            <a:off x="10049928" y="487973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Стрелка вправо 77"/>
          <p:cNvSpPr/>
          <p:nvPr/>
        </p:nvSpPr>
        <p:spPr>
          <a:xfrm rot="16200000">
            <a:off x="11014081" y="4887794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9" name="Группа 78"/>
          <p:cNvGrpSpPr/>
          <p:nvPr/>
        </p:nvGrpSpPr>
        <p:grpSpPr>
          <a:xfrm>
            <a:off x="9957439" y="5438754"/>
            <a:ext cx="720000" cy="720000"/>
            <a:chOff x="5151860" y="405415"/>
            <a:chExt cx="1083633" cy="1083633"/>
          </a:xfrm>
        </p:grpSpPr>
        <p:sp>
          <p:nvSpPr>
            <p:cNvPr id="80" name="Овал 79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1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Inverted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Index</a:t>
              </a:r>
              <a:endParaRPr lang="ru-RU" sz="1100" kern="1200" dirty="0"/>
            </a:p>
          </p:txBody>
        </p:sp>
      </p:grpSp>
      <p:sp>
        <p:nvSpPr>
          <p:cNvPr id="82" name="Стрелка вправо 81"/>
          <p:cNvSpPr/>
          <p:nvPr/>
        </p:nvSpPr>
        <p:spPr>
          <a:xfrm rot="16200000">
            <a:off x="2951807" y="348777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Стрелка вправо 85"/>
          <p:cNvSpPr/>
          <p:nvPr/>
        </p:nvSpPr>
        <p:spPr>
          <a:xfrm rot="16200000">
            <a:off x="2950930" y="5061615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7" name="Группа 86"/>
          <p:cNvGrpSpPr/>
          <p:nvPr/>
        </p:nvGrpSpPr>
        <p:grpSpPr>
          <a:xfrm>
            <a:off x="10913510" y="5437117"/>
            <a:ext cx="720000" cy="720000"/>
            <a:chOff x="5151860" y="405415"/>
            <a:chExt cx="866907" cy="866907"/>
          </a:xfrm>
        </p:grpSpPr>
        <p:sp>
          <p:nvSpPr>
            <p:cNvPr id="88" name="Овал 87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9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 smtClean="0"/>
                <a:t>Requests</a:t>
              </a:r>
              <a:endParaRPr lang="ru-RU" sz="1100" kern="1200" dirty="0"/>
            </a:p>
          </p:txBody>
        </p:sp>
      </p:grpSp>
      <p:pic>
        <p:nvPicPr>
          <p:cNvPr id="14" name="Рисунок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" y="3793885"/>
            <a:ext cx="1260000" cy="1782091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7" y="4318875"/>
            <a:ext cx="1260000" cy="1782090"/>
          </a:xfrm>
          <a:prstGeom prst="rect">
            <a:avLst/>
          </a:prstGeom>
        </p:spPr>
      </p:pic>
      <p:grpSp>
        <p:nvGrpSpPr>
          <p:cNvPr id="91" name="Группа 90"/>
          <p:cNvGrpSpPr>
            <a:grpSpLocks/>
          </p:cNvGrpSpPr>
          <p:nvPr/>
        </p:nvGrpSpPr>
        <p:grpSpPr>
          <a:xfrm>
            <a:off x="2347604" y="1626659"/>
            <a:ext cx="1800000" cy="1800000"/>
            <a:chOff x="6093193" y="1986700"/>
            <a:chExt cx="1440000" cy="1442300"/>
          </a:xfrm>
        </p:grpSpPr>
        <p:grpSp>
          <p:nvGrpSpPr>
            <p:cNvPr id="92" name="Группа 91"/>
            <p:cNvGrpSpPr/>
            <p:nvPr/>
          </p:nvGrpSpPr>
          <p:grpSpPr>
            <a:xfrm>
              <a:off x="6093193" y="1986700"/>
              <a:ext cx="1440000" cy="1440484"/>
              <a:chOff x="8438075" y="2424393"/>
              <a:chExt cx="1620003" cy="1620547"/>
            </a:xfrm>
          </p:grpSpPr>
          <p:sp>
            <p:nvSpPr>
              <p:cNvPr id="94" name="Скругленный прямоугольник 93"/>
              <p:cNvSpPr/>
              <p:nvPr/>
            </p:nvSpPr>
            <p:spPr>
              <a:xfrm>
                <a:off x="8438075" y="2424393"/>
                <a:ext cx="1620003" cy="1620547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93" name="Прямоугольник 9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68" y="2134142"/>
            <a:ext cx="636331" cy="900000"/>
          </a:xfrm>
          <a:prstGeom prst="rect">
            <a:avLst/>
          </a:prstGeom>
        </p:spPr>
      </p:pic>
      <p:pic>
        <p:nvPicPr>
          <p:cNvPr id="61" name="Рисунок 6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318" y="2136925"/>
            <a:ext cx="636331" cy="900000"/>
          </a:xfrm>
          <a:prstGeom prst="rect">
            <a:avLst/>
          </a:prstGeom>
        </p:spPr>
      </p:pic>
      <p:grpSp>
        <p:nvGrpSpPr>
          <p:cNvPr id="62" name="Группа 61"/>
          <p:cNvGrpSpPr/>
          <p:nvPr/>
        </p:nvGrpSpPr>
        <p:grpSpPr>
          <a:xfrm>
            <a:off x="4241188" y="1630670"/>
            <a:ext cx="1800000" cy="1800000"/>
            <a:chOff x="6093193" y="1986699"/>
            <a:chExt cx="1440000" cy="1442301"/>
          </a:xfrm>
        </p:grpSpPr>
        <p:grpSp>
          <p:nvGrpSpPr>
            <p:cNvPr id="63" name="Группа 62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65" name="Скругленный прямоугольник 64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7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Documents</a:t>
                </a:r>
                <a:endParaRPr lang="ru-RU" b="1" kern="1200" dirty="0"/>
              </a:p>
            </p:txBody>
          </p:sp>
        </p:grpSp>
        <p:sp>
          <p:nvSpPr>
            <p:cNvPr id="64" name="Прямоугольник 63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6121255" y="1628096"/>
            <a:ext cx="1800000" cy="1800000"/>
            <a:chOff x="6093193" y="1986699"/>
            <a:chExt cx="1440000" cy="1442301"/>
          </a:xfrm>
        </p:grpSpPr>
        <p:grpSp>
          <p:nvGrpSpPr>
            <p:cNvPr id="98" name="Группа 97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00" name="Скругленный прямоугольник 99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1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99" name="Прямоугольник 98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Группа 103"/>
          <p:cNvGrpSpPr/>
          <p:nvPr/>
        </p:nvGrpSpPr>
        <p:grpSpPr>
          <a:xfrm>
            <a:off x="8008649" y="1635054"/>
            <a:ext cx="1800000" cy="1800000"/>
            <a:chOff x="6093193" y="1986699"/>
            <a:chExt cx="1440000" cy="1442301"/>
          </a:xfrm>
        </p:grpSpPr>
        <p:grpSp>
          <p:nvGrpSpPr>
            <p:cNvPr id="105" name="Группа 10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07" name="Скругленный прямоугольник 10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Requests</a:t>
                </a:r>
                <a:endParaRPr lang="ru-RU" b="1" kern="1200" dirty="0"/>
              </a:p>
            </p:txBody>
          </p:sp>
        </p:grpSp>
        <p:sp>
          <p:nvSpPr>
            <p:cNvPr id="106" name="Прямоугольник 10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Группа 109"/>
          <p:cNvGrpSpPr/>
          <p:nvPr/>
        </p:nvGrpSpPr>
        <p:grpSpPr>
          <a:xfrm>
            <a:off x="9901077" y="1630740"/>
            <a:ext cx="1800000" cy="1800000"/>
            <a:chOff x="6093193" y="1986699"/>
            <a:chExt cx="1440000" cy="1442301"/>
          </a:xfrm>
        </p:grpSpPr>
        <p:grpSp>
          <p:nvGrpSpPr>
            <p:cNvPr id="111" name="Группа 110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13" name="Скругленный прямоугольник 112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4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112" name="Прямоугольник 111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195311" y="1366907"/>
            <a:ext cx="1800000" cy="2484000"/>
            <a:chOff x="6093193" y="1986699"/>
            <a:chExt cx="1440000" cy="1442301"/>
          </a:xfrm>
        </p:grpSpPr>
        <p:grpSp>
          <p:nvGrpSpPr>
            <p:cNvPr id="119" name="Группа 11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21" name="Скругленный прямоугольник 12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2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SearchEngine</a:t>
                </a:r>
                <a:endParaRPr lang="ru-RU" dirty="0"/>
              </a:p>
            </p:txBody>
          </p:sp>
        </p:grpSp>
        <p:sp>
          <p:nvSpPr>
            <p:cNvPr id="120" name="Прямоугольник 11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4" name="Рисунок 1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3" y="2285004"/>
            <a:ext cx="900000" cy="1272920"/>
          </a:xfrm>
          <a:prstGeom prst="rect">
            <a:avLst/>
          </a:prstGeom>
        </p:spPr>
      </p:pic>
      <p:sp>
        <p:nvSpPr>
          <p:cNvPr id="8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Общий алгоритм работы программы</a:t>
            </a:r>
            <a:endParaRPr lang="ru-RU" sz="4000" dirty="0"/>
          </a:p>
        </p:txBody>
      </p:sp>
      <p:cxnSp>
        <p:nvCxnSpPr>
          <p:cNvPr id="84" name="Прямая соединительная линия 8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Конструирование объектов классов</a:t>
            </a:r>
            <a:endParaRPr lang="ru-RU" sz="2400" dirty="0"/>
          </a:p>
        </p:txBody>
      </p:sp>
      <p:sp>
        <p:nvSpPr>
          <p:cNvPr id="66" name="Стрелка вправо 65"/>
          <p:cNvSpPr/>
          <p:nvPr/>
        </p:nvSpPr>
        <p:spPr>
          <a:xfrm rot="16200000">
            <a:off x="785465" y="392548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Прямоугольник 95"/>
          <p:cNvSpPr/>
          <p:nvPr/>
        </p:nvSpPr>
        <p:spPr>
          <a:xfrm>
            <a:off x="2345737" y="2975846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Читать конфигурацию и запросы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4234251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Конструировать объект по умолчанию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03" name="Прямоугольник 102"/>
          <p:cNvSpPr/>
          <p:nvPr/>
        </p:nvSpPr>
        <p:spPr>
          <a:xfrm>
            <a:off x="6122055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ссылку на базу документов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09" name="Прямоугольник 108"/>
          <p:cNvSpPr/>
          <p:nvPr/>
        </p:nvSpPr>
        <p:spPr>
          <a:xfrm>
            <a:off x="8009856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Конструировать объект по умолчанию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9897656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ссылки на базы индексов и запросов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23" name="Прямоугольник 122"/>
          <p:cNvSpPr/>
          <p:nvPr/>
        </p:nvSpPr>
        <p:spPr>
          <a:xfrm>
            <a:off x="193180" y="3223165"/>
            <a:ext cx="1800000" cy="64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объекты классов</a:t>
            </a:r>
            <a:endParaRPr lang="ru-RU" sz="1100" dirty="0">
              <a:solidFill>
                <a:schemeClr val="tx1"/>
              </a:solidFill>
            </a:endParaRPr>
          </a:p>
        </p:txBody>
      </p:sp>
      <p:pic>
        <p:nvPicPr>
          <p:cNvPr id="125" name="Рисунок 1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870" y="2497942"/>
            <a:ext cx="381803" cy="540000"/>
          </a:xfrm>
          <a:prstGeom prst="rect">
            <a:avLst/>
          </a:prstGeom>
        </p:spPr>
      </p:pic>
      <p:pic>
        <p:nvPicPr>
          <p:cNvPr id="126" name="Рисунок 1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417" y="2496793"/>
            <a:ext cx="381803" cy="540000"/>
          </a:xfrm>
          <a:prstGeom prst="rect">
            <a:avLst/>
          </a:prstGeom>
        </p:spPr>
      </p:pic>
      <p:grpSp>
        <p:nvGrpSpPr>
          <p:cNvPr id="127" name="Группа 126"/>
          <p:cNvGrpSpPr>
            <a:grpSpLocks noChangeAspect="1"/>
          </p:cNvGrpSpPr>
          <p:nvPr/>
        </p:nvGrpSpPr>
        <p:grpSpPr>
          <a:xfrm>
            <a:off x="916509" y="2553294"/>
            <a:ext cx="540000" cy="540000"/>
            <a:chOff x="3899929" y="338038"/>
            <a:chExt cx="903543" cy="903543"/>
          </a:xfrm>
        </p:grpSpPr>
        <p:sp>
          <p:nvSpPr>
            <p:cNvPr id="128" name="Овал 127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9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Converter</a:t>
              </a:r>
            </a:p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JSON</a:t>
              </a:r>
              <a:endParaRPr lang="ru-RU" sz="800" kern="1200" dirty="0"/>
            </a:p>
          </p:txBody>
        </p:sp>
      </p:grpSp>
      <p:grpSp>
        <p:nvGrpSpPr>
          <p:cNvPr id="130" name="Группа 129"/>
          <p:cNvGrpSpPr>
            <a:grpSpLocks noChangeAspect="1"/>
          </p:cNvGrpSpPr>
          <p:nvPr/>
        </p:nvGrpSpPr>
        <p:grpSpPr>
          <a:xfrm>
            <a:off x="1019620" y="2553350"/>
            <a:ext cx="540000" cy="540000"/>
            <a:chOff x="3899929" y="338038"/>
            <a:chExt cx="903543" cy="903543"/>
          </a:xfrm>
        </p:grpSpPr>
        <p:sp>
          <p:nvSpPr>
            <p:cNvPr id="131" name="Овал 130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2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Documents</a:t>
              </a:r>
              <a:endParaRPr lang="ru-RU" sz="800" kern="1200" dirty="0"/>
            </a:p>
          </p:txBody>
        </p:sp>
      </p:grpSp>
      <p:grpSp>
        <p:nvGrpSpPr>
          <p:cNvPr id="133" name="Группа 132"/>
          <p:cNvGrpSpPr>
            <a:grpSpLocks noChangeAspect="1"/>
          </p:cNvGrpSpPr>
          <p:nvPr/>
        </p:nvGrpSpPr>
        <p:grpSpPr>
          <a:xfrm>
            <a:off x="1134485" y="2556362"/>
            <a:ext cx="540000" cy="540000"/>
            <a:chOff x="5151860" y="405415"/>
            <a:chExt cx="1083633" cy="1083633"/>
          </a:xfrm>
        </p:grpSpPr>
        <p:sp>
          <p:nvSpPr>
            <p:cNvPr id="134" name="Овал 133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5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Inverted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Index</a:t>
              </a:r>
              <a:endParaRPr lang="ru-RU" sz="800" kern="1200" dirty="0"/>
            </a:p>
          </p:txBody>
        </p:sp>
      </p:grpSp>
      <p:grpSp>
        <p:nvGrpSpPr>
          <p:cNvPr id="136" name="Группа 135"/>
          <p:cNvGrpSpPr>
            <a:grpSpLocks noChangeAspect="1"/>
          </p:cNvGrpSpPr>
          <p:nvPr/>
        </p:nvGrpSpPr>
        <p:grpSpPr>
          <a:xfrm>
            <a:off x="1254625" y="2555038"/>
            <a:ext cx="540000" cy="540000"/>
            <a:chOff x="5151860" y="405415"/>
            <a:chExt cx="866907" cy="866907"/>
          </a:xfrm>
        </p:grpSpPr>
        <p:sp>
          <p:nvSpPr>
            <p:cNvPr id="137" name="Овал 136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8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Requests</a:t>
              </a:r>
              <a:endParaRPr lang="ru-RU" sz="800" kern="1200" dirty="0"/>
            </a:p>
          </p:txBody>
        </p:sp>
      </p:grpSp>
      <p:grpSp>
        <p:nvGrpSpPr>
          <p:cNvPr id="139" name="Группа 138"/>
          <p:cNvGrpSpPr>
            <a:grpSpLocks noChangeAspect="1"/>
          </p:cNvGrpSpPr>
          <p:nvPr/>
        </p:nvGrpSpPr>
        <p:grpSpPr>
          <a:xfrm>
            <a:off x="1373377" y="2554712"/>
            <a:ext cx="540000" cy="540000"/>
            <a:chOff x="2197456" y="405415"/>
            <a:chExt cx="1083633" cy="1083633"/>
          </a:xfrm>
        </p:grpSpPr>
        <p:sp>
          <p:nvSpPr>
            <p:cNvPr id="140" name="Овал 139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1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RelevantResponse</a:t>
              </a:r>
              <a:endParaRPr lang="en-US" sz="800" kern="1200" dirty="0" smtClean="0"/>
            </a:p>
          </p:txBody>
        </p:sp>
      </p:grpSp>
      <p:pic>
        <p:nvPicPr>
          <p:cNvPr id="21" name="Рисунок 2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412" y="2134142"/>
            <a:ext cx="636331" cy="900000"/>
          </a:xfrm>
          <a:prstGeom prst="rect">
            <a:avLst/>
          </a:prstGeom>
        </p:spPr>
      </p:pic>
      <p:pic>
        <p:nvPicPr>
          <p:cNvPr id="142" name="Рисунок 14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698" y="2429161"/>
            <a:ext cx="381798" cy="540000"/>
          </a:xfrm>
          <a:prstGeom prst="rect">
            <a:avLst/>
          </a:prstGeom>
        </p:spPr>
      </p:pic>
      <p:pic>
        <p:nvPicPr>
          <p:cNvPr id="143" name="Рисунок 14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84" y="2426584"/>
            <a:ext cx="381798" cy="540000"/>
          </a:xfrm>
          <a:prstGeom prst="rect">
            <a:avLst/>
          </a:prstGeom>
        </p:spPr>
      </p:pic>
      <p:pic>
        <p:nvPicPr>
          <p:cNvPr id="144" name="Рисунок 14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222" y="2428061"/>
            <a:ext cx="381798" cy="540000"/>
          </a:xfrm>
          <a:prstGeom prst="rect">
            <a:avLst/>
          </a:prstGeom>
        </p:spPr>
      </p:pic>
      <p:pic>
        <p:nvPicPr>
          <p:cNvPr id="145" name="Рисунок 14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599" y="3776156"/>
            <a:ext cx="890858" cy="1260000"/>
          </a:xfrm>
          <a:prstGeom prst="rect">
            <a:avLst/>
          </a:prstGeom>
        </p:spPr>
      </p:pic>
      <p:pic>
        <p:nvPicPr>
          <p:cNvPr id="146" name="Рисунок 14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991" y="3769661"/>
            <a:ext cx="890858" cy="1260000"/>
          </a:xfrm>
          <a:prstGeom prst="rect">
            <a:avLst/>
          </a:prstGeom>
        </p:spPr>
      </p:pic>
      <p:pic>
        <p:nvPicPr>
          <p:cNvPr id="147" name="Рисунок 14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846" y="3776156"/>
            <a:ext cx="890858" cy="1260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859" y="1995092"/>
            <a:ext cx="763597" cy="1080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095" y="1990754"/>
            <a:ext cx="763597" cy="108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434" y="2006590"/>
            <a:ext cx="763597" cy="108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163" y="1995345"/>
            <a:ext cx="76359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1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6</a:t>
            </a:fld>
            <a:endParaRPr lang="ru-RU"/>
          </a:p>
        </p:txBody>
      </p:sp>
      <p:sp>
        <p:nvSpPr>
          <p:cNvPr id="15" name="Стрелка вправо 14"/>
          <p:cNvSpPr/>
          <p:nvPr/>
        </p:nvSpPr>
        <p:spPr>
          <a:xfrm>
            <a:off x="2542440" y="297726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>
            <a:off x="4486392" y="298048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6933219" y="298723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>
            <a:off x="8824530" y="2977266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5084901" y="1635410"/>
            <a:ext cx="1800000" cy="1800000"/>
            <a:chOff x="6093193" y="1986699"/>
            <a:chExt cx="1440000" cy="1442301"/>
          </a:xfrm>
        </p:grpSpPr>
        <p:grpSp>
          <p:nvGrpSpPr>
            <p:cNvPr id="17" name="Группа 1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8" name="Скругленный прямоугольник 17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9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Dispatcher</a:t>
                </a:r>
                <a:endParaRPr lang="ru-RU" kern="1200" dirty="0" smtClean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Operations</a:t>
                </a:r>
                <a:endParaRPr lang="ru-RU" kern="1200" dirty="0"/>
              </a:p>
            </p:txBody>
          </p:sp>
        </p:grpSp>
        <p:sp>
          <p:nvSpPr>
            <p:cNvPr id="9" name="Прямоугольник 8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 smtClean="0">
                  <a:solidFill>
                    <a:schemeClr val="tx1"/>
                  </a:solidFill>
                </a:rPr>
                <a:t>прочитать текстовые файлы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700954" y="1628446"/>
            <a:ext cx="1800000" cy="1800000"/>
            <a:chOff x="6093193" y="1986699"/>
            <a:chExt cx="1440000" cy="1442301"/>
          </a:xfrm>
        </p:grpSpPr>
        <p:grpSp>
          <p:nvGrpSpPr>
            <p:cNvPr id="34" name="Группа 33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6" name="Скругленный прямоугольник 35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7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35" name="Прямоугольник 34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список путей </a:t>
              </a:r>
              <a:r>
                <a:rPr lang="ru-RU" sz="1100" dirty="0">
                  <a:solidFill>
                    <a:schemeClr val="tx1"/>
                  </a:solidFill>
                </a:rPr>
                <a:t>файлов документов</a:t>
              </a:r>
            </a:p>
          </p:txBody>
        </p:sp>
      </p:grpSp>
      <p:grpSp>
        <p:nvGrpSpPr>
          <p:cNvPr id="38" name="Группа 37"/>
          <p:cNvGrpSpPr/>
          <p:nvPr/>
        </p:nvGrpSpPr>
        <p:grpSpPr>
          <a:xfrm>
            <a:off x="9409488" y="1632400"/>
            <a:ext cx="1800000" cy="1800000"/>
            <a:chOff x="6093193" y="1986699"/>
            <a:chExt cx="1440000" cy="1442301"/>
          </a:xfrm>
        </p:grpSpPr>
        <p:grpSp>
          <p:nvGrpSpPr>
            <p:cNvPr id="39" name="Группа 3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1" name="Скругленный прямоугольник 4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3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Documents</a:t>
                </a:r>
                <a:endParaRPr lang="ru-RU" b="1" kern="1200" dirty="0"/>
              </a:p>
            </p:txBody>
          </p:sp>
        </p:grpSp>
        <p:sp>
          <p:nvSpPr>
            <p:cNvPr id="40" name="Прямоугольник 3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документов</a:t>
              </a:r>
            </a:p>
          </p:txBody>
        </p:sp>
      </p:grpSp>
      <p:grpSp>
        <p:nvGrpSpPr>
          <p:cNvPr id="44" name="Группа 43"/>
          <p:cNvGrpSpPr/>
          <p:nvPr/>
        </p:nvGrpSpPr>
        <p:grpSpPr>
          <a:xfrm>
            <a:off x="693173" y="4148013"/>
            <a:ext cx="1800000" cy="1800000"/>
            <a:chOff x="6093193" y="1986699"/>
            <a:chExt cx="1440000" cy="1442301"/>
          </a:xfrm>
        </p:grpSpPr>
        <p:grpSp>
          <p:nvGrpSpPr>
            <p:cNvPr id="45" name="Группа 4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7" name="Скругленный прямоугольник 4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46" name="Прямоугольник 4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инвертированных индексов</a:t>
              </a:r>
            </a:p>
          </p:txBody>
        </p:sp>
      </p:grpSp>
      <p:sp>
        <p:nvSpPr>
          <p:cNvPr id="52" name="Полилиния 51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4" name="Полилиния 53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6" name="Полилиния 55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8" name="Полилиния 57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9" name="Овал 58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0" name="Полилиния 59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2" name="Полилиния 61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3" name="Овал 62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0" name="Группа 69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53" name="Овал 52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68" name="Рисунок 6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69" name="Рисунок 6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044" y="1794335"/>
            <a:ext cx="1399928" cy="198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848" y="1886719"/>
            <a:ext cx="1399929" cy="198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6587" y="25032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Прямоугольник 73"/>
          <p:cNvSpPr/>
          <p:nvPr/>
        </p:nvSpPr>
        <p:spPr>
          <a:xfrm>
            <a:off x="71753" y="50288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050" y="3241501"/>
            <a:ext cx="540000" cy="381798"/>
          </a:xfrm>
          <a:prstGeom prst="rect">
            <a:avLst/>
          </a:prstGeom>
        </p:spPr>
      </p:pic>
      <p:graphicFrame>
        <p:nvGraphicFramePr>
          <p:cNvPr id="76" name="Таблица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763457"/>
              </p:ext>
            </p:extLst>
          </p:nvPr>
        </p:nvGraphicFramePr>
        <p:xfrm>
          <a:off x="3221060" y="5300772"/>
          <a:ext cx="404433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79"/>
                <a:gridCol w="303875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Слово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{ID </a:t>
                      </a:r>
                      <a:r>
                        <a:rPr lang="ru-RU" dirty="0" smtClean="0"/>
                        <a:t>документа, количество вхождений слова</a:t>
                      </a:r>
                      <a:r>
                        <a:rPr lang="en-US" dirty="0" smtClean="0"/>
                        <a:t>}</a:t>
                      </a:r>
                      <a:r>
                        <a:rPr lang="ru-RU" dirty="0" smtClean="0"/>
                        <a:t>, 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3221060" y="4930505"/>
            <a:ext cx="3434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инвертированных индексов</a:t>
            </a:r>
            <a:endParaRPr lang="ru-RU" dirty="0"/>
          </a:p>
        </p:txBody>
      </p:sp>
      <p:sp>
        <p:nvSpPr>
          <p:cNvPr id="64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Общий алгоритм работы </a:t>
            </a:r>
            <a:r>
              <a:rPr lang="ru-RU" sz="4000" dirty="0" smtClean="0"/>
              <a:t>программы</a:t>
            </a:r>
            <a:endParaRPr lang="ru-RU" sz="4000" dirty="0"/>
          </a:p>
        </p:txBody>
      </p:sp>
      <p:cxnSp>
        <p:nvCxnSpPr>
          <p:cNvPr id="71" name="Прямая соединительная линия 70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1. Формирование базы документов. 2. Формирование базы индексов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178605" y="3438056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путей </a:t>
            </a:r>
            <a:endParaRPr lang="en-US" sz="1000" dirty="0" smtClean="0"/>
          </a:p>
          <a:p>
            <a:r>
              <a:rPr lang="ru-RU" sz="1000" dirty="0" smtClean="0"/>
              <a:t>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9182" y="3445706"/>
            <a:ext cx="1446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документов</a:t>
            </a:r>
            <a:endParaRPr lang="ru-RU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6" y="2134142"/>
            <a:ext cx="636331" cy="900000"/>
          </a:xfrm>
          <a:prstGeom prst="rect">
            <a:avLst/>
          </a:prstGeom>
        </p:spPr>
      </p:pic>
      <p:pic>
        <p:nvPicPr>
          <p:cNvPr id="80" name="Рисунок 7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6" y="2136925"/>
            <a:ext cx="636331" cy="900000"/>
          </a:xfrm>
          <a:prstGeom prst="rect">
            <a:avLst/>
          </a:prstGeom>
        </p:spPr>
      </p:pic>
      <p:pic>
        <p:nvPicPr>
          <p:cNvPr id="82" name="Рисунок 8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8" y="2497942"/>
            <a:ext cx="381803" cy="540000"/>
          </a:xfrm>
          <a:prstGeom prst="rect">
            <a:avLst/>
          </a:prstGeom>
        </p:spPr>
      </p:pic>
      <p:pic>
        <p:nvPicPr>
          <p:cNvPr id="83" name="Рисунок 8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5" y="2496793"/>
            <a:ext cx="381803" cy="540000"/>
          </a:xfrm>
          <a:prstGeom prst="rect">
            <a:avLst/>
          </a:prstGeom>
        </p:spPr>
      </p:pic>
      <p:pic>
        <p:nvPicPr>
          <p:cNvPr id="84" name="Рисунок 8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20" y="2134142"/>
            <a:ext cx="636331" cy="900000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58" y="3182860"/>
            <a:ext cx="720000" cy="509067"/>
          </a:xfrm>
          <a:prstGeom prst="rect">
            <a:avLst/>
          </a:prstGeom>
        </p:spPr>
      </p:pic>
      <p:pic>
        <p:nvPicPr>
          <p:cNvPr id="73" name="Рисунок 7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550" y="2038374"/>
            <a:ext cx="763598" cy="1080000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886" y="1996680"/>
            <a:ext cx="763597" cy="108000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695" y="3069163"/>
            <a:ext cx="509065" cy="720000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561" y="4512402"/>
            <a:ext cx="763597" cy="108000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03" y="5588957"/>
            <a:ext cx="509065" cy="720000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73" y="4932593"/>
            <a:ext cx="38179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5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900458" y="6469617"/>
            <a:ext cx="1312025" cy="365125"/>
          </a:xfrm>
        </p:spPr>
        <p:txBody>
          <a:bodyPr/>
          <a:lstStyle/>
          <a:p>
            <a:fld id="{DEBD715E-836E-42D1-BDDD-058C1EE5707C}" type="slidenum">
              <a:rPr lang="ru-RU" smtClean="0"/>
              <a:t>7</a:t>
            </a:fld>
            <a:endParaRPr lang="ru-RU"/>
          </a:p>
        </p:txBody>
      </p:sp>
      <p:sp>
        <p:nvSpPr>
          <p:cNvPr id="54" name="Стрелка вправо 53"/>
          <p:cNvSpPr/>
          <p:nvPr/>
        </p:nvSpPr>
        <p:spPr>
          <a:xfrm>
            <a:off x="2533155" y="298257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трелка вправо 54"/>
          <p:cNvSpPr/>
          <p:nvPr/>
        </p:nvSpPr>
        <p:spPr>
          <a:xfrm>
            <a:off x="3947056" y="2986580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/>
          <p:cNvGrpSpPr/>
          <p:nvPr/>
        </p:nvGrpSpPr>
        <p:grpSpPr>
          <a:xfrm>
            <a:off x="701131" y="1629890"/>
            <a:ext cx="1800000" cy="1800000"/>
            <a:chOff x="6093193" y="1986699"/>
            <a:chExt cx="1440000" cy="1442301"/>
          </a:xfrm>
        </p:grpSpPr>
        <p:grpSp>
          <p:nvGrpSpPr>
            <p:cNvPr id="22" name="Группа 2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4" name="Скругленный прямоугольник 2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23" name="Прямоугольник 2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запросы</a:t>
              </a: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4525019" y="1627655"/>
            <a:ext cx="1800000" cy="1800000"/>
            <a:chOff x="6093193" y="1986699"/>
            <a:chExt cx="1440000" cy="1442301"/>
          </a:xfrm>
        </p:grpSpPr>
        <p:grpSp>
          <p:nvGrpSpPr>
            <p:cNvPr id="27" name="Группа 2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9" name="Скругленный прямоугольник 2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Requests</a:t>
                </a:r>
                <a:endParaRPr lang="ru-RU" b="1" kern="1200" dirty="0"/>
              </a:p>
            </p:txBody>
          </p:sp>
        </p:grpSp>
        <p:sp>
          <p:nvSpPr>
            <p:cNvPr id="28" name="Прямоугольник 2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запросов</a:t>
              </a:r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692608" y="4150913"/>
            <a:ext cx="1800000" cy="1800000"/>
            <a:chOff x="6093193" y="1986699"/>
            <a:chExt cx="1440000" cy="1442301"/>
          </a:xfrm>
        </p:grpSpPr>
        <p:grpSp>
          <p:nvGrpSpPr>
            <p:cNvPr id="32" name="Группа 3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7" name="Скругленный прямоугольник 3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3" name="Прямоугольник 3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Рассчитать релевантность ответов</a:t>
              </a:r>
            </a:p>
          </p:txBody>
        </p:sp>
      </p:grpSp>
      <p:sp>
        <p:nvSpPr>
          <p:cNvPr id="45" name="Полилиния 44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6" name="Полилиния 45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7" name="Овал 46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8" name="Полилиния 47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9" name="Полилиния 58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1" name="Полилиния 60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3" name="Полилиния 62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4" name="Овал 63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65" name="Группа 64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66" name="Овал 65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67" name="Рисунок 6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68" name="Рисунок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grpSp>
        <p:nvGrpSpPr>
          <p:cNvPr id="69" name="Группа 68"/>
          <p:cNvGrpSpPr/>
          <p:nvPr/>
        </p:nvGrpSpPr>
        <p:grpSpPr>
          <a:xfrm>
            <a:off x="9588664" y="4973216"/>
            <a:ext cx="254751" cy="360000"/>
            <a:chOff x="9590382" y="4369278"/>
            <a:chExt cx="254751" cy="360000"/>
          </a:xfrm>
        </p:grpSpPr>
        <p:sp>
          <p:nvSpPr>
            <p:cNvPr id="70" name="Овал 69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1" name="Рисунок 7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42" name="Группа 41"/>
          <p:cNvGrpSpPr/>
          <p:nvPr/>
        </p:nvGrpSpPr>
        <p:grpSpPr>
          <a:xfrm>
            <a:off x="9588445" y="5280355"/>
            <a:ext cx="254751" cy="360000"/>
            <a:chOff x="9590382" y="4369278"/>
            <a:chExt cx="254751" cy="360000"/>
          </a:xfrm>
        </p:grpSpPr>
        <p:sp>
          <p:nvSpPr>
            <p:cNvPr id="43" name="Овал 42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44" name="Рисунок 4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27" y="1616600"/>
            <a:ext cx="1980000" cy="280043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4724" y="250919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74655" y="502580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475418"/>
              </p:ext>
            </p:extLst>
          </p:nvPr>
        </p:nvGraphicFramePr>
        <p:xfrm>
          <a:off x="3221059" y="4363461"/>
          <a:ext cx="54116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707"/>
                <a:gridCol w="416395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ID </a:t>
                      </a:r>
                      <a:r>
                        <a:rPr lang="ru-RU" dirty="0" smtClean="0"/>
                        <a:t>запроса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{ID</a:t>
                      </a:r>
                      <a:r>
                        <a:rPr lang="en-US" baseline="0" dirty="0" smtClean="0"/>
                        <a:t> </a:t>
                      </a:r>
                      <a:r>
                        <a:rPr lang="ru-RU" baseline="0" dirty="0" smtClean="0"/>
                        <a:t>документа, относительная релевантность</a:t>
                      </a:r>
                      <a:r>
                        <a:rPr lang="en-US" dirty="0" smtClean="0"/>
                        <a:t>}</a:t>
                      </a:r>
                      <a:r>
                        <a:rPr lang="ru-RU" dirty="0" smtClean="0"/>
                        <a:t>, 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3220146" y="4000111"/>
            <a:ext cx="294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релевантности ответов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223070" y="5013546"/>
            <a:ext cx="6128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Относительная релевантность: абсолютная релевантность / </a:t>
            </a:r>
          </a:p>
          <a:p>
            <a:r>
              <a:rPr lang="ru-RU" dirty="0" smtClean="0"/>
              <a:t> максимальная релевантность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220148" y="5664136"/>
            <a:ext cx="6139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Абсолютная релевантность: сумма </a:t>
            </a:r>
            <a:r>
              <a:rPr lang="ru-RU" dirty="0"/>
              <a:t>вхождений слов </a:t>
            </a:r>
            <a:r>
              <a:rPr lang="ru-RU" dirty="0" smtClean="0"/>
              <a:t>запроса </a:t>
            </a:r>
          </a:p>
          <a:p>
            <a:r>
              <a:rPr lang="ru-RU" dirty="0" smtClean="0"/>
              <a:t>в документе</a:t>
            </a:r>
            <a:endParaRPr lang="ru-RU" dirty="0"/>
          </a:p>
        </p:txBody>
      </p:sp>
      <p:sp>
        <p:nvSpPr>
          <p:cNvPr id="7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Общий алгоритм работы программы</a:t>
            </a:r>
          </a:p>
        </p:txBody>
      </p:sp>
      <p:cxnSp>
        <p:nvCxnSpPr>
          <p:cNvPr id="74" name="Прямая соединительная линия 7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3. Формирование базы запросов. 4. Рассчёт релевантности ответов</a:t>
            </a:r>
            <a:endParaRPr lang="ru-RU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2925827" y="3443853"/>
            <a:ext cx="1291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запросов</a:t>
            </a:r>
            <a:endParaRPr lang="ru-RU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3" y="2134142"/>
            <a:ext cx="636331" cy="900000"/>
          </a:xfrm>
          <a:prstGeom prst="rect">
            <a:avLst/>
          </a:prstGeom>
        </p:spPr>
      </p:pic>
      <p:pic>
        <p:nvPicPr>
          <p:cNvPr id="80" name="Рисунок 7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3" y="2136925"/>
            <a:ext cx="636331" cy="900000"/>
          </a:xfrm>
          <a:prstGeom prst="rect">
            <a:avLst/>
          </a:prstGeom>
        </p:spPr>
      </p:pic>
      <p:pic>
        <p:nvPicPr>
          <p:cNvPr id="82" name="Рисунок 8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5" y="2497942"/>
            <a:ext cx="381803" cy="540000"/>
          </a:xfrm>
          <a:prstGeom prst="rect">
            <a:avLst/>
          </a:prstGeom>
        </p:spPr>
      </p:pic>
      <p:pic>
        <p:nvPicPr>
          <p:cNvPr id="83" name="Рисунок 8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2" y="2496793"/>
            <a:ext cx="381803" cy="540000"/>
          </a:xfrm>
          <a:prstGeom prst="rect">
            <a:avLst/>
          </a:prstGeom>
        </p:spPr>
      </p:pic>
      <p:pic>
        <p:nvPicPr>
          <p:cNvPr id="84" name="Рисунок 8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17" y="2134142"/>
            <a:ext cx="636331" cy="900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28" y="3249062"/>
            <a:ext cx="540000" cy="38179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105" y="1995349"/>
            <a:ext cx="763597" cy="108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194" y="3062529"/>
            <a:ext cx="509065" cy="720000"/>
          </a:xfrm>
          <a:prstGeom prst="rect">
            <a:avLst/>
          </a:prstGeom>
        </p:spPr>
      </p:pic>
      <p:pic>
        <p:nvPicPr>
          <p:cNvPr id="77" name="Рисунок 7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772" y="4509477"/>
            <a:ext cx="763597" cy="1080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860" y="5591120"/>
            <a:ext cx="509065" cy="720000"/>
          </a:xfrm>
          <a:prstGeom prst="rect">
            <a:avLst/>
          </a:prstGeom>
        </p:spPr>
      </p:pic>
      <p:pic>
        <p:nvPicPr>
          <p:cNvPr id="78" name="Рисунок 7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20" y="4942421"/>
            <a:ext cx="381798" cy="540000"/>
          </a:xfrm>
          <a:prstGeom prst="rect">
            <a:avLst/>
          </a:prstGeom>
        </p:spPr>
      </p:pic>
      <p:pic>
        <p:nvPicPr>
          <p:cNvPr id="81" name="Рисунок 8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58" y="4943898"/>
            <a:ext cx="38179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2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428" y="4375409"/>
            <a:ext cx="1399938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8</a:t>
            </a:fld>
            <a:endParaRPr lang="ru-RU"/>
          </a:p>
        </p:txBody>
      </p:sp>
      <p:sp>
        <p:nvSpPr>
          <p:cNvPr id="15" name="Стрелка вправо 14"/>
          <p:cNvSpPr/>
          <p:nvPr/>
        </p:nvSpPr>
        <p:spPr>
          <a:xfrm>
            <a:off x="4043449" y="297406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2541719" y="297697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 вправо 23"/>
          <p:cNvSpPr/>
          <p:nvPr/>
        </p:nvSpPr>
        <p:spPr>
          <a:xfrm>
            <a:off x="4006849" y="5506331"/>
            <a:ext cx="14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право 24"/>
          <p:cNvSpPr/>
          <p:nvPr/>
        </p:nvSpPr>
        <p:spPr>
          <a:xfrm>
            <a:off x="2536020" y="5497116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2902601" y="5948758"/>
            <a:ext cx="1901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с</a:t>
            </a:r>
            <a:r>
              <a:rPr lang="ru-RU" sz="1000" dirty="0" smtClean="0"/>
              <a:t>сылка на </a:t>
            </a:r>
            <a:r>
              <a:rPr lang="en-US" sz="1000" dirty="0" smtClean="0"/>
              <a:t>JSON-</a:t>
            </a:r>
            <a:r>
              <a:rPr lang="ru-RU" sz="1000" dirty="0"/>
              <a:t>объект ответов</a:t>
            </a:r>
          </a:p>
        </p:txBody>
      </p:sp>
      <p:sp>
        <p:nvSpPr>
          <p:cNvPr id="30" name="Стрелка вправо 29"/>
          <p:cNvSpPr/>
          <p:nvPr/>
        </p:nvSpPr>
        <p:spPr>
          <a:xfrm rot="5400000">
            <a:off x="4391845" y="5109030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 вправо 33"/>
          <p:cNvSpPr/>
          <p:nvPr/>
        </p:nvSpPr>
        <p:spPr>
          <a:xfrm>
            <a:off x="7339534" y="5506291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/>
          <p:cNvGrpSpPr/>
          <p:nvPr/>
        </p:nvGrpSpPr>
        <p:grpSpPr>
          <a:xfrm>
            <a:off x="694696" y="1641769"/>
            <a:ext cx="1800000" cy="1800000"/>
            <a:chOff x="6093193" y="1986699"/>
            <a:chExt cx="1440000" cy="1442301"/>
          </a:xfrm>
        </p:grpSpPr>
        <p:grpSp>
          <p:nvGrpSpPr>
            <p:cNvPr id="37" name="Группа 3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9" name="Скругленный прямоугольник 3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8" name="Прямоугольник 3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ссылку на базу релевантности ответов</a:t>
              </a:r>
            </a:p>
          </p:txBody>
        </p:sp>
      </p:grpSp>
      <p:grpSp>
        <p:nvGrpSpPr>
          <p:cNvPr id="41" name="Группа 40"/>
          <p:cNvGrpSpPr/>
          <p:nvPr/>
        </p:nvGrpSpPr>
        <p:grpSpPr>
          <a:xfrm>
            <a:off x="4640673" y="1637314"/>
            <a:ext cx="1800000" cy="1800000"/>
            <a:chOff x="6093193" y="1986699"/>
            <a:chExt cx="1440000" cy="1442301"/>
          </a:xfrm>
        </p:grpSpPr>
        <p:grpSp>
          <p:nvGrpSpPr>
            <p:cNvPr id="42" name="Группа 4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4" name="Скругленный прямоугольник 4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43" name="Прямоугольник 4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Записать в JSON-объект результаты поиска</a:t>
              </a:r>
            </a:p>
          </p:txBody>
        </p:sp>
      </p:grpSp>
      <p:grpSp>
        <p:nvGrpSpPr>
          <p:cNvPr id="46" name="Группа 45"/>
          <p:cNvGrpSpPr/>
          <p:nvPr/>
        </p:nvGrpSpPr>
        <p:grpSpPr>
          <a:xfrm>
            <a:off x="696004" y="4148835"/>
            <a:ext cx="1800000" cy="1800000"/>
            <a:chOff x="6093193" y="1986699"/>
            <a:chExt cx="1440000" cy="1442301"/>
          </a:xfrm>
        </p:grpSpPr>
        <p:grpSp>
          <p:nvGrpSpPr>
            <p:cNvPr id="47" name="Группа 4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9" name="Скругленный прямоугольник 4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48" name="Прямоугольник 4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ссылку на </a:t>
              </a:r>
              <a:r>
                <a:rPr lang="en-US" sz="1100" dirty="0" smtClean="0">
                  <a:solidFill>
                    <a:schemeClr val="tx1"/>
                  </a:solidFill>
                </a:rPr>
                <a:t>JSON-</a:t>
              </a:r>
              <a:r>
                <a:rPr lang="ru-RU" sz="1100" dirty="0">
                  <a:solidFill>
                    <a:schemeClr val="tx1"/>
                  </a:solidFill>
                </a:rPr>
                <a:t>объект ответов</a:t>
              </a:r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5488847" y="4151542"/>
            <a:ext cx="1800000" cy="1800000"/>
            <a:chOff x="6093193" y="1986699"/>
            <a:chExt cx="1440000" cy="1442301"/>
          </a:xfrm>
        </p:grpSpPr>
        <p:grpSp>
          <p:nvGrpSpPr>
            <p:cNvPr id="52" name="Группа 5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4" name="Скругленный прямоугольник 5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Dispatcher</a:t>
                </a:r>
                <a:endParaRPr lang="ru-RU" kern="1200" dirty="0" smtClean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Operations</a:t>
                </a:r>
                <a:endParaRPr lang="ru-RU" kern="1200" dirty="0"/>
              </a:p>
            </p:txBody>
          </p:sp>
        </p:grpSp>
        <p:sp>
          <p:nvSpPr>
            <p:cNvPr id="53" name="Прямоугольник 5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Записать </a:t>
              </a:r>
              <a:r>
                <a:rPr lang="en-US" sz="1100" dirty="0">
                  <a:solidFill>
                    <a:schemeClr val="tx1"/>
                  </a:solidFill>
                </a:rPr>
                <a:t>JSON-</a:t>
              </a:r>
              <a:r>
                <a:rPr lang="ru-RU" sz="1100" dirty="0">
                  <a:solidFill>
                    <a:schemeClr val="tx1"/>
                  </a:solidFill>
                </a:rPr>
                <a:t>файл</a:t>
              </a:r>
            </a:p>
          </p:txBody>
        </p:sp>
      </p:grpSp>
      <p:sp>
        <p:nvSpPr>
          <p:cNvPr id="60" name="Полилиния 59"/>
          <p:cNvSpPr/>
          <p:nvPr/>
        </p:nvSpPr>
        <p:spPr>
          <a:xfrm>
            <a:off x="9727717" y="4435359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1" name="Полилиния 60"/>
          <p:cNvSpPr/>
          <p:nvPr/>
        </p:nvSpPr>
        <p:spPr>
          <a:xfrm>
            <a:off x="9727717" y="474029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9610301" y="474029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3" name="Полилиния 62"/>
          <p:cNvSpPr/>
          <p:nvPr/>
        </p:nvSpPr>
        <p:spPr>
          <a:xfrm>
            <a:off x="9727717" y="5045222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4" name="Овал 63"/>
          <p:cNvSpPr/>
          <p:nvPr/>
        </p:nvSpPr>
        <p:spPr>
          <a:xfrm>
            <a:off x="9610301" y="5045223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5" name="Полилиния 64"/>
          <p:cNvSpPr/>
          <p:nvPr/>
        </p:nvSpPr>
        <p:spPr>
          <a:xfrm>
            <a:off x="9727717" y="535015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6" name="Овал 65"/>
          <p:cNvSpPr/>
          <p:nvPr/>
        </p:nvSpPr>
        <p:spPr>
          <a:xfrm>
            <a:off x="9610301" y="535015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7" name="Полилиния 66"/>
          <p:cNvSpPr/>
          <p:nvPr/>
        </p:nvSpPr>
        <p:spPr>
          <a:xfrm>
            <a:off x="9727717" y="5655085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8" name="Овал 67"/>
          <p:cNvSpPr/>
          <p:nvPr/>
        </p:nvSpPr>
        <p:spPr>
          <a:xfrm>
            <a:off x="9610301" y="5655086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9" name="Полилиния 68"/>
          <p:cNvSpPr/>
          <p:nvPr/>
        </p:nvSpPr>
        <p:spPr>
          <a:xfrm>
            <a:off x="9727717" y="5960017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9610301" y="5960018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1" name="Группа 70"/>
          <p:cNvGrpSpPr/>
          <p:nvPr/>
        </p:nvGrpSpPr>
        <p:grpSpPr>
          <a:xfrm>
            <a:off x="9590382" y="4373419"/>
            <a:ext cx="254751" cy="360000"/>
            <a:chOff x="9590382" y="4369278"/>
            <a:chExt cx="254751" cy="360000"/>
          </a:xfrm>
        </p:grpSpPr>
        <p:sp>
          <p:nvSpPr>
            <p:cNvPr id="72" name="Овал 71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3" name="Рисунок 7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4" name="Рисунок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9155"/>
            <a:ext cx="254532" cy="360000"/>
          </a:xfrm>
          <a:prstGeom prst="rect">
            <a:avLst/>
          </a:prstGeom>
        </p:spPr>
      </p:pic>
      <p:grpSp>
        <p:nvGrpSpPr>
          <p:cNvPr id="75" name="Группа 74"/>
          <p:cNvGrpSpPr/>
          <p:nvPr/>
        </p:nvGrpSpPr>
        <p:grpSpPr>
          <a:xfrm>
            <a:off x="9588664" y="4977357"/>
            <a:ext cx="254751" cy="360000"/>
            <a:chOff x="9590382" y="4369278"/>
            <a:chExt cx="254751" cy="360000"/>
          </a:xfrm>
        </p:grpSpPr>
        <p:sp>
          <p:nvSpPr>
            <p:cNvPr id="76" name="Овал 75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7" name="Рисунок 7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78" name="Группа 77"/>
          <p:cNvGrpSpPr/>
          <p:nvPr/>
        </p:nvGrpSpPr>
        <p:grpSpPr>
          <a:xfrm>
            <a:off x="9588445" y="5284496"/>
            <a:ext cx="254751" cy="360000"/>
            <a:chOff x="9590382" y="4369278"/>
            <a:chExt cx="254751" cy="360000"/>
          </a:xfrm>
        </p:grpSpPr>
        <p:sp>
          <p:nvSpPr>
            <p:cNvPr id="79" name="Овал 78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0" name="Рисунок 7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81" name="Группа 80"/>
          <p:cNvGrpSpPr/>
          <p:nvPr/>
        </p:nvGrpSpPr>
        <p:grpSpPr>
          <a:xfrm>
            <a:off x="9588226" y="5888434"/>
            <a:ext cx="254751" cy="360000"/>
            <a:chOff x="9590382" y="4369278"/>
            <a:chExt cx="254751" cy="360000"/>
          </a:xfrm>
        </p:grpSpPr>
        <p:sp>
          <p:nvSpPr>
            <p:cNvPr id="82" name="Овал 81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3" name="Рисунок 8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84" name="Группа 83"/>
          <p:cNvGrpSpPr/>
          <p:nvPr/>
        </p:nvGrpSpPr>
        <p:grpSpPr>
          <a:xfrm>
            <a:off x="9589464" y="5586524"/>
            <a:ext cx="254751" cy="360000"/>
            <a:chOff x="9590382" y="4369278"/>
            <a:chExt cx="254751" cy="360000"/>
          </a:xfrm>
        </p:grpSpPr>
        <p:sp>
          <p:nvSpPr>
            <p:cNvPr id="85" name="Овал 84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6" name="Рисунок 8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705" y="4368745"/>
            <a:ext cx="1399925" cy="198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908" y="3534385"/>
            <a:ext cx="1399927" cy="1980000"/>
          </a:xfrm>
          <a:prstGeom prst="rect">
            <a:avLst/>
          </a:prstGeom>
        </p:spPr>
      </p:pic>
      <p:pic>
        <p:nvPicPr>
          <p:cNvPr id="93" name="Рисунок 9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356" y="2137033"/>
            <a:ext cx="636333" cy="90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5861" y="252069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71636" y="501173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8" name="Рисунок 9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971" y="5752562"/>
            <a:ext cx="540000" cy="3817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576" y="3242385"/>
            <a:ext cx="540000" cy="38179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26" y="3249890"/>
            <a:ext cx="540000" cy="381798"/>
          </a:xfrm>
          <a:prstGeom prst="rect">
            <a:avLst/>
          </a:prstGeom>
        </p:spPr>
      </p:pic>
      <p:sp>
        <p:nvSpPr>
          <p:cNvPr id="99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Общий алгоритм работы программы</a:t>
            </a:r>
          </a:p>
        </p:txBody>
      </p:sp>
      <p:cxnSp>
        <p:nvCxnSpPr>
          <p:cNvPr id="100" name="Прямая соединительная линия 9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5. Формирование </a:t>
            </a:r>
            <a:r>
              <a:rPr lang="en-US" sz="2400" dirty="0" smtClean="0"/>
              <a:t>JSON</a:t>
            </a:r>
            <a:r>
              <a:rPr lang="ru-RU" sz="2400" dirty="0" smtClean="0"/>
              <a:t>-объекта ответов. 6. Запись файла ответов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831383" y="3461076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ссылка на базу ответов</a:t>
            </a:r>
            <a:endParaRPr lang="ru-R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046305" y="4815293"/>
            <a:ext cx="12346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путь </a:t>
            </a:r>
            <a:r>
              <a:rPr lang="ru-RU" sz="1000" dirty="0"/>
              <a:t>файла ответов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0907" y="5951570"/>
            <a:ext cx="9092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файл ответов</a:t>
            </a:r>
            <a:endParaRPr lang="ru-RU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103" name="Рисунок 10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28" y="2134142"/>
            <a:ext cx="636331" cy="900000"/>
          </a:xfrm>
          <a:prstGeom prst="rect">
            <a:avLst/>
          </a:prstGeom>
        </p:spPr>
      </p:pic>
      <p:pic>
        <p:nvPicPr>
          <p:cNvPr id="104" name="Рисунок 10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078" y="2136925"/>
            <a:ext cx="636331" cy="900000"/>
          </a:xfrm>
          <a:prstGeom prst="rect">
            <a:avLst/>
          </a:prstGeom>
        </p:spPr>
      </p:pic>
      <p:pic>
        <p:nvPicPr>
          <p:cNvPr id="106" name="Рисунок 10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630" y="2497942"/>
            <a:ext cx="381803" cy="540000"/>
          </a:xfrm>
          <a:prstGeom prst="rect">
            <a:avLst/>
          </a:prstGeom>
        </p:spPr>
      </p:pic>
      <p:pic>
        <p:nvPicPr>
          <p:cNvPr id="107" name="Рисунок 10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177" y="2496793"/>
            <a:ext cx="381803" cy="540000"/>
          </a:xfrm>
          <a:prstGeom prst="rect">
            <a:avLst/>
          </a:prstGeom>
        </p:spPr>
      </p:pic>
      <p:pic>
        <p:nvPicPr>
          <p:cNvPr id="109" name="Рисунок 10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89" y="4668841"/>
            <a:ext cx="636333" cy="900000"/>
          </a:xfrm>
          <a:prstGeom prst="rect">
            <a:avLst/>
          </a:prstGeom>
        </p:spPr>
      </p:pic>
      <p:pic>
        <p:nvPicPr>
          <p:cNvPr id="110" name="Рисунок 10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61" y="4665950"/>
            <a:ext cx="636331" cy="900000"/>
          </a:xfrm>
          <a:prstGeom prst="rect">
            <a:avLst/>
          </a:prstGeom>
        </p:spPr>
      </p:pic>
      <p:pic>
        <p:nvPicPr>
          <p:cNvPr id="111" name="Рисунок 1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11" y="4668733"/>
            <a:ext cx="636331" cy="900000"/>
          </a:xfrm>
          <a:prstGeom prst="rect">
            <a:avLst/>
          </a:prstGeom>
        </p:spPr>
      </p:pic>
      <p:pic>
        <p:nvPicPr>
          <p:cNvPr id="112" name="Рисунок 1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63" y="5029750"/>
            <a:ext cx="381803" cy="540000"/>
          </a:xfrm>
          <a:prstGeom prst="rect">
            <a:avLst/>
          </a:prstGeom>
        </p:spPr>
      </p:pic>
      <p:pic>
        <p:nvPicPr>
          <p:cNvPr id="113" name="Рисунок 11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10" y="5028601"/>
            <a:ext cx="381803" cy="54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963" y="5762393"/>
            <a:ext cx="540000" cy="381799"/>
          </a:xfrm>
          <a:prstGeom prst="rect">
            <a:avLst/>
          </a:prstGeom>
        </p:spPr>
      </p:pic>
      <p:pic>
        <p:nvPicPr>
          <p:cNvPr id="91" name="Рисунок 9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22" y="4569354"/>
            <a:ext cx="763598" cy="1080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123" y="1996918"/>
            <a:ext cx="763597" cy="1080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20" y="2425260"/>
            <a:ext cx="381798" cy="54000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58" y="2426737"/>
            <a:ext cx="381798" cy="540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493" y="1869890"/>
            <a:ext cx="1399928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2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Соединительная линия уступом 118"/>
          <p:cNvCxnSpPr>
            <a:stCxn id="104" idx="2"/>
            <a:endCxn id="111" idx="0"/>
          </p:cNvCxnSpPr>
          <p:nvPr/>
        </p:nvCxnSpPr>
        <p:spPr>
          <a:xfrm rot="16200000" flipH="1">
            <a:off x="8202795" y="3456124"/>
            <a:ext cx="753309" cy="657029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97" y="4416718"/>
            <a:ext cx="1080000" cy="1527507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9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Основные алгоритмы программы</a:t>
            </a:r>
            <a:endParaRPr lang="ru-RU" sz="40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Индексация документов</a:t>
            </a:r>
            <a:endParaRPr lang="ru-RU" sz="2400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1510445" y="2516018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435" y="1940839"/>
            <a:ext cx="540000" cy="763753"/>
          </a:xfrm>
          <a:prstGeom prst="rect">
            <a:avLst/>
          </a:prstGeom>
        </p:spPr>
      </p:pic>
      <p:sp>
        <p:nvSpPr>
          <p:cNvPr id="12" name="Стрелка вправо 11"/>
          <p:cNvSpPr/>
          <p:nvPr/>
        </p:nvSpPr>
        <p:spPr>
          <a:xfrm rot="5400000">
            <a:off x="157897" y="3886836"/>
            <a:ext cx="108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860155" y="1634370"/>
            <a:ext cx="27093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все слова определены (документ закончился)</a:t>
            </a:r>
            <a:endParaRPr lang="ru-RU" sz="1000" dirty="0"/>
          </a:p>
        </p:txBody>
      </p:sp>
      <p:sp>
        <p:nvSpPr>
          <p:cNvPr id="16" name="Стрелка вправо 15"/>
          <p:cNvSpPr/>
          <p:nvPr/>
        </p:nvSpPr>
        <p:spPr>
          <a:xfrm>
            <a:off x="3503599" y="2517097"/>
            <a:ext cx="1728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155473" y="3475708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с</a:t>
            </a:r>
            <a:r>
              <a:rPr lang="ru-RU" sz="1000" dirty="0" smtClean="0"/>
              <a:t>лово</a:t>
            </a:r>
          </a:p>
          <a:p>
            <a:r>
              <a:rPr lang="ru-RU" sz="1000" dirty="0" smtClean="0"/>
              <a:t>отсутствует</a:t>
            </a:r>
            <a:endParaRPr lang="ru-RU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6514909" y="2309866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слово</a:t>
            </a:r>
          </a:p>
          <a:p>
            <a:r>
              <a:rPr lang="ru-RU" sz="1000" dirty="0" smtClean="0"/>
              <a:t>присутствует</a:t>
            </a:r>
            <a:endParaRPr lang="ru-RU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8775721" y="2310468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присутствует</a:t>
            </a:r>
            <a:endParaRPr lang="en-US" sz="1000" dirty="0" smtClean="0"/>
          </a:p>
        </p:txBody>
      </p:sp>
      <p:cxnSp>
        <p:nvCxnSpPr>
          <p:cNvPr id="76" name="Соединительная линия уступом 75"/>
          <p:cNvCxnSpPr>
            <a:stCxn id="108" idx="2"/>
            <a:endCxn id="96" idx="2"/>
          </p:cNvCxnSpPr>
          <p:nvPr/>
        </p:nvCxnSpPr>
        <p:spPr>
          <a:xfrm rot="5400000">
            <a:off x="6805836" y="-713854"/>
            <a:ext cx="131348" cy="8154544"/>
          </a:xfrm>
          <a:prstGeom prst="bentConnector3">
            <a:avLst>
              <a:gd name="adj1" fmla="val 2174808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Соединительная линия уступом 66"/>
          <p:cNvCxnSpPr>
            <a:stCxn id="16" idx="1"/>
            <a:endCxn id="90" idx="0"/>
          </p:cNvCxnSpPr>
          <p:nvPr/>
        </p:nvCxnSpPr>
        <p:spPr>
          <a:xfrm rot="10800000">
            <a:off x="872557" y="2356783"/>
            <a:ext cx="2631043" cy="394314"/>
          </a:xfrm>
          <a:prstGeom prst="bentConnector4">
            <a:avLst>
              <a:gd name="adj1" fmla="val -4779"/>
              <a:gd name="adj2" fmla="val 20748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Соединительная линия уступом 94"/>
          <p:cNvCxnSpPr>
            <a:stCxn id="115" idx="2"/>
          </p:cNvCxnSpPr>
          <p:nvPr/>
        </p:nvCxnSpPr>
        <p:spPr>
          <a:xfrm rot="5400000">
            <a:off x="5533483" y="5705947"/>
            <a:ext cx="936055" cy="1594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Соединительная линия уступом 97"/>
          <p:cNvCxnSpPr>
            <a:stCxn id="111" idx="2"/>
          </p:cNvCxnSpPr>
          <p:nvPr/>
        </p:nvCxnSpPr>
        <p:spPr>
          <a:xfrm rot="16200000" flipH="1">
            <a:off x="8441225" y="5708033"/>
            <a:ext cx="933480" cy="2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4087" y="5671195"/>
            <a:ext cx="1481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база инвертированного</a:t>
            </a:r>
          </a:p>
          <a:p>
            <a:r>
              <a:rPr lang="ru-RU" sz="1000" dirty="0" smtClean="0"/>
              <a:t>индекса</a:t>
            </a:r>
            <a:endParaRPr lang="ru-RU" sz="1000" dirty="0"/>
          </a:p>
        </p:txBody>
      </p:sp>
      <p:grpSp>
        <p:nvGrpSpPr>
          <p:cNvPr id="31" name="Группа 30"/>
          <p:cNvGrpSpPr/>
          <p:nvPr/>
        </p:nvGrpSpPr>
        <p:grpSpPr>
          <a:xfrm>
            <a:off x="3756659" y="2270280"/>
            <a:ext cx="1152036" cy="277177"/>
            <a:chOff x="3901044" y="3386772"/>
            <a:chExt cx="1294911" cy="266589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3901044" y="3401361"/>
              <a:ext cx="1294871" cy="2520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1044" y="3386772"/>
              <a:ext cx="582416" cy="2664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word</a:t>
              </a:r>
              <a:endParaRPr lang="ru-RU" sz="1200" b="1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32529" y="3386772"/>
              <a:ext cx="663426" cy="2664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ID doc</a:t>
              </a:r>
              <a:endParaRPr lang="ru-RU" sz="1200" b="1" dirty="0"/>
            </a:p>
          </p:txBody>
        </p:sp>
        <p:cxnSp>
          <p:nvCxnSpPr>
            <p:cNvPr id="30" name="Прямая соединительная линия 29"/>
            <p:cNvCxnSpPr/>
            <p:nvPr/>
          </p:nvCxnSpPr>
          <p:spPr>
            <a:xfrm>
              <a:off x="4510357" y="3400745"/>
              <a:ext cx="0" cy="25200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/>
          <p:cNvSpPr txBox="1"/>
          <p:nvPr/>
        </p:nvSpPr>
        <p:spPr>
          <a:xfrm>
            <a:off x="7408946" y="3476652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отсутствует</a:t>
            </a:r>
            <a:endParaRPr lang="en-US" sz="1000" dirty="0" smtClean="0"/>
          </a:p>
        </p:txBody>
      </p:sp>
      <p:grpSp>
        <p:nvGrpSpPr>
          <p:cNvPr id="66" name="Группа 65"/>
          <p:cNvGrpSpPr/>
          <p:nvPr/>
        </p:nvGrpSpPr>
        <p:grpSpPr>
          <a:xfrm>
            <a:off x="302781" y="2356783"/>
            <a:ext cx="1289135" cy="1205690"/>
            <a:chOff x="57796" y="1752187"/>
            <a:chExt cx="1289135" cy="1205690"/>
          </a:xfrm>
        </p:grpSpPr>
        <p:sp>
          <p:nvSpPr>
            <p:cNvPr id="90" name="Блок-схема: процесс 89"/>
            <p:cNvSpPr/>
            <p:nvPr/>
          </p:nvSpPr>
          <p:spPr>
            <a:xfrm>
              <a:off x="87571" y="1752187"/>
              <a:ext cx="1080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7796" y="2557767"/>
              <a:ext cx="12891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документ </a:t>
              </a:r>
            </a:p>
            <a:p>
              <a:r>
                <a:rPr lang="ru-RU" sz="1000" dirty="0"/>
                <a:t>и</a:t>
              </a:r>
              <a:r>
                <a:rPr lang="ru-RU" sz="1000" dirty="0" smtClean="0"/>
                <a:t>з базы документов</a:t>
              </a:r>
              <a:endParaRPr lang="ru-RU" sz="1000" dirty="0"/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2302757" y="2374538"/>
            <a:ext cx="1109775" cy="1054554"/>
            <a:chOff x="3833917" y="3574756"/>
            <a:chExt cx="1109775" cy="1054554"/>
          </a:xfrm>
        </p:grpSpPr>
        <p:grpSp>
          <p:nvGrpSpPr>
            <p:cNvPr id="93" name="Группа 92"/>
            <p:cNvGrpSpPr/>
            <p:nvPr/>
          </p:nvGrpSpPr>
          <p:grpSpPr>
            <a:xfrm>
              <a:off x="3833917" y="3577509"/>
              <a:ext cx="1109775" cy="1051801"/>
              <a:chOff x="57796" y="1752187"/>
              <a:chExt cx="1109775" cy="1051801"/>
            </a:xfrm>
          </p:grpSpPr>
          <p:sp>
            <p:nvSpPr>
              <p:cNvPr id="94" name="Блок-схема: процесс 93"/>
              <p:cNvSpPr/>
              <p:nvPr/>
            </p:nvSpPr>
            <p:spPr>
              <a:xfrm>
                <a:off x="87571" y="1752187"/>
                <a:ext cx="1080000" cy="79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57796" y="2557767"/>
                <a:ext cx="9829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00" dirty="0"/>
                  <a:t>в</a:t>
                </a:r>
                <a:r>
                  <a:rPr lang="ru-RU" sz="1000" dirty="0" smtClean="0"/>
                  <a:t>ыбрать слово</a:t>
                </a:r>
              </a:p>
            </p:txBody>
          </p:sp>
        </p:grpSp>
        <p:pic>
          <p:nvPicPr>
            <p:cNvPr id="23" name="Рисунок 2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7635" y="3574756"/>
              <a:ext cx="1008000" cy="712700"/>
            </a:xfrm>
            <a:prstGeom prst="rect">
              <a:avLst/>
            </a:prstGeom>
          </p:spPr>
        </p:pic>
      </p:grpSp>
      <p:grpSp>
        <p:nvGrpSpPr>
          <p:cNvPr id="97" name="Группа 96"/>
          <p:cNvGrpSpPr/>
          <p:nvPr/>
        </p:nvGrpSpPr>
        <p:grpSpPr>
          <a:xfrm>
            <a:off x="5334714" y="2076725"/>
            <a:ext cx="1332000" cy="1332000"/>
            <a:chOff x="7425120" y="1638785"/>
            <a:chExt cx="1332000" cy="1332000"/>
          </a:xfrm>
        </p:grpSpPr>
        <p:sp>
          <p:nvSpPr>
            <p:cNvPr id="99" name="Блок-схема: решение 98"/>
            <p:cNvSpPr>
              <a:spLocks noChangeAspect="1"/>
            </p:cNvSpPr>
            <p:nvPr/>
          </p:nvSpPr>
          <p:spPr>
            <a:xfrm>
              <a:off x="7425120" y="1638785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575866" y="2545196"/>
              <a:ext cx="1029449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оиск </a:t>
              </a:r>
              <a:r>
                <a:rPr lang="en-US" sz="1000" dirty="0" smtClean="0"/>
                <a:t>“word”</a:t>
              </a:r>
              <a:endParaRPr lang="ru-RU" sz="1000" dirty="0"/>
            </a:p>
            <a:p>
              <a:r>
                <a:rPr lang="ru-RU" sz="1000" dirty="0" smtClean="0"/>
                <a:t>в базе индекса </a:t>
              </a:r>
            </a:p>
          </p:txBody>
        </p:sp>
      </p:grpSp>
      <p:grpSp>
        <p:nvGrpSpPr>
          <p:cNvPr id="103" name="Группа 102"/>
          <p:cNvGrpSpPr/>
          <p:nvPr/>
        </p:nvGrpSpPr>
        <p:grpSpPr>
          <a:xfrm>
            <a:off x="7525186" y="2075985"/>
            <a:ext cx="1440790" cy="1332000"/>
            <a:chOff x="7365371" y="1638785"/>
            <a:chExt cx="1440790" cy="1332000"/>
          </a:xfrm>
        </p:grpSpPr>
        <p:sp>
          <p:nvSpPr>
            <p:cNvPr id="104" name="Блок-схема: решение 103"/>
            <p:cNvSpPr>
              <a:spLocks noChangeAspect="1"/>
            </p:cNvSpPr>
            <p:nvPr/>
          </p:nvSpPr>
          <p:spPr>
            <a:xfrm>
              <a:off x="7425120" y="1638785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365371" y="2545196"/>
              <a:ext cx="1440790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оиск </a:t>
              </a:r>
              <a:r>
                <a:rPr lang="en-US" sz="1000" dirty="0"/>
                <a:t>“ID doc</a:t>
              </a:r>
              <a:r>
                <a:rPr lang="en-US" sz="1000" dirty="0" smtClean="0"/>
                <a:t>” </a:t>
              </a:r>
              <a:r>
                <a:rPr lang="ru-RU" sz="1000" dirty="0" smtClean="0"/>
                <a:t>по </a:t>
              </a:r>
              <a:r>
                <a:rPr lang="en-US" sz="1000" dirty="0" smtClean="0"/>
                <a:t>“word” </a:t>
              </a:r>
              <a:r>
                <a:rPr lang="ru-RU" sz="1000" dirty="0" smtClean="0"/>
                <a:t>в базе</a:t>
              </a:r>
              <a:r>
                <a:rPr lang="en-US" sz="1000" dirty="0" smtClean="0"/>
                <a:t> </a:t>
              </a:r>
              <a:r>
                <a:rPr lang="ru-RU" sz="1000" dirty="0" smtClean="0"/>
                <a:t>индекса </a:t>
              </a:r>
            </a:p>
          </p:txBody>
        </p:sp>
      </p:grpSp>
      <p:grpSp>
        <p:nvGrpSpPr>
          <p:cNvPr id="32" name="Группа 31"/>
          <p:cNvGrpSpPr/>
          <p:nvPr/>
        </p:nvGrpSpPr>
        <p:grpSpPr>
          <a:xfrm>
            <a:off x="9868782" y="2181744"/>
            <a:ext cx="2160000" cy="1116000"/>
            <a:chOff x="3404221" y="3272340"/>
            <a:chExt cx="2160000" cy="1116000"/>
          </a:xfrm>
        </p:grpSpPr>
        <p:sp>
          <p:nvSpPr>
            <p:cNvPr id="108" name="Блок-схема: процесс 107"/>
            <p:cNvSpPr/>
            <p:nvPr/>
          </p:nvSpPr>
          <p:spPr>
            <a:xfrm>
              <a:off x="3404221" y="3272340"/>
              <a:ext cx="2160000" cy="1116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71" name="Группа 70"/>
            <p:cNvGrpSpPr/>
            <p:nvPr/>
          </p:nvGrpSpPr>
          <p:grpSpPr>
            <a:xfrm>
              <a:off x="3787745" y="3436157"/>
              <a:ext cx="1744552" cy="288119"/>
              <a:chOff x="3901044" y="3386658"/>
              <a:chExt cx="1136885" cy="277113"/>
            </a:xfrm>
          </p:grpSpPr>
          <p:sp>
            <p:nvSpPr>
              <p:cNvPr id="72" name="Прямоугольник 71"/>
              <p:cNvSpPr/>
              <p:nvPr/>
            </p:nvSpPr>
            <p:spPr>
              <a:xfrm>
                <a:off x="3901044" y="3401361"/>
                <a:ext cx="1083709" cy="2520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901044" y="3386772"/>
                <a:ext cx="518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word</a:t>
                </a:r>
                <a:endParaRPr lang="ru-RU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4274613" y="3386658"/>
                <a:ext cx="7633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{ID doc</a:t>
                </a:r>
                <a:r>
                  <a:rPr lang="ru-RU" sz="1200" b="1" dirty="0" smtClean="0">
                    <a:solidFill>
                      <a:schemeClr val="bg1"/>
                    </a:solidFill>
                  </a:rPr>
                  <a:t>, </a:t>
                </a:r>
                <a:r>
                  <a:rPr lang="en-US" sz="1200" b="1" dirty="0" smtClean="0"/>
                  <a:t>++N</a:t>
                </a:r>
                <a:r>
                  <a:rPr lang="en-US" sz="1200" b="1" dirty="0" smtClean="0">
                    <a:solidFill>
                      <a:schemeClr val="bg1"/>
                    </a:solidFill>
                  </a:rPr>
                  <a:t>}</a:t>
                </a:r>
                <a:endParaRPr lang="ru-RU" sz="12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7" name="Прямая соединительная линия 76"/>
              <p:cNvCxnSpPr/>
              <p:nvPr/>
            </p:nvCxnSpPr>
            <p:spPr>
              <a:xfrm>
                <a:off x="4255468" y="3400745"/>
                <a:ext cx="0" cy="252000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TextBox 106"/>
            <p:cNvSpPr txBox="1"/>
            <p:nvPr/>
          </p:nvSpPr>
          <p:spPr>
            <a:xfrm>
              <a:off x="3418147" y="3778909"/>
              <a:ext cx="21460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 базе индекса, увеличить количество вхождений слова</a:t>
              </a:r>
              <a:r>
                <a:rPr lang="en-US" sz="1000" dirty="0" smtClean="0"/>
                <a:t> </a:t>
              </a:r>
              <a:r>
                <a:rPr lang="ru-RU" sz="1000" dirty="0" smtClean="0"/>
                <a:t>в документ</a:t>
              </a:r>
              <a:endParaRPr lang="en-US" sz="1000" dirty="0" smtClean="0"/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7539964" y="4161294"/>
            <a:ext cx="2736000" cy="1080000"/>
            <a:chOff x="8047264" y="3812669"/>
            <a:chExt cx="2736000" cy="1080000"/>
          </a:xfrm>
        </p:grpSpPr>
        <p:sp>
          <p:nvSpPr>
            <p:cNvPr id="111" name="Блок-схема: процесс 110"/>
            <p:cNvSpPr/>
            <p:nvPr/>
          </p:nvSpPr>
          <p:spPr>
            <a:xfrm>
              <a:off x="8047264" y="3812669"/>
              <a:ext cx="2736000" cy="1080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35" name="Группа 34"/>
            <p:cNvGrpSpPr/>
            <p:nvPr/>
          </p:nvGrpSpPr>
          <p:grpSpPr>
            <a:xfrm>
              <a:off x="8070359" y="3974134"/>
              <a:ext cx="2702790" cy="890216"/>
              <a:chOff x="8070359" y="3974134"/>
              <a:chExt cx="2702790" cy="890216"/>
            </a:xfrm>
          </p:grpSpPr>
          <p:grpSp>
            <p:nvGrpSpPr>
              <p:cNvPr id="79" name="Группа 78"/>
              <p:cNvGrpSpPr/>
              <p:nvPr/>
            </p:nvGrpSpPr>
            <p:grpSpPr>
              <a:xfrm>
                <a:off x="8440965" y="3974134"/>
                <a:ext cx="2332184" cy="288000"/>
                <a:chOff x="3901044" y="3386772"/>
                <a:chExt cx="980731" cy="276999"/>
              </a:xfrm>
            </p:grpSpPr>
            <p:sp>
              <p:nvSpPr>
                <p:cNvPr id="82" name="Прямоугольник 81"/>
                <p:cNvSpPr/>
                <p:nvPr/>
              </p:nvSpPr>
              <p:spPr>
                <a:xfrm>
                  <a:off x="3901044" y="3401361"/>
                  <a:ext cx="935290" cy="252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>
                  <a:off x="3901044" y="3386772"/>
                  <a:ext cx="51815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word</a:t>
                  </a:r>
                  <a:endParaRPr lang="ru-RU" sz="12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4138951" y="3387436"/>
                  <a:ext cx="742824" cy="2664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solidFill>
                        <a:schemeClr val="bg1"/>
                      </a:solidFill>
                    </a:rPr>
                    <a:t>{</a:t>
                  </a:r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ID doc</a:t>
                  </a:r>
                  <a:r>
                    <a:rPr lang="ru-RU" sz="1200" b="1" dirty="0" smtClean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n}, </a:t>
                  </a:r>
                  <a:r>
                    <a:rPr lang="en-US" sz="1200" b="1" dirty="0" smtClean="0"/>
                    <a:t>{ID doc, 1}</a:t>
                  </a:r>
                  <a:endParaRPr lang="ru-RU" sz="1200" b="1" dirty="0"/>
                </a:p>
              </p:txBody>
            </p:sp>
            <p:cxnSp>
              <p:nvCxnSpPr>
                <p:cNvPr id="85" name="Прямая соединительная линия 84"/>
                <p:cNvCxnSpPr/>
                <p:nvPr/>
              </p:nvCxnSpPr>
              <p:spPr>
                <a:xfrm>
                  <a:off x="4125830" y="3400745"/>
                  <a:ext cx="0" cy="252000"/>
                </a:xfrm>
                <a:prstGeom prst="line">
                  <a:avLst/>
                </a:prstGeom>
                <a:ln w="158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0" name="TextBox 109"/>
              <p:cNvSpPr txBox="1"/>
              <p:nvPr/>
            </p:nvSpPr>
            <p:spPr>
              <a:xfrm>
                <a:off x="8070359" y="4310352"/>
                <a:ext cx="269761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/>
                  <a:t>в</a:t>
                </a:r>
                <a:r>
                  <a:rPr lang="ru-RU" sz="1000" dirty="0" smtClean="0"/>
                  <a:t> базе индекса, по слову, добавить </a:t>
                </a:r>
                <a:r>
                  <a:rPr lang="en-US" sz="1000" dirty="0" smtClean="0"/>
                  <a:t>ID </a:t>
                </a:r>
                <a:r>
                  <a:rPr lang="ru-RU" sz="1000" dirty="0" smtClean="0"/>
                  <a:t>документа и количество вхождений слова</a:t>
                </a:r>
                <a:r>
                  <a:rPr lang="en-US" sz="1000" dirty="0" smtClean="0"/>
                  <a:t> </a:t>
                </a:r>
                <a:r>
                  <a:rPr lang="ru-RU" sz="1000" dirty="0" smtClean="0"/>
                  <a:t>в документ равное 1</a:t>
                </a:r>
                <a:endParaRPr lang="en-US" sz="1000" dirty="0" smtClean="0"/>
              </a:p>
            </p:txBody>
          </p:sp>
        </p:grpSp>
      </p:grpSp>
      <p:grpSp>
        <p:nvGrpSpPr>
          <p:cNvPr id="43" name="Группа 42"/>
          <p:cNvGrpSpPr/>
          <p:nvPr/>
        </p:nvGrpSpPr>
        <p:grpSpPr>
          <a:xfrm>
            <a:off x="4814307" y="4084288"/>
            <a:ext cx="2376000" cy="1154429"/>
            <a:chOff x="3743564" y="3673870"/>
            <a:chExt cx="2376000" cy="1154429"/>
          </a:xfrm>
        </p:grpSpPr>
        <p:sp>
          <p:nvSpPr>
            <p:cNvPr id="115" name="Блок-схема: процесс 114"/>
            <p:cNvSpPr/>
            <p:nvPr/>
          </p:nvSpPr>
          <p:spPr>
            <a:xfrm>
              <a:off x="3743564" y="3748299"/>
              <a:ext cx="2376000" cy="1080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3" name="Группа 62"/>
            <p:cNvGrpSpPr/>
            <p:nvPr/>
          </p:nvGrpSpPr>
          <p:grpSpPr>
            <a:xfrm>
              <a:off x="4529221" y="3896709"/>
              <a:ext cx="1517215" cy="294660"/>
              <a:chOff x="3901044" y="3380367"/>
              <a:chExt cx="1249151" cy="283404"/>
            </a:xfrm>
          </p:grpSpPr>
          <p:sp>
            <p:nvSpPr>
              <p:cNvPr id="64" name="Прямоугольник 63"/>
              <p:cNvSpPr/>
              <p:nvPr/>
            </p:nvSpPr>
            <p:spPr>
              <a:xfrm>
                <a:off x="3901044" y="3401361"/>
                <a:ext cx="1217540" cy="2520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3901044" y="3386772"/>
                <a:ext cx="4968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/>
                  <a:t>word</a:t>
                </a:r>
                <a:endParaRPr lang="ru-RU" sz="1200" b="1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4374381" y="3380367"/>
                <a:ext cx="7758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{ID doc</a:t>
                </a:r>
                <a:r>
                  <a:rPr lang="ru-RU" sz="1200" b="1" dirty="0" smtClean="0"/>
                  <a:t>, 1</a:t>
                </a:r>
                <a:r>
                  <a:rPr lang="en-US" sz="1200" b="1" dirty="0" smtClean="0"/>
                  <a:t>}</a:t>
                </a:r>
                <a:endParaRPr lang="ru-RU" sz="1200" b="1" dirty="0"/>
              </a:p>
            </p:txBody>
          </p:sp>
          <p:cxnSp>
            <p:nvCxnSpPr>
              <p:cNvPr id="70" name="Прямая соединительная линия 69"/>
              <p:cNvCxnSpPr/>
              <p:nvPr/>
            </p:nvCxnSpPr>
            <p:spPr>
              <a:xfrm>
                <a:off x="4349641" y="3400745"/>
                <a:ext cx="0" cy="252000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3" name="Прямоугольник 112"/>
            <p:cNvSpPr>
              <a:spLocks noChangeAspect="1"/>
            </p:cNvSpPr>
            <p:nvPr/>
          </p:nvSpPr>
          <p:spPr>
            <a:xfrm>
              <a:off x="4130687" y="3673870"/>
              <a:ext cx="335299" cy="54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4000" b="0" cap="none" spc="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</a:t>
              </a:r>
              <a:endParaRPr lang="ru-RU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846386" y="4216056"/>
              <a:ext cx="217332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 базе индекса, добавить слово, </a:t>
              </a:r>
              <a:r>
                <a:rPr lang="en-US" sz="1000" dirty="0" smtClean="0"/>
                <a:t>ID </a:t>
              </a:r>
              <a:r>
                <a:rPr lang="ru-RU" sz="1000" dirty="0" smtClean="0"/>
                <a:t>документа и количество вхождений слова</a:t>
              </a:r>
              <a:r>
                <a:rPr lang="en-US" sz="1000" dirty="0" smtClean="0"/>
                <a:t> </a:t>
              </a:r>
              <a:r>
                <a:rPr lang="ru-RU" sz="1000" dirty="0" smtClean="0"/>
                <a:t>в документ равное 1</a:t>
              </a:r>
              <a:endParaRPr lang="en-US" sz="1000" dirty="0" smtClean="0"/>
            </a:p>
          </p:txBody>
        </p:sp>
      </p:grpSp>
      <p:cxnSp>
        <p:nvCxnSpPr>
          <p:cNvPr id="116" name="Соединительная линия уступом 115"/>
          <p:cNvCxnSpPr>
            <a:stCxn id="99" idx="3"/>
            <a:endCxn id="104" idx="1"/>
          </p:cNvCxnSpPr>
          <p:nvPr/>
        </p:nvCxnSpPr>
        <p:spPr>
          <a:xfrm flipV="1">
            <a:off x="6666714" y="2741985"/>
            <a:ext cx="918221" cy="740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Соединительная линия уступом 116"/>
          <p:cNvCxnSpPr>
            <a:stCxn id="104" idx="3"/>
            <a:endCxn id="108" idx="1"/>
          </p:cNvCxnSpPr>
          <p:nvPr/>
        </p:nvCxnSpPr>
        <p:spPr>
          <a:xfrm flipV="1">
            <a:off x="8916935" y="2739744"/>
            <a:ext cx="951847" cy="2241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оединительная линия уступом 117"/>
          <p:cNvCxnSpPr>
            <a:stCxn id="99" idx="2"/>
            <a:endCxn id="115" idx="0"/>
          </p:cNvCxnSpPr>
          <p:nvPr/>
        </p:nvCxnSpPr>
        <p:spPr>
          <a:xfrm rot="16200000" flipH="1">
            <a:off x="5626514" y="3782924"/>
            <a:ext cx="749992" cy="1593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3101251" y="5864404"/>
            <a:ext cx="25362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</a:t>
            </a:r>
            <a:r>
              <a:rPr lang="ru-RU" sz="1000" dirty="0" smtClean="0"/>
              <a:t>екущие слово и </a:t>
            </a:r>
            <a:r>
              <a:rPr lang="en-US" sz="1000" dirty="0" smtClean="0"/>
              <a:t>ID </a:t>
            </a:r>
            <a:r>
              <a:rPr lang="ru-RU" sz="1000" dirty="0" smtClean="0"/>
              <a:t>документа обработаны</a:t>
            </a:r>
            <a:endParaRPr lang="ru-RU" sz="1000" dirty="0"/>
          </a:p>
        </p:txBody>
      </p:sp>
      <p:sp>
        <p:nvSpPr>
          <p:cNvPr id="154" name="Прямоугольник 153"/>
          <p:cNvSpPr/>
          <p:nvPr/>
        </p:nvSpPr>
        <p:spPr>
          <a:xfrm>
            <a:off x="129917" y="205110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5" name="Прямоугольник 154"/>
          <p:cNvSpPr/>
          <p:nvPr/>
        </p:nvSpPr>
        <p:spPr>
          <a:xfrm>
            <a:off x="2132327" y="207991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6" name="Прямоугольник 155"/>
          <p:cNvSpPr/>
          <p:nvPr/>
        </p:nvSpPr>
        <p:spPr>
          <a:xfrm>
            <a:off x="5803143" y="1784224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7" name="Прямоугольник 156"/>
          <p:cNvSpPr/>
          <p:nvPr/>
        </p:nvSpPr>
        <p:spPr>
          <a:xfrm>
            <a:off x="8045176" y="180316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8" name="Прямоугольник 157"/>
          <p:cNvSpPr/>
          <p:nvPr/>
        </p:nvSpPr>
        <p:spPr>
          <a:xfrm>
            <a:off x="9686179" y="1875546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9" name="Прямоугольник 158"/>
          <p:cNvSpPr/>
          <p:nvPr/>
        </p:nvSpPr>
        <p:spPr>
          <a:xfrm>
            <a:off x="4615623" y="386837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0" name="Прямоугольник 159"/>
          <p:cNvSpPr/>
          <p:nvPr/>
        </p:nvSpPr>
        <p:spPr>
          <a:xfrm>
            <a:off x="7341702" y="3868104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7" y="2364950"/>
            <a:ext cx="1008000" cy="712692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18" y="2367057"/>
            <a:ext cx="1008000" cy="712694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885" y="2373583"/>
            <a:ext cx="1008000" cy="712691"/>
          </a:xfrm>
          <a:prstGeom prst="rect">
            <a:avLst/>
          </a:prstGeom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335" y="4150697"/>
            <a:ext cx="432704" cy="612000"/>
          </a:xfrm>
          <a:prstGeom prst="rect">
            <a:avLst/>
          </a:prstGeom>
        </p:spPr>
      </p:pic>
      <p:pic>
        <p:nvPicPr>
          <p:cNvPr id="100" name="Рисунок 9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143" y="4160587"/>
            <a:ext cx="432704" cy="612000"/>
          </a:xfrm>
          <a:prstGeom prst="rect">
            <a:avLst/>
          </a:prstGeom>
        </p:spPr>
      </p:pic>
      <p:pic>
        <p:nvPicPr>
          <p:cNvPr id="101" name="Рисунок 10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939" y="2183412"/>
            <a:ext cx="432704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5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Соединительная линия уступом 37"/>
          <p:cNvCxnSpPr>
            <a:stCxn id="25" idx="1"/>
            <a:endCxn id="17" idx="2"/>
          </p:cNvCxnSpPr>
          <p:nvPr/>
        </p:nvCxnSpPr>
        <p:spPr>
          <a:xfrm rot="10800000" flipV="1">
            <a:off x="2982530" y="2281830"/>
            <a:ext cx="2749504" cy="828241"/>
          </a:xfrm>
          <a:prstGeom prst="bentConnector4">
            <a:avLst>
              <a:gd name="adj1" fmla="val -7889"/>
              <a:gd name="adj2" fmla="val 141246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Соединительная линия уступом 300"/>
          <p:cNvCxnSpPr>
            <a:stCxn id="23" idx="1"/>
            <a:endCxn id="49" idx="0"/>
          </p:cNvCxnSpPr>
          <p:nvPr/>
        </p:nvCxnSpPr>
        <p:spPr>
          <a:xfrm rot="10800000">
            <a:off x="987181" y="1895210"/>
            <a:ext cx="2643888" cy="389784"/>
          </a:xfrm>
          <a:prstGeom prst="bentConnector4">
            <a:avLst>
              <a:gd name="adj1" fmla="val -5987"/>
              <a:gd name="adj2" fmla="val 227646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Группа 32"/>
          <p:cNvGrpSpPr/>
          <p:nvPr/>
        </p:nvGrpSpPr>
        <p:grpSpPr>
          <a:xfrm>
            <a:off x="4631443" y="4668036"/>
            <a:ext cx="1332000" cy="1332000"/>
            <a:chOff x="7425120" y="1649059"/>
            <a:chExt cx="1332000" cy="1332000"/>
          </a:xfrm>
        </p:grpSpPr>
        <p:sp>
          <p:nvSpPr>
            <p:cNvPr id="101" name="Блок-схема: решение 100"/>
            <p:cNvSpPr>
              <a:spLocks noChangeAspect="1"/>
            </p:cNvSpPr>
            <p:nvPr/>
          </p:nvSpPr>
          <p:spPr>
            <a:xfrm>
              <a:off x="7425120" y="1649059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7586140" y="2545196"/>
              <a:ext cx="1000595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оиск </a:t>
              </a:r>
              <a:r>
                <a:rPr lang="en-US" sz="1000" dirty="0"/>
                <a:t>“ID doc”</a:t>
              </a:r>
              <a:endParaRPr lang="ru-RU" sz="1000" dirty="0"/>
            </a:p>
            <a:p>
              <a:r>
                <a:rPr lang="ru-RU" sz="1000" dirty="0" smtClean="0"/>
                <a:t>в базе ответов </a:t>
              </a:r>
            </a:p>
          </p:txBody>
        </p:sp>
      </p:grpSp>
      <p:cxnSp>
        <p:nvCxnSpPr>
          <p:cNvPr id="226" name="Соединительная линия уступом 225"/>
          <p:cNvCxnSpPr>
            <a:stCxn id="222" idx="3"/>
          </p:cNvCxnSpPr>
          <p:nvPr/>
        </p:nvCxnSpPr>
        <p:spPr>
          <a:xfrm flipH="1" flipV="1">
            <a:off x="5064722" y="1756309"/>
            <a:ext cx="6459396" cy="2962597"/>
          </a:xfrm>
          <a:prstGeom prst="bentConnector4">
            <a:avLst>
              <a:gd name="adj1" fmla="val -1948"/>
              <a:gd name="adj2" fmla="val 111877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10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Основные алгоритмы программы</a:t>
            </a:r>
            <a:endParaRPr lang="ru-RU" sz="40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Формирование базы относительной релевантности (релевантности ответов)</a:t>
            </a:r>
            <a:endParaRPr lang="ru-RU" sz="2400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1635143" y="2051536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>
            <a:off x="3631069" y="2050994"/>
            <a:ext cx="828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право 24"/>
          <p:cNvSpPr/>
          <p:nvPr/>
        </p:nvSpPr>
        <p:spPr>
          <a:xfrm>
            <a:off x="5732034" y="2047831"/>
            <a:ext cx="1188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Соединительная линия уступом 33"/>
          <p:cNvCxnSpPr>
            <a:stCxn id="153" idx="3"/>
          </p:cNvCxnSpPr>
          <p:nvPr/>
        </p:nvCxnSpPr>
        <p:spPr>
          <a:xfrm flipH="1" flipV="1">
            <a:off x="5064722" y="1756309"/>
            <a:ext cx="6477003" cy="716057"/>
          </a:xfrm>
          <a:prstGeom prst="bentConnector4">
            <a:avLst>
              <a:gd name="adj1" fmla="val -1625"/>
              <a:gd name="adj2" fmla="val 149143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Стрелка вправо 62"/>
          <p:cNvSpPr/>
          <p:nvPr/>
        </p:nvSpPr>
        <p:spPr>
          <a:xfrm rot="5400000">
            <a:off x="782844" y="3028970"/>
            <a:ext cx="36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Стрелка вправо 77"/>
          <p:cNvSpPr/>
          <p:nvPr/>
        </p:nvSpPr>
        <p:spPr>
          <a:xfrm rot="16200000">
            <a:off x="2877347" y="430710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051" y="1469470"/>
            <a:ext cx="540000" cy="763750"/>
          </a:xfrm>
          <a:prstGeom prst="rect">
            <a:avLst/>
          </a:prstGeom>
        </p:spPr>
      </p:pic>
      <p:grpSp>
        <p:nvGrpSpPr>
          <p:cNvPr id="40" name="Группа 39"/>
          <p:cNvGrpSpPr/>
          <p:nvPr/>
        </p:nvGrpSpPr>
        <p:grpSpPr>
          <a:xfrm>
            <a:off x="2446610" y="1905529"/>
            <a:ext cx="1080000" cy="1204543"/>
            <a:chOff x="2254103" y="1736622"/>
            <a:chExt cx="1080000" cy="1204543"/>
          </a:xfrm>
        </p:grpSpPr>
        <p:sp>
          <p:nvSpPr>
            <p:cNvPr id="17" name="TextBox 16"/>
            <p:cNvSpPr txBox="1"/>
            <p:nvPr/>
          </p:nvSpPr>
          <p:spPr>
            <a:xfrm>
              <a:off x="2298542" y="2541055"/>
              <a:ext cx="9829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слово</a:t>
              </a:r>
            </a:p>
            <a:p>
              <a:r>
                <a:rPr lang="ru-RU" sz="1000" dirty="0"/>
                <a:t>и</a:t>
              </a:r>
              <a:r>
                <a:rPr lang="ru-RU" sz="1000" dirty="0" smtClean="0"/>
                <a:t>з запроса</a:t>
              </a:r>
              <a:endParaRPr lang="ru-RU" sz="1000" dirty="0"/>
            </a:p>
          </p:txBody>
        </p:sp>
        <p:grpSp>
          <p:nvGrpSpPr>
            <p:cNvPr id="27" name="Группа 26"/>
            <p:cNvGrpSpPr/>
            <p:nvPr/>
          </p:nvGrpSpPr>
          <p:grpSpPr>
            <a:xfrm>
              <a:off x="2254103" y="1736622"/>
              <a:ext cx="1080000" cy="792000"/>
              <a:chOff x="2254103" y="1736622"/>
              <a:chExt cx="1080000" cy="792000"/>
            </a:xfrm>
          </p:grpSpPr>
          <p:sp>
            <p:nvSpPr>
              <p:cNvPr id="59" name="Блок-схема: процесс 58"/>
              <p:cNvSpPr/>
              <p:nvPr/>
            </p:nvSpPr>
            <p:spPr>
              <a:xfrm>
                <a:off x="2254103" y="1736622"/>
                <a:ext cx="1080000" cy="79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8" name="Рисунок 2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62864" y="1742962"/>
                <a:ext cx="1008000" cy="712699"/>
              </a:xfrm>
              <a:prstGeom prst="rect">
                <a:avLst/>
              </a:prstGeom>
            </p:spPr>
          </p:pic>
        </p:grpSp>
      </p:grpSp>
      <p:grpSp>
        <p:nvGrpSpPr>
          <p:cNvPr id="37" name="Группа 36"/>
          <p:cNvGrpSpPr/>
          <p:nvPr/>
        </p:nvGrpSpPr>
        <p:grpSpPr>
          <a:xfrm>
            <a:off x="3626297" y="1797974"/>
            <a:ext cx="540000" cy="277176"/>
            <a:chOff x="4111934" y="2883423"/>
            <a:chExt cx="1188000" cy="277176"/>
          </a:xfrm>
        </p:grpSpPr>
        <p:sp>
          <p:nvSpPr>
            <p:cNvPr id="66" name="Прямоугольник 65"/>
            <p:cNvSpPr/>
            <p:nvPr/>
          </p:nvSpPr>
          <p:spPr>
            <a:xfrm>
              <a:off x="4111934" y="2898591"/>
              <a:ext cx="1188000" cy="2620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111934" y="2883423"/>
              <a:ext cx="11399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word</a:t>
              </a:r>
              <a:endParaRPr lang="ru-RU" sz="1200" b="1" dirty="0"/>
            </a:p>
          </p:txBody>
        </p:sp>
      </p:grpSp>
      <p:grpSp>
        <p:nvGrpSpPr>
          <p:cNvPr id="47" name="Группа 46"/>
          <p:cNvGrpSpPr/>
          <p:nvPr/>
        </p:nvGrpSpPr>
        <p:grpSpPr>
          <a:xfrm>
            <a:off x="5729539" y="1811008"/>
            <a:ext cx="900000" cy="277534"/>
            <a:chOff x="6369282" y="1767075"/>
            <a:chExt cx="969877" cy="277534"/>
          </a:xfrm>
        </p:grpSpPr>
        <p:grpSp>
          <p:nvGrpSpPr>
            <p:cNvPr id="71" name="Группа 70"/>
            <p:cNvGrpSpPr/>
            <p:nvPr/>
          </p:nvGrpSpPr>
          <p:grpSpPr>
            <a:xfrm>
              <a:off x="6369282" y="1767610"/>
              <a:ext cx="969877" cy="276999"/>
              <a:chOff x="4158024" y="2850118"/>
              <a:chExt cx="1188000" cy="276999"/>
            </a:xfrm>
          </p:grpSpPr>
          <p:sp>
            <p:nvSpPr>
              <p:cNvPr id="72" name="Прямоугольник 71"/>
              <p:cNvSpPr/>
              <p:nvPr/>
            </p:nvSpPr>
            <p:spPr>
              <a:xfrm>
                <a:off x="4158024" y="2856828"/>
                <a:ext cx="1188000" cy="26200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4161798" y="2850118"/>
                <a:ext cx="7790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/>
                  <a:t>ID doc</a:t>
                </a:r>
                <a:endParaRPr lang="ru-RU" sz="1200" b="1" dirty="0"/>
              </a:p>
            </p:txBody>
          </p:sp>
          <p:cxnSp>
            <p:nvCxnSpPr>
              <p:cNvPr id="74" name="Прямая соединительная линия 73"/>
              <p:cNvCxnSpPr/>
              <p:nvPr/>
            </p:nvCxnSpPr>
            <p:spPr>
              <a:xfrm>
                <a:off x="4938011" y="2854401"/>
                <a:ext cx="0" cy="262008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/>
            <p:cNvSpPr txBox="1"/>
            <p:nvPr/>
          </p:nvSpPr>
          <p:spPr>
            <a:xfrm>
              <a:off x="7031534" y="1767075"/>
              <a:ext cx="288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n</a:t>
              </a:r>
              <a:endParaRPr lang="ru-RU" sz="1200" b="1" dirty="0"/>
            </a:p>
          </p:txBody>
        </p:sp>
      </p:grpSp>
      <p:grpSp>
        <p:nvGrpSpPr>
          <p:cNvPr id="43" name="Группа 42"/>
          <p:cNvGrpSpPr/>
          <p:nvPr/>
        </p:nvGrpSpPr>
        <p:grpSpPr>
          <a:xfrm>
            <a:off x="2457618" y="4878531"/>
            <a:ext cx="1422184" cy="1203129"/>
            <a:chOff x="4430768" y="4683566"/>
            <a:chExt cx="1422184" cy="1203129"/>
          </a:xfrm>
        </p:grpSpPr>
        <p:sp>
          <p:nvSpPr>
            <p:cNvPr id="115" name="Блок-схема: процесс 114"/>
            <p:cNvSpPr/>
            <p:nvPr/>
          </p:nvSpPr>
          <p:spPr>
            <a:xfrm>
              <a:off x="4581717" y="4683566"/>
              <a:ext cx="1080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430768" y="5486585"/>
              <a:ext cx="14221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</a:t>
              </a:r>
              <a:r>
                <a:rPr lang="en-US" sz="1000" dirty="0" smtClean="0"/>
                <a:t>ID </a:t>
              </a:r>
              <a:r>
                <a:rPr lang="ru-RU" sz="1000" dirty="0" smtClean="0"/>
                <a:t>документа</a:t>
              </a:r>
              <a:r>
                <a:rPr lang="en-US" sz="1000" dirty="0" smtClean="0"/>
                <a:t> </a:t>
              </a:r>
              <a:endParaRPr lang="ru-RU" sz="1000" dirty="0" smtClean="0"/>
            </a:p>
            <a:p>
              <a:r>
                <a:rPr lang="ru-RU" sz="1000" dirty="0" smtClean="0"/>
                <a:t>из базы документов</a:t>
              </a:r>
              <a:endParaRPr lang="ru-RU" sz="1000" dirty="0"/>
            </a:p>
          </p:txBody>
        </p:sp>
      </p:grpSp>
      <p:sp>
        <p:nvSpPr>
          <p:cNvPr id="117" name="Стрелка вправо 116"/>
          <p:cNvSpPr/>
          <p:nvPr/>
        </p:nvSpPr>
        <p:spPr>
          <a:xfrm>
            <a:off x="3759537" y="5103934"/>
            <a:ext cx="828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8" name="Группа 117"/>
          <p:cNvGrpSpPr/>
          <p:nvPr/>
        </p:nvGrpSpPr>
        <p:grpSpPr>
          <a:xfrm>
            <a:off x="3757833" y="4847084"/>
            <a:ext cx="576000" cy="277176"/>
            <a:chOff x="4111934" y="2883423"/>
            <a:chExt cx="1217341" cy="277176"/>
          </a:xfrm>
        </p:grpSpPr>
        <p:sp>
          <p:nvSpPr>
            <p:cNvPr id="119" name="Прямоугольник 118"/>
            <p:cNvSpPr/>
            <p:nvPr/>
          </p:nvSpPr>
          <p:spPr>
            <a:xfrm>
              <a:off x="4111934" y="2898591"/>
              <a:ext cx="1188000" cy="2620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4111934" y="2883423"/>
              <a:ext cx="1217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ID doc</a:t>
              </a:r>
              <a:endParaRPr lang="ru-RU" sz="1200" b="1" dirty="0"/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6869531" y="287986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отсутствует</a:t>
            </a:r>
            <a:endParaRPr lang="ru-RU" sz="1000" dirty="0"/>
          </a:p>
        </p:txBody>
      </p:sp>
      <p:grpSp>
        <p:nvGrpSpPr>
          <p:cNvPr id="41" name="Группа 40"/>
          <p:cNvGrpSpPr/>
          <p:nvPr/>
        </p:nvGrpSpPr>
        <p:grpSpPr>
          <a:xfrm>
            <a:off x="4343800" y="1748283"/>
            <a:ext cx="1544012" cy="1615211"/>
            <a:chOff x="4771901" y="1870780"/>
            <a:chExt cx="1544012" cy="1615211"/>
          </a:xfrm>
        </p:grpSpPr>
        <p:grpSp>
          <p:nvGrpSpPr>
            <p:cNvPr id="32" name="Группа 31"/>
            <p:cNvGrpSpPr/>
            <p:nvPr/>
          </p:nvGrpSpPr>
          <p:grpSpPr>
            <a:xfrm>
              <a:off x="4937737" y="1870780"/>
              <a:ext cx="1206505" cy="1044000"/>
              <a:chOff x="4950950" y="1840422"/>
              <a:chExt cx="1206505" cy="1044000"/>
            </a:xfrm>
          </p:grpSpPr>
          <p:sp>
            <p:nvSpPr>
              <p:cNvPr id="70" name="Блок-схема: процесс 69"/>
              <p:cNvSpPr/>
              <p:nvPr/>
            </p:nvSpPr>
            <p:spPr>
              <a:xfrm>
                <a:off x="4991327" y="1840422"/>
                <a:ext cx="1080000" cy="1044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950950" y="2475177"/>
                <a:ext cx="12065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/>
                  <a:t>п</a:t>
                </a:r>
                <a:r>
                  <a:rPr lang="ru-RU" sz="1000" dirty="0" smtClean="0"/>
                  <a:t>оиск в базе</a:t>
                </a:r>
              </a:p>
              <a:p>
                <a:r>
                  <a:rPr lang="ru-RU" sz="1000" dirty="0" smtClean="0"/>
                  <a:t>индекса по </a:t>
                </a:r>
                <a:r>
                  <a:rPr lang="en-US" sz="1000" dirty="0" smtClean="0"/>
                  <a:t>“word”</a:t>
                </a:r>
                <a:endParaRPr lang="ru-RU" sz="1000" dirty="0" smtClean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4771901" y="2931993"/>
              <a:ext cx="154401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выбрать </a:t>
              </a:r>
              <a:r>
                <a:rPr lang="en-US" sz="1000" dirty="0"/>
                <a:t>ID </a:t>
              </a:r>
              <a:r>
                <a:rPr lang="ru-RU" sz="1000" dirty="0"/>
                <a:t>документа и </a:t>
              </a:r>
            </a:p>
            <a:p>
              <a:r>
                <a:rPr lang="ru-RU" sz="1000" dirty="0"/>
                <a:t>количество вхождений</a:t>
              </a:r>
            </a:p>
            <a:p>
              <a:r>
                <a:rPr lang="ru-RU" sz="1000" dirty="0" smtClean="0"/>
                <a:t>слова </a:t>
              </a:r>
              <a:r>
                <a:rPr lang="en-US" sz="1000" dirty="0" smtClean="0"/>
                <a:t>“word” </a:t>
              </a:r>
              <a:r>
                <a:rPr lang="ru-RU" sz="1000" dirty="0" smtClean="0"/>
                <a:t>в документ</a:t>
              </a:r>
              <a:endParaRPr lang="ru-RU" sz="1000" dirty="0"/>
            </a:p>
          </p:txBody>
        </p:sp>
      </p:grpSp>
      <p:grpSp>
        <p:nvGrpSpPr>
          <p:cNvPr id="39" name="Группа 38"/>
          <p:cNvGrpSpPr/>
          <p:nvPr/>
        </p:nvGrpSpPr>
        <p:grpSpPr>
          <a:xfrm>
            <a:off x="417406" y="1895210"/>
            <a:ext cx="1135247" cy="1205690"/>
            <a:chOff x="57796" y="1752187"/>
            <a:chExt cx="1135247" cy="1205690"/>
          </a:xfrm>
        </p:grpSpPr>
        <p:sp>
          <p:nvSpPr>
            <p:cNvPr id="49" name="Блок-схема: процесс 48"/>
            <p:cNvSpPr/>
            <p:nvPr/>
          </p:nvSpPr>
          <p:spPr>
            <a:xfrm>
              <a:off x="87571" y="1752187"/>
              <a:ext cx="1080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796" y="2557767"/>
              <a:ext cx="11352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запрос </a:t>
              </a:r>
            </a:p>
            <a:p>
              <a:r>
                <a:rPr lang="ru-RU" sz="1000" dirty="0"/>
                <a:t>и</a:t>
              </a:r>
              <a:r>
                <a:rPr lang="ru-RU" sz="1000" dirty="0" smtClean="0"/>
                <a:t>з базы запросов</a:t>
              </a:r>
              <a:endParaRPr lang="ru-RU" sz="1000" dirty="0"/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8161081" y="1835119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присутствует</a:t>
            </a:r>
            <a:endParaRPr lang="ru-RU" sz="1000" dirty="0"/>
          </a:p>
        </p:txBody>
      </p:sp>
      <p:sp>
        <p:nvSpPr>
          <p:cNvPr id="182" name="Стрелка вправо 181"/>
          <p:cNvSpPr/>
          <p:nvPr/>
        </p:nvSpPr>
        <p:spPr>
          <a:xfrm>
            <a:off x="1969735" y="5106415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7" name="TextBox 186"/>
          <p:cNvSpPr txBox="1"/>
          <p:nvPr/>
        </p:nvSpPr>
        <p:spPr>
          <a:xfrm>
            <a:off x="5661383" y="4773020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отсутствует</a:t>
            </a:r>
            <a:endParaRPr lang="ru-RU" sz="1000" dirty="0"/>
          </a:p>
        </p:txBody>
      </p:sp>
      <p:grpSp>
        <p:nvGrpSpPr>
          <p:cNvPr id="195" name="Группа 194"/>
          <p:cNvGrpSpPr/>
          <p:nvPr/>
        </p:nvGrpSpPr>
        <p:grpSpPr>
          <a:xfrm>
            <a:off x="7019643" y="1621845"/>
            <a:ext cx="1332000" cy="1332000"/>
            <a:chOff x="7425120" y="1638785"/>
            <a:chExt cx="1332000" cy="1332000"/>
          </a:xfrm>
        </p:grpSpPr>
        <p:sp>
          <p:nvSpPr>
            <p:cNvPr id="196" name="Блок-схема: решение 195"/>
            <p:cNvSpPr>
              <a:spLocks noChangeAspect="1"/>
            </p:cNvSpPr>
            <p:nvPr/>
          </p:nvSpPr>
          <p:spPr>
            <a:xfrm>
              <a:off x="7425120" y="1638785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7586140" y="2534922"/>
              <a:ext cx="1000595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оиск </a:t>
              </a:r>
              <a:r>
                <a:rPr lang="en-US" sz="1000" dirty="0"/>
                <a:t>“ID doc”</a:t>
              </a:r>
              <a:endParaRPr lang="ru-RU" sz="1000" dirty="0"/>
            </a:p>
            <a:p>
              <a:r>
                <a:rPr lang="ru-RU" sz="1000" dirty="0" smtClean="0"/>
                <a:t>в базе ответов </a:t>
              </a:r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6397654" y="4689758"/>
            <a:ext cx="2393389" cy="1160486"/>
            <a:chOff x="9200791" y="4929821"/>
            <a:chExt cx="2393389" cy="1160486"/>
          </a:xfrm>
        </p:grpSpPr>
        <p:sp>
          <p:nvSpPr>
            <p:cNvPr id="194" name="Блок-схема: процесс 193"/>
            <p:cNvSpPr/>
            <p:nvPr/>
          </p:nvSpPr>
          <p:spPr>
            <a:xfrm>
              <a:off x="9200791" y="5070649"/>
              <a:ext cx="2376000" cy="1019658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50" name="Группа 49"/>
            <p:cNvGrpSpPr/>
            <p:nvPr/>
          </p:nvGrpSpPr>
          <p:grpSpPr>
            <a:xfrm>
              <a:off x="9218180" y="4929821"/>
              <a:ext cx="2376000" cy="1159801"/>
              <a:chOff x="9228455" y="4909273"/>
              <a:chExt cx="2371067" cy="1159801"/>
            </a:xfrm>
          </p:grpSpPr>
          <p:sp>
            <p:nvSpPr>
              <p:cNvPr id="163" name="TextBox 162"/>
              <p:cNvSpPr txBox="1"/>
              <p:nvPr/>
            </p:nvSpPr>
            <p:spPr>
              <a:xfrm>
                <a:off x="9228455" y="5515076"/>
                <a:ext cx="2371067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/>
                  <a:t>д</a:t>
                </a:r>
                <a:r>
                  <a:rPr lang="ru-RU" sz="1000" dirty="0" smtClean="0"/>
                  <a:t>обавить в базу ответов </a:t>
                </a:r>
                <a:r>
                  <a:rPr lang="en-US" sz="1000" dirty="0" smtClean="0"/>
                  <a:t>ID </a:t>
                </a:r>
                <a:r>
                  <a:rPr lang="ru-RU" sz="1000" dirty="0" smtClean="0"/>
                  <a:t>документа</a:t>
                </a:r>
              </a:p>
              <a:p>
                <a:r>
                  <a:rPr lang="ru-RU" sz="1000" dirty="0" smtClean="0"/>
                  <a:t>и нулевое количество вхождений </a:t>
                </a:r>
                <a:r>
                  <a:rPr lang="ru-RU" sz="1000" b="1" u="sng" dirty="0" smtClean="0"/>
                  <a:t>слов</a:t>
                </a:r>
              </a:p>
              <a:p>
                <a:r>
                  <a:rPr lang="ru-RU" sz="1000" dirty="0" smtClean="0"/>
                  <a:t>в документ</a:t>
                </a:r>
                <a:endParaRPr lang="ru-RU" sz="1000" dirty="0"/>
              </a:p>
            </p:txBody>
          </p:sp>
          <p:grpSp>
            <p:nvGrpSpPr>
              <p:cNvPr id="199" name="Группа 198"/>
              <p:cNvGrpSpPr/>
              <p:nvPr/>
            </p:nvGrpSpPr>
            <p:grpSpPr>
              <a:xfrm>
                <a:off x="9895822" y="4909273"/>
                <a:ext cx="1241691" cy="540000"/>
                <a:chOff x="10038614" y="3163833"/>
                <a:chExt cx="1241691" cy="540000"/>
              </a:xfrm>
            </p:grpSpPr>
            <p:sp>
              <p:nvSpPr>
                <p:cNvPr id="201" name="Прямоугольник 200"/>
                <p:cNvSpPr>
                  <a:spLocks noChangeAspect="1"/>
                </p:cNvSpPr>
                <p:nvPr/>
              </p:nvSpPr>
              <p:spPr>
                <a:xfrm>
                  <a:off x="10038614" y="3163833"/>
                  <a:ext cx="335299" cy="54000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spAutoFit/>
                </a:bodyPr>
                <a:lstStyle/>
                <a:p>
                  <a:pPr algn="ctr"/>
                  <a:r>
                    <a:rPr lang="ru-RU" sz="4000" b="0" cap="none" spc="0" dirty="0" smtClean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+</a:t>
                  </a:r>
                  <a:endParaRPr lang="ru-RU" sz="40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grpSp>
              <p:nvGrpSpPr>
                <p:cNvPr id="202" name="Группа 201"/>
                <p:cNvGrpSpPr/>
                <p:nvPr/>
              </p:nvGrpSpPr>
              <p:grpSpPr>
                <a:xfrm>
                  <a:off x="10390922" y="3395741"/>
                  <a:ext cx="889383" cy="277433"/>
                  <a:chOff x="6369280" y="1767176"/>
                  <a:chExt cx="864000" cy="277433"/>
                </a:xfrm>
              </p:grpSpPr>
              <p:grpSp>
                <p:nvGrpSpPr>
                  <p:cNvPr id="203" name="Группа 202"/>
                  <p:cNvGrpSpPr/>
                  <p:nvPr/>
                </p:nvGrpSpPr>
                <p:grpSpPr>
                  <a:xfrm>
                    <a:off x="6369280" y="1767610"/>
                    <a:ext cx="864000" cy="276999"/>
                    <a:chOff x="4158024" y="2850118"/>
                    <a:chExt cx="1058312" cy="276999"/>
                  </a:xfrm>
                </p:grpSpPr>
                <p:sp>
                  <p:nvSpPr>
                    <p:cNvPr id="205" name="Прямоугольник 204"/>
                    <p:cNvSpPr/>
                    <p:nvPr/>
                  </p:nvSpPr>
                  <p:spPr>
                    <a:xfrm>
                      <a:off x="4158024" y="2856828"/>
                      <a:ext cx="1058312" cy="26200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lnRef>
                    <a:fillRef idx="1">
                      <a:scrgbClr r="0" g="0" b="0"/>
                    </a:fillRef>
                    <a:effectRef idx="0">
                      <a:schemeClr val="accent1">
                        <a:tint val="50000"/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 dirty="0"/>
                    </a:p>
                  </p:txBody>
                </p:sp>
                <p:sp>
                  <p:nvSpPr>
                    <p:cNvPr id="206" name="TextBox 205"/>
                    <p:cNvSpPr txBox="1"/>
                    <p:nvPr/>
                  </p:nvSpPr>
                  <p:spPr>
                    <a:xfrm>
                      <a:off x="4161798" y="2850118"/>
                      <a:ext cx="72296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b="1" dirty="0" smtClean="0"/>
                        <a:t>ID doc</a:t>
                      </a:r>
                      <a:endParaRPr lang="ru-RU" sz="1200" b="1" dirty="0"/>
                    </a:p>
                  </p:txBody>
                </p:sp>
                <p:cxnSp>
                  <p:nvCxnSpPr>
                    <p:cNvPr id="207" name="Прямая соединительная линия 206"/>
                    <p:cNvCxnSpPr/>
                    <p:nvPr/>
                  </p:nvCxnSpPr>
                  <p:spPr>
                    <a:xfrm>
                      <a:off x="4845752" y="2854401"/>
                      <a:ext cx="0" cy="262008"/>
                    </a:xfrm>
                    <a:prstGeom prst="line">
                      <a:avLst/>
                    </a:prstGeom>
                    <a:ln w="158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04" name="TextBox 203"/>
                  <p:cNvSpPr txBox="1"/>
                  <p:nvPr/>
                </p:nvSpPr>
                <p:spPr>
                  <a:xfrm>
                    <a:off x="6947998" y="1767176"/>
                    <a:ext cx="22273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1200" b="1" dirty="0"/>
                      <a:t>0</a:t>
                    </a:r>
                  </a:p>
                </p:txBody>
              </p:sp>
            </p:grpSp>
          </p:grpSp>
        </p:grpSp>
      </p:grpSp>
      <p:grpSp>
        <p:nvGrpSpPr>
          <p:cNvPr id="77" name="Группа 76"/>
          <p:cNvGrpSpPr/>
          <p:nvPr/>
        </p:nvGrpSpPr>
        <p:grpSpPr>
          <a:xfrm>
            <a:off x="9009643" y="1654578"/>
            <a:ext cx="2532082" cy="2016000"/>
            <a:chOff x="9456553" y="648782"/>
            <a:chExt cx="2532082" cy="2016000"/>
          </a:xfrm>
        </p:grpSpPr>
        <p:grpSp>
          <p:nvGrpSpPr>
            <p:cNvPr id="68" name="Группа 67"/>
            <p:cNvGrpSpPr/>
            <p:nvPr/>
          </p:nvGrpSpPr>
          <p:grpSpPr>
            <a:xfrm>
              <a:off x="9527402" y="723974"/>
              <a:ext cx="2461233" cy="1019658"/>
              <a:chOff x="9488296" y="1227171"/>
              <a:chExt cx="2461233" cy="1019658"/>
            </a:xfrm>
          </p:grpSpPr>
          <p:sp>
            <p:nvSpPr>
              <p:cNvPr id="213" name="Блок-схема: процесс 212"/>
              <p:cNvSpPr/>
              <p:nvPr/>
            </p:nvSpPr>
            <p:spPr>
              <a:xfrm>
                <a:off x="9488296" y="1227171"/>
                <a:ext cx="2376000" cy="1019658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52" name="Группа 51"/>
              <p:cNvGrpSpPr/>
              <p:nvPr/>
            </p:nvGrpSpPr>
            <p:grpSpPr>
              <a:xfrm>
                <a:off x="9738170" y="1366949"/>
                <a:ext cx="2211359" cy="879817"/>
                <a:chOff x="9645202" y="1594707"/>
                <a:chExt cx="2291531" cy="879817"/>
              </a:xfrm>
            </p:grpSpPr>
            <p:sp>
              <p:nvSpPr>
                <p:cNvPr id="153" name="TextBox 152"/>
                <p:cNvSpPr txBox="1"/>
                <p:nvPr/>
              </p:nvSpPr>
              <p:spPr>
                <a:xfrm>
                  <a:off x="9645202" y="1920526"/>
                  <a:ext cx="2291531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000" dirty="0"/>
                    <a:t>в</a:t>
                  </a:r>
                  <a:r>
                    <a:rPr lang="ru-RU" sz="1000" dirty="0" smtClean="0"/>
                    <a:t> базе ответов, увеличить количество вхождений </a:t>
                  </a:r>
                  <a:r>
                    <a:rPr lang="ru-RU" sz="1000" b="1" u="sng" dirty="0" smtClean="0"/>
                    <a:t>слов</a:t>
                  </a:r>
                  <a:r>
                    <a:rPr lang="en-US" sz="1000" dirty="0" smtClean="0"/>
                    <a:t> </a:t>
                  </a:r>
                  <a:r>
                    <a:rPr lang="ru-RU" sz="1000" dirty="0" smtClean="0"/>
                    <a:t>в документ</a:t>
                  </a:r>
                  <a:endParaRPr lang="en-US" sz="1000" dirty="0" smtClean="0"/>
                </a:p>
              </p:txBody>
            </p:sp>
            <p:grpSp>
              <p:nvGrpSpPr>
                <p:cNvPr id="35" name="Группа 34"/>
                <p:cNvGrpSpPr/>
                <p:nvPr/>
              </p:nvGrpSpPr>
              <p:grpSpPr>
                <a:xfrm>
                  <a:off x="10122879" y="1594707"/>
                  <a:ext cx="1199589" cy="277433"/>
                  <a:chOff x="10027817" y="1677793"/>
                  <a:chExt cx="1199589" cy="277433"/>
                </a:xfrm>
              </p:grpSpPr>
              <p:grpSp>
                <p:nvGrpSpPr>
                  <p:cNvPr id="122" name="Группа 121"/>
                  <p:cNvGrpSpPr/>
                  <p:nvPr/>
                </p:nvGrpSpPr>
                <p:grpSpPr>
                  <a:xfrm>
                    <a:off x="10027817" y="1678227"/>
                    <a:ext cx="1124988" cy="276999"/>
                    <a:chOff x="4158024" y="2850118"/>
                    <a:chExt cx="1188000" cy="276999"/>
                  </a:xfrm>
                </p:grpSpPr>
                <p:sp>
                  <p:nvSpPr>
                    <p:cNvPr id="150" name="Прямоугольник 149"/>
                    <p:cNvSpPr/>
                    <p:nvPr/>
                  </p:nvSpPr>
                  <p:spPr>
                    <a:xfrm>
                      <a:off x="4158024" y="2856828"/>
                      <a:ext cx="1188000" cy="26200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lnRef>
                    <a:fillRef idx="1">
                      <a:scrgbClr r="0" g="0" b="0"/>
                    </a:fillRef>
                    <a:effectRef idx="0">
                      <a:schemeClr val="accent1">
                        <a:tint val="50000"/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 dirty="0"/>
                    </a:p>
                  </p:txBody>
                </p:sp>
                <p:sp>
                  <p:nvSpPr>
                    <p:cNvPr id="151" name="TextBox 150"/>
                    <p:cNvSpPr txBox="1"/>
                    <p:nvPr/>
                  </p:nvSpPr>
                  <p:spPr>
                    <a:xfrm>
                      <a:off x="4161798" y="2850118"/>
                      <a:ext cx="72296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ID doc</a:t>
                      </a:r>
                      <a:endParaRPr lang="ru-RU" sz="12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cxnSp>
                  <p:nvCxnSpPr>
                    <p:cNvPr id="152" name="Прямая соединительная линия 151"/>
                    <p:cNvCxnSpPr/>
                    <p:nvPr/>
                  </p:nvCxnSpPr>
                  <p:spPr>
                    <a:xfrm>
                      <a:off x="4797726" y="2854401"/>
                      <a:ext cx="0" cy="262008"/>
                    </a:xfrm>
                    <a:prstGeom prst="line">
                      <a:avLst/>
                    </a:prstGeom>
                    <a:ln w="158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6" name="TextBox 125"/>
                  <p:cNvSpPr txBox="1"/>
                  <p:nvPr/>
                </p:nvSpPr>
                <p:spPr>
                  <a:xfrm>
                    <a:off x="10628317" y="1677793"/>
                    <a:ext cx="599089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chemeClr val="bg1"/>
                        </a:solidFill>
                      </a:rPr>
                      <a:t>N</a:t>
                    </a:r>
                    <a:r>
                      <a:rPr lang="en-US" sz="1200" b="1" dirty="0" smtClean="0"/>
                      <a:t> + n</a:t>
                    </a:r>
                    <a:endParaRPr lang="ru-RU" sz="1200" b="1" dirty="0"/>
                  </a:p>
                </p:txBody>
              </p:sp>
            </p:grpSp>
          </p:grpSp>
        </p:grpSp>
        <p:grpSp>
          <p:nvGrpSpPr>
            <p:cNvPr id="75" name="Группа 74"/>
            <p:cNvGrpSpPr/>
            <p:nvPr/>
          </p:nvGrpSpPr>
          <p:grpSpPr>
            <a:xfrm>
              <a:off x="9527461" y="1793968"/>
              <a:ext cx="2376000" cy="792000"/>
              <a:chOff x="3108276" y="3428385"/>
              <a:chExt cx="2376000" cy="792000"/>
            </a:xfrm>
          </p:grpSpPr>
          <p:sp>
            <p:nvSpPr>
              <p:cNvPr id="214" name="Блок-схема: процесс 213"/>
              <p:cNvSpPr/>
              <p:nvPr/>
            </p:nvSpPr>
            <p:spPr>
              <a:xfrm>
                <a:off x="3108276" y="3428385"/>
                <a:ext cx="2376000" cy="79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56" name="Группа 55"/>
              <p:cNvGrpSpPr/>
              <p:nvPr/>
            </p:nvGrpSpPr>
            <p:grpSpPr>
              <a:xfrm>
                <a:off x="3268715" y="3536994"/>
                <a:ext cx="2047355" cy="669268"/>
                <a:chOff x="9408901" y="2651229"/>
                <a:chExt cx="2047355" cy="669268"/>
              </a:xfrm>
            </p:grpSpPr>
            <p:sp>
              <p:nvSpPr>
                <p:cNvPr id="62" name="TextBox 61"/>
                <p:cNvSpPr txBox="1"/>
                <p:nvPr/>
              </p:nvSpPr>
              <p:spPr>
                <a:xfrm>
                  <a:off x="9408901" y="2920387"/>
                  <a:ext cx="204735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000" dirty="0"/>
                    <a:t>о</a:t>
                  </a:r>
                  <a:r>
                    <a:rPr lang="ru-RU" sz="1000" dirty="0" smtClean="0"/>
                    <a:t>пределить максимальную </a:t>
                  </a:r>
                </a:p>
                <a:p>
                  <a:r>
                    <a:rPr lang="ru-RU" sz="1000" dirty="0"/>
                    <a:t>а</a:t>
                  </a:r>
                  <a:r>
                    <a:rPr lang="ru-RU" sz="1000" dirty="0" smtClean="0"/>
                    <a:t>бсолютную релевантность</a:t>
                  </a:r>
                  <a:r>
                    <a:rPr lang="en-US" sz="1000" dirty="0" smtClean="0"/>
                    <a:t> (</a:t>
                  </a:r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)</a:t>
                  </a:r>
                  <a:endParaRPr lang="ru-RU" sz="1000" dirty="0"/>
                </a:p>
              </p:txBody>
            </p:sp>
            <p:sp>
              <p:nvSpPr>
                <p:cNvPr id="147" name="TextBox 146"/>
                <p:cNvSpPr txBox="1"/>
                <p:nvPr/>
              </p:nvSpPr>
              <p:spPr>
                <a:xfrm>
                  <a:off x="9764755" y="2651229"/>
                  <a:ext cx="12843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 = MAX(</a:t>
                  </a:r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, N)</a:t>
                  </a:r>
                  <a:endParaRPr lang="ru-RU" sz="1000" dirty="0" smtClean="0"/>
                </a:p>
              </p:txBody>
            </p:sp>
            <p:sp>
              <p:nvSpPr>
                <p:cNvPr id="149" name="Блок-схема: процесс 148"/>
                <p:cNvSpPr/>
                <p:nvPr/>
              </p:nvSpPr>
              <p:spPr>
                <a:xfrm>
                  <a:off x="9781571" y="2652787"/>
                  <a:ext cx="1214115" cy="251167"/>
                </a:xfrm>
                <a:prstGeom prst="flowChartProcess">
                  <a:avLst/>
                </a:prstGeom>
                <a:noFill/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sp>
          <p:nvSpPr>
            <p:cNvPr id="221" name="Блок-схема: процесс 220"/>
            <p:cNvSpPr/>
            <p:nvPr/>
          </p:nvSpPr>
          <p:spPr>
            <a:xfrm>
              <a:off x="9456553" y="648782"/>
              <a:ext cx="2520000" cy="2016000"/>
            </a:xfrm>
            <a:prstGeom prst="flowChartProcess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9004118" y="3728906"/>
            <a:ext cx="2520000" cy="1980000"/>
            <a:chOff x="9441303" y="3093773"/>
            <a:chExt cx="2520000" cy="1980000"/>
          </a:xfrm>
        </p:grpSpPr>
        <p:grpSp>
          <p:nvGrpSpPr>
            <p:cNvPr id="65" name="Группа 64"/>
            <p:cNvGrpSpPr/>
            <p:nvPr/>
          </p:nvGrpSpPr>
          <p:grpSpPr>
            <a:xfrm>
              <a:off x="9495254" y="3105833"/>
              <a:ext cx="2439000" cy="1047331"/>
              <a:chOff x="9452773" y="3197372"/>
              <a:chExt cx="2439000" cy="1047331"/>
            </a:xfrm>
          </p:grpSpPr>
          <p:sp>
            <p:nvSpPr>
              <p:cNvPr id="212" name="Блок-схема: процесс 211"/>
              <p:cNvSpPr/>
              <p:nvPr/>
            </p:nvSpPr>
            <p:spPr>
              <a:xfrm>
                <a:off x="9474706" y="3272703"/>
                <a:ext cx="2376000" cy="97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55" name="Группа 54"/>
              <p:cNvGrpSpPr/>
              <p:nvPr/>
            </p:nvGrpSpPr>
            <p:grpSpPr>
              <a:xfrm>
                <a:off x="9452773" y="3197372"/>
                <a:ext cx="2439000" cy="996514"/>
                <a:chOff x="9418704" y="3163833"/>
                <a:chExt cx="2439000" cy="996514"/>
              </a:xfrm>
            </p:grpSpPr>
            <p:grpSp>
              <p:nvGrpSpPr>
                <p:cNvPr id="45" name="Группа 44"/>
                <p:cNvGrpSpPr/>
                <p:nvPr/>
              </p:nvGrpSpPr>
              <p:grpSpPr>
                <a:xfrm>
                  <a:off x="10038614" y="3163833"/>
                  <a:ext cx="1241691" cy="540000"/>
                  <a:chOff x="10038614" y="3163833"/>
                  <a:chExt cx="1241691" cy="540000"/>
                </a:xfrm>
              </p:grpSpPr>
              <p:sp>
                <p:nvSpPr>
                  <p:cNvPr id="159" name="Прямоугольник 158"/>
                  <p:cNvSpPr>
                    <a:spLocks noChangeAspect="1"/>
                  </p:cNvSpPr>
                  <p:nvPr/>
                </p:nvSpPr>
                <p:spPr>
                  <a:xfrm>
                    <a:off x="10038614" y="3163833"/>
                    <a:ext cx="335299" cy="54000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>
                    <a:spAutoFit/>
                  </a:bodyPr>
                  <a:lstStyle/>
                  <a:p>
                    <a:pPr algn="ctr"/>
                    <a:r>
                      <a:rPr lang="ru-RU" sz="4000" b="0" cap="none" spc="0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t>+</a:t>
                    </a:r>
                    <a:endParaRPr lang="ru-RU" sz="4000" b="0" cap="none" spc="0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endParaRPr>
                  </a:p>
                </p:txBody>
              </p:sp>
              <p:grpSp>
                <p:nvGrpSpPr>
                  <p:cNvPr id="160" name="Группа 159"/>
                  <p:cNvGrpSpPr/>
                  <p:nvPr/>
                </p:nvGrpSpPr>
                <p:grpSpPr>
                  <a:xfrm>
                    <a:off x="10390922" y="3395741"/>
                    <a:ext cx="889383" cy="277433"/>
                    <a:chOff x="6369280" y="1767176"/>
                    <a:chExt cx="864000" cy="277433"/>
                  </a:xfrm>
                </p:grpSpPr>
                <p:grpSp>
                  <p:nvGrpSpPr>
                    <p:cNvPr id="161" name="Группа 160"/>
                    <p:cNvGrpSpPr/>
                    <p:nvPr/>
                  </p:nvGrpSpPr>
                  <p:grpSpPr>
                    <a:xfrm>
                      <a:off x="6369280" y="1767610"/>
                      <a:ext cx="864000" cy="276999"/>
                      <a:chOff x="4158024" y="2850118"/>
                      <a:chExt cx="1058312" cy="276999"/>
                    </a:xfrm>
                  </p:grpSpPr>
                  <p:sp>
                    <p:nvSpPr>
                      <p:cNvPr id="174" name="Прямоугольник 173"/>
                      <p:cNvSpPr/>
                      <p:nvPr/>
                    </p:nvSpPr>
                    <p:spPr>
                      <a:xfrm>
                        <a:off x="4158024" y="2856828"/>
                        <a:ext cx="1058312" cy="26200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style>
                      <a:lnRef idx="2">
                        <a:schemeClr val="lt1">
                          <a:hueOff val="0"/>
                          <a:satOff val="0"/>
                          <a:lumOff val="0"/>
                          <a:alphaOff val="0"/>
                        </a:schemeClr>
                      </a:lnRef>
                      <a:fillRef idx="1">
                        <a:scrgbClr r="0" g="0" b="0"/>
                      </a:fillRef>
                      <a:effectRef idx="0">
                        <a:schemeClr val="accent1">
                          <a:tint val="50000"/>
                          <a:hueOff val="0"/>
                          <a:satOff val="0"/>
                          <a:lumOff val="0"/>
                          <a:alphaOff val="0"/>
                        </a:schemeClr>
                      </a:effectRef>
                      <a:fontRef idx="minor">
                        <a:schemeClr val="lt1">
                          <a:hueOff val="0"/>
                          <a:satOff val="0"/>
                          <a:lumOff val="0"/>
                          <a:alphaOff val="0"/>
                        </a:schemeClr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ru-RU" dirty="0"/>
                      </a:p>
                    </p:txBody>
                  </p:sp>
                  <p:sp>
                    <p:nvSpPr>
                      <p:cNvPr id="175" name="TextBox 174"/>
                      <p:cNvSpPr txBox="1"/>
                      <p:nvPr/>
                    </p:nvSpPr>
                    <p:spPr>
                      <a:xfrm>
                        <a:off x="4161798" y="2850118"/>
                        <a:ext cx="72296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200" b="1" dirty="0" smtClean="0"/>
                          <a:t>ID doc</a:t>
                        </a:r>
                        <a:endParaRPr lang="ru-RU" sz="1200" b="1" dirty="0"/>
                      </a:p>
                    </p:txBody>
                  </p:sp>
                  <p:cxnSp>
                    <p:nvCxnSpPr>
                      <p:cNvPr id="176" name="Прямая соединительная линия 175"/>
                      <p:cNvCxnSpPr/>
                      <p:nvPr/>
                    </p:nvCxnSpPr>
                    <p:spPr>
                      <a:xfrm>
                        <a:off x="4845752" y="2854401"/>
                        <a:ext cx="0" cy="262008"/>
                      </a:xfrm>
                      <a:prstGeom prst="line">
                        <a:avLst/>
                      </a:prstGeom>
                      <a:ln w="1587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72" name="TextBox 171"/>
                    <p:cNvSpPr txBox="1"/>
                    <p:nvPr/>
                  </p:nvSpPr>
                  <p:spPr>
                    <a:xfrm>
                      <a:off x="6947998" y="1767176"/>
                      <a:ext cx="22273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b="1" dirty="0" smtClean="0"/>
                        <a:t>n</a:t>
                      </a:r>
                      <a:endParaRPr lang="ru-RU" sz="1200" b="1" dirty="0"/>
                    </a:p>
                  </p:txBody>
                </p:sp>
              </p:grpSp>
            </p:grpSp>
            <p:sp>
              <p:nvSpPr>
                <p:cNvPr id="177" name="TextBox 176"/>
                <p:cNvSpPr txBox="1"/>
                <p:nvPr/>
              </p:nvSpPr>
              <p:spPr>
                <a:xfrm>
                  <a:off x="9418704" y="3760237"/>
                  <a:ext cx="2439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000" dirty="0"/>
                    <a:t>д</a:t>
                  </a:r>
                  <a:r>
                    <a:rPr lang="ru-RU" sz="1000" dirty="0" smtClean="0"/>
                    <a:t>обавить в базу ответов </a:t>
                  </a:r>
                  <a:r>
                    <a:rPr lang="en-US" sz="1000" dirty="0"/>
                    <a:t>ID </a:t>
                  </a:r>
                  <a:r>
                    <a:rPr lang="ru-RU" sz="1000" dirty="0"/>
                    <a:t>документа </a:t>
                  </a:r>
                  <a:r>
                    <a:rPr lang="ru-RU" sz="1000" dirty="0" smtClean="0"/>
                    <a:t>и количество вхождений слова </a:t>
                  </a:r>
                  <a:r>
                    <a:rPr lang="ru-RU" sz="1000" dirty="0"/>
                    <a:t>в </a:t>
                  </a:r>
                  <a:r>
                    <a:rPr lang="ru-RU" sz="1000" dirty="0" smtClean="0"/>
                    <a:t>документ</a:t>
                  </a:r>
                  <a:endParaRPr lang="ru-RU" sz="1000" dirty="0"/>
                </a:p>
              </p:txBody>
            </p:sp>
          </p:grpSp>
        </p:grpSp>
        <p:grpSp>
          <p:nvGrpSpPr>
            <p:cNvPr id="215" name="Группа 214"/>
            <p:cNvGrpSpPr/>
            <p:nvPr/>
          </p:nvGrpSpPr>
          <p:grpSpPr>
            <a:xfrm>
              <a:off x="9517187" y="4196799"/>
              <a:ext cx="2376000" cy="792000"/>
              <a:chOff x="3108276" y="3428385"/>
              <a:chExt cx="2376000" cy="792000"/>
            </a:xfrm>
          </p:grpSpPr>
          <p:sp>
            <p:nvSpPr>
              <p:cNvPr id="217" name="Блок-схема: процесс 216"/>
              <p:cNvSpPr/>
              <p:nvPr/>
            </p:nvSpPr>
            <p:spPr>
              <a:xfrm>
                <a:off x="3108276" y="3428385"/>
                <a:ext cx="2376000" cy="792000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16" name="Группа 215"/>
              <p:cNvGrpSpPr/>
              <p:nvPr/>
            </p:nvGrpSpPr>
            <p:grpSpPr>
              <a:xfrm>
                <a:off x="3268715" y="3536994"/>
                <a:ext cx="2047355" cy="669268"/>
                <a:chOff x="9408901" y="2651229"/>
                <a:chExt cx="2047355" cy="669268"/>
              </a:xfrm>
            </p:grpSpPr>
            <p:sp>
              <p:nvSpPr>
                <p:cNvPr id="218" name="TextBox 217"/>
                <p:cNvSpPr txBox="1"/>
                <p:nvPr/>
              </p:nvSpPr>
              <p:spPr>
                <a:xfrm>
                  <a:off x="9408901" y="2920387"/>
                  <a:ext cx="204735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000" dirty="0"/>
                    <a:t>о</a:t>
                  </a:r>
                  <a:r>
                    <a:rPr lang="ru-RU" sz="1000" dirty="0" smtClean="0"/>
                    <a:t>пределить максимальную </a:t>
                  </a:r>
                </a:p>
                <a:p>
                  <a:r>
                    <a:rPr lang="ru-RU" sz="1000" dirty="0"/>
                    <a:t>а</a:t>
                  </a:r>
                  <a:r>
                    <a:rPr lang="ru-RU" sz="1000" dirty="0" smtClean="0"/>
                    <a:t>бсолютную релевантность</a:t>
                  </a:r>
                  <a:r>
                    <a:rPr lang="en-US" sz="1000" dirty="0" smtClean="0"/>
                    <a:t> (</a:t>
                  </a:r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)</a:t>
                  </a:r>
                  <a:endParaRPr lang="ru-RU" sz="1000" dirty="0"/>
                </a:p>
              </p:txBody>
            </p:sp>
            <p:sp>
              <p:nvSpPr>
                <p:cNvPr id="219" name="TextBox 218"/>
                <p:cNvSpPr txBox="1"/>
                <p:nvPr/>
              </p:nvSpPr>
              <p:spPr>
                <a:xfrm>
                  <a:off x="9764755" y="2651229"/>
                  <a:ext cx="12843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 = MAX(</a:t>
                  </a:r>
                  <a:r>
                    <a:rPr lang="en-US" sz="1000" b="1" dirty="0" smtClean="0"/>
                    <a:t>mAR</a:t>
                  </a:r>
                  <a:r>
                    <a:rPr lang="en-US" sz="1000" dirty="0" smtClean="0"/>
                    <a:t>, N)</a:t>
                  </a:r>
                  <a:endParaRPr lang="ru-RU" sz="1000" dirty="0" smtClean="0"/>
                </a:p>
              </p:txBody>
            </p:sp>
            <p:sp>
              <p:nvSpPr>
                <p:cNvPr id="220" name="Блок-схема: процесс 219"/>
                <p:cNvSpPr/>
                <p:nvPr/>
              </p:nvSpPr>
              <p:spPr>
                <a:xfrm>
                  <a:off x="9781571" y="2652787"/>
                  <a:ext cx="1214115" cy="251167"/>
                </a:xfrm>
                <a:prstGeom prst="flowChartProcess">
                  <a:avLst/>
                </a:prstGeom>
                <a:noFill/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sp>
          <p:nvSpPr>
            <p:cNvPr id="222" name="Блок-схема: процесс 221"/>
            <p:cNvSpPr/>
            <p:nvPr/>
          </p:nvSpPr>
          <p:spPr>
            <a:xfrm>
              <a:off x="9441303" y="3093773"/>
              <a:ext cx="2520000" cy="1980000"/>
            </a:xfrm>
            <a:prstGeom prst="flowChartProcess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241" name="Соединительная линия уступом 240"/>
          <p:cNvCxnSpPr>
            <a:stCxn id="196" idx="3"/>
            <a:endCxn id="221" idx="1"/>
          </p:cNvCxnSpPr>
          <p:nvPr/>
        </p:nvCxnSpPr>
        <p:spPr>
          <a:xfrm>
            <a:off x="8351643" y="2287845"/>
            <a:ext cx="658000" cy="374733"/>
          </a:xfrm>
          <a:prstGeom prst="bentConnector3">
            <a:avLst>
              <a:gd name="adj1" fmla="val 46877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Соединительная линия уступом 244"/>
          <p:cNvCxnSpPr>
            <a:stCxn id="196" idx="2"/>
            <a:endCxn id="222" idx="1"/>
          </p:cNvCxnSpPr>
          <p:nvPr/>
        </p:nvCxnSpPr>
        <p:spPr>
          <a:xfrm rot="16200000" flipH="1">
            <a:off x="7462350" y="3177137"/>
            <a:ext cx="1765061" cy="1318475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Соединительная линия уступом 247"/>
          <p:cNvCxnSpPr>
            <a:stCxn id="101" idx="2"/>
            <a:endCxn id="116" idx="2"/>
          </p:cNvCxnSpPr>
          <p:nvPr/>
        </p:nvCxnSpPr>
        <p:spPr>
          <a:xfrm rot="5400000">
            <a:off x="4192265" y="4976482"/>
            <a:ext cx="81624" cy="2128733"/>
          </a:xfrm>
          <a:prstGeom prst="bentConnector3">
            <a:avLst>
              <a:gd name="adj1" fmla="val 380065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0" name="Группа 269"/>
          <p:cNvGrpSpPr/>
          <p:nvPr/>
        </p:nvGrpSpPr>
        <p:grpSpPr>
          <a:xfrm>
            <a:off x="456814" y="3493135"/>
            <a:ext cx="1924271" cy="972000"/>
            <a:chOff x="25306" y="4006835"/>
            <a:chExt cx="1924271" cy="972000"/>
          </a:xfrm>
        </p:grpSpPr>
        <p:sp>
          <p:nvSpPr>
            <p:cNvPr id="208" name="Блок-схема: процесс 207"/>
            <p:cNvSpPr/>
            <p:nvPr/>
          </p:nvSpPr>
          <p:spPr>
            <a:xfrm>
              <a:off x="25306" y="4006835"/>
              <a:ext cx="1800000" cy="97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48" name="Группа 47"/>
            <p:cNvGrpSpPr/>
            <p:nvPr/>
          </p:nvGrpSpPr>
          <p:grpSpPr>
            <a:xfrm>
              <a:off x="77031" y="4192386"/>
              <a:ext cx="1872546" cy="744491"/>
              <a:chOff x="205921" y="3650153"/>
              <a:chExt cx="1872546" cy="744491"/>
            </a:xfrm>
          </p:grpSpPr>
          <p:sp>
            <p:nvSpPr>
              <p:cNvPr id="87" name="TextBox 86"/>
              <p:cNvSpPr txBox="1"/>
              <p:nvPr/>
            </p:nvSpPr>
            <p:spPr>
              <a:xfrm>
                <a:off x="205921" y="3994534"/>
                <a:ext cx="16448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 smtClean="0"/>
                  <a:t>рассчитать относительную</a:t>
                </a:r>
              </a:p>
              <a:p>
                <a:r>
                  <a:rPr lang="ru-RU" sz="1000" dirty="0" smtClean="0"/>
                  <a:t>релевантность (</a:t>
                </a:r>
                <a:r>
                  <a:rPr lang="en-US" sz="1000" dirty="0" smtClean="0"/>
                  <a:t>RR</a:t>
                </a:r>
                <a:r>
                  <a:rPr lang="ru-RU" sz="1000" dirty="0" smtClean="0"/>
                  <a:t>)</a:t>
                </a:r>
                <a:endParaRPr lang="ru-RU" sz="1000" dirty="0"/>
              </a:p>
            </p:txBody>
          </p:sp>
          <p:grpSp>
            <p:nvGrpSpPr>
              <p:cNvPr id="165" name="Группа 164"/>
              <p:cNvGrpSpPr/>
              <p:nvPr/>
            </p:nvGrpSpPr>
            <p:grpSpPr>
              <a:xfrm>
                <a:off x="486398" y="3650153"/>
                <a:ext cx="1592069" cy="288419"/>
                <a:chOff x="3901044" y="3386772"/>
                <a:chExt cx="1510974" cy="277402"/>
              </a:xfrm>
            </p:grpSpPr>
            <p:sp>
              <p:nvSpPr>
                <p:cNvPr id="166" name="Прямоугольник 165"/>
                <p:cNvSpPr/>
                <p:nvPr/>
              </p:nvSpPr>
              <p:spPr>
                <a:xfrm>
                  <a:off x="3901044" y="3401361"/>
                  <a:ext cx="1294871" cy="252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67" name="TextBox 166"/>
                <p:cNvSpPr txBox="1"/>
                <p:nvPr/>
              </p:nvSpPr>
              <p:spPr>
                <a:xfrm>
                  <a:off x="3901044" y="3386772"/>
                  <a:ext cx="485944" cy="2664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ID doc</a:t>
                  </a:r>
                  <a:endParaRPr lang="ru-RU" sz="12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4471854" y="3387175"/>
                  <a:ext cx="94016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N</a:t>
                  </a:r>
                  <a:r>
                    <a:rPr lang="ru-RU" sz="1200" b="1" dirty="0" smtClean="0"/>
                    <a:t> </a:t>
                  </a:r>
                  <a:r>
                    <a:rPr lang="en-US" sz="1200" b="1" dirty="0" smtClean="0"/>
                    <a:t>/ mAR</a:t>
                  </a:r>
                  <a:endParaRPr lang="ru-RU" sz="1200" b="1" dirty="0"/>
                </a:p>
              </p:txBody>
            </p:sp>
            <p:cxnSp>
              <p:nvCxnSpPr>
                <p:cNvPr id="169" name="Прямая соединительная линия 168"/>
                <p:cNvCxnSpPr/>
                <p:nvPr/>
              </p:nvCxnSpPr>
              <p:spPr>
                <a:xfrm>
                  <a:off x="4451853" y="3400745"/>
                  <a:ext cx="0" cy="252000"/>
                </a:xfrm>
                <a:prstGeom prst="line">
                  <a:avLst/>
                </a:prstGeom>
                <a:ln w="158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79" name="Группа 278"/>
          <p:cNvGrpSpPr/>
          <p:nvPr/>
        </p:nvGrpSpPr>
        <p:grpSpPr>
          <a:xfrm>
            <a:off x="508539" y="4888925"/>
            <a:ext cx="1387730" cy="1114587"/>
            <a:chOff x="1186957" y="5567845"/>
            <a:chExt cx="1386543" cy="766421"/>
          </a:xfrm>
        </p:grpSpPr>
        <p:sp>
          <p:nvSpPr>
            <p:cNvPr id="209" name="Блок-схема: процесс 208"/>
            <p:cNvSpPr/>
            <p:nvPr/>
          </p:nvSpPr>
          <p:spPr>
            <a:xfrm>
              <a:off x="1206670" y="5591626"/>
              <a:ext cx="1366830" cy="74264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86957" y="5943501"/>
              <a:ext cx="1375602" cy="380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с</a:t>
              </a:r>
              <a:r>
                <a:rPr lang="ru-RU" sz="1000" dirty="0" smtClean="0"/>
                <a:t>ортировать базу ответов по убыванию </a:t>
              </a:r>
            </a:p>
            <a:p>
              <a:r>
                <a:rPr lang="ru-RU" sz="1000" dirty="0" smtClean="0"/>
                <a:t>релевантности</a:t>
              </a:r>
              <a:endParaRPr lang="ru-RU" sz="1000" dirty="0"/>
            </a:p>
          </p:txBody>
        </p:sp>
        <p:grpSp>
          <p:nvGrpSpPr>
            <p:cNvPr id="278" name="Группа 277"/>
            <p:cNvGrpSpPr/>
            <p:nvPr/>
          </p:nvGrpSpPr>
          <p:grpSpPr>
            <a:xfrm>
              <a:off x="1460678" y="5567845"/>
              <a:ext cx="351378" cy="346464"/>
              <a:chOff x="1192126" y="6143551"/>
              <a:chExt cx="351378" cy="346464"/>
            </a:xfrm>
          </p:grpSpPr>
          <p:sp>
            <p:nvSpPr>
              <p:cNvPr id="29" name="Стрелка вправо 28"/>
              <p:cNvSpPr/>
              <p:nvPr/>
            </p:nvSpPr>
            <p:spPr>
              <a:xfrm rot="5400000">
                <a:off x="1273122" y="6354996"/>
                <a:ext cx="198038" cy="72000"/>
              </a:xfrm>
              <a:prstGeom prst="rightArrow">
                <a:avLst/>
              </a:prstGeom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TextBox 82"/>
              <p:cNvSpPr txBox="1">
                <a:spLocks/>
              </p:cNvSpPr>
              <p:nvPr/>
            </p:nvSpPr>
            <p:spPr>
              <a:xfrm>
                <a:off x="1192126" y="6143551"/>
                <a:ext cx="3513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/>
                  <a:t>RR</a:t>
                </a:r>
                <a:endParaRPr lang="ru-RU" sz="1200" dirty="0"/>
              </a:p>
            </p:txBody>
          </p:sp>
        </p:grpSp>
      </p:grpSp>
      <p:sp>
        <p:nvSpPr>
          <p:cNvPr id="210" name="Стрелка вправо 209"/>
          <p:cNvSpPr/>
          <p:nvPr/>
        </p:nvSpPr>
        <p:spPr>
          <a:xfrm>
            <a:off x="3149101" y="389105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0" name="TextBox 279"/>
          <p:cNvSpPr txBox="1"/>
          <p:nvPr/>
        </p:nvSpPr>
        <p:spPr>
          <a:xfrm>
            <a:off x="3191647" y="4555005"/>
            <a:ext cx="1745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б</a:t>
            </a:r>
            <a:r>
              <a:rPr lang="ru-RU" sz="1000" dirty="0" smtClean="0"/>
              <a:t>аза релевантности ответов</a:t>
            </a:r>
            <a:endParaRPr lang="ru-RU" sz="1000" dirty="0"/>
          </a:p>
        </p:txBody>
      </p:sp>
      <p:sp>
        <p:nvSpPr>
          <p:cNvPr id="89" name="Прямоугольник 88"/>
          <p:cNvSpPr/>
          <p:nvPr/>
        </p:nvSpPr>
        <p:spPr>
          <a:xfrm>
            <a:off x="258384" y="159042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32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3" name="Прямоугольник 222"/>
          <p:cNvSpPr/>
          <p:nvPr/>
        </p:nvSpPr>
        <p:spPr>
          <a:xfrm>
            <a:off x="2239063" y="160563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32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8" name="Прямоугольник 287"/>
          <p:cNvSpPr/>
          <p:nvPr/>
        </p:nvSpPr>
        <p:spPr>
          <a:xfrm>
            <a:off x="4347229" y="144685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32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9" name="Прямоугольник 288"/>
          <p:cNvSpPr/>
          <p:nvPr/>
        </p:nvSpPr>
        <p:spPr>
          <a:xfrm>
            <a:off x="7490448" y="1331566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32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0" name="Прямоугольник 289"/>
          <p:cNvSpPr/>
          <p:nvPr/>
        </p:nvSpPr>
        <p:spPr>
          <a:xfrm>
            <a:off x="8648758" y="1333085"/>
            <a:ext cx="7056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5.1</a:t>
            </a:r>
            <a:endParaRPr lang="ru-RU" sz="32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1" name="Прямоугольник 290"/>
          <p:cNvSpPr/>
          <p:nvPr/>
        </p:nvSpPr>
        <p:spPr>
          <a:xfrm>
            <a:off x="8646518" y="3427650"/>
            <a:ext cx="7056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5.2</a:t>
            </a:r>
            <a:endParaRPr lang="ru-RU" sz="32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2" name="Прямоугольник 291"/>
          <p:cNvSpPr/>
          <p:nvPr/>
        </p:nvSpPr>
        <p:spPr>
          <a:xfrm>
            <a:off x="324487" y="461888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3" name="Прямоугольник 292"/>
          <p:cNvSpPr/>
          <p:nvPr/>
        </p:nvSpPr>
        <p:spPr>
          <a:xfrm>
            <a:off x="2413713" y="4585398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4" name="Прямоугольник 293"/>
          <p:cNvSpPr/>
          <p:nvPr/>
        </p:nvSpPr>
        <p:spPr>
          <a:xfrm>
            <a:off x="5096911" y="43774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5" name="Прямоугольник 294"/>
          <p:cNvSpPr/>
          <p:nvPr/>
        </p:nvSpPr>
        <p:spPr>
          <a:xfrm>
            <a:off x="6106755" y="4526879"/>
            <a:ext cx="6014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6" name="Прямоугольник 295"/>
          <p:cNvSpPr/>
          <p:nvPr/>
        </p:nvSpPr>
        <p:spPr>
          <a:xfrm>
            <a:off x="372460" y="3196768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32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98" name="Соединительная линия уступом 297"/>
          <p:cNvCxnSpPr>
            <a:stCxn id="194" idx="3"/>
            <a:endCxn id="116" idx="2"/>
          </p:cNvCxnSpPr>
          <p:nvPr/>
        </p:nvCxnSpPr>
        <p:spPr>
          <a:xfrm flipH="1">
            <a:off x="3168710" y="5340415"/>
            <a:ext cx="5604944" cy="741245"/>
          </a:xfrm>
          <a:prstGeom prst="bentConnector4">
            <a:avLst>
              <a:gd name="adj1" fmla="val -2063"/>
              <a:gd name="adj2" fmla="val 13084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Соединительная линия уступом 298"/>
          <p:cNvCxnSpPr>
            <a:stCxn id="101" idx="3"/>
            <a:endCxn id="194" idx="1"/>
          </p:cNvCxnSpPr>
          <p:nvPr/>
        </p:nvCxnSpPr>
        <p:spPr>
          <a:xfrm>
            <a:off x="5963443" y="5334036"/>
            <a:ext cx="434211" cy="6379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4406820" y="5820414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ID doc</a:t>
            </a:r>
            <a:endParaRPr lang="ru-RU" sz="1000" dirty="0" smtClean="0"/>
          </a:p>
          <a:p>
            <a:r>
              <a:rPr lang="ru-RU" sz="1000" dirty="0" smtClean="0"/>
              <a:t>присутствует</a:t>
            </a:r>
            <a:endParaRPr lang="ru-RU" sz="1000" dirty="0"/>
          </a:p>
        </p:txBody>
      </p:sp>
      <p:grpSp>
        <p:nvGrpSpPr>
          <p:cNvPr id="124" name="Группа 123"/>
          <p:cNvGrpSpPr/>
          <p:nvPr/>
        </p:nvGrpSpPr>
        <p:grpSpPr>
          <a:xfrm>
            <a:off x="5598553" y="3672278"/>
            <a:ext cx="1817203" cy="694126"/>
            <a:chOff x="2249053" y="5542333"/>
            <a:chExt cx="1817203" cy="694126"/>
          </a:xfrm>
        </p:grpSpPr>
        <p:grpSp>
          <p:nvGrpSpPr>
            <p:cNvPr id="113" name="Группа 112"/>
            <p:cNvGrpSpPr/>
            <p:nvPr/>
          </p:nvGrpSpPr>
          <p:grpSpPr>
            <a:xfrm>
              <a:off x="2282191" y="5542333"/>
              <a:ext cx="1784065" cy="653144"/>
              <a:chOff x="2312464" y="5535330"/>
              <a:chExt cx="1784065" cy="653144"/>
            </a:xfrm>
          </p:grpSpPr>
          <p:sp>
            <p:nvSpPr>
              <p:cNvPr id="321" name="Прямоугольник 320"/>
              <p:cNvSpPr/>
              <p:nvPr/>
            </p:nvSpPr>
            <p:spPr>
              <a:xfrm>
                <a:off x="2312464" y="5535330"/>
                <a:ext cx="393056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ru-RU" sz="3200" u="sng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3</a:t>
                </a:r>
                <a:endParaRPr lang="ru-RU" sz="3200" b="0" u="sng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2605415" y="5665254"/>
                <a:ext cx="14911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400" dirty="0" smtClean="0"/>
                  <a:t>- основные шаги </a:t>
                </a:r>
              </a:p>
              <a:p>
                <a:r>
                  <a:rPr lang="ru-RU" sz="1400" dirty="0" smtClean="0"/>
                  <a:t>алгоритма</a:t>
                </a:r>
                <a:endParaRPr lang="ru-RU" sz="1400" dirty="0"/>
              </a:p>
            </p:txBody>
          </p:sp>
        </p:grpSp>
        <p:sp>
          <p:nvSpPr>
            <p:cNvPr id="123" name="Прямоугольная выноска 122"/>
            <p:cNvSpPr/>
            <p:nvPr/>
          </p:nvSpPr>
          <p:spPr>
            <a:xfrm>
              <a:off x="2249053" y="5587039"/>
              <a:ext cx="1799375" cy="649420"/>
            </a:xfrm>
            <a:prstGeom prst="wedgeRectCallout">
              <a:avLst/>
            </a:prstGeom>
            <a:no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3" name="TextBox 322"/>
          <p:cNvSpPr txBox="1"/>
          <p:nvPr/>
        </p:nvSpPr>
        <p:spPr>
          <a:xfrm>
            <a:off x="5703242" y="1272616"/>
            <a:ext cx="44662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текущие </a:t>
            </a:r>
            <a:r>
              <a:rPr lang="en-US" sz="1000" dirty="0" smtClean="0"/>
              <a:t>ID </a:t>
            </a:r>
            <a:r>
              <a:rPr lang="ru-RU" sz="1000" dirty="0" smtClean="0"/>
              <a:t>документа и количество вхождений слова в документ обработаны</a:t>
            </a:r>
            <a:endParaRPr lang="ru-RU" sz="1000" dirty="0"/>
          </a:p>
        </p:txBody>
      </p:sp>
      <p:sp>
        <p:nvSpPr>
          <p:cNvPr id="324" name="TextBox 323"/>
          <p:cNvSpPr txBox="1"/>
          <p:nvPr/>
        </p:nvSpPr>
        <p:spPr>
          <a:xfrm>
            <a:off x="5013425" y="6163738"/>
            <a:ext cx="20136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</a:t>
            </a:r>
            <a:r>
              <a:rPr lang="ru-RU" sz="1000" dirty="0" smtClean="0"/>
              <a:t>екущий </a:t>
            </a:r>
            <a:r>
              <a:rPr lang="en-US" sz="1000" dirty="0" smtClean="0"/>
              <a:t>ID </a:t>
            </a:r>
            <a:r>
              <a:rPr lang="ru-RU" sz="1000" dirty="0" smtClean="0"/>
              <a:t>документа обработан</a:t>
            </a:r>
            <a:endParaRPr lang="ru-RU" sz="1000" dirty="0"/>
          </a:p>
        </p:txBody>
      </p:sp>
      <p:sp>
        <p:nvSpPr>
          <p:cNvPr id="325" name="TextBox 324"/>
          <p:cNvSpPr txBox="1"/>
          <p:nvPr/>
        </p:nvSpPr>
        <p:spPr>
          <a:xfrm>
            <a:off x="3253105" y="3316809"/>
            <a:ext cx="16738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текущее слово обработано</a:t>
            </a:r>
            <a:endParaRPr lang="ru-RU" sz="1000" dirty="0"/>
          </a:p>
        </p:txBody>
      </p:sp>
      <p:sp>
        <p:nvSpPr>
          <p:cNvPr id="326" name="TextBox 325"/>
          <p:cNvSpPr txBox="1"/>
          <p:nvPr/>
        </p:nvSpPr>
        <p:spPr>
          <a:xfrm>
            <a:off x="1215590" y="1271315"/>
            <a:ext cx="2390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все слова текущего запроса обработаны</a:t>
            </a:r>
            <a:endParaRPr lang="ru-RU" sz="1000" dirty="0"/>
          </a:p>
        </p:txBody>
      </p:sp>
      <p:sp>
        <p:nvSpPr>
          <p:cNvPr id="179" name="Стрелка вправо 178"/>
          <p:cNvSpPr/>
          <p:nvPr/>
        </p:nvSpPr>
        <p:spPr>
          <a:xfrm rot="5400000">
            <a:off x="781817" y="4465752"/>
            <a:ext cx="36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52" y="1892217"/>
            <a:ext cx="1008000" cy="71269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849" y="1757164"/>
            <a:ext cx="1008000" cy="712691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866" y="1911078"/>
            <a:ext cx="1008000" cy="712691"/>
          </a:xfrm>
          <a:prstGeom prst="rect">
            <a:avLst/>
          </a:prstGeom>
        </p:spPr>
      </p:pic>
      <p:pic>
        <p:nvPicPr>
          <p:cNvPr id="170" name="Рисунок 16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469" y="4951297"/>
            <a:ext cx="1008000" cy="712691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116" y="205684"/>
            <a:ext cx="432706" cy="612000"/>
          </a:xfrm>
          <a:prstGeom prst="rect">
            <a:avLst/>
          </a:prstGeom>
        </p:spPr>
      </p:pic>
      <p:pic>
        <p:nvPicPr>
          <p:cNvPr id="171" name="Рисунок 17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39" y="3502852"/>
            <a:ext cx="432706" cy="612000"/>
          </a:xfrm>
          <a:prstGeom prst="rect">
            <a:avLst/>
          </a:prstGeom>
        </p:spPr>
      </p:pic>
      <p:pic>
        <p:nvPicPr>
          <p:cNvPr id="173" name="Рисунок 17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6" y="4919618"/>
            <a:ext cx="432706" cy="612000"/>
          </a:xfrm>
          <a:prstGeom prst="rect">
            <a:avLst/>
          </a:prstGeom>
        </p:spPr>
      </p:pic>
      <p:pic>
        <p:nvPicPr>
          <p:cNvPr id="180" name="Рисунок 17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687" y="4753338"/>
            <a:ext cx="432706" cy="612000"/>
          </a:xfrm>
          <a:prstGeom prst="rect">
            <a:avLst/>
          </a:prstGeom>
        </p:spPr>
      </p:pic>
      <p:pic>
        <p:nvPicPr>
          <p:cNvPr id="181" name="Рисунок 18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664" y="3814376"/>
            <a:ext cx="432706" cy="612000"/>
          </a:xfrm>
          <a:prstGeom prst="rect">
            <a:avLst/>
          </a:prstGeom>
        </p:spPr>
      </p:pic>
      <p:pic>
        <p:nvPicPr>
          <p:cNvPr id="183" name="Рисунок 18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084" y="1706179"/>
            <a:ext cx="432706" cy="612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879" y="4885828"/>
            <a:ext cx="1008000" cy="712691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535" y="3376840"/>
            <a:ext cx="1080000" cy="152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6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Соединительная линия уступом 145"/>
          <p:cNvCxnSpPr>
            <a:stCxn id="69" idx="2"/>
            <a:endCxn id="106" idx="0"/>
          </p:cNvCxnSpPr>
          <p:nvPr/>
        </p:nvCxnSpPr>
        <p:spPr>
          <a:xfrm rot="5400000" flipH="1">
            <a:off x="1884222" y="1278135"/>
            <a:ext cx="4032663" cy="6019544"/>
          </a:xfrm>
          <a:prstGeom prst="bentConnector5">
            <a:avLst>
              <a:gd name="adj1" fmla="val 955"/>
              <a:gd name="adj2" fmla="val -68088"/>
              <a:gd name="adj3" fmla="val 118917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11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Основные алгоритмы программы</a:t>
            </a:r>
            <a:endParaRPr lang="ru-RU" sz="40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Формирование результатов поиска</a:t>
            </a:r>
            <a:endParaRPr lang="ru-RU" sz="2400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1530034" y="2410640"/>
            <a:ext cx="122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18"/>
          <p:cNvSpPr/>
          <p:nvPr/>
        </p:nvSpPr>
        <p:spPr>
          <a:xfrm>
            <a:off x="4663247" y="2411059"/>
            <a:ext cx="972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615995" y="2248266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sumRANK</a:t>
            </a:r>
            <a:endParaRPr lang="ru-RU" sz="1200" b="1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5696824" y="1962520"/>
            <a:ext cx="1416606" cy="1332000"/>
            <a:chOff x="6035866" y="1520738"/>
            <a:chExt cx="1416606" cy="1332000"/>
          </a:xfrm>
        </p:grpSpPr>
        <p:sp>
          <p:nvSpPr>
            <p:cNvPr id="21" name="Блок-схема: решение 20"/>
            <p:cNvSpPr>
              <a:spLocks noChangeAspect="1"/>
            </p:cNvSpPr>
            <p:nvPr/>
          </p:nvSpPr>
          <p:spPr>
            <a:xfrm>
              <a:off x="6072049" y="1520738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5866" y="2029945"/>
              <a:ext cx="14166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sumRANK</a:t>
              </a:r>
              <a:r>
                <a:rPr lang="en-US" sz="1200" dirty="0" smtClean="0"/>
                <a:t> &lt; epsilon</a:t>
              </a:r>
              <a:endParaRPr lang="ru-RU" sz="1200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812813" y="2084905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м</a:t>
            </a:r>
            <a:r>
              <a:rPr lang="ru-RU" sz="1000" dirty="0" smtClean="0"/>
              <a:t>еньше </a:t>
            </a:r>
          </a:p>
          <a:p>
            <a:r>
              <a:rPr lang="ru-RU" sz="1000" dirty="0" smtClean="0"/>
              <a:t>точности</a:t>
            </a:r>
            <a:endParaRPr lang="ru-RU" sz="1000" dirty="0"/>
          </a:p>
        </p:txBody>
      </p:sp>
      <p:cxnSp>
        <p:nvCxnSpPr>
          <p:cNvPr id="28" name="Соединительная линия уступом 27"/>
          <p:cNvCxnSpPr>
            <a:stCxn id="95" idx="3"/>
            <a:endCxn id="106" idx="0"/>
          </p:cNvCxnSpPr>
          <p:nvPr/>
        </p:nvCxnSpPr>
        <p:spPr>
          <a:xfrm flipH="1">
            <a:off x="890782" y="2182957"/>
            <a:ext cx="8220324" cy="88618"/>
          </a:xfrm>
          <a:prstGeom prst="bentConnector4">
            <a:avLst>
              <a:gd name="adj1" fmla="val -1656"/>
              <a:gd name="adj2" fmla="val -762975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26039" y="3258538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соответствует</a:t>
            </a:r>
          </a:p>
          <a:p>
            <a:r>
              <a:rPr lang="ru-RU" sz="1000" dirty="0" smtClean="0"/>
              <a:t>точности</a:t>
            </a:r>
            <a:endParaRPr lang="ru-RU" sz="1000" dirty="0"/>
          </a:p>
        </p:txBody>
      </p:sp>
      <p:sp>
        <p:nvSpPr>
          <p:cNvPr id="41" name="Стрелка вправо 40"/>
          <p:cNvSpPr/>
          <p:nvPr/>
        </p:nvSpPr>
        <p:spPr>
          <a:xfrm>
            <a:off x="8037941" y="3349137"/>
            <a:ext cx="108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Стрелка вправо 44"/>
          <p:cNvSpPr/>
          <p:nvPr/>
        </p:nvSpPr>
        <p:spPr>
          <a:xfrm>
            <a:off x="11123415" y="3349042"/>
            <a:ext cx="68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трелка вправо 45"/>
          <p:cNvSpPr/>
          <p:nvPr/>
        </p:nvSpPr>
        <p:spPr>
          <a:xfrm>
            <a:off x="848869" y="5371130"/>
            <a:ext cx="68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6" name="Группа 55"/>
          <p:cNvGrpSpPr/>
          <p:nvPr/>
        </p:nvGrpSpPr>
        <p:grpSpPr>
          <a:xfrm>
            <a:off x="1621471" y="4927256"/>
            <a:ext cx="1332000" cy="1332000"/>
            <a:chOff x="1950240" y="4639584"/>
            <a:chExt cx="1332000" cy="1332000"/>
          </a:xfrm>
        </p:grpSpPr>
        <p:sp>
          <p:nvSpPr>
            <p:cNvPr id="47" name="Блок-схема: решение 46"/>
            <p:cNvSpPr>
              <a:spLocks noChangeAspect="1"/>
            </p:cNvSpPr>
            <p:nvPr/>
          </p:nvSpPr>
          <p:spPr>
            <a:xfrm>
              <a:off x="1950240" y="4639584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180126" y="5165831"/>
              <a:ext cx="852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  <a:r>
                <a:rPr lang="en-US" sz="1200" b="1" dirty="0" smtClean="0"/>
                <a:t>ount</a:t>
              </a:r>
              <a:r>
                <a:rPr lang="en-US" sz="1200" dirty="0" smtClean="0"/>
                <a:t> == 1</a:t>
              </a:r>
              <a:endParaRPr lang="ru-RU" sz="1200" dirty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1333655" y="4526201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з</a:t>
            </a:r>
            <a:r>
              <a:rPr lang="ru-RU" sz="1000" dirty="0" smtClean="0"/>
              <a:t>апрос имеет</a:t>
            </a:r>
          </a:p>
          <a:p>
            <a:r>
              <a:rPr lang="ru-RU" sz="1000" dirty="0"/>
              <a:t>о</a:t>
            </a:r>
            <a:r>
              <a:rPr lang="ru-RU" sz="1000" dirty="0" smtClean="0"/>
              <a:t>дин ответ</a:t>
            </a:r>
            <a:endParaRPr lang="ru-RU" sz="1000" dirty="0"/>
          </a:p>
        </p:txBody>
      </p:sp>
      <p:cxnSp>
        <p:nvCxnSpPr>
          <p:cNvPr id="60" name="Соединительная линия уступом 59"/>
          <p:cNvCxnSpPr>
            <a:stCxn id="93" idx="3"/>
            <a:endCxn id="105" idx="2"/>
          </p:cNvCxnSpPr>
          <p:nvPr/>
        </p:nvCxnSpPr>
        <p:spPr>
          <a:xfrm flipH="1" flipV="1">
            <a:off x="955155" y="3477265"/>
            <a:ext cx="2841544" cy="851894"/>
          </a:xfrm>
          <a:prstGeom prst="bentConnector4">
            <a:avLst>
              <a:gd name="adj1" fmla="val -5152"/>
              <a:gd name="adj2" fmla="val 101907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Стрелка вправо 64"/>
          <p:cNvSpPr/>
          <p:nvPr/>
        </p:nvSpPr>
        <p:spPr>
          <a:xfrm>
            <a:off x="5299313" y="5413566"/>
            <a:ext cx="86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7" name="Группа 56"/>
          <p:cNvGrpSpPr/>
          <p:nvPr/>
        </p:nvGrpSpPr>
        <p:grpSpPr>
          <a:xfrm>
            <a:off x="6244326" y="4972238"/>
            <a:ext cx="1332000" cy="1332000"/>
            <a:chOff x="6573094" y="4766758"/>
            <a:chExt cx="1332000" cy="1332000"/>
          </a:xfrm>
        </p:grpSpPr>
        <p:sp>
          <p:nvSpPr>
            <p:cNvPr id="69" name="Блок-схема: решение 68"/>
            <p:cNvSpPr>
              <a:spLocks noChangeAspect="1"/>
            </p:cNvSpPr>
            <p:nvPr/>
          </p:nvSpPr>
          <p:spPr>
            <a:xfrm>
              <a:off x="6573094" y="4766758"/>
              <a:ext cx="1332000" cy="133200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709610" y="5283094"/>
              <a:ext cx="10653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r</a:t>
              </a:r>
              <a:r>
                <a:rPr lang="en-US" sz="1200" b="1" dirty="0" smtClean="0"/>
                <a:t>ank</a:t>
              </a:r>
              <a:r>
                <a:rPr lang="en-US" sz="1200" dirty="0" smtClean="0"/>
                <a:t> &lt; epsilon</a:t>
              </a:r>
              <a:endParaRPr lang="ru-RU" sz="1200" dirty="0"/>
            </a:p>
          </p:txBody>
        </p:sp>
      </p:grpSp>
      <p:cxnSp>
        <p:nvCxnSpPr>
          <p:cNvPr id="79" name="Соединительная линия уступом 78"/>
          <p:cNvCxnSpPr>
            <a:stCxn id="135" idx="3"/>
            <a:endCxn id="129" idx="0"/>
          </p:cNvCxnSpPr>
          <p:nvPr/>
        </p:nvCxnSpPr>
        <p:spPr>
          <a:xfrm flipH="1" flipV="1">
            <a:off x="4715184" y="5198692"/>
            <a:ext cx="5241074" cy="205136"/>
          </a:xfrm>
          <a:prstGeom prst="bentConnector4">
            <a:avLst>
              <a:gd name="adj1" fmla="val -3186"/>
              <a:gd name="adj2" fmla="val 515113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Стрелка вправо 81"/>
          <p:cNvSpPr/>
          <p:nvPr/>
        </p:nvSpPr>
        <p:spPr>
          <a:xfrm rot="5400000">
            <a:off x="632981" y="3617256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TextBox 83"/>
          <p:cNvSpPr txBox="1"/>
          <p:nvPr/>
        </p:nvSpPr>
        <p:spPr>
          <a:xfrm>
            <a:off x="617748" y="4857646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ответ</a:t>
            </a:r>
            <a:r>
              <a:rPr lang="ru-RU" sz="1000" dirty="0"/>
              <a:t>ы</a:t>
            </a:r>
          </a:p>
        </p:txBody>
      </p:sp>
      <p:cxnSp>
        <p:nvCxnSpPr>
          <p:cNvPr id="92" name="Соединительная линия уступом 91"/>
          <p:cNvCxnSpPr>
            <a:stCxn id="78" idx="3"/>
            <a:endCxn id="106" idx="0"/>
          </p:cNvCxnSpPr>
          <p:nvPr/>
        </p:nvCxnSpPr>
        <p:spPr>
          <a:xfrm flipH="1" flipV="1">
            <a:off x="890782" y="2271575"/>
            <a:ext cx="9012427" cy="3138360"/>
          </a:xfrm>
          <a:prstGeom prst="bentConnector4">
            <a:avLst>
              <a:gd name="adj1" fmla="val -12226"/>
              <a:gd name="adj2" fmla="val 124635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Группа 76"/>
          <p:cNvGrpSpPr/>
          <p:nvPr/>
        </p:nvGrpSpPr>
        <p:grpSpPr>
          <a:xfrm>
            <a:off x="1606802" y="2162317"/>
            <a:ext cx="844847" cy="277176"/>
            <a:chOff x="4111934" y="2883423"/>
            <a:chExt cx="844847" cy="277176"/>
          </a:xfrm>
        </p:grpSpPr>
        <p:sp>
          <p:nvSpPr>
            <p:cNvPr id="80" name="Прямоугольник 79"/>
            <p:cNvSpPr/>
            <p:nvPr/>
          </p:nvSpPr>
          <p:spPr>
            <a:xfrm>
              <a:off x="4111934" y="2898591"/>
              <a:ext cx="844847" cy="2620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111934" y="2883423"/>
              <a:ext cx="8448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ID request</a:t>
              </a:r>
              <a:endParaRPr lang="ru-RU" sz="1200" b="1" dirty="0"/>
            </a:p>
          </p:txBody>
        </p:sp>
      </p:grpSp>
      <p:grpSp>
        <p:nvGrpSpPr>
          <p:cNvPr id="13" name="Группа 12"/>
          <p:cNvGrpSpPr/>
          <p:nvPr/>
        </p:nvGrpSpPr>
        <p:grpSpPr>
          <a:xfrm>
            <a:off x="2824439" y="1777171"/>
            <a:ext cx="1889878" cy="1584000"/>
            <a:chOff x="3440185" y="1654446"/>
            <a:chExt cx="1889878" cy="1584000"/>
          </a:xfrm>
        </p:grpSpPr>
        <p:sp>
          <p:nvSpPr>
            <p:cNvPr id="86" name="Блок-схема: процесс 85"/>
            <p:cNvSpPr/>
            <p:nvPr/>
          </p:nvSpPr>
          <p:spPr>
            <a:xfrm>
              <a:off x="3483358" y="1654446"/>
              <a:ext cx="1692000" cy="1584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83358" y="2666850"/>
              <a:ext cx="168353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п</a:t>
              </a:r>
              <a:r>
                <a:rPr lang="ru-RU" sz="1000" dirty="0" smtClean="0"/>
                <a:t>одсчитать суммарный ранг ответов</a:t>
              </a:r>
              <a:r>
                <a:rPr lang="en-US" sz="1000" dirty="0" smtClean="0"/>
                <a:t> (</a:t>
              </a:r>
              <a:r>
                <a:rPr lang="en-US" sz="1000" b="1" dirty="0" smtClean="0"/>
                <a:t>sumRANK</a:t>
              </a:r>
              <a:r>
                <a:rPr lang="en-US" sz="1000" dirty="0" smtClean="0"/>
                <a:t>)</a:t>
              </a:r>
              <a:r>
                <a:rPr lang="ru-RU" sz="1000" dirty="0" smtClean="0"/>
                <a:t> в базе ответов по </a:t>
              </a:r>
              <a:r>
                <a:rPr lang="en-US" sz="1000" dirty="0" smtClean="0"/>
                <a:t>ID </a:t>
              </a:r>
              <a:r>
                <a:rPr lang="ru-RU" sz="1000" dirty="0" smtClean="0"/>
                <a:t>запроса</a:t>
              </a:r>
            </a:p>
          </p:txBody>
        </p:sp>
        <p:grpSp>
          <p:nvGrpSpPr>
            <p:cNvPr id="87" name="Группа 86"/>
            <p:cNvGrpSpPr/>
            <p:nvPr/>
          </p:nvGrpSpPr>
          <p:grpSpPr>
            <a:xfrm>
              <a:off x="3865121" y="1808475"/>
              <a:ext cx="1198274" cy="277176"/>
              <a:chOff x="4101660" y="2883423"/>
              <a:chExt cx="1198274" cy="277176"/>
            </a:xfrm>
          </p:grpSpPr>
          <p:sp>
            <p:nvSpPr>
              <p:cNvPr id="88" name="Прямоугольник 87"/>
              <p:cNvSpPr/>
              <p:nvPr/>
            </p:nvSpPr>
            <p:spPr>
              <a:xfrm>
                <a:off x="4111934" y="2898591"/>
                <a:ext cx="1188000" cy="26200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101660" y="2883423"/>
                <a:ext cx="5902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ID doc</a:t>
                </a:r>
                <a:endParaRPr lang="ru-RU" sz="12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0" name="Прямая соединительная линия 89"/>
              <p:cNvCxnSpPr/>
              <p:nvPr/>
            </p:nvCxnSpPr>
            <p:spPr>
              <a:xfrm>
                <a:off x="4670958" y="2897951"/>
                <a:ext cx="0" cy="262008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90"/>
            <p:cNvSpPr txBox="1"/>
            <p:nvPr/>
          </p:nvSpPr>
          <p:spPr>
            <a:xfrm>
              <a:off x="4503187" y="1799119"/>
              <a:ext cx="826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>
                  <a:solidFill>
                    <a:schemeClr val="bg1"/>
                  </a:solidFill>
                </a:rPr>
                <a:t>rank</a:t>
              </a:r>
              <a:endParaRPr lang="ru-RU" sz="12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40185" y="2166007"/>
                  <a:ext cx="1732269" cy="525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𝒔𝒖𝒎𝑹𝑨𝑵𝑲</m:t>
                        </m:r>
                        <m:r>
                          <a:rPr lang="pt-BR" sz="100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pt-BR" sz="1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𝑑𝑜𝑐</m:t>
                            </m:r>
                            <m:r>
                              <a:rPr lang="pt-BR" sz="100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𝑟𝑎𝑛𝑘</m:t>
                            </m:r>
                          </m:e>
                        </m:nary>
                      </m:oMath>
                    </m:oMathPara>
                  </a14:m>
                  <a:endParaRPr lang="ru-RU" sz="10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185" y="2166007"/>
                  <a:ext cx="1732269" cy="52520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86207" r="-24296" b="-1367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Группа 43"/>
          <p:cNvGrpSpPr/>
          <p:nvPr/>
        </p:nvGrpSpPr>
        <p:grpSpPr>
          <a:xfrm>
            <a:off x="2644699" y="3609159"/>
            <a:ext cx="1152000" cy="1440000"/>
            <a:chOff x="2973467" y="3218747"/>
            <a:chExt cx="1152000" cy="1440000"/>
          </a:xfrm>
        </p:grpSpPr>
        <p:sp>
          <p:nvSpPr>
            <p:cNvPr id="93" name="Блок-схема: процесс 92"/>
            <p:cNvSpPr/>
            <p:nvPr/>
          </p:nvSpPr>
          <p:spPr>
            <a:xfrm>
              <a:off x="2973467" y="3218747"/>
              <a:ext cx="1152000" cy="144000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016121" y="3266393"/>
              <a:ext cx="1044000" cy="1332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"answers":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...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"request002":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"result": "true",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"docid": 1,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"rank": 0.07018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}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...}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}</a:t>
              </a:r>
              <a:endParaRPr lang="ru-RU" sz="800" dirty="0"/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6789643" y="2978995"/>
            <a:ext cx="1152000" cy="1188000"/>
            <a:chOff x="7118411" y="2681049"/>
            <a:chExt cx="1152000" cy="1188000"/>
          </a:xfrm>
        </p:grpSpPr>
        <p:sp>
          <p:nvSpPr>
            <p:cNvPr id="94" name="Блок-схема: процесс 93"/>
            <p:cNvSpPr/>
            <p:nvPr/>
          </p:nvSpPr>
          <p:spPr>
            <a:xfrm>
              <a:off x="7118411" y="2681049"/>
              <a:ext cx="1152000" cy="118800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192166" y="2743086"/>
              <a:ext cx="1008000" cy="108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"answers":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...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"request002":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"result": "true",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...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}}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}</a:t>
              </a:r>
              <a:endParaRPr lang="ru-RU" sz="800" dirty="0"/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7995106" y="1642957"/>
            <a:ext cx="1116000" cy="1080000"/>
            <a:chOff x="7810172" y="1540217"/>
            <a:chExt cx="1116000" cy="1080000"/>
          </a:xfrm>
        </p:grpSpPr>
        <p:sp>
          <p:nvSpPr>
            <p:cNvPr id="95" name="Блок-схема: процесс 94"/>
            <p:cNvSpPr>
              <a:spLocks/>
            </p:cNvSpPr>
            <p:nvPr/>
          </p:nvSpPr>
          <p:spPr>
            <a:xfrm>
              <a:off x="7810172" y="1540217"/>
              <a:ext cx="1116000" cy="108000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857134" y="1599276"/>
              <a:ext cx="101181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"answers":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...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"request003":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"result": "false"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}}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}</a:t>
              </a:r>
              <a:endParaRPr lang="ru-RU" sz="800" dirty="0"/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2789422" y="5642285"/>
            <a:ext cx="9188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з</a:t>
            </a:r>
            <a:r>
              <a:rPr lang="ru-RU" sz="1000" dirty="0" smtClean="0"/>
              <a:t>апрос имеет</a:t>
            </a:r>
          </a:p>
          <a:p>
            <a:r>
              <a:rPr lang="ru-RU" sz="1000" dirty="0"/>
              <a:t>м</a:t>
            </a:r>
            <a:r>
              <a:rPr lang="ru-RU" sz="1000" dirty="0" smtClean="0"/>
              <a:t>ножество </a:t>
            </a:r>
          </a:p>
          <a:p>
            <a:r>
              <a:rPr lang="ru-RU" sz="1000" dirty="0" smtClean="0"/>
              <a:t>ответов</a:t>
            </a:r>
            <a:endParaRPr lang="ru-RU" sz="1000" dirty="0"/>
          </a:p>
        </p:txBody>
      </p:sp>
      <p:grpSp>
        <p:nvGrpSpPr>
          <p:cNvPr id="67" name="Группа 66"/>
          <p:cNvGrpSpPr/>
          <p:nvPr/>
        </p:nvGrpSpPr>
        <p:grpSpPr>
          <a:xfrm>
            <a:off x="3935473" y="5198692"/>
            <a:ext cx="1699504" cy="1194165"/>
            <a:chOff x="4058761" y="4798006"/>
            <a:chExt cx="1699504" cy="1194165"/>
          </a:xfrm>
        </p:grpSpPr>
        <p:sp>
          <p:nvSpPr>
            <p:cNvPr id="129" name="Блок-схема: процесс 128"/>
            <p:cNvSpPr/>
            <p:nvPr/>
          </p:nvSpPr>
          <p:spPr>
            <a:xfrm>
              <a:off x="4316472" y="4798006"/>
              <a:ext cx="1044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4058761" y="5592061"/>
              <a:ext cx="16995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ранг</a:t>
              </a:r>
              <a:r>
                <a:rPr lang="en-US" sz="1000" dirty="0" smtClean="0"/>
                <a:t> </a:t>
              </a:r>
              <a:r>
                <a:rPr lang="ru-RU" sz="1000" dirty="0" smtClean="0"/>
                <a:t>следующего </a:t>
              </a:r>
            </a:p>
            <a:p>
              <a:r>
                <a:rPr lang="ru-RU" sz="1000" dirty="0"/>
                <a:t>д</a:t>
              </a:r>
              <a:r>
                <a:rPr lang="ru-RU" sz="1000" dirty="0" smtClean="0"/>
                <a:t>окумента из базы ответов </a:t>
              </a:r>
              <a:endParaRPr lang="ru-RU" sz="1000" dirty="0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5365558" y="5153151"/>
            <a:ext cx="495651" cy="277176"/>
            <a:chOff x="4111934" y="2883423"/>
            <a:chExt cx="522363" cy="277176"/>
          </a:xfrm>
        </p:grpSpPr>
        <p:sp>
          <p:nvSpPr>
            <p:cNvPr id="132" name="Прямоугольник 131"/>
            <p:cNvSpPr/>
            <p:nvPr/>
          </p:nvSpPr>
          <p:spPr>
            <a:xfrm>
              <a:off x="4111934" y="2898591"/>
              <a:ext cx="522363" cy="2620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111934" y="2883423"/>
              <a:ext cx="468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rank</a:t>
              </a:r>
              <a:endParaRPr lang="ru-RU" sz="1200" b="1" dirty="0"/>
            </a:p>
          </p:txBody>
        </p:sp>
      </p:grpSp>
      <p:grpSp>
        <p:nvGrpSpPr>
          <p:cNvPr id="62" name="Группа 61"/>
          <p:cNvGrpSpPr/>
          <p:nvPr/>
        </p:nvGrpSpPr>
        <p:grpSpPr>
          <a:xfrm>
            <a:off x="8624258" y="4503828"/>
            <a:ext cx="1332000" cy="1800000"/>
            <a:chOff x="8572888" y="4185334"/>
            <a:chExt cx="1332000" cy="1800000"/>
          </a:xfrm>
        </p:grpSpPr>
        <p:sp>
          <p:nvSpPr>
            <p:cNvPr id="135" name="Блок-схема: процесс 134"/>
            <p:cNvSpPr/>
            <p:nvPr/>
          </p:nvSpPr>
          <p:spPr>
            <a:xfrm>
              <a:off x="8572888" y="4185334"/>
              <a:ext cx="1332000" cy="180000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622015" y="4245055"/>
              <a:ext cx="1229824" cy="1692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"answers":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"request001": {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"result": "true",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"relevance": </a:t>
              </a: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[{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"docid": 0,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"rank": 1.0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},{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"docid": 2,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  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>"rank": 0.94737</a:t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      }]}</a:t>
              </a:r>
              <a: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  <a:t/>
              </a:r>
              <a:br>
                <a:rPr lang="ru-RU" altLang="ru-RU" sz="800" i="1" dirty="0">
                  <a:solidFill>
                    <a:srgbClr val="808080"/>
                  </a:solidFill>
                  <a:latin typeface="JetBrains Mono"/>
                </a:rPr>
              </a:br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  ...</a:t>
              </a:r>
              <a:endParaRPr lang="en-US" altLang="ru-RU" sz="800" i="1" dirty="0" smtClean="0">
                <a:solidFill>
                  <a:srgbClr val="808080"/>
                </a:solidFill>
                <a:latin typeface="JetBrains Mono"/>
              </a:endParaRPr>
            </a:p>
            <a:p>
              <a:r>
                <a:rPr lang="ru-RU" altLang="ru-RU" sz="800" i="1" dirty="0" smtClean="0">
                  <a:solidFill>
                    <a:srgbClr val="808080"/>
                  </a:solidFill>
                  <a:latin typeface="JetBrains Mono"/>
                </a:rPr>
                <a:t> }</a:t>
              </a:r>
              <a:endParaRPr lang="ru-RU" sz="800" dirty="0"/>
            </a:p>
          </p:txBody>
        </p:sp>
      </p:grpSp>
      <p:pic>
        <p:nvPicPr>
          <p:cNvPr id="149" name="Рисунок 1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71" y="3959901"/>
            <a:ext cx="792000" cy="1120171"/>
          </a:xfrm>
          <a:prstGeom prst="rect">
            <a:avLst/>
          </a:prstGeom>
        </p:spPr>
      </p:pic>
      <p:grpSp>
        <p:nvGrpSpPr>
          <p:cNvPr id="103" name="Группа 102"/>
          <p:cNvGrpSpPr/>
          <p:nvPr/>
        </p:nvGrpSpPr>
        <p:grpSpPr>
          <a:xfrm>
            <a:off x="321007" y="2271575"/>
            <a:ext cx="1268296" cy="1205690"/>
            <a:chOff x="57796" y="1752187"/>
            <a:chExt cx="1268296" cy="1205690"/>
          </a:xfrm>
        </p:grpSpPr>
        <p:sp>
          <p:nvSpPr>
            <p:cNvPr id="106" name="Блок-схема: процесс 105"/>
            <p:cNvSpPr/>
            <p:nvPr/>
          </p:nvSpPr>
          <p:spPr>
            <a:xfrm>
              <a:off x="87571" y="1752187"/>
              <a:ext cx="1080000" cy="792000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7796" y="2557767"/>
              <a:ext cx="12682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в</a:t>
              </a:r>
              <a:r>
                <a:rPr lang="ru-RU" sz="1000" dirty="0" smtClean="0"/>
                <a:t>ыбрать </a:t>
              </a:r>
              <a:r>
                <a:rPr lang="en-US" sz="1000" dirty="0" smtClean="0"/>
                <a:t>ID </a:t>
              </a:r>
              <a:r>
                <a:rPr lang="ru-RU" sz="1000" dirty="0" smtClean="0"/>
                <a:t>запрос</a:t>
              </a:r>
              <a:r>
                <a:rPr lang="ru-RU" sz="1000" dirty="0"/>
                <a:t>а</a:t>
              </a:r>
              <a:r>
                <a:rPr lang="ru-RU" sz="1000" dirty="0" smtClean="0"/>
                <a:t> </a:t>
              </a:r>
            </a:p>
            <a:p>
              <a:r>
                <a:rPr lang="ru-RU" sz="1000" dirty="0"/>
                <a:t>и</a:t>
              </a:r>
              <a:r>
                <a:rPr lang="ru-RU" sz="1000" dirty="0" smtClean="0"/>
                <a:t>з базы ответов</a:t>
              </a:r>
              <a:endParaRPr lang="ru-RU" sz="1000" dirty="0"/>
            </a:p>
          </p:txBody>
        </p:sp>
      </p:grpSp>
      <p:cxnSp>
        <p:nvCxnSpPr>
          <p:cNvPr id="113" name="Соединительная линия уступом 112"/>
          <p:cNvCxnSpPr>
            <a:stCxn id="21" idx="3"/>
            <a:endCxn id="95" idx="1"/>
          </p:cNvCxnSpPr>
          <p:nvPr/>
        </p:nvCxnSpPr>
        <p:spPr>
          <a:xfrm flipV="1">
            <a:off x="7065007" y="2182957"/>
            <a:ext cx="930099" cy="445563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Соединительная линия уступом 113"/>
          <p:cNvCxnSpPr>
            <a:stCxn id="21" idx="2"/>
            <a:endCxn id="94" idx="1"/>
          </p:cNvCxnSpPr>
          <p:nvPr/>
        </p:nvCxnSpPr>
        <p:spPr>
          <a:xfrm rot="16200000" flipH="1">
            <a:off x="6455088" y="3238439"/>
            <a:ext cx="278475" cy="390636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1063071" y="3173273"/>
            <a:ext cx="549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count</a:t>
            </a:r>
            <a:endParaRPr lang="ru-RU" sz="1200" b="1" dirty="0"/>
          </a:p>
        </p:txBody>
      </p:sp>
      <p:sp>
        <p:nvSpPr>
          <p:cNvPr id="116" name="TextBox 115"/>
          <p:cNvSpPr txBox="1"/>
          <p:nvPr/>
        </p:nvSpPr>
        <p:spPr>
          <a:xfrm>
            <a:off x="797468" y="5197052"/>
            <a:ext cx="549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count</a:t>
            </a:r>
            <a:endParaRPr lang="ru-RU" sz="1200" b="1" dirty="0"/>
          </a:p>
        </p:txBody>
      </p:sp>
      <p:grpSp>
        <p:nvGrpSpPr>
          <p:cNvPr id="136" name="Группа 135"/>
          <p:cNvGrpSpPr/>
          <p:nvPr/>
        </p:nvGrpSpPr>
        <p:grpSpPr>
          <a:xfrm>
            <a:off x="9203570" y="2435881"/>
            <a:ext cx="1692000" cy="1764000"/>
            <a:chOff x="9737818" y="2559169"/>
            <a:chExt cx="1692000" cy="1764000"/>
          </a:xfrm>
        </p:grpSpPr>
        <p:grpSp>
          <p:nvGrpSpPr>
            <p:cNvPr id="39" name="Группа 38"/>
            <p:cNvGrpSpPr/>
            <p:nvPr/>
          </p:nvGrpSpPr>
          <p:grpSpPr>
            <a:xfrm>
              <a:off x="9737818" y="2559169"/>
              <a:ext cx="1692000" cy="1764000"/>
              <a:chOff x="9737818" y="2209853"/>
              <a:chExt cx="1692000" cy="1764000"/>
            </a:xfrm>
          </p:grpSpPr>
          <p:sp>
            <p:nvSpPr>
              <p:cNvPr id="42" name="Прямоугольник 41"/>
              <p:cNvSpPr/>
              <p:nvPr/>
            </p:nvSpPr>
            <p:spPr>
              <a:xfrm>
                <a:off x="9737818" y="2209853"/>
                <a:ext cx="1692000" cy="1764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9737818" y="3265232"/>
                <a:ext cx="16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dirty="0"/>
                  <a:t>п</a:t>
                </a:r>
                <a:r>
                  <a:rPr lang="ru-RU" sz="1000" dirty="0" smtClean="0"/>
                  <a:t>одсчитать количество </a:t>
                </a:r>
              </a:p>
              <a:p>
                <a:r>
                  <a:rPr lang="ru-RU" sz="1000" dirty="0" smtClean="0"/>
                  <a:t>ответов с ненулевым рангом (</a:t>
                </a:r>
                <a:r>
                  <a:rPr lang="en-US" sz="1000" b="1" dirty="0" smtClean="0"/>
                  <a:t>count</a:t>
                </a:r>
                <a:r>
                  <a:rPr lang="ru-RU" sz="1000" dirty="0" smtClean="0"/>
                  <a:t>)</a:t>
                </a:r>
                <a:r>
                  <a:rPr lang="en-US" sz="1000" dirty="0" smtClean="0"/>
                  <a:t> </a:t>
                </a:r>
                <a:r>
                  <a:rPr lang="ru-RU" sz="1000" dirty="0" smtClean="0"/>
                  <a:t>в базе ответов по </a:t>
                </a:r>
                <a:r>
                  <a:rPr lang="en-US" sz="1000" dirty="0" smtClean="0"/>
                  <a:t>ID </a:t>
                </a:r>
                <a:r>
                  <a:rPr lang="ru-RU" sz="1000" dirty="0" smtClean="0"/>
                  <a:t>запроса</a:t>
                </a:r>
                <a:endParaRPr lang="ru-RU" sz="1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9810423" y="2701799"/>
                    <a:ext cx="1495025" cy="6236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𝒄𝒐𝒖𝒏𝒕</m:t>
                          </m:r>
                          <m:r>
                            <a:rPr lang="pt-B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𝑑𝑜𝑐</m:t>
                                  </m:r>
                                  <m:r>
                                    <a:rPr lang="pt-BR" sz="100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sz="1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&gt;0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e>
                          </m:nary>
                        </m:oMath>
                      </m:oMathPara>
                    </a14:m>
                    <a:endParaRPr lang="ru-RU" sz="1000" dirty="0"/>
                  </a:p>
                </p:txBody>
              </p:sp>
            </mc:Choice>
            <mc:Fallback xmlns="">
              <p:sp>
                <p:nvSpPr>
                  <p:cNvPr id="97" name="TextBox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10423" y="2701799"/>
                    <a:ext cx="1495025" cy="623632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t="-72816" r="-26939" b="-100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9" name="Группа 98"/>
              <p:cNvGrpSpPr/>
              <p:nvPr/>
            </p:nvGrpSpPr>
            <p:grpSpPr>
              <a:xfrm>
                <a:off x="10124800" y="2372356"/>
                <a:ext cx="1198274" cy="277176"/>
                <a:chOff x="4101660" y="2883423"/>
                <a:chExt cx="1198274" cy="277176"/>
              </a:xfrm>
            </p:grpSpPr>
            <p:sp>
              <p:nvSpPr>
                <p:cNvPr id="100" name="Прямоугольник 99"/>
                <p:cNvSpPr/>
                <p:nvPr/>
              </p:nvSpPr>
              <p:spPr>
                <a:xfrm>
                  <a:off x="4111934" y="2898591"/>
                  <a:ext cx="1188000" cy="26200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4101660" y="2883423"/>
                  <a:ext cx="5902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chemeClr val="bg1"/>
                      </a:solidFill>
                    </a:rPr>
                    <a:t>ID doc</a:t>
                  </a:r>
                  <a:endParaRPr lang="ru-RU" sz="1200" b="1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02" name="Прямая соединительная линия 101"/>
                <p:cNvCxnSpPr/>
                <p:nvPr/>
              </p:nvCxnSpPr>
              <p:spPr>
                <a:xfrm>
                  <a:off x="4670958" y="2897951"/>
                  <a:ext cx="0" cy="262008"/>
                </a:xfrm>
                <a:prstGeom prst="line">
                  <a:avLst/>
                </a:prstGeom>
                <a:ln w="158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7" name="TextBox 116"/>
            <p:cNvSpPr txBox="1"/>
            <p:nvPr/>
          </p:nvSpPr>
          <p:spPr>
            <a:xfrm>
              <a:off x="10768796" y="2704270"/>
              <a:ext cx="468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>
                  <a:solidFill>
                    <a:schemeClr val="bg1"/>
                  </a:solidFill>
                </a:rPr>
                <a:t>rank</a:t>
              </a:r>
              <a:endParaRPr lang="ru-RU" sz="12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8" name="Соединительная линия уступом 117"/>
          <p:cNvCxnSpPr>
            <a:stCxn id="47" idx="0"/>
            <a:endCxn id="93" idx="1"/>
          </p:cNvCxnSpPr>
          <p:nvPr/>
        </p:nvCxnSpPr>
        <p:spPr>
          <a:xfrm rot="5400000" flipH="1" flipV="1">
            <a:off x="2167037" y="4449594"/>
            <a:ext cx="598097" cy="357228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7372088" y="5825388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м</a:t>
            </a:r>
            <a:r>
              <a:rPr lang="ru-RU" sz="1000" dirty="0" smtClean="0"/>
              <a:t>еньше </a:t>
            </a:r>
          </a:p>
          <a:p>
            <a:r>
              <a:rPr lang="ru-RU" sz="1000" dirty="0" smtClean="0"/>
              <a:t>точности</a:t>
            </a:r>
            <a:endParaRPr lang="ru-RU" sz="1000" dirty="0"/>
          </a:p>
        </p:txBody>
      </p:sp>
      <p:sp>
        <p:nvSpPr>
          <p:cNvPr id="120" name="TextBox 119"/>
          <p:cNvSpPr txBox="1"/>
          <p:nvPr/>
        </p:nvSpPr>
        <p:spPr>
          <a:xfrm>
            <a:off x="6917118" y="4541305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соответствует</a:t>
            </a:r>
          </a:p>
          <a:p>
            <a:r>
              <a:rPr lang="ru-RU" sz="1000" dirty="0" smtClean="0"/>
              <a:t>точности</a:t>
            </a:r>
            <a:endParaRPr lang="ru-RU" sz="1000" dirty="0"/>
          </a:p>
        </p:txBody>
      </p:sp>
      <p:cxnSp>
        <p:nvCxnSpPr>
          <p:cNvPr id="122" name="Соединительная линия уступом 121"/>
          <p:cNvCxnSpPr>
            <a:stCxn id="69" idx="0"/>
            <a:endCxn id="135" idx="1"/>
          </p:cNvCxnSpPr>
          <p:nvPr/>
        </p:nvCxnSpPr>
        <p:spPr>
          <a:xfrm rot="16200000" flipH="1">
            <a:off x="7551497" y="4331067"/>
            <a:ext cx="431590" cy="1713932"/>
          </a:xfrm>
          <a:prstGeom prst="bentConnector4">
            <a:avLst>
              <a:gd name="adj1" fmla="val 1785"/>
              <a:gd name="adj2" fmla="val 69429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Соединительная линия уступом 126"/>
          <p:cNvCxnSpPr>
            <a:stCxn id="47" idx="3"/>
          </p:cNvCxnSpPr>
          <p:nvPr/>
        </p:nvCxnSpPr>
        <p:spPr>
          <a:xfrm>
            <a:off x="2953471" y="5593256"/>
            <a:ext cx="1198617" cy="1436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021193" y="1367246"/>
            <a:ext cx="1659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</a:t>
            </a:r>
            <a:r>
              <a:rPr lang="ru-RU" sz="1000" dirty="0" smtClean="0"/>
              <a:t>екущий запрос обработан</a:t>
            </a:r>
            <a:endParaRPr lang="ru-RU" sz="1000" dirty="0"/>
          </a:p>
        </p:txBody>
      </p:sp>
      <p:sp>
        <p:nvSpPr>
          <p:cNvPr id="161" name="TextBox 160"/>
          <p:cNvSpPr txBox="1"/>
          <p:nvPr/>
        </p:nvSpPr>
        <p:spPr>
          <a:xfrm>
            <a:off x="1728438" y="3328230"/>
            <a:ext cx="1659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</a:t>
            </a:r>
            <a:r>
              <a:rPr lang="ru-RU" sz="1000" dirty="0" smtClean="0"/>
              <a:t>екущий запрос обработан</a:t>
            </a:r>
            <a:endParaRPr lang="ru-RU" sz="1000" dirty="0"/>
          </a:p>
        </p:txBody>
      </p:sp>
      <p:sp>
        <p:nvSpPr>
          <p:cNvPr id="169" name="TextBox 168"/>
          <p:cNvSpPr txBox="1"/>
          <p:nvPr/>
        </p:nvSpPr>
        <p:spPr>
          <a:xfrm>
            <a:off x="6561148" y="4212413"/>
            <a:ext cx="20762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перейти к следующему документу</a:t>
            </a:r>
            <a:endParaRPr lang="ru-RU" sz="1000" dirty="0"/>
          </a:p>
        </p:txBody>
      </p:sp>
      <p:sp>
        <p:nvSpPr>
          <p:cNvPr id="170" name="Прямоугольник 169"/>
          <p:cNvSpPr/>
          <p:nvPr/>
        </p:nvSpPr>
        <p:spPr>
          <a:xfrm>
            <a:off x="150465" y="197918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1" name="Прямоугольник 170"/>
          <p:cNvSpPr/>
          <p:nvPr/>
        </p:nvSpPr>
        <p:spPr>
          <a:xfrm>
            <a:off x="2666337" y="147525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2" name="Прямоугольник 171"/>
          <p:cNvSpPr/>
          <p:nvPr/>
        </p:nvSpPr>
        <p:spPr>
          <a:xfrm>
            <a:off x="6189569" y="167648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3" name="Прямоугольник 172"/>
          <p:cNvSpPr/>
          <p:nvPr/>
        </p:nvSpPr>
        <p:spPr>
          <a:xfrm>
            <a:off x="9005012" y="213258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4" name="Прямоугольник 173"/>
          <p:cNvSpPr/>
          <p:nvPr/>
        </p:nvSpPr>
        <p:spPr>
          <a:xfrm>
            <a:off x="2090321" y="4647132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5" name="Прямоугольник 174"/>
          <p:cNvSpPr/>
          <p:nvPr/>
        </p:nvSpPr>
        <p:spPr>
          <a:xfrm>
            <a:off x="3989864" y="489647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6" name="Прямоугольник 175"/>
          <p:cNvSpPr/>
          <p:nvPr/>
        </p:nvSpPr>
        <p:spPr>
          <a:xfrm>
            <a:off x="6705534" y="468614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95" y="2269818"/>
            <a:ext cx="1008000" cy="71269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247" y="2436560"/>
            <a:ext cx="432000" cy="611002"/>
          </a:xfrm>
          <a:prstGeom prst="rect">
            <a:avLst/>
          </a:prstGeom>
        </p:spPr>
      </p:pic>
      <p:pic>
        <p:nvPicPr>
          <p:cNvPr id="107" name="Рисунок 10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891" y="1764074"/>
            <a:ext cx="432000" cy="61100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67" y="5194247"/>
            <a:ext cx="1008000" cy="71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5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43406979"/>
              </p:ext>
            </p:extLst>
          </p:nvPr>
        </p:nvGraphicFramePr>
        <p:xfrm>
          <a:off x="1771650" y="2029224"/>
          <a:ext cx="8648700" cy="3242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чтение текстовых файлов</a:t>
            </a:r>
            <a:r>
              <a:rPr lang="en-US" sz="2400" dirty="0"/>
              <a:t> </a:t>
            </a:r>
            <a:r>
              <a:rPr lang="ru-RU" sz="2400" dirty="0" smtClean="0"/>
              <a:t>в одном потоке </a:t>
            </a:r>
            <a:r>
              <a:rPr lang="en-US" sz="2400" dirty="0" smtClean="0"/>
              <a:t>(</a:t>
            </a:r>
            <a:r>
              <a:rPr lang="ru-RU" sz="2400" dirty="0"/>
              <a:t>общий объём: 415МБ</a:t>
            </a:r>
            <a:r>
              <a:rPr lang="en-US" sz="2400" dirty="0"/>
              <a:t>)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чтения большого количества файлов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29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Рисунок 1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796" y="3110158"/>
            <a:ext cx="1399930" cy="1980000"/>
          </a:xfrm>
          <a:prstGeom prst="rect">
            <a:avLst/>
          </a:prstGeom>
        </p:spPr>
      </p:pic>
      <p:pic>
        <p:nvPicPr>
          <p:cNvPr id="266" name="Рисунок 26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" y="3184604"/>
            <a:ext cx="1399929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13</a:t>
            </a:fld>
            <a:endParaRPr lang="ru-RU"/>
          </a:p>
        </p:txBody>
      </p:sp>
      <p:sp>
        <p:nvSpPr>
          <p:cNvPr id="9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Чтение файлов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cxnSp>
        <p:nvCxnSpPr>
          <p:cNvPr id="94" name="Прямая соединительная линия 9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Скругленный прямоугольник 102"/>
          <p:cNvSpPr/>
          <p:nvPr/>
        </p:nvSpPr>
        <p:spPr>
          <a:xfrm>
            <a:off x="2375796" y="1974410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4" name="Стрелка вправо 103"/>
          <p:cNvSpPr/>
          <p:nvPr/>
        </p:nvSpPr>
        <p:spPr>
          <a:xfrm>
            <a:off x="4557869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Овал 104"/>
          <p:cNvSpPr/>
          <p:nvPr/>
        </p:nvSpPr>
        <p:spPr>
          <a:xfrm>
            <a:off x="5145598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Овал 105"/>
          <p:cNvSpPr/>
          <p:nvPr/>
        </p:nvSpPr>
        <p:spPr>
          <a:xfrm>
            <a:off x="5145598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Овал 106"/>
          <p:cNvSpPr/>
          <p:nvPr/>
        </p:nvSpPr>
        <p:spPr>
          <a:xfrm>
            <a:off x="5145598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TextBox 107"/>
          <p:cNvSpPr txBox="1"/>
          <p:nvPr/>
        </p:nvSpPr>
        <p:spPr>
          <a:xfrm>
            <a:off x="5284097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109" name="TextBox 108"/>
          <p:cNvSpPr txBox="1"/>
          <p:nvPr/>
        </p:nvSpPr>
        <p:spPr>
          <a:xfrm>
            <a:off x="5621334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</a:t>
            </a:r>
            <a:r>
              <a:rPr lang="en-US" dirty="0"/>
              <a:t>p</a:t>
            </a:r>
            <a:r>
              <a:rPr lang="en-US" dirty="0" smtClean="0"/>
              <a:t>-1]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2813435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114" name="Прямая со стрелкой 113"/>
          <p:cNvCxnSpPr/>
          <p:nvPr/>
        </p:nvCxnSpPr>
        <p:spPr>
          <a:xfrm>
            <a:off x="3813598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/>
          <p:nvPr/>
        </p:nvCxnSpPr>
        <p:spPr>
          <a:xfrm>
            <a:off x="3813598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/>
          <p:cNvCxnSpPr/>
          <p:nvPr/>
        </p:nvCxnSpPr>
        <p:spPr>
          <a:xfrm>
            <a:off x="3813598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/>
          <p:nvPr/>
        </p:nvCxnSpPr>
        <p:spPr>
          <a:xfrm>
            <a:off x="3813598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945422" y="5848368"/>
            <a:ext cx="618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, d – </a:t>
            </a:r>
            <a:r>
              <a:rPr lang="ru-RU" dirty="0" smtClean="0"/>
              <a:t>количество путей файлов и документов в одном потоке</a:t>
            </a:r>
            <a:endParaRPr lang="ru-RU" dirty="0"/>
          </a:p>
        </p:txBody>
      </p:sp>
      <p:sp>
        <p:nvSpPr>
          <p:cNvPr id="119" name="Стрелка вправо 118"/>
          <p:cNvSpPr/>
          <p:nvPr/>
        </p:nvSpPr>
        <p:spPr>
          <a:xfrm>
            <a:off x="4567619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0" name="Стрелка вправо 119"/>
          <p:cNvSpPr/>
          <p:nvPr/>
        </p:nvSpPr>
        <p:spPr>
          <a:xfrm>
            <a:off x="4571276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/>
          <p:cNvSpPr txBox="1"/>
          <p:nvPr/>
        </p:nvSpPr>
        <p:spPr>
          <a:xfrm>
            <a:off x="5622377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[p, p+p-1]</a:t>
            </a:r>
            <a:endParaRPr lang="ru-RU" dirty="0"/>
          </a:p>
        </p:txBody>
      </p:sp>
      <p:grpSp>
        <p:nvGrpSpPr>
          <p:cNvPr id="122" name="Группа 121"/>
          <p:cNvGrpSpPr/>
          <p:nvPr/>
        </p:nvGrpSpPr>
        <p:grpSpPr>
          <a:xfrm>
            <a:off x="2792148" y="2710165"/>
            <a:ext cx="979647" cy="3068187"/>
            <a:chOff x="2192841" y="1913158"/>
            <a:chExt cx="914273" cy="3068187"/>
          </a:xfrm>
        </p:grpSpPr>
        <p:sp>
          <p:nvSpPr>
            <p:cNvPr id="123" name="Прямоугольник 122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Прямоугольник 123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Прямоугольник 124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6" name="Группа 125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146" name="Овал 145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7" name="Прямоугольник 126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8" name="Группа 127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143" name="Овал 142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4" name="Овал 143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5" name="Овал 144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9" name="Прямоугольник 128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Прямоугольник 129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Прямоугольник 130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2" name="Группа 131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140" name="Овал 139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1" name="Овал 140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2" name="Овал 141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3" name="Прямоугольник 132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Прямоугольник 133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Прямоугольник 134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6" name="Группа 135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137" name="Овал 13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149" name="Прямая со стрелкой 148"/>
          <p:cNvCxnSpPr/>
          <p:nvPr/>
        </p:nvCxnSpPr>
        <p:spPr>
          <a:xfrm>
            <a:off x="3813598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Прямая со стрелкой 149"/>
          <p:cNvCxnSpPr/>
          <p:nvPr/>
        </p:nvCxnSpPr>
        <p:spPr>
          <a:xfrm>
            <a:off x="3813598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5625398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[n+1-p, n]</a:t>
            </a:r>
            <a:endParaRPr lang="ru-RU" dirty="0"/>
          </a:p>
        </p:txBody>
      </p:sp>
      <p:sp>
        <p:nvSpPr>
          <p:cNvPr id="155" name="TextBox 154"/>
          <p:cNvSpPr txBox="1"/>
          <p:nvPr/>
        </p:nvSpPr>
        <p:spPr>
          <a:xfrm>
            <a:off x="2743976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56" name="TextBox 155"/>
          <p:cNvSpPr txBox="1"/>
          <p:nvPr/>
        </p:nvSpPr>
        <p:spPr>
          <a:xfrm>
            <a:off x="2739061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p-1</a:t>
            </a:r>
            <a:endParaRPr lang="ru-RU" dirty="0"/>
          </a:p>
        </p:txBody>
      </p:sp>
      <p:sp>
        <p:nvSpPr>
          <p:cNvPr id="157" name="TextBox 156"/>
          <p:cNvSpPr txBox="1"/>
          <p:nvPr/>
        </p:nvSpPr>
        <p:spPr>
          <a:xfrm>
            <a:off x="2743978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sp>
        <p:nvSpPr>
          <p:cNvPr id="158" name="TextBox 157"/>
          <p:cNvSpPr txBox="1"/>
          <p:nvPr/>
        </p:nvSpPr>
        <p:spPr>
          <a:xfrm>
            <a:off x="2739062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p+p-1</a:t>
            </a:r>
            <a:endParaRPr lang="ru-RU" dirty="0"/>
          </a:p>
        </p:txBody>
      </p:sp>
      <p:sp>
        <p:nvSpPr>
          <p:cNvPr id="159" name="TextBox 158"/>
          <p:cNvSpPr txBox="1"/>
          <p:nvPr/>
        </p:nvSpPr>
        <p:spPr>
          <a:xfrm>
            <a:off x="2739062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n+1-p</a:t>
            </a:r>
            <a:endParaRPr lang="ru-RU" dirty="0"/>
          </a:p>
        </p:txBody>
      </p:sp>
      <p:sp>
        <p:nvSpPr>
          <p:cNvPr id="160" name="TextBox 159"/>
          <p:cNvSpPr txBox="1"/>
          <p:nvPr/>
        </p:nvSpPr>
        <p:spPr>
          <a:xfrm>
            <a:off x="2743979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grpSp>
        <p:nvGrpSpPr>
          <p:cNvPr id="161" name="Группа 160"/>
          <p:cNvGrpSpPr/>
          <p:nvPr/>
        </p:nvGrpSpPr>
        <p:grpSpPr>
          <a:xfrm>
            <a:off x="4965598" y="3204000"/>
            <a:ext cx="293148" cy="72000"/>
            <a:chOff x="4356000" y="3204000"/>
            <a:chExt cx="293148" cy="72000"/>
          </a:xfrm>
        </p:grpSpPr>
        <p:sp>
          <p:nvSpPr>
            <p:cNvPr id="162" name="Овал 161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Овал 162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Овал 163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5" name="Группа 164"/>
          <p:cNvGrpSpPr/>
          <p:nvPr/>
        </p:nvGrpSpPr>
        <p:grpSpPr>
          <a:xfrm>
            <a:off x="4960682" y="3916838"/>
            <a:ext cx="293148" cy="72000"/>
            <a:chOff x="4356000" y="3204000"/>
            <a:chExt cx="293148" cy="72000"/>
          </a:xfrm>
        </p:grpSpPr>
        <p:sp>
          <p:nvSpPr>
            <p:cNvPr id="166" name="Овал 165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Овал 166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Овал 167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4965598" y="5504751"/>
            <a:ext cx="293148" cy="72000"/>
            <a:chOff x="4356000" y="3204000"/>
            <a:chExt cx="293148" cy="72000"/>
          </a:xfrm>
        </p:grpSpPr>
        <p:sp>
          <p:nvSpPr>
            <p:cNvPr id="170" name="Овал 169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Овал 170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Овал 171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2715319" y="2151227"/>
            <a:ext cx="11288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  <a:r>
              <a:rPr lang="en-US" sz="1000" dirty="0" smtClean="0"/>
              <a:t> </a:t>
            </a:r>
            <a:r>
              <a:rPr lang="ru-RU" sz="1000" dirty="0" smtClean="0"/>
              <a:t>путей </a:t>
            </a:r>
          </a:p>
          <a:p>
            <a:r>
              <a:rPr lang="ru-RU" sz="1000" dirty="0" smtClean="0"/>
              <a:t>файлов 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sp>
        <p:nvSpPr>
          <p:cNvPr id="174" name="Стрелка вправо 173"/>
          <p:cNvSpPr/>
          <p:nvPr/>
        </p:nvSpPr>
        <p:spPr>
          <a:xfrm>
            <a:off x="1420418" y="3907217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5" name="Стрелка вправо 174"/>
          <p:cNvSpPr/>
          <p:nvPr/>
        </p:nvSpPr>
        <p:spPr>
          <a:xfrm>
            <a:off x="9756092" y="391216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4" name="Группа 203"/>
          <p:cNvGrpSpPr/>
          <p:nvPr/>
        </p:nvGrpSpPr>
        <p:grpSpPr>
          <a:xfrm>
            <a:off x="8568618" y="2715085"/>
            <a:ext cx="979647" cy="3068187"/>
            <a:chOff x="2192841" y="1913158"/>
            <a:chExt cx="914273" cy="3068187"/>
          </a:xfrm>
        </p:grpSpPr>
        <p:sp>
          <p:nvSpPr>
            <p:cNvPr id="205" name="Прямоугольник 204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Прямоугольник 205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Прямоугольник 206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08" name="Группа 207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228" name="Овал 227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9" name="Овал 228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0" name="Овал 229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09" name="Прямоугольник 208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0" name="Группа 209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225" name="Овал 224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6" name="Овал 225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7" name="Овал 226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11" name="Прямоугольник 210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2" name="Прямоугольник 211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3" name="Прямоугольник 212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4" name="Группа 213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222" name="Овал 221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3" name="Овал 222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4" name="Овал 223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15" name="Прямоугольник 214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6" name="Прямоугольник 215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7" name="Прямоугольник 216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8" name="Группа 217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219" name="Овал 218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0" name="Овал 219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1" name="Овал 220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231" name="TextBox 230"/>
          <p:cNvSpPr txBox="1"/>
          <p:nvPr/>
        </p:nvSpPr>
        <p:spPr>
          <a:xfrm>
            <a:off x="8520446" y="265561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232" name="TextBox 231"/>
          <p:cNvSpPr txBox="1"/>
          <p:nvPr/>
        </p:nvSpPr>
        <p:spPr>
          <a:xfrm>
            <a:off x="8515531" y="314232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-1</a:t>
            </a:r>
            <a:endParaRPr lang="ru-RU" dirty="0"/>
          </a:p>
        </p:txBody>
      </p:sp>
      <p:sp>
        <p:nvSpPr>
          <p:cNvPr id="233" name="TextBox 232"/>
          <p:cNvSpPr txBox="1"/>
          <p:nvPr/>
        </p:nvSpPr>
        <p:spPr>
          <a:xfrm>
            <a:off x="8520448" y="340287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234" name="TextBox 233"/>
          <p:cNvSpPr txBox="1"/>
          <p:nvPr/>
        </p:nvSpPr>
        <p:spPr>
          <a:xfrm>
            <a:off x="8515532" y="388956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d+d-1</a:t>
            </a:r>
            <a:endParaRPr lang="ru-RU" dirty="0"/>
          </a:p>
        </p:txBody>
      </p:sp>
      <p:sp>
        <p:nvSpPr>
          <p:cNvPr id="235" name="TextBox 234"/>
          <p:cNvSpPr txBox="1"/>
          <p:nvPr/>
        </p:nvSpPr>
        <p:spPr>
          <a:xfrm>
            <a:off x="8515532" y="498094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n+1-d</a:t>
            </a:r>
            <a:endParaRPr lang="ru-RU" dirty="0"/>
          </a:p>
        </p:txBody>
      </p:sp>
      <p:sp>
        <p:nvSpPr>
          <p:cNvPr id="236" name="TextBox 235"/>
          <p:cNvSpPr txBox="1"/>
          <p:nvPr/>
        </p:nvSpPr>
        <p:spPr>
          <a:xfrm>
            <a:off x="8520449" y="546764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sp>
        <p:nvSpPr>
          <p:cNvPr id="237" name="TextBox 236"/>
          <p:cNvSpPr txBox="1"/>
          <p:nvPr/>
        </p:nvSpPr>
        <p:spPr>
          <a:xfrm>
            <a:off x="8618957" y="2253820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pic>
        <p:nvPicPr>
          <p:cNvPr id="238" name="Рисунок 2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771" y="2699868"/>
            <a:ext cx="203628" cy="288000"/>
          </a:xfrm>
          <a:prstGeom prst="rect">
            <a:avLst/>
          </a:prstGeom>
        </p:spPr>
      </p:pic>
      <p:pic>
        <p:nvPicPr>
          <p:cNvPr id="239" name="Рисунок 2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689" y="3186566"/>
            <a:ext cx="203628" cy="288000"/>
          </a:xfrm>
          <a:prstGeom prst="rect">
            <a:avLst/>
          </a:prstGeom>
        </p:spPr>
      </p:pic>
      <p:pic>
        <p:nvPicPr>
          <p:cNvPr id="240" name="Рисунок 2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820" y="3442206"/>
            <a:ext cx="203628" cy="288000"/>
          </a:xfrm>
          <a:prstGeom prst="rect">
            <a:avLst/>
          </a:prstGeom>
        </p:spPr>
      </p:pic>
      <p:pic>
        <p:nvPicPr>
          <p:cNvPr id="241" name="Рисунок 2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957" y="3933819"/>
            <a:ext cx="203628" cy="288000"/>
          </a:xfrm>
          <a:prstGeom prst="rect">
            <a:avLst/>
          </a:prstGeom>
        </p:spPr>
      </p:pic>
      <p:pic>
        <p:nvPicPr>
          <p:cNvPr id="242" name="Рисунок 2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854" y="5015371"/>
            <a:ext cx="203628" cy="288000"/>
          </a:xfrm>
          <a:prstGeom prst="rect">
            <a:avLst/>
          </a:prstGeom>
        </p:spPr>
      </p:pic>
      <p:pic>
        <p:nvPicPr>
          <p:cNvPr id="243" name="Рисунок 2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22" y="5516814"/>
            <a:ext cx="203628" cy="288000"/>
          </a:xfrm>
          <a:prstGeom prst="rect">
            <a:avLst/>
          </a:prstGeom>
        </p:spPr>
      </p:pic>
      <p:cxnSp>
        <p:nvCxnSpPr>
          <p:cNvPr id="244" name="Прямая со стрелкой 243"/>
          <p:cNvCxnSpPr/>
          <p:nvPr/>
        </p:nvCxnSpPr>
        <p:spPr>
          <a:xfrm>
            <a:off x="7800584" y="283908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Прямая со стрелкой 244"/>
          <p:cNvCxnSpPr/>
          <p:nvPr/>
        </p:nvCxnSpPr>
        <p:spPr>
          <a:xfrm>
            <a:off x="7800584" y="330708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Прямая со стрелкой 245"/>
          <p:cNvCxnSpPr/>
          <p:nvPr/>
        </p:nvCxnSpPr>
        <p:spPr>
          <a:xfrm>
            <a:off x="7800584" y="358367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Прямая со стрелкой 246"/>
          <p:cNvCxnSpPr/>
          <p:nvPr/>
        </p:nvCxnSpPr>
        <p:spPr>
          <a:xfrm>
            <a:off x="7800584" y="40796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Прямая со стрелкой 247"/>
          <p:cNvCxnSpPr/>
          <p:nvPr/>
        </p:nvCxnSpPr>
        <p:spPr>
          <a:xfrm>
            <a:off x="7800584" y="515623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Прямая со стрелкой 248"/>
          <p:cNvCxnSpPr/>
          <p:nvPr/>
        </p:nvCxnSpPr>
        <p:spPr>
          <a:xfrm>
            <a:off x="7800584" y="5652765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680" y="2498069"/>
            <a:ext cx="763603" cy="1080000"/>
          </a:xfrm>
          <a:prstGeom prst="rect">
            <a:avLst/>
          </a:prstGeom>
        </p:spPr>
      </p:pic>
      <p:pic>
        <p:nvPicPr>
          <p:cNvPr id="251" name="Рисунок 25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64" y="3220743"/>
            <a:ext cx="763603" cy="1080000"/>
          </a:xfrm>
          <a:prstGeom prst="rect">
            <a:avLst/>
          </a:prstGeom>
        </p:spPr>
      </p:pic>
      <p:pic>
        <p:nvPicPr>
          <p:cNvPr id="252" name="Рисунок 2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64" y="4813569"/>
            <a:ext cx="763603" cy="108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461" y="2871232"/>
            <a:ext cx="540000" cy="763753"/>
          </a:xfrm>
          <a:prstGeom prst="rect">
            <a:avLst/>
          </a:prstGeom>
        </p:spPr>
      </p:pic>
      <p:pic>
        <p:nvPicPr>
          <p:cNvPr id="253" name="Рисунок 25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7" y="2876149"/>
            <a:ext cx="540000" cy="763753"/>
          </a:xfrm>
          <a:prstGeom prst="rect">
            <a:avLst/>
          </a:prstGeom>
        </p:spPr>
      </p:pic>
      <p:pic>
        <p:nvPicPr>
          <p:cNvPr id="254" name="Рисунок 25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10" y="3603736"/>
            <a:ext cx="540000" cy="763753"/>
          </a:xfrm>
          <a:prstGeom prst="rect">
            <a:avLst/>
          </a:prstGeom>
        </p:spPr>
      </p:pic>
      <p:pic>
        <p:nvPicPr>
          <p:cNvPr id="255" name="Рисунок 25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5" y="3603734"/>
            <a:ext cx="540000" cy="763753"/>
          </a:xfrm>
          <a:prstGeom prst="rect">
            <a:avLst/>
          </a:prstGeom>
        </p:spPr>
      </p:pic>
      <p:pic>
        <p:nvPicPr>
          <p:cNvPr id="256" name="Рисунок 25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09" y="5176902"/>
            <a:ext cx="540000" cy="763753"/>
          </a:xfrm>
          <a:prstGeom prst="rect">
            <a:avLst/>
          </a:prstGeom>
        </p:spPr>
      </p:pic>
      <p:pic>
        <p:nvPicPr>
          <p:cNvPr id="257" name="Рисунок 25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6" y="5176903"/>
            <a:ext cx="540000" cy="763753"/>
          </a:xfrm>
          <a:prstGeom prst="rect">
            <a:avLst/>
          </a:prstGeom>
        </p:spPr>
      </p:pic>
      <p:pic>
        <p:nvPicPr>
          <p:cNvPr id="258" name="Рисунок 25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2591010"/>
            <a:ext cx="381800" cy="540000"/>
          </a:xfrm>
          <a:prstGeom prst="rect">
            <a:avLst/>
          </a:prstGeom>
        </p:spPr>
      </p:pic>
      <p:pic>
        <p:nvPicPr>
          <p:cNvPr id="260" name="Рисунок 25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412" y="3087538"/>
            <a:ext cx="381800" cy="540000"/>
          </a:xfrm>
          <a:prstGeom prst="rect">
            <a:avLst/>
          </a:prstGeom>
        </p:spPr>
      </p:pic>
      <p:pic>
        <p:nvPicPr>
          <p:cNvPr id="261" name="Рисунок 26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3328429"/>
            <a:ext cx="381800" cy="540000"/>
          </a:xfrm>
          <a:prstGeom prst="rect">
            <a:avLst/>
          </a:prstGeom>
        </p:spPr>
      </p:pic>
      <p:pic>
        <p:nvPicPr>
          <p:cNvPr id="262" name="Рисунок 2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3829874"/>
            <a:ext cx="381800" cy="540000"/>
          </a:xfrm>
          <a:prstGeom prst="rect">
            <a:avLst/>
          </a:prstGeom>
        </p:spPr>
      </p:pic>
      <p:pic>
        <p:nvPicPr>
          <p:cNvPr id="263" name="Рисунок 26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4911425"/>
            <a:ext cx="381800" cy="540000"/>
          </a:xfrm>
          <a:prstGeom prst="rect">
            <a:avLst/>
          </a:prstGeom>
        </p:spPr>
      </p:pic>
      <p:pic>
        <p:nvPicPr>
          <p:cNvPr id="264" name="Рисунок 26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5412871"/>
            <a:ext cx="381800" cy="540000"/>
          </a:xfrm>
          <a:prstGeom prst="rect">
            <a:avLst/>
          </a:prstGeom>
        </p:spPr>
      </p:pic>
      <p:sp>
        <p:nvSpPr>
          <p:cNvPr id="265" name="TextBox 264"/>
          <p:cNvSpPr txBox="1"/>
          <p:nvPr/>
        </p:nvSpPr>
        <p:spPr>
          <a:xfrm>
            <a:off x="-35978" y="4735940"/>
            <a:ext cx="160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контейнер путей 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650934" y="4769086"/>
            <a:ext cx="14875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контейнер документов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68335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4366962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7063" y="4873723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7,1 раза</a:t>
            </a:r>
            <a:endParaRPr lang="ru-RU" dirty="0"/>
          </a:p>
        </p:txBody>
      </p:sp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2487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25865" y="4875768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7,5 раза</a:t>
            </a:r>
            <a:endParaRPr lang="ru-RU" dirty="0"/>
          </a:p>
        </p:txBody>
      </p:sp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78757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87244" y="4877107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7,2 раза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/>
              <a:t>чтение текстовых файлов</a:t>
            </a:r>
            <a:r>
              <a:rPr lang="en-US" sz="2400" dirty="0"/>
              <a:t> </a:t>
            </a:r>
            <a:r>
              <a:rPr lang="ru-RU" sz="2400" dirty="0" smtClean="0"/>
              <a:t>в 14 дополнительных потоках </a:t>
            </a:r>
            <a:r>
              <a:rPr lang="en-US" sz="2400" dirty="0" smtClean="0"/>
              <a:t>(</a:t>
            </a:r>
            <a:r>
              <a:rPr lang="ru-RU" sz="2400" dirty="0"/>
              <a:t>общий объём: 415МБ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чтения большого количества файлов</a:t>
            </a:r>
            <a:endParaRPr lang="ru-RU" sz="4000" dirty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554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866086831"/>
              </p:ext>
            </p:extLst>
          </p:nvPr>
        </p:nvGraphicFramePr>
        <p:xfrm>
          <a:off x="1771650" y="2029224"/>
          <a:ext cx="8648700" cy="3561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индексация документов в одном потоке </a:t>
            </a:r>
            <a:r>
              <a:rPr lang="en-US" sz="2400" dirty="0" smtClean="0"/>
              <a:t>(</a:t>
            </a:r>
            <a:r>
              <a:rPr lang="ru-RU" sz="2400" dirty="0" smtClean="0"/>
              <a:t>разный объём баз документов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индексации большого количества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70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037" y="3444542"/>
            <a:ext cx="1980000" cy="1399928"/>
          </a:xfrm>
          <a:prstGeom prst="rect">
            <a:avLst/>
          </a:prstGeom>
        </p:spPr>
      </p:pic>
      <p:pic>
        <p:nvPicPr>
          <p:cNvPr id="110" name="Рисунок 10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" y="3110158"/>
            <a:ext cx="1399930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16</a:t>
            </a:fld>
            <a:endParaRPr lang="ru-RU"/>
          </a:p>
        </p:txBody>
      </p:sp>
      <p:sp>
        <p:nvSpPr>
          <p:cNvPr id="17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Индексация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cxnSp>
        <p:nvCxnSpPr>
          <p:cNvPr id="176" name="Прямая соединительная линия 17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Скругленный прямоугольник 216"/>
          <p:cNvSpPr/>
          <p:nvPr/>
        </p:nvSpPr>
        <p:spPr>
          <a:xfrm>
            <a:off x="2483950" y="1974410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8" name="Стрелка вправо 217"/>
          <p:cNvSpPr/>
          <p:nvPr/>
        </p:nvSpPr>
        <p:spPr>
          <a:xfrm>
            <a:off x="4666023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Овал 218"/>
          <p:cNvSpPr/>
          <p:nvPr/>
        </p:nvSpPr>
        <p:spPr>
          <a:xfrm>
            <a:off x="5253752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0" name="Овал 219"/>
          <p:cNvSpPr/>
          <p:nvPr/>
        </p:nvSpPr>
        <p:spPr>
          <a:xfrm>
            <a:off x="5253752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1" name="Овал 220"/>
          <p:cNvSpPr/>
          <p:nvPr/>
        </p:nvSpPr>
        <p:spPr>
          <a:xfrm>
            <a:off x="5253752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2" name="TextBox 221"/>
          <p:cNvSpPr txBox="1"/>
          <p:nvPr/>
        </p:nvSpPr>
        <p:spPr>
          <a:xfrm>
            <a:off x="5392251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223" name="TextBox 222"/>
          <p:cNvSpPr txBox="1"/>
          <p:nvPr/>
        </p:nvSpPr>
        <p:spPr>
          <a:xfrm>
            <a:off x="5729488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d-1]</a:t>
            </a:r>
            <a:endParaRPr lang="ru-RU" dirty="0"/>
          </a:p>
        </p:txBody>
      </p:sp>
      <p:sp>
        <p:nvSpPr>
          <p:cNvPr id="228" name="TextBox 227"/>
          <p:cNvSpPr txBox="1"/>
          <p:nvPr/>
        </p:nvSpPr>
        <p:spPr>
          <a:xfrm>
            <a:off x="2921589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229" name="Прямая со стрелкой 228"/>
          <p:cNvCxnSpPr/>
          <p:nvPr/>
        </p:nvCxnSpPr>
        <p:spPr>
          <a:xfrm>
            <a:off x="3921752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 стрелкой 229"/>
          <p:cNvCxnSpPr/>
          <p:nvPr/>
        </p:nvCxnSpPr>
        <p:spPr>
          <a:xfrm>
            <a:off x="3921752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рямая со стрелкой 230"/>
          <p:cNvCxnSpPr/>
          <p:nvPr/>
        </p:nvCxnSpPr>
        <p:spPr>
          <a:xfrm>
            <a:off x="3921752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рямая со стрелкой 231"/>
          <p:cNvCxnSpPr/>
          <p:nvPr/>
        </p:nvCxnSpPr>
        <p:spPr>
          <a:xfrm>
            <a:off x="3921752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3053576" y="5848368"/>
            <a:ext cx="4443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 – </a:t>
            </a:r>
            <a:r>
              <a:rPr lang="ru-RU" dirty="0" smtClean="0"/>
              <a:t>количество документов в одном потоке</a:t>
            </a:r>
            <a:endParaRPr lang="ru-RU" dirty="0"/>
          </a:p>
        </p:txBody>
      </p:sp>
      <p:sp>
        <p:nvSpPr>
          <p:cNvPr id="235" name="Стрелка вправо 234"/>
          <p:cNvSpPr/>
          <p:nvPr/>
        </p:nvSpPr>
        <p:spPr>
          <a:xfrm>
            <a:off x="4675773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8" name="Стрелка вправо 237"/>
          <p:cNvSpPr/>
          <p:nvPr/>
        </p:nvSpPr>
        <p:spPr>
          <a:xfrm>
            <a:off x="4679430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9" name="TextBox 238"/>
          <p:cNvSpPr txBox="1"/>
          <p:nvPr/>
        </p:nvSpPr>
        <p:spPr>
          <a:xfrm>
            <a:off x="5730531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[d, d+d-1]</a:t>
            </a:r>
            <a:endParaRPr lang="ru-RU" dirty="0"/>
          </a:p>
        </p:txBody>
      </p:sp>
      <p:grpSp>
        <p:nvGrpSpPr>
          <p:cNvPr id="240" name="Группа 239"/>
          <p:cNvGrpSpPr/>
          <p:nvPr/>
        </p:nvGrpSpPr>
        <p:grpSpPr>
          <a:xfrm>
            <a:off x="2900302" y="2710165"/>
            <a:ext cx="979647" cy="3068187"/>
            <a:chOff x="2192841" y="1913158"/>
            <a:chExt cx="914273" cy="3068187"/>
          </a:xfrm>
        </p:grpSpPr>
        <p:sp>
          <p:nvSpPr>
            <p:cNvPr id="241" name="Прямоугольник 240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2" name="Прямоугольник 241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3" name="Прямоугольник 242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44" name="Группа 243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270" name="Овал 269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1" name="Овал 270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2" name="Овал 271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7" name="Прямоугольник 246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48" name="Группа 247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267" name="Овал 26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8" name="Овал 26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9" name="Овал 26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9" name="Прямоугольник 248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0" name="Прямоугольник 249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3" name="Прямоугольник 252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54" name="Группа 253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264" name="Овал 263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5" name="Овал 264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6" name="Овал 265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55" name="Прямоугольник 254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6" name="Прямоугольник 255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9" name="Прямоугольник 258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60" name="Группа 259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261" name="Овал 260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2" name="Овал 261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3" name="Овал 262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273" name="Прямая со стрелкой 272"/>
          <p:cNvCxnSpPr/>
          <p:nvPr/>
        </p:nvCxnSpPr>
        <p:spPr>
          <a:xfrm>
            <a:off x="3921752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Прямая со стрелкой 273"/>
          <p:cNvCxnSpPr/>
          <p:nvPr/>
        </p:nvCxnSpPr>
        <p:spPr>
          <a:xfrm>
            <a:off x="3921752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5733552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[n+1-d, n]</a:t>
            </a:r>
            <a:endParaRPr lang="ru-RU" dirty="0"/>
          </a:p>
        </p:txBody>
      </p:sp>
      <p:cxnSp>
        <p:nvCxnSpPr>
          <p:cNvPr id="290" name="Прямая со стрелкой 289"/>
          <p:cNvCxnSpPr/>
          <p:nvPr/>
        </p:nvCxnSpPr>
        <p:spPr>
          <a:xfrm>
            <a:off x="7917752" y="3041232"/>
            <a:ext cx="630182" cy="53997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Прямая со стрелкой 290"/>
          <p:cNvCxnSpPr/>
          <p:nvPr/>
        </p:nvCxnSpPr>
        <p:spPr>
          <a:xfrm flipV="1">
            <a:off x="7917752" y="3827035"/>
            <a:ext cx="648000" cy="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Прямая со стрелкой 291"/>
          <p:cNvCxnSpPr/>
          <p:nvPr/>
        </p:nvCxnSpPr>
        <p:spPr>
          <a:xfrm flipV="1">
            <a:off x="7917752" y="4918657"/>
            <a:ext cx="648000" cy="4673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TextBox 292"/>
          <p:cNvSpPr txBox="1"/>
          <p:nvPr/>
        </p:nvSpPr>
        <p:spPr>
          <a:xfrm>
            <a:off x="2852130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294" name="TextBox 293"/>
          <p:cNvSpPr txBox="1"/>
          <p:nvPr/>
        </p:nvSpPr>
        <p:spPr>
          <a:xfrm>
            <a:off x="2847215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-1</a:t>
            </a:r>
            <a:endParaRPr lang="ru-RU" dirty="0"/>
          </a:p>
        </p:txBody>
      </p:sp>
      <p:sp>
        <p:nvSpPr>
          <p:cNvPr id="295" name="TextBox 294"/>
          <p:cNvSpPr txBox="1"/>
          <p:nvPr/>
        </p:nvSpPr>
        <p:spPr>
          <a:xfrm>
            <a:off x="2852132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296" name="TextBox 295"/>
          <p:cNvSpPr txBox="1"/>
          <p:nvPr/>
        </p:nvSpPr>
        <p:spPr>
          <a:xfrm>
            <a:off x="2847216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d+d-1</a:t>
            </a:r>
            <a:endParaRPr lang="ru-RU" dirty="0"/>
          </a:p>
        </p:txBody>
      </p:sp>
      <p:sp>
        <p:nvSpPr>
          <p:cNvPr id="297" name="TextBox 296"/>
          <p:cNvSpPr txBox="1"/>
          <p:nvPr/>
        </p:nvSpPr>
        <p:spPr>
          <a:xfrm>
            <a:off x="2847216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n+1-d</a:t>
            </a:r>
            <a:endParaRPr lang="ru-RU" dirty="0"/>
          </a:p>
        </p:txBody>
      </p:sp>
      <p:sp>
        <p:nvSpPr>
          <p:cNvPr id="298" name="TextBox 297"/>
          <p:cNvSpPr txBox="1"/>
          <p:nvPr/>
        </p:nvSpPr>
        <p:spPr>
          <a:xfrm>
            <a:off x="2852133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grpSp>
        <p:nvGrpSpPr>
          <p:cNvPr id="302" name="Группа 301"/>
          <p:cNvGrpSpPr/>
          <p:nvPr/>
        </p:nvGrpSpPr>
        <p:grpSpPr>
          <a:xfrm>
            <a:off x="5073752" y="3204000"/>
            <a:ext cx="293148" cy="72000"/>
            <a:chOff x="4356000" y="3204000"/>
            <a:chExt cx="293148" cy="72000"/>
          </a:xfrm>
        </p:grpSpPr>
        <p:sp>
          <p:nvSpPr>
            <p:cNvPr id="303" name="Овал 302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4" name="Овал 303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5" name="Овал 304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06" name="Группа 305"/>
          <p:cNvGrpSpPr/>
          <p:nvPr/>
        </p:nvGrpSpPr>
        <p:grpSpPr>
          <a:xfrm>
            <a:off x="5068836" y="3916838"/>
            <a:ext cx="293148" cy="72000"/>
            <a:chOff x="4356000" y="3204000"/>
            <a:chExt cx="293148" cy="72000"/>
          </a:xfrm>
        </p:grpSpPr>
        <p:sp>
          <p:nvSpPr>
            <p:cNvPr id="307" name="Овал 306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8" name="Овал 307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9" name="Овал 308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10" name="Группа 309"/>
          <p:cNvGrpSpPr/>
          <p:nvPr/>
        </p:nvGrpSpPr>
        <p:grpSpPr>
          <a:xfrm>
            <a:off x="5073752" y="5504751"/>
            <a:ext cx="293148" cy="72000"/>
            <a:chOff x="4356000" y="3204000"/>
            <a:chExt cx="293148" cy="72000"/>
          </a:xfrm>
        </p:grpSpPr>
        <p:sp>
          <p:nvSpPr>
            <p:cNvPr id="311" name="Овал 310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2" name="Овал 311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3" name="Овал 312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7" name="TextBox 156"/>
          <p:cNvSpPr txBox="1"/>
          <p:nvPr/>
        </p:nvSpPr>
        <p:spPr>
          <a:xfrm>
            <a:off x="2950641" y="2248900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sp>
        <p:nvSpPr>
          <p:cNvPr id="316" name="Стрелка вправо 315"/>
          <p:cNvSpPr/>
          <p:nvPr/>
        </p:nvSpPr>
        <p:spPr>
          <a:xfrm>
            <a:off x="1548244" y="3907217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7" name="Стрелка вправо 316"/>
          <p:cNvSpPr/>
          <p:nvPr/>
        </p:nvSpPr>
        <p:spPr>
          <a:xfrm>
            <a:off x="9893740" y="391216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18" name="Группа 317"/>
          <p:cNvGrpSpPr/>
          <p:nvPr/>
        </p:nvGrpSpPr>
        <p:grpSpPr>
          <a:xfrm>
            <a:off x="8709207" y="3447811"/>
            <a:ext cx="975389" cy="1589455"/>
            <a:chOff x="8276594" y="2297437"/>
            <a:chExt cx="975389" cy="1589455"/>
          </a:xfrm>
        </p:grpSpPr>
        <p:sp>
          <p:nvSpPr>
            <p:cNvPr id="319" name="Прямоугольник 318"/>
            <p:cNvSpPr/>
            <p:nvPr/>
          </p:nvSpPr>
          <p:spPr>
            <a:xfrm>
              <a:off x="8276594" y="2305201"/>
              <a:ext cx="972000" cy="15816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0" name="Прямоугольник 319"/>
            <p:cNvSpPr/>
            <p:nvPr/>
          </p:nvSpPr>
          <p:spPr>
            <a:xfrm>
              <a:off x="8279983" y="2297437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321" name="Группа 320"/>
            <p:cNvGrpSpPr/>
            <p:nvPr/>
          </p:nvGrpSpPr>
          <p:grpSpPr>
            <a:xfrm>
              <a:off x="8379666" y="3029952"/>
              <a:ext cx="72000" cy="360000"/>
              <a:chOff x="1404000" y="4356000"/>
              <a:chExt cx="72000" cy="360000"/>
            </a:xfrm>
          </p:grpSpPr>
          <p:sp>
            <p:nvSpPr>
              <p:cNvPr id="327" name="Овал 326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8" name="Овал 327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9" name="Овал 328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23" name="Прямоугольник 322"/>
            <p:cNvSpPr/>
            <p:nvPr/>
          </p:nvSpPr>
          <p:spPr>
            <a:xfrm>
              <a:off x="8278818" y="2543914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4" name="Прямоугольник 323"/>
            <p:cNvSpPr/>
            <p:nvPr/>
          </p:nvSpPr>
          <p:spPr>
            <a:xfrm>
              <a:off x="8278927" y="3634892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0" name="TextBox 329"/>
          <p:cNvSpPr txBox="1"/>
          <p:nvPr/>
        </p:nvSpPr>
        <p:spPr>
          <a:xfrm>
            <a:off x="8658101" y="339303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31" name="TextBox 330"/>
          <p:cNvSpPr txBox="1"/>
          <p:nvPr/>
        </p:nvSpPr>
        <p:spPr>
          <a:xfrm>
            <a:off x="8663019" y="3643760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333" name="TextBox 332"/>
          <p:cNvSpPr txBox="1"/>
          <p:nvPr/>
        </p:nvSpPr>
        <p:spPr>
          <a:xfrm>
            <a:off x="8659077" y="2983200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455" y="2694948"/>
            <a:ext cx="203628" cy="288000"/>
          </a:xfrm>
          <a:prstGeom prst="rect">
            <a:avLst/>
          </a:prstGeom>
        </p:spPr>
      </p:pic>
      <p:pic>
        <p:nvPicPr>
          <p:cNvPr id="334" name="Рисунок 33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2756249"/>
            <a:ext cx="509076" cy="720000"/>
          </a:xfrm>
          <a:prstGeom prst="rect">
            <a:avLst/>
          </a:prstGeom>
        </p:spPr>
      </p:pic>
      <p:pic>
        <p:nvPicPr>
          <p:cNvPr id="335" name="Рисунок 3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749" y="2751334"/>
            <a:ext cx="509076" cy="720000"/>
          </a:xfrm>
          <a:prstGeom prst="rect">
            <a:avLst/>
          </a:prstGeom>
        </p:spPr>
      </p:pic>
      <p:pic>
        <p:nvPicPr>
          <p:cNvPr id="336" name="Рисунок 3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3483840"/>
            <a:ext cx="509076" cy="720000"/>
          </a:xfrm>
          <a:prstGeom prst="rect">
            <a:avLst/>
          </a:prstGeom>
        </p:spPr>
      </p:pic>
      <p:pic>
        <p:nvPicPr>
          <p:cNvPr id="337" name="Рисунок 3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67" y="3483836"/>
            <a:ext cx="509076" cy="720000"/>
          </a:xfrm>
          <a:prstGeom prst="rect">
            <a:avLst/>
          </a:prstGeom>
        </p:spPr>
      </p:pic>
      <p:pic>
        <p:nvPicPr>
          <p:cNvPr id="338" name="Рисунок 3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5066833"/>
            <a:ext cx="509076" cy="720000"/>
          </a:xfrm>
          <a:prstGeom prst="rect">
            <a:avLst/>
          </a:prstGeom>
        </p:spPr>
      </p:pic>
      <p:pic>
        <p:nvPicPr>
          <p:cNvPr id="339" name="Рисунок 33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65" y="5066831"/>
            <a:ext cx="509076" cy="720000"/>
          </a:xfrm>
          <a:prstGeom prst="rect">
            <a:avLst/>
          </a:prstGeom>
        </p:spPr>
      </p:pic>
      <p:pic>
        <p:nvPicPr>
          <p:cNvPr id="340" name="Рисунок 3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373" y="3181646"/>
            <a:ext cx="203628" cy="288000"/>
          </a:xfrm>
          <a:prstGeom prst="rect">
            <a:avLst/>
          </a:prstGeom>
        </p:spPr>
      </p:pic>
      <p:pic>
        <p:nvPicPr>
          <p:cNvPr id="341" name="Рисунок 3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504" y="3437286"/>
            <a:ext cx="203628" cy="288000"/>
          </a:xfrm>
          <a:prstGeom prst="rect">
            <a:avLst/>
          </a:prstGeom>
        </p:spPr>
      </p:pic>
      <p:pic>
        <p:nvPicPr>
          <p:cNvPr id="342" name="Рисунок 3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41" y="3928899"/>
            <a:ext cx="203628" cy="288000"/>
          </a:xfrm>
          <a:prstGeom prst="rect">
            <a:avLst/>
          </a:prstGeom>
        </p:spPr>
      </p:pic>
      <p:pic>
        <p:nvPicPr>
          <p:cNvPr id="343" name="Рисунок 3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538" y="5010451"/>
            <a:ext cx="203628" cy="288000"/>
          </a:xfrm>
          <a:prstGeom prst="rect">
            <a:avLst/>
          </a:prstGeom>
        </p:spPr>
      </p:pic>
      <p:pic>
        <p:nvPicPr>
          <p:cNvPr id="344" name="Рисунок 3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706" y="5511894"/>
            <a:ext cx="203628" cy="2880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Формирование промежуточных индексных баз</a:t>
            </a:r>
            <a:endParaRPr lang="ru-RU" sz="2400" dirty="0"/>
          </a:p>
        </p:txBody>
      </p:sp>
      <p:sp>
        <p:nvSpPr>
          <p:cNvPr id="109" name="TextBox 108"/>
          <p:cNvSpPr txBox="1"/>
          <p:nvPr/>
        </p:nvSpPr>
        <p:spPr>
          <a:xfrm>
            <a:off x="71384" y="4759251"/>
            <a:ext cx="14875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документов</a:t>
            </a:r>
            <a:endParaRPr lang="ru-RU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10642183" y="4674674"/>
            <a:ext cx="1638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  <a:endParaRPr lang="ru-RU" sz="1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147" y="4841918"/>
            <a:ext cx="763605" cy="1080000"/>
          </a:xfrm>
          <a:prstGeom prst="rect">
            <a:avLst/>
          </a:prstGeom>
        </p:spPr>
      </p:pic>
      <p:pic>
        <p:nvPicPr>
          <p:cNvPr id="114" name="Рисунок 1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921" y="3254600"/>
            <a:ext cx="763605" cy="1080000"/>
          </a:xfrm>
          <a:prstGeom prst="rect">
            <a:avLst/>
          </a:prstGeom>
        </p:spPr>
      </p:pic>
      <p:pic>
        <p:nvPicPr>
          <p:cNvPr id="117" name="Рисунок 1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110" y="2511506"/>
            <a:ext cx="763605" cy="1080000"/>
          </a:xfrm>
          <a:prstGeom prst="rect">
            <a:avLst/>
          </a:prstGeom>
        </p:spPr>
      </p:pic>
      <p:pic>
        <p:nvPicPr>
          <p:cNvPr id="118" name="Рисунок 1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687" y="3430114"/>
            <a:ext cx="203628" cy="288000"/>
          </a:xfrm>
          <a:prstGeom prst="rect">
            <a:avLst/>
          </a:prstGeom>
        </p:spPr>
      </p:pic>
      <p:pic>
        <p:nvPicPr>
          <p:cNvPr id="119" name="Рисунок 1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767" y="4771749"/>
            <a:ext cx="203628" cy="288000"/>
          </a:xfrm>
          <a:prstGeom prst="rect">
            <a:avLst/>
          </a:prstGeom>
        </p:spPr>
      </p:pic>
      <p:pic>
        <p:nvPicPr>
          <p:cNvPr id="120" name="Рисунок 1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767" y="3676854"/>
            <a:ext cx="203628" cy="288000"/>
          </a:xfrm>
          <a:prstGeom prst="rect">
            <a:avLst/>
          </a:prstGeom>
        </p:spPr>
      </p:pic>
      <p:sp>
        <p:nvSpPr>
          <p:cNvPr id="332" name="TextBox 331"/>
          <p:cNvSpPr txBox="1"/>
          <p:nvPr/>
        </p:nvSpPr>
        <p:spPr>
          <a:xfrm>
            <a:off x="8657916" y="4714384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ɾ(n+1)/dɿ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020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Рисунок 17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5783" y="3395383"/>
            <a:ext cx="1980000" cy="13999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632" y="2556027"/>
            <a:ext cx="1980000" cy="2800419"/>
          </a:xfrm>
          <a:prstGeom prst="rect">
            <a:avLst/>
          </a:prstGeom>
        </p:spPr>
      </p:pic>
      <p:sp>
        <p:nvSpPr>
          <p:cNvPr id="38" name="Скругленный прямоугольник 37"/>
          <p:cNvSpPr/>
          <p:nvPr/>
        </p:nvSpPr>
        <p:spPr>
          <a:xfrm>
            <a:off x="2223719" y="1974411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17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-14615"/>
            <a:ext cx="12192000" cy="922287"/>
          </a:xfrm>
        </p:spPr>
        <p:txBody>
          <a:bodyPr anchor="ctr" anchorCtr="1">
            <a:normAutofit/>
          </a:bodyPr>
          <a:lstStyle/>
          <a:p>
            <a:r>
              <a:rPr lang="ru-RU" sz="4000" dirty="0" smtClean="0"/>
              <a:t>Индексация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sp>
        <p:nvSpPr>
          <p:cNvPr id="21" name="Стрелка вправо 20"/>
          <p:cNvSpPr/>
          <p:nvPr/>
        </p:nvSpPr>
        <p:spPr>
          <a:xfrm>
            <a:off x="4390720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4978449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4978449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4978449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5116948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454185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b-1]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2646286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71" name="Прямая со стрелкой 70"/>
          <p:cNvCxnSpPr/>
          <p:nvPr/>
        </p:nvCxnSpPr>
        <p:spPr>
          <a:xfrm>
            <a:off x="3646449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/>
          <p:nvPr/>
        </p:nvCxnSpPr>
        <p:spPr>
          <a:xfrm>
            <a:off x="3646449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>
            <a:off x="3646449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>
            <a:off x="3646449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78273" y="5848368"/>
            <a:ext cx="360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– </a:t>
            </a:r>
            <a:r>
              <a:rPr lang="ru-RU" dirty="0" smtClean="0"/>
              <a:t>количество баз в одном потоке</a:t>
            </a:r>
            <a:endParaRPr lang="ru-RU" dirty="0"/>
          </a:p>
        </p:txBody>
      </p:sp>
      <p:sp>
        <p:nvSpPr>
          <p:cNvPr id="124" name="Стрелка вправо 123"/>
          <p:cNvSpPr/>
          <p:nvPr/>
        </p:nvSpPr>
        <p:spPr>
          <a:xfrm>
            <a:off x="1282761" y="389738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5" name="Стрелка вправо 124"/>
          <p:cNvSpPr/>
          <p:nvPr/>
        </p:nvSpPr>
        <p:spPr>
          <a:xfrm>
            <a:off x="9641981" y="3906324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Соединительная линия уступом 19"/>
          <p:cNvCxnSpPr/>
          <p:nvPr/>
        </p:nvCxnSpPr>
        <p:spPr>
          <a:xfrm rot="10800000">
            <a:off x="5373800" y="1693507"/>
            <a:ext cx="4419593" cy="2446194"/>
          </a:xfrm>
          <a:prstGeom prst="bentConnector3">
            <a:avLst>
              <a:gd name="adj1" fmla="val -56"/>
            </a:avLst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Соединительная линия уступом 150"/>
          <p:cNvCxnSpPr/>
          <p:nvPr/>
        </p:nvCxnSpPr>
        <p:spPr>
          <a:xfrm rot="10800000" flipV="1">
            <a:off x="1689078" y="1693500"/>
            <a:ext cx="4543866" cy="2456851"/>
          </a:xfrm>
          <a:prstGeom prst="bentConnector3">
            <a:avLst>
              <a:gd name="adj1" fmla="val 99769"/>
            </a:avLst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824934" y="3944280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ru-RU" dirty="0" smtClean="0"/>
              <a:t>=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05" name="Стрелка вправо 104"/>
          <p:cNvSpPr/>
          <p:nvPr/>
        </p:nvSpPr>
        <p:spPr>
          <a:xfrm>
            <a:off x="4400470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9" name="Стрелка вправо 148"/>
          <p:cNvSpPr/>
          <p:nvPr/>
        </p:nvSpPr>
        <p:spPr>
          <a:xfrm>
            <a:off x="4404127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455228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[b, b+b</a:t>
            </a:r>
            <a:r>
              <a:rPr lang="ru-RU" dirty="0" smtClean="0"/>
              <a:t>-</a:t>
            </a:r>
            <a:r>
              <a:rPr lang="en-US" dirty="0" smtClean="0"/>
              <a:t>1]</a:t>
            </a:r>
            <a:endParaRPr lang="ru-RU" dirty="0"/>
          </a:p>
        </p:txBody>
      </p:sp>
      <p:grpSp>
        <p:nvGrpSpPr>
          <p:cNvPr id="17" name="Группа 16"/>
          <p:cNvGrpSpPr/>
          <p:nvPr/>
        </p:nvGrpSpPr>
        <p:grpSpPr>
          <a:xfrm>
            <a:off x="2624999" y="2710165"/>
            <a:ext cx="979647" cy="3068187"/>
            <a:chOff x="2192841" y="1913158"/>
            <a:chExt cx="914273" cy="3068187"/>
          </a:xfrm>
        </p:grpSpPr>
        <p:sp>
          <p:nvSpPr>
            <p:cNvPr id="48" name="Прямоугольник 47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6" name="Группа 15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67" name="Овал 66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03" name="Прямоугольник 102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" name="Группа 14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61" name="Овал 60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0" name="Овал 99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1" name="Прямоугольник 130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Прямоугольник 131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Прямоугольник 134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6" name="Группа 135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137" name="Овал 13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40" name="Прямоугольник 139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Прямоугольник 140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Прямоугольник 143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45" name="Группа 144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146" name="Овал 145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150" name="Прямая со стрелкой 149"/>
          <p:cNvCxnSpPr/>
          <p:nvPr/>
        </p:nvCxnSpPr>
        <p:spPr>
          <a:xfrm>
            <a:off x="3646449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Прямая со стрелкой 151"/>
          <p:cNvCxnSpPr/>
          <p:nvPr/>
        </p:nvCxnSpPr>
        <p:spPr>
          <a:xfrm>
            <a:off x="3646449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58249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[n+1-b, n]</a:t>
            </a:r>
            <a:endParaRPr lang="ru-RU" dirty="0"/>
          </a:p>
        </p:txBody>
      </p:sp>
      <p:grpSp>
        <p:nvGrpSpPr>
          <p:cNvPr id="18" name="Группа 17"/>
          <p:cNvGrpSpPr/>
          <p:nvPr/>
        </p:nvGrpSpPr>
        <p:grpSpPr>
          <a:xfrm>
            <a:off x="8433904" y="3447811"/>
            <a:ext cx="975389" cy="1589455"/>
            <a:chOff x="8276594" y="2297437"/>
            <a:chExt cx="975389" cy="1589455"/>
          </a:xfrm>
        </p:grpSpPr>
        <p:sp>
          <p:nvSpPr>
            <p:cNvPr id="154" name="Прямоугольник 153"/>
            <p:cNvSpPr/>
            <p:nvPr/>
          </p:nvSpPr>
          <p:spPr>
            <a:xfrm>
              <a:off x="8276594" y="2305201"/>
              <a:ext cx="972000" cy="15816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Прямоугольник 154"/>
            <p:cNvSpPr/>
            <p:nvPr/>
          </p:nvSpPr>
          <p:spPr>
            <a:xfrm>
              <a:off x="8279983" y="2297437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7" name="Группа 156"/>
            <p:cNvGrpSpPr/>
            <p:nvPr/>
          </p:nvGrpSpPr>
          <p:grpSpPr>
            <a:xfrm>
              <a:off x="8379666" y="3029952"/>
              <a:ext cx="72000" cy="360000"/>
              <a:chOff x="1404000" y="4356000"/>
              <a:chExt cx="72000" cy="360000"/>
            </a:xfrm>
          </p:grpSpPr>
          <p:sp>
            <p:nvSpPr>
              <p:cNvPr id="184" name="Овал 183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5" name="Овал 184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6" name="Овал 185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61" name="Прямоугольник 160"/>
            <p:cNvSpPr/>
            <p:nvPr/>
          </p:nvSpPr>
          <p:spPr>
            <a:xfrm>
              <a:off x="8278818" y="2543914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Прямоугольник 162"/>
            <p:cNvSpPr/>
            <p:nvPr/>
          </p:nvSpPr>
          <p:spPr>
            <a:xfrm>
              <a:off x="8278927" y="3634892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87" name="Прямая со стрелкой 186"/>
          <p:cNvCxnSpPr/>
          <p:nvPr/>
        </p:nvCxnSpPr>
        <p:spPr>
          <a:xfrm>
            <a:off x="7642449" y="3041232"/>
            <a:ext cx="630182" cy="53997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Прямая со стрелкой 187"/>
          <p:cNvCxnSpPr/>
          <p:nvPr/>
        </p:nvCxnSpPr>
        <p:spPr>
          <a:xfrm flipV="1">
            <a:off x="7642449" y="3827035"/>
            <a:ext cx="648000" cy="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Прямая со стрелкой 188"/>
          <p:cNvCxnSpPr/>
          <p:nvPr/>
        </p:nvCxnSpPr>
        <p:spPr>
          <a:xfrm flipV="1">
            <a:off x="7642449" y="4918657"/>
            <a:ext cx="648000" cy="4673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576827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28" name="TextBox 127"/>
          <p:cNvSpPr txBox="1"/>
          <p:nvPr/>
        </p:nvSpPr>
        <p:spPr>
          <a:xfrm>
            <a:off x="2571912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b-1</a:t>
            </a:r>
            <a:endParaRPr lang="ru-RU" dirty="0"/>
          </a:p>
        </p:txBody>
      </p:sp>
      <p:sp>
        <p:nvSpPr>
          <p:cNvPr id="129" name="TextBox 128"/>
          <p:cNvSpPr txBox="1"/>
          <p:nvPr/>
        </p:nvSpPr>
        <p:spPr>
          <a:xfrm>
            <a:off x="2576829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130" name="TextBox 129"/>
          <p:cNvSpPr txBox="1"/>
          <p:nvPr/>
        </p:nvSpPr>
        <p:spPr>
          <a:xfrm>
            <a:off x="2571913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b+b</a:t>
            </a:r>
            <a:r>
              <a:rPr lang="ru-RU" dirty="0" smtClean="0"/>
              <a:t>-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53" name="TextBox 152"/>
          <p:cNvSpPr txBox="1"/>
          <p:nvPr/>
        </p:nvSpPr>
        <p:spPr>
          <a:xfrm>
            <a:off x="2571913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n+1-b</a:t>
            </a:r>
            <a:endParaRPr lang="ru-RU" dirty="0"/>
          </a:p>
        </p:txBody>
      </p:sp>
      <p:sp>
        <p:nvSpPr>
          <p:cNvPr id="162" name="TextBox 161"/>
          <p:cNvSpPr txBox="1"/>
          <p:nvPr/>
        </p:nvSpPr>
        <p:spPr>
          <a:xfrm>
            <a:off x="2576830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sp>
        <p:nvSpPr>
          <p:cNvPr id="181" name="TextBox 180"/>
          <p:cNvSpPr txBox="1"/>
          <p:nvPr/>
        </p:nvSpPr>
        <p:spPr>
          <a:xfrm>
            <a:off x="8382798" y="339303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82" name="TextBox 181"/>
          <p:cNvSpPr txBox="1"/>
          <p:nvPr/>
        </p:nvSpPr>
        <p:spPr>
          <a:xfrm>
            <a:off x="8387716" y="3643760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Слияние промежуточных индексных баз</a:t>
            </a:r>
            <a:endParaRPr lang="ru-RU" sz="2400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Группа 10"/>
          <p:cNvGrpSpPr/>
          <p:nvPr/>
        </p:nvGrpSpPr>
        <p:grpSpPr>
          <a:xfrm>
            <a:off x="4798449" y="3204000"/>
            <a:ext cx="293148" cy="72000"/>
            <a:chOff x="4356000" y="3204000"/>
            <a:chExt cx="293148" cy="72000"/>
          </a:xfrm>
        </p:grpSpPr>
        <p:sp>
          <p:nvSpPr>
            <p:cNvPr id="183" name="Овал 182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1" name="Овал 190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Овал 191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3" name="Группа 192"/>
          <p:cNvGrpSpPr/>
          <p:nvPr/>
        </p:nvGrpSpPr>
        <p:grpSpPr>
          <a:xfrm>
            <a:off x="4793533" y="3916838"/>
            <a:ext cx="293148" cy="72000"/>
            <a:chOff x="4356000" y="3204000"/>
            <a:chExt cx="293148" cy="72000"/>
          </a:xfrm>
        </p:grpSpPr>
        <p:sp>
          <p:nvSpPr>
            <p:cNvPr id="194" name="Овал 193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Овал 194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Овал 195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7" name="Группа 196"/>
          <p:cNvGrpSpPr/>
          <p:nvPr/>
        </p:nvGrpSpPr>
        <p:grpSpPr>
          <a:xfrm>
            <a:off x="4798449" y="5504751"/>
            <a:ext cx="293148" cy="72000"/>
            <a:chOff x="4356000" y="3204000"/>
            <a:chExt cx="293148" cy="72000"/>
          </a:xfrm>
        </p:grpSpPr>
        <p:sp>
          <p:nvSpPr>
            <p:cNvPr id="198" name="Овал 197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Овал 198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Овал 199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2596965" y="2239974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83774" y="2983200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-75009" y="4623305"/>
            <a:ext cx="1638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  <a:endParaRPr lang="ru-RU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10797640" y="4815859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б</a:t>
            </a:r>
            <a:r>
              <a:rPr lang="ru-RU" sz="1000" dirty="0" smtClean="0"/>
              <a:t>аза индекса</a:t>
            </a:r>
            <a:endParaRPr lang="ru-RU" sz="1000" dirty="0"/>
          </a:p>
        </p:txBody>
      </p:sp>
      <p:pic>
        <p:nvPicPr>
          <p:cNvPr id="117" name="Рисунок 1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348" y="2519367"/>
            <a:ext cx="763605" cy="1080000"/>
          </a:xfrm>
          <a:prstGeom prst="rect">
            <a:avLst/>
          </a:prstGeom>
        </p:spPr>
      </p:pic>
      <p:pic>
        <p:nvPicPr>
          <p:cNvPr id="118" name="Рисунок 1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597" y="3251413"/>
            <a:ext cx="763605" cy="1080000"/>
          </a:xfrm>
          <a:prstGeom prst="rect">
            <a:avLst/>
          </a:prstGeom>
        </p:spPr>
      </p:pic>
      <p:pic>
        <p:nvPicPr>
          <p:cNvPr id="119" name="Рисунок 1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617" y="4843583"/>
            <a:ext cx="763605" cy="1080000"/>
          </a:xfrm>
          <a:prstGeom prst="rect">
            <a:avLst/>
          </a:prstGeom>
        </p:spPr>
      </p:pic>
      <p:pic>
        <p:nvPicPr>
          <p:cNvPr id="120" name="Рисунок 1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425" y="3496420"/>
            <a:ext cx="509070" cy="720000"/>
          </a:xfrm>
          <a:prstGeom prst="rect">
            <a:avLst/>
          </a:prstGeom>
        </p:spPr>
      </p:pic>
      <p:pic>
        <p:nvPicPr>
          <p:cNvPr id="121" name="Рисунок 1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871" y="5071320"/>
            <a:ext cx="509071" cy="720000"/>
          </a:xfrm>
          <a:prstGeom prst="rect">
            <a:avLst/>
          </a:prstGeom>
        </p:spPr>
      </p:pic>
      <p:pic>
        <p:nvPicPr>
          <p:cNvPr id="122" name="Рисунок 1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271" y="2771660"/>
            <a:ext cx="509070" cy="720000"/>
          </a:xfrm>
          <a:prstGeom prst="rect">
            <a:avLst/>
          </a:prstGeom>
        </p:spPr>
      </p:pic>
      <p:pic>
        <p:nvPicPr>
          <p:cNvPr id="123" name="Рисунок 1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712" y="3490852"/>
            <a:ext cx="509070" cy="720000"/>
          </a:xfrm>
          <a:prstGeom prst="rect">
            <a:avLst/>
          </a:prstGeom>
        </p:spPr>
      </p:pic>
      <p:pic>
        <p:nvPicPr>
          <p:cNvPr id="126" name="Рисунок 1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901" y="5078296"/>
            <a:ext cx="509070" cy="720000"/>
          </a:xfrm>
          <a:prstGeom prst="rect">
            <a:avLst/>
          </a:prstGeom>
        </p:spPr>
      </p:pic>
      <p:pic>
        <p:nvPicPr>
          <p:cNvPr id="127" name="Рисунок 1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492" y="2768533"/>
            <a:ext cx="509070" cy="720000"/>
          </a:xfrm>
          <a:prstGeom prst="rect">
            <a:avLst/>
          </a:prstGeom>
        </p:spPr>
      </p:pic>
      <p:pic>
        <p:nvPicPr>
          <p:cNvPr id="156" name="Рисунок 15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534" y="2689848"/>
            <a:ext cx="203628" cy="288000"/>
          </a:xfrm>
          <a:prstGeom prst="rect">
            <a:avLst/>
          </a:prstGeom>
        </p:spPr>
      </p:pic>
      <p:pic>
        <p:nvPicPr>
          <p:cNvPr id="164" name="Рисунок 1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54" y="3189164"/>
            <a:ext cx="203628" cy="288000"/>
          </a:xfrm>
          <a:prstGeom prst="rect">
            <a:avLst/>
          </a:prstGeom>
        </p:spPr>
      </p:pic>
      <p:pic>
        <p:nvPicPr>
          <p:cNvPr id="166" name="Рисунок 16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91" y="3433705"/>
            <a:ext cx="203628" cy="288000"/>
          </a:xfrm>
          <a:prstGeom prst="rect">
            <a:avLst/>
          </a:prstGeom>
        </p:spPr>
      </p:pic>
      <p:pic>
        <p:nvPicPr>
          <p:cNvPr id="167" name="Рисунок 16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967" y="3935583"/>
            <a:ext cx="203628" cy="288000"/>
          </a:xfrm>
          <a:prstGeom prst="rect">
            <a:avLst/>
          </a:prstGeom>
        </p:spPr>
      </p:pic>
      <p:pic>
        <p:nvPicPr>
          <p:cNvPr id="168" name="Рисунок 16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068" y="5012894"/>
            <a:ext cx="203628" cy="288000"/>
          </a:xfrm>
          <a:prstGeom prst="rect">
            <a:avLst/>
          </a:prstGeom>
        </p:spPr>
      </p:pic>
      <p:pic>
        <p:nvPicPr>
          <p:cNvPr id="169" name="Рисунок 16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213" y="5503473"/>
            <a:ext cx="203628" cy="288000"/>
          </a:xfrm>
          <a:prstGeom prst="rect">
            <a:avLst/>
          </a:prstGeom>
        </p:spPr>
      </p:pic>
      <p:pic>
        <p:nvPicPr>
          <p:cNvPr id="170" name="Рисунок 16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958" y="3427047"/>
            <a:ext cx="203628" cy="288000"/>
          </a:xfrm>
          <a:prstGeom prst="rect">
            <a:avLst/>
          </a:prstGeom>
        </p:spPr>
      </p:pic>
      <p:pic>
        <p:nvPicPr>
          <p:cNvPr id="171" name="Рисунок 17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180" y="3682442"/>
            <a:ext cx="203628" cy="288000"/>
          </a:xfrm>
          <a:prstGeom prst="rect">
            <a:avLst/>
          </a:prstGeom>
        </p:spPr>
      </p:pic>
      <p:pic>
        <p:nvPicPr>
          <p:cNvPr id="172" name="Рисунок 17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682" y="4767266"/>
            <a:ext cx="203628" cy="28800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382613" y="4714388"/>
            <a:ext cx="1039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ɾ</a:t>
            </a:r>
            <a:r>
              <a:rPr lang="ru-RU" dirty="0" smtClean="0"/>
              <a:t>(</a:t>
            </a:r>
            <a:r>
              <a:rPr lang="en-US" dirty="0" smtClean="0"/>
              <a:t>n+1</a:t>
            </a:r>
            <a:r>
              <a:rPr lang="ru-RU" dirty="0" smtClean="0"/>
              <a:t>)</a:t>
            </a:r>
            <a:r>
              <a:rPr lang="en-US" dirty="0" smtClean="0"/>
              <a:t>/bɿ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4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18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116058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7063" y="4873723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4,5 раза</a:t>
            </a:r>
            <a:endParaRPr lang="ru-RU" dirty="0"/>
          </a:p>
        </p:txBody>
      </p:sp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575163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25865" y="4875768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4,7 раза</a:t>
            </a:r>
            <a:endParaRPr lang="ru-RU" dirty="0"/>
          </a:p>
        </p:txBody>
      </p:sp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154736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87244" y="4877107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4,6 раза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индексация </a:t>
            </a:r>
            <a:r>
              <a:rPr lang="ru-RU" sz="2400" dirty="0" smtClean="0"/>
              <a:t>документов в 14 дополнительных потоках </a:t>
            </a:r>
            <a:r>
              <a:rPr lang="en-US" sz="2400" dirty="0"/>
              <a:t>(</a:t>
            </a:r>
            <a:r>
              <a:rPr lang="ru-RU" sz="2400" dirty="0"/>
              <a:t>разный объём </a:t>
            </a:r>
            <a:r>
              <a:rPr lang="ru-RU" sz="2400" dirty="0" smtClean="0"/>
              <a:t>баз документов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Проблема индексации большого количества документов</a:t>
            </a: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74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19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86282750"/>
              </p:ext>
            </p:extLst>
          </p:nvPr>
        </p:nvGraphicFramePr>
        <p:xfrm>
          <a:off x="1773237" y="2029224"/>
          <a:ext cx="8648700" cy="3278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о</a:t>
            </a:r>
            <a:r>
              <a:rPr lang="ru-RU" sz="2400" dirty="0" smtClean="0"/>
              <a:t>бъёмы баз документов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71650" y="5464986"/>
            <a:ext cx="9814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 объём базы инвертированного индекса. Очевидно, что он значительно меньше </a:t>
            </a:r>
          </a:p>
          <a:p>
            <a:r>
              <a:rPr lang="ru-RU" dirty="0"/>
              <a:t>о</a:t>
            </a:r>
            <a:r>
              <a:rPr lang="ru-RU" dirty="0" smtClean="0"/>
              <a:t>бъёма базы документов.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708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20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Формирование базы индекса напрямую чтением файлов документов</a:t>
            </a:r>
            <a:endParaRPr lang="ru-RU" sz="2400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Стрелка вправо 8"/>
          <p:cNvSpPr/>
          <p:nvPr/>
        </p:nvSpPr>
        <p:spPr>
          <a:xfrm>
            <a:off x="2542440" y="297726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4486392" y="298048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Группа 17"/>
          <p:cNvGrpSpPr/>
          <p:nvPr/>
        </p:nvGrpSpPr>
        <p:grpSpPr>
          <a:xfrm>
            <a:off x="700954" y="1628446"/>
            <a:ext cx="1800000" cy="1800000"/>
            <a:chOff x="6093193" y="1986699"/>
            <a:chExt cx="1440000" cy="1442301"/>
          </a:xfrm>
        </p:grpSpPr>
        <p:grpSp>
          <p:nvGrpSpPr>
            <p:cNvPr id="19" name="Группа 1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1" name="Скругленный прямоугольник 2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20" name="Прямоугольник 1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список путей </a:t>
              </a:r>
              <a:r>
                <a:rPr lang="ru-RU" sz="1100" dirty="0">
                  <a:solidFill>
                    <a:schemeClr val="tx1"/>
                  </a:solidFill>
                </a:rPr>
                <a:t>файлов документов</a:t>
              </a:r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693173" y="4148013"/>
            <a:ext cx="1800000" cy="1800000"/>
            <a:chOff x="6093193" y="1986699"/>
            <a:chExt cx="1440000" cy="1442301"/>
          </a:xfrm>
        </p:grpSpPr>
        <p:grpSp>
          <p:nvGrpSpPr>
            <p:cNvPr id="29" name="Группа 2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1" name="Скругленный прямоугольник 3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0" name="Прямоугольник 2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инвертированных индексов</a:t>
              </a:r>
            </a:p>
          </p:txBody>
        </p:sp>
      </p:grpSp>
      <p:sp>
        <p:nvSpPr>
          <p:cNvPr id="33" name="Полилиния 32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</a:t>
            </a:r>
            <a:r>
              <a:rPr lang="ru-RU" sz="800" dirty="0" smtClean="0">
                <a:solidFill>
                  <a:schemeClr val="tx1"/>
                </a:solidFill>
              </a:rPr>
              <a:t>путей файлов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4" name="Полилиния 33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5" name="Овал 34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6" name="Полилиния 35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Полилиния 37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0" name="Полилиния 39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2" name="Полилиния 41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4" name="Группа 43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45" name="Овал 44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46" name="Рисунок 4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47" name="Рисунок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pic>
        <p:nvPicPr>
          <p:cNvPr id="49" name="Рисунок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848" y="1886719"/>
            <a:ext cx="1399929" cy="1980000"/>
          </a:xfrm>
          <a:prstGeom prst="rect">
            <a:avLst/>
          </a:prstGeom>
        </p:spPr>
      </p:pic>
      <p:grpSp>
        <p:nvGrpSpPr>
          <p:cNvPr id="23" name="Группа 22"/>
          <p:cNvGrpSpPr/>
          <p:nvPr/>
        </p:nvGrpSpPr>
        <p:grpSpPr>
          <a:xfrm>
            <a:off x="5078220" y="1628446"/>
            <a:ext cx="1800000" cy="1800000"/>
            <a:chOff x="6093193" y="1986699"/>
            <a:chExt cx="1440000" cy="1442301"/>
          </a:xfrm>
        </p:grpSpPr>
        <p:grpSp>
          <p:nvGrpSpPr>
            <p:cNvPr id="24" name="Группа 23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6" name="Скругленный прямоугольник 25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7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Documents</a:t>
                </a:r>
                <a:endParaRPr lang="ru-RU" b="1" kern="1200" dirty="0"/>
              </a:p>
            </p:txBody>
          </p:sp>
        </p:grpSp>
        <p:sp>
          <p:nvSpPr>
            <p:cNvPr id="25" name="Прямоугольник 24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</a:t>
              </a:r>
              <a:r>
                <a:rPr lang="ru-RU" sz="1100" dirty="0" smtClean="0">
                  <a:solidFill>
                    <a:schemeClr val="tx1"/>
                  </a:solidFill>
                </a:rPr>
                <a:t>путей файлов документов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53" name="Прямоугольник 52"/>
          <p:cNvSpPr/>
          <p:nvPr/>
        </p:nvSpPr>
        <p:spPr>
          <a:xfrm>
            <a:off x="66587" y="25032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71753" y="50288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78605" y="3438056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путей </a:t>
            </a:r>
            <a:endParaRPr lang="en-US" sz="1000" dirty="0" smtClean="0"/>
          </a:p>
          <a:p>
            <a:r>
              <a:rPr lang="ru-RU" sz="1000" dirty="0" smtClean="0"/>
              <a:t>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62" name="Рисунок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6" y="2134142"/>
            <a:ext cx="636331" cy="900000"/>
          </a:xfrm>
          <a:prstGeom prst="rect">
            <a:avLst/>
          </a:prstGeom>
        </p:spPr>
      </p:pic>
      <p:pic>
        <p:nvPicPr>
          <p:cNvPr id="63" name="Рисунок 6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6" y="2136925"/>
            <a:ext cx="636331" cy="900000"/>
          </a:xfrm>
          <a:prstGeom prst="rect">
            <a:avLst/>
          </a:prstGeom>
        </p:spPr>
      </p:pic>
      <p:pic>
        <p:nvPicPr>
          <p:cNvPr id="64" name="Рисунок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8" y="2497942"/>
            <a:ext cx="381803" cy="540000"/>
          </a:xfrm>
          <a:prstGeom prst="rect">
            <a:avLst/>
          </a:prstGeom>
        </p:spPr>
      </p:pic>
      <p:pic>
        <p:nvPicPr>
          <p:cNvPr id="65" name="Рисунок 6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5" y="2496793"/>
            <a:ext cx="381803" cy="540000"/>
          </a:xfrm>
          <a:prstGeom prst="rect">
            <a:avLst/>
          </a:prstGeom>
        </p:spPr>
      </p:pic>
      <p:pic>
        <p:nvPicPr>
          <p:cNvPr id="66" name="Рисунок 6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20" y="2134142"/>
            <a:ext cx="636331" cy="900000"/>
          </a:xfrm>
          <a:prstGeom prst="rect">
            <a:avLst/>
          </a:prstGeom>
        </p:spPr>
      </p:pic>
      <p:pic>
        <p:nvPicPr>
          <p:cNvPr id="67" name="Рисунок 6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58" y="3182860"/>
            <a:ext cx="720000" cy="509067"/>
          </a:xfrm>
          <a:prstGeom prst="rect">
            <a:avLst/>
          </a:prstGeom>
        </p:spPr>
      </p:pic>
      <p:grpSp>
        <p:nvGrpSpPr>
          <p:cNvPr id="69" name="Группа 68"/>
          <p:cNvGrpSpPr/>
          <p:nvPr/>
        </p:nvGrpSpPr>
        <p:grpSpPr>
          <a:xfrm>
            <a:off x="4731830" y="4148013"/>
            <a:ext cx="2063149" cy="1987889"/>
            <a:chOff x="5084901" y="1635410"/>
            <a:chExt cx="2063149" cy="1987889"/>
          </a:xfrm>
        </p:grpSpPr>
        <p:grpSp>
          <p:nvGrpSpPr>
            <p:cNvPr id="13" name="Группа 12"/>
            <p:cNvGrpSpPr/>
            <p:nvPr/>
          </p:nvGrpSpPr>
          <p:grpSpPr>
            <a:xfrm>
              <a:off x="5084901" y="1635410"/>
              <a:ext cx="1800000" cy="1800000"/>
              <a:chOff x="6093193" y="1986699"/>
              <a:chExt cx="1440000" cy="1442301"/>
            </a:xfrm>
          </p:grpSpPr>
          <p:grpSp>
            <p:nvGrpSpPr>
              <p:cNvPr id="14" name="Группа 13"/>
              <p:cNvGrpSpPr/>
              <p:nvPr/>
            </p:nvGrpSpPr>
            <p:grpSpPr>
              <a:xfrm>
                <a:off x="6093193" y="1986699"/>
                <a:ext cx="1440000" cy="1440000"/>
                <a:chOff x="8438075" y="2424393"/>
                <a:chExt cx="1620003" cy="1620003"/>
              </a:xfrm>
            </p:grpSpPr>
            <p:sp>
              <p:nvSpPr>
                <p:cNvPr id="16" name="Скругленный прямоугольник 15"/>
                <p:cNvSpPr/>
                <p:nvPr/>
              </p:nvSpPr>
              <p:spPr>
                <a:xfrm>
                  <a:off x="8438075" y="2424393"/>
                  <a:ext cx="1620003" cy="1620003"/>
                </a:xfrm>
                <a:prstGeom prst="round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7" name="Скругленный прямоугольник 4"/>
                <p:cNvSpPr/>
                <p:nvPr/>
              </p:nvSpPr>
              <p:spPr>
                <a:xfrm>
                  <a:off x="8517157" y="2503475"/>
                  <a:ext cx="1461839" cy="146183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0800" tIns="50800" rIns="50800" bIns="50800" numCol="1" spcCol="1270" anchor="t" anchorCtr="0">
                  <a:noAutofit/>
                </a:bodyPr>
                <a:lstStyle/>
                <a:p>
                  <a:pPr lvl="0" algn="ctr" defTabSz="889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kern="1200" dirty="0" smtClean="0"/>
                    <a:t>Dispatcher</a:t>
                  </a:r>
                  <a:endParaRPr lang="ru-RU" kern="1200" dirty="0" smtClean="0"/>
                </a:p>
                <a:p>
                  <a:pPr lvl="0" algn="ctr" defTabSz="889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kern="1200" dirty="0" smtClean="0"/>
                    <a:t>Operations</a:t>
                  </a:r>
                  <a:endParaRPr lang="ru-RU" kern="1200" dirty="0"/>
                </a:p>
              </p:txBody>
            </p:sp>
          </p:grpSp>
          <p:sp>
            <p:nvSpPr>
              <p:cNvPr id="15" name="Прямоугольник 14"/>
              <p:cNvSpPr/>
              <p:nvPr/>
            </p:nvSpPr>
            <p:spPr>
              <a:xfrm>
                <a:off x="6096000" y="3067050"/>
                <a:ext cx="1437193" cy="36195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r>
                  <a:rPr lang="ru-RU" sz="1100" dirty="0" smtClean="0">
                    <a:solidFill>
                      <a:schemeClr val="tx1"/>
                    </a:solidFill>
                  </a:rPr>
                  <a:t>прочитать текстовый файл</a:t>
                </a:r>
                <a:endParaRPr lang="ru-RU" sz="11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55" name="Рисунок 5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8050" y="3241501"/>
              <a:ext cx="540000" cy="381798"/>
            </a:xfrm>
            <a:prstGeom prst="rect">
              <a:avLst/>
            </a:prstGeom>
          </p:spPr>
        </p:pic>
        <p:pic>
          <p:nvPicPr>
            <p:cNvPr id="68" name="Рисунок 67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0550" y="2038374"/>
              <a:ext cx="763598" cy="1080000"/>
            </a:xfrm>
            <a:prstGeom prst="rect">
              <a:avLst/>
            </a:prstGeom>
          </p:spPr>
        </p:pic>
      </p:grpSp>
      <p:sp>
        <p:nvSpPr>
          <p:cNvPr id="71" name="Стрелка вправо 70"/>
          <p:cNvSpPr/>
          <p:nvPr/>
        </p:nvSpPr>
        <p:spPr>
          <a:xfrm>
            <a:off x="2714132" y="5400525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2" name="Рисунок 7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347" y="5326262"/>
            <a:ext cx="763598" cy="1080000"/>
          </a:xfrm>
          <a:prstGeom prst="rect">
            <a:avLst/>
          </a:prstGeom>
        </p:spPr>
      </p:pic>
      <p:pic>
        <p:nvPicPr>
          <p:cNvPr id="73" name="Рисунок 7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303" y="4589382"/>
            <a:ext cx="1080000" cy="1527503"/>
          </a:xfrm>
          <a:prstGeom prst="rect">
            <a:avLst/>
          </a:prstGeom>
        </p:spPr>
      </p:pic>
      <p:sp>
        <p:nvSpPr>
          <p:cNvPr id="74" name="Стрелка вправо 73"/>
          <p:cNvSpPr/>
          <p:nvPr/>
        </p:nvSpPr>
        <p:spPr>
          <a:xfrm>
            <a:off x="4072255" y="5407140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Стрелка вправо 74"/>
          <p:cNvSpPr/>
          <p:nvPr/>
        </p:nvSpPr>
        <p:spPr>
          <a:xfrm rot="10800000">
            <a:off x="2717603" y="5860030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Стрелка вправо 75"/>
          <p:cNvSpPr/>
          <p:nvPr/>
        </p:nvSpPr>
        <p:spPr>
          <a:xfrm rot="10800000">
            <a:off x="4068710" y="5863362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/>
          <p:cNvSpPr txBox="1"/>
          <p:nvPr/>
        </p:nvSpPr>
        <p:spPr>
          <a:xfrm>
            <a:off x="2956372" y="4887941"/>
            <a:ext cx="1401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п</a:t>
            </a:r>
            <a:r>
              <a:rPr lang="ru-RU" sz="1000" dirty="0" smtClean="0"/>
              <a:t>уть файла документа</a:t>
            </a:r>
            <a:endParaRPr lang="ru-RU" sz="1000" dirty="0"/>
          </a:p>
        </p:txBody>
      </p:sp>
      <p:sp>
        <p:nvSpPr>
          <p:cNvPr id="79" name="TextBox 78"/>
          <p:cNvSpPr txBox="1"/>
          <p:nvPr/>
        </p:nvSpPr>
        <p:spPr>
          <a:xfrm>
            <a:off x="3197267" y="6141555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документ</a:t>
            </a:r>
            <a:endParaRPr lang="ru-RU" sz="10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163" y="1987615"/>
            <a:ext cx="763605" cy="108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009" y="3075645"/>
            <a:ext cx="509070" cy="720000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508" y="4510325"/>
            <a:ext cx="763606" cy="1080000"/>
          </a:xfrm>
          <a:prstGeom prst="rect">
            <a:avLst/>
          </a:prstGeom>
        </p:spPr>
      </p:pic>
      <p:pic>
        <p:nvPicPr>
          <p:cNvPr id="57" name="Рисунок 56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24" y="5588464"/>
            <a:ext cx="509065" cy="720000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51" y="4943977"/>
            <a:ext cx="38179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1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21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980857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7850608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175511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объёмы баз путей файлов документов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Проблема объёма базы документов</a:t>
            </a: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71650" y="5464986"/>
            <a:ext cx="592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 объём базы инвертированного индекса.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654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22</a:t>
            </a:fld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общее время формирования базы индекса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0176307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2462673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9196566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2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568" y="1351000"/>
            <a:ext cx="2102065" cy="2973072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23</a:t>
            </a:fld>
            <a:endParaRPr lang="ru-RU"/>
          </a:p>
        </p:txBody>
      </p:sp>
      <p:grpSp>
        <p:nvGrpSpPr>
          <p:cNvPr id="12" name="Группа 11"/>
          <p:cNvGrpSpPr/>
          <p:nvPr/>
        </p:nvGrpSpPr>
        <p:grpSpPr>
          <a:xfrm>
            <a:off x="2278438" y="1709870"/>
            <a:ext cx="719484" cy="994242"/>
            <a:chOff x="1944462" y="1704692"/>
            <a:chExt cx="719484" cy="994242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109161"/>
              </p:ext>
            </p:extLst>
          </p:nvPr>
        </p:nvGraphicFramePr>
        <p:xfrm>
          <a:off x="1266143" y="4922866"/>
          <a:ext cx="335931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655"/>
                <a:gridCol w="1679655"/>
              </a:tblGrid>
              <a:tr h="686599">
                <a:tc>
                  <a:txBody>
                    <a:bodyPr/>
                    <a:lstStyle/>
                    <a:p>
                      <a:r>
                        <a:rPr lang="ru-RU" dirty="0" smtClean="0"/>
                        <a:t>Имя вызывающей функции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Уровень логирования (</a:t>
                      </a:r>
                      <a:r>
                        <a:rPr lang="en-US" dirty="0" smtClean="0"/>
                        <a:t>debug…fatal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3" name="Рисунок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21" y="1840969"/>
            <a:ext cx="720000" cy="1018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978693" y="3775789"/>
            <a:ext cx="2384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о</a:t>
            </a:r>
            <a:r>
              <a:rPr lang="ru-RU" sz="1100" dirty="0" smtClean="0"/>
              <a:t>перации с файлами и</a:t>
            </a:r>
            <a:r>
              <a:rPr lang="en-US" sz="1100" dirty="0" smtClean="0"/>
              <a:t> </a:t>
            </a:r>
            <a:r>
              <a:rPr lang="ru-RU" sz="1100" dirty="0" smtClean="0"/>
              <a:t>документами</a:t>
            </a:r>
            <a:endParaRPr lang="ru-RU" sz="1100" dirty="0"/>
          </a:p>
        </p:txBody>
      </p:sp>
      <p:sp>
        <p:nvSpPr>
          <p:cNvPr id="6" name="Стрелка вправо 5"/>
          <p:cNvSpPr/>
          <p:nvPr/>
        </p:nvSpPr>
        <p:spPr>
          <a:xfrm>
            <a:off x="2402793" y="2618199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904" y="3546809"/>
            <a:ext cx="720000" cy="1018337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79" y="2548131"/>
            <a:ext cx="1118671" cy="15822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3093" y="4635118"/>
            <a:ext cx="41889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 smtClean="0"/>
              <a:t>Таблица соответствия вызывающей функции уровню логирования</a:t>
            </a:r>
            <a:endParaRPr lang="ru-RU" sz="1100" dirty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Класс </a:t>
            </a:r>
            <a:r>
              <a:rPr lang="en-US" sz="4000" dirty="0" smtClean="0"/>
              <a:t>DispatcherOperations</a:t>
            </a:r>
            <a:endParaRPr lang="ru-RU" sz="4000" dirty="0"/>
          </a:p>
        </p:txBody>
      </p:sp>
      <p:sp>
        <p:nvSpPr>
          <p:cNvPr id="32" name="TextBox 31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Удобство использования класса</a:t>
            </a:r>
            <a:endParaRPr lang="ru-RU" sz="2400" dirty="0"/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Полилиния 93"/>
          <p:cNvSpPr/>
          <p:nvPr/>
        </p:nvSpPr>
        <p:spPr>
          <a:xfrm>
            <a:off x="5233764" y="2741123"/>
            <a:ext cx="1158956" cy="234000"/>
          </a:xfrm>
          <a:custGeom>
            <a:avLst/>
            <a:gdLst>
              <a:gd name="connsiteX0" fmla="*/ 0 w 1158956"/>
              <a:gd name="connsiteY0" fmla="*/ 0 h 234000"/>
              <a:gd name="connsiteX1" fmla="*/ 1028772 w 1158956"/>
              <a:gd name="connsiteY1" fmla="*/ 0 h 234000"/>
              <a:gd name="connsiteX2" fmla="*/ 1039434 w 1158956"/>
              <a:gd name="connsiteY2" fmla="*/ 37573 h 234000"/>
              <a:gd name="connsiteX3" fmla="*/ 1089715 w 1158956"/>
              <a:gd name="connsiteY3" fmla="*/ 87069 h 234000"/>
              <a:gd name="connsiteX4" fmla="*/ 1155241 w 1158956"/>
              <a:gd name="connsiteY4" fmla="*/ 190289 h 234000"/>
              <a:gd name="connsiteX5" fmla="*/ 1158956 w 1158956"/>
              <a:gd name="connsiteY5" fmla="*/ 234000 h 234000"/>
              <a:gd name="connsiteX6" fmla="*/ 0 w 1158956"/>
              <a:gd name="connsiteY6" fmla="*/ 234000 h 2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956" h="234000">
                <a:moveTo>
                  <a:pt x="0" y="0"/>
                </a:moveTo>
                <a:lnTo>
                  <a:pt x="1028772" y="0"/>
                </a:lnTo>
                <a:lnTo>
                  <a:pt x="1039434" y="37573"/>
                </a:lnTo>
                <a:cubicBezTo>
                  <a:pt x="1052307" y="68156"/>
                  <a:pt x="1070086" y="87069"/>
                  <a:pt x="1089715" y="87069"/>
                </a:cubicBezTo>
                <a:cubicBezTo>
                  <a:pt x="1119158" y="87069"/>
                  <a:pt x="1144440" y="129623"/>
                  <a:pt x="1155241" y="190289"/>
                </a:cubicBezTo>
                <a:lnTo>
                  <a:pt x="1158956" y="234000"/>
                </a:lnTo>
                <a:lnTo>
                  <a:pt x="0" y="234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068941" y="3110076"/>
            <a:ext cx="19383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boost:source_location</a:t>
            </a:r>
            <a:r>
              <a:rPr lang="ru-RU" sz="1100" dirty="0"/>
              <a:t> </a:t>
            </a:r>
          </a:p>
          <a:p>
            <a:r>
              <a:rPr lang="en-US" sz="1100" dirty="0"/>
              <a:t>“</a:t>
            </a:r>
            <a:r>
              <a:rPr lang="ru-RU" sz="1100" dirty="0"/>
              <a:t>имя вызывающей функции</a:t>
            </a:r>
            <a:r>
              <a:rPr lang="en-US" sz="1100" dirty="0" smtClean="0"/>
              <a:t>”</a:t>
            </a:r>
            <a:endParaRPr lang="ru-RU" sz="1100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430866" y="2294698"/>
            <a:ext cx="1682567" cy="1127409"/>
            <a:chOff x="373625" y="2284386"/>
            <a:chExt cx="1682567" cy="1127409"/>
          </a:xfrm>
        </p:grpSpPr>
        <p:sp>
          <p:nvSpPr>
            <p:cNvPr id="5" name="Блок-схема: типовой процесс 4"/>
            <p:cNvSpPr/>
            <p:nvPr/>
          </p:nvSpPr>
          <p:spPr>
            <a:xfrm>
              <a:off x="373625" y="2284386"/>
              <a:ext cx="1682567" cy="1127409"/>
            </a:xfrm>
            <a:prstGeom prst="flowChartPredefinedProcess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0750" y="2555675"/>
              <a:ext cx="1334020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ctr"/>
              <a:r>
                <a:rPr lang="ru-RU" sz="1600" dirty="0" smtClean="0"/>
                <a:t>вызывающая</a:t>
              </a:r>
            </a:p>
            <a:p>
              <a:pPr algn="ctr"/>
              <a:r>
                <a:rPr lang="ru-RU" sz="1600" dirty="0" smtClean="0"/>
                <a:t>функция</a:t>
              </a:r>
              <a:endParaRPr lang="ru-RU" sz="1600" dirty="0"/>
            </a:p>
          </p:txBody>
        </p:sp>
      </p:grpSp>
      <p:sp>
        <p:nvSpPr>
          <p:cNvPr id="99" name="Полилиния 98"/>
          <p:cNvSpPr/>
          <p:nvPr/>
        </p:nvSpPr>
        <p:spPr>
          <a:xfrm>
            <a:off x="638764" y="5146066"/>
            <a:ext cx="393956" cy="468000"/>
          </a:xfrm>
          <a:custGeom>
            <a:avLst/>
            <a:gdLst>
              <a:gd name="connsiteX0" fmla="*/ 159956 w 393956"/>
              <a:gd name="connsiteY0" fmla="*/ 0 h 468000"/>
              <a:gd name="connsiteX1" fmla="*/ 393956 w 393956"/>
              <a:gd name="connsiteY1" fmla="*/ 234000 h 468000"/>
              <a:gd name="connsiteX2" fmla="*/ 159956 w 393956"/>
              <a:gd name="connsiteY2" fmla="*/ 468000 h 468000"/>
              <a:gd name="connsiteX3" fmla="*/ 159956 w 393956"/>
              <a:gd name="connsiteY3" fmla="*/ 351000 h 468000"/>
              <a:gd name="connsiteX4" fmla="*/ 120277 w 393956"/>
              <a:gd name="connsiteY4" fmla="*/ 351000 h 468000"/>
              <a:gd name="connsiteX5" fmla="*/ 120425 w 393956"/>
              <a:gd name="connsiteY5" fmla="*/ 349466 h 468000"/>
              <a:gd name="connsiteX6" fmla="*/ 59051 w 393956"/>
              <a:gd name="connsiteY6" fmla="*/ 221212 h 468000"/>
              <a:gd name="connsiteX7" fmla="*/ 2502 w 393956"/>
              <a:gd name="connsiteY7" fmla="*/ 142886 h 468000"/>
              <a:gd name="connsiteX8" fmla="*/ 0 w 393956"/>
              <a:gd name="connsiteY8" fmla="*/ 117000 h 468000"/>
              <a:gd name="connsiteX9" fmla="*/ 159956 w 393956"/>
              <a:gd name="connsiteY9" fmla="*/ 11700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3956" h="468000">
                <a:moveTo>
                  <a:pt x="159956" y="0"/>
                </a:moveTo>
                <a:lnTo>
                  <a:pt x="393956" y="234000"/>
                </a:lnTo>
                <a:lnTo>
                  <a:pt x="159956" y="468000"/>
                </a:lnTo>
                <a:lnTo>
                  <a:pt x="159956" y="351000"/>
                </a:lnTo>
                <a:lnTo>
                  <a:pt x="120277" y="351000"/>
                </a:lnTo>
                <a:lnTo>
                  <a:pt x="120425" y="349466"/>
                </a:lnTo>
                <a:cubicBezTo>
                  <a:pt x="120425" y="278618"/>
                  <a:pt x="92929" y="221212"/>
                  <a:pt x="59051" y="221212"/>
                </a:cubicBezTo>
                <a:cubicBezTo>
                  <a:pt x="33642" y="221212"/>
                  <a:pt x="11823" y="188920"/>
                  <a:pt x="2502" y="142886"/>
                </a:cubicBezTo>
                <a:lnTo>
                  <a:pt x="0" y="117000"/>
                </a:lnTo>
                <a:lnTo>
                  <a:pt x="159956" y="117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58" name="Группа 57"/>
          <p:cNvGrpSpPr/>
          <p:nvPr/>
        </p:nvGrpSpPr>
        <p:grpSpPr>
          <a:xfrm>
            <a:off x="5134716" y="1704958"/>
            <a:ext cx="719484" cy="994242"/>
            <a:chOff x="1944462" y="1704692"/>
            <a:chExt cx="719484" cy="994242"/>
          </a:xfrm>
        </p:grpSpPr>
        <p:pic>
          <p:nvPicPr>
            <p:cNvPr id="59" name="Рисунок 5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60" name="Рисунок 5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pic>
        <p:nvPicPr>
          <p:cNvPr id="64" name="Рисунок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565" y="4356113"/>
            <a:ext cx="720000" cy="1018336"/>
          </a:xfrm>
          <a:prstGeom prst="rect">
            <a:avLst/>
          </a:prstGeom>
        </p:spPr>
      </p:pic>
      <p:sp>
        <p:nvSpPr>
          <p:cNvPr id="66" name="Стрелка вправо 65"/>
          <p:cNvSpPr/>
          <p:nvPr/>
        </p:nvSpPr>
        <p:spPr>
          <a:xfrm>
            <a:off x="4916763" y="5151091"/>
            <a:ext cx="23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4754304" y="5636977"/>
            <a:ext cx="221567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boost:source_location</a:t>
            </a:r>
            <a:r>
              <a:rPr lang="ru-RU" sz="1100" dirty="0"/>
              <a:t> </a:t>
            </a:r>
          </a:p>
          <a:p>
            <a:r>
              <a:rPr lang="en-US" sz="1100" dirty="0"/>
              <a:t>“</a:t>
            </a:r>
            <a:r>
              <a:rPr lang="ru-RU" sz="1100" dirty="0"/>
              <a:t>имя вызывающей функции</a:t>
            </a:r>
            <a:r>
              <a:rPr lang="en-US" sz="1100" dirty="0"/>
              <a:t>”, </a:t>
            </a:r>
          </a:p>
          <a:p>
            <a:r>
              <a:rPr lang="en-US" sz="1100" dirty="0"/>
              <a:t>ErrorLevel </a:t>
            </a:r>
            <a:r>
              <a:rPr lang="en-US" sz="1100" dirty="0" smtClean="0"/>
              <a:t>“</a:t>
            </a:r>
            <a:r>
              <a:rPr lang="ru-RU" sz="1100" dirty="0" smtClean="0"/>
              <a:t>уровень логирования</a:t>
            </a:r>
            <a:r>
              <a:rPr lang="en-US" sz="1100" dirty="0" smtClean="0"/>
              <a:t>”</a:t>
            </a:r>
            <a:endParaRPr lang="ru-RU" sz="1100" dirty="0"/>
          </a:p>
        </p:txBody>
      </p:sp>
      <p:grpSp>
        <p:nvGrpSpPr>
          <p:cNvPr id="68" name="Группа 67"/>
          <p:cNvGrpSpPr/>
          <p:nvPr/>
        </p:nvGrpSpPr>
        <p:grpSpPr>
          <a:xfrm>
            <a:off x="4888902" y="4222022"/>
            <a:ext cx="719484" cy="994242"/>
            <a:chOff x="1944462" y="1704692"/>
            <a:chExt cx="719484" cy="994242"/>
          </a:xfrm>
        </p:grpSpPr>
        <p:pic>
          <p:nvPicPr>
            <p:cNvPr id="69" name="Рисунок 6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70" name="Рисунок 6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grpSp>
        <p:nvGrpSpPr>
          <p:cNvPr id="21" name="Группа 20"/>
          <p:cNvGrpSpPr/>
          <p:nvPr/>
        </p:nvGrpSpPr>
        <p:grpSpPr>
          <a:xfrm>
            <a:off x="7389080" y="4837471"/>
            <a:ext cx="1080000" cy="1080000"/>
            <a:chOff x="8913090" y="4837471"/>
            <a:chExt cx="1080000" cy="1080000"/>
          </a:xfrm>
        </p:grpSpPr>
        <p:sp>
          <p:nvSpPr>
            <p:cNvPr id="18" name="Блок-схема: решение 17"/>
            <p:cNvSpPr>
              <a:spLocks noChangeAspect="1"/>
            </p:cNvSpPr>
            <p:nvPr/>
          </p:nvSpPr>
          <p:spPr>
            <a:xfrm>
              <a:off x="8913090" y="4837471"/>
              <a:ext cx="1080000" cy="1080000"/>
            </a:xfrm>
            <a:prstGeom prst="flowChartDecision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61719" y="5188446"/>
              <a:ext cx="5968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fatal</a:t>
              </a:r>
              <a:endParaRPr lang="ru-RU" dirty="0"/>
            </a:p>
          </p:txBody>
        </p:sp>
      </p:grpSp>
      <p:cxnSp>
        <p:nvCxnSpPr>
          <p:cNvPr id="38" name="Прямая соединительная линия 37"/>
          <p:cNvCxnSpPr>
            <a:stCxn id="18" idx="3"/>
            <a:endCxn id="18" idx="3"/>
          </p:cNvCxnSpPr>
          <p:nvPr/>
        </p:nvCxnSpPr>
        <p:spPr>
          <a:xfrm>
            <a:off x="8469080" y="537747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Группа 84"/>
          <p:cNvGrpSpPr/>
          <p:nvPr/>
        </p:nvGrpSpPr>
        <p:grpSpPr>
          <a:xfrm>
            <a:off x="8605509" y="4231848"/>
            <a:ext cx="719484" cy="994242"/>
            <a:chOff x="1944462" y="1704692"/>
            <a:chExt cx="719484" cy="994242"/>
          </a:xfrm>
        </p:grpSpPr>
        <p:pic>
          <p:nvPicPr>
            <p:cNvPr id="86" name="Рисунок 8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87" name="Рисунок 8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sp>
        <p:nvSpPr>
          <p:cNvPr id="88" name="Стрелка вправо 87"/>
          <p:cNvSpPr/>
          <p:nvPr/>
        </p:nvSpPr>
        <p:spPr>
          <a:xfrm>
            <a:off x="8918132" y="5140177"/>
            <a:ext cx="126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Стрелка вправо 88"/>
          <p:cNvSpPr/>
          <p:nvPr/>
        </p:nvSpPr>
        <p:spPr>
          <a:xfrm rot="16200000">
            <a:off x="7564739" y="3984889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0" name="Группа 89"/>
          <p:cNvGrpSpPr/>
          <p:nvPr/>
        </p:nvGrpSpPr>
        <p:grpSpPr>
          <a:xfrm>
            <a:off x="10322157" y="4757677"/>
            <a:ext cx="1682567" cy="1127409"/>
            <a:chOff x="373625" y="2284386"/>
            <a:chExt cx="1682567" cy="1127409"/>
          </a:xfrm>
        </p:grpSpPr>
        <p:sp>
          <p:nvSpPr>
            <p:cNvPr id="91" name="Блок-схема: типовой процесс 90"/>
            <p:cNvSpPr/>
            <p:nvPr/>
          </p:nvSpPr>
          <p:spPr>
            <a:xfrm>
              <a:off x="373625" y="2284386"/>
              <a:ext cx="1682567" cy="1127409"/>
            </a:xfrm>
            <a:prstGeom prst="flowChartPredefinedProcess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50750" y="2555675"/>
              <a:ext cx="1334020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ctr"/>
              <a:r>
                <a:rPr lang="ru-RU" sz="1600" dirty="0" smtClean="0"/>
                <a:t>вызывающая</a:t>
              </a:r>
            </a:p>
            <a:p>
              <a:pPr algn="ctr"/>
              <a:r>
                <a:rPr lang="ru-RU" sz="1600" dirty="0" smtClean="0"/>
                <a:t>функция</a:t>
              </a:r>
              <a:endParaRPr lang="ru-RU" sz="1600" dirty="0"/>
            </a:p>
          </p:txBody>
        </p:sp>
      </p:grpSp>
      <p:pic>
        <p:nvPicPr>
          <p:cNvPr id="49" name="Рисунок 4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995" y="3920494"/>
            <a:ext cx="720000" cy="1018336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256" y="4361030"/>
            <a:ext cx="720000" cy="1018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8614" y="451562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8396402" y="5188446"/>
            <a:ext cx="53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Нет</a:t>
            </a:r>
            <a:endParaRPr lang="ru-RU" dirty="0"/>
          </a:p>
        </p:txBody>
      </p:sp>
      <p:cxnSp>
        <p:nvCxnSpPr>
          <p:cNvPr id="51" name="Соединительная линия уступом 50"/>
          <p:cNvCxnSpPr>
            <a:endCxn id="47" idx="2"/>
          </p:cNvCxnSpPr>
          <p:nvPr/>
        </p:nvCxnSpPr>
        <p:spPr>
          <a:xfrm rot="16200000" flipV="1">
            <a:off x="6163832" y="4985218"/>
            <a:ext cx="840694" cy="550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657653" y="1586947"/>
            <a:ext cx="3534347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Необходимо добавить контейнер соответствия вызывающей функции уровню логирования.</a:t>
            </a:r>
          </a:p>
          <a:p>
            <a:endParaRPr lang="ru-RU" sz="1400" dirty="0"/>
          </a:p>
          <a:p>
            <a:r>
              <a:rPr lang="ru-RU" sz="1400" dirty="0"/>
              <a:t>П</a:t>
            </a:r>
            <a:r>
              <a:rPr lang="ru-RU" sz="1400" dirty="0" smtClean="0"/>
              <a:t>люсы:</a:t>
            </a:r>
          </a:p>
          <a:p>
            <a:pPr marL="285750" indent="-285750">
              <a:buFontTx/>
              <a:buChar char="-"/>
            </a:pPr>
            <a:r>
              <a:rPr lang="ru-RU" sz="1400" dirty="0" smtClean="0"/>
              <a:t>меньше аргументов использовать;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ц</a:t>
            </a:r>
            <a:r>
              <a:rPr lang="ru-RU" sz="1400" dirty="0" smtClean="0"/>
              <a:t>ентрализованная обработка ошибок и логирования;</a:t>
            </a:r>
          </a:p>
          <a:p>
            <a:r>
              <a:rPr lang="ru-RU" sz="1400" dirty="0" smtClean="0"/>
              <a:t>Минусы:</a:t>
            </a:r>
          </a:p>
          <a:p>
            <a:r>
              <a:rPr lang="ru-RU" sz="1400" dirty="0" smtClean="0"/>
              <a:t>-      иногда, добавить дополнительную функцию вызова операции.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6531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14.02.2026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24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464063031"/>
              </p:ext>
            </p:extLst>
          </p:nvPr>
        </p:nvGraphicFramePr>
        <p:xfrm>
          <a:off x="3219523" y="2002381"/>
          <a:ext cx="7920000" cy="3901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254" y="4474712"/>
            <a:ext cx="432706" cy="612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704" y="4862529"/>
            <a:ext cx="432717" cy="612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92" y="3698890"/>
            <a:ext cx="432705" cy="612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34" y="4079959"/>
            <a:ext cx="432706" cy="61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61543" y="2437954"/>
            <a:ext cx="1355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debug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bg1"/>
                </a:solidFill>
              </a:rPr>
              <a:t>info</a:t>
            </a:r>
            <a:r>
              <a:rPr lang="en-US" dirty="0" smtClean="0"/>
              <a:t>, 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warning</a:t>
            </a:r>
            <a:r>
              <a:rPr lang="en-US" dirty="0" smtClean="0"/>
              <a:t>, 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error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fatal</a:t>
            </a:r>
            <a:r>
              <a:rPr lang="en-US" dirty="0" smtClean="0"/>
              <a:t>, 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Общие возможности</a:t>
            </a:r>
            <a:endParaRPr lang="ru-RU" sz="2400" dirty="0"/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kav_logger</a:t>
            </a:r>
            <a:endParaRPr lang="ru-RU" sz="4000" dirty="0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8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Межпроцессное взаимодействие</a:t>
            </a:r>
            <a:endParaRPr lang="ru-RU" sz="240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D743-4282-4860-9AE2-FAD442C19B6D}" type="datetime1">
              <a:rPr lang="ru-RU" smtClean="0"/>
              <a:t>14.02.2026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25</a:t>
            </a:fld>
            <a:endParaRPr lang="ru-RU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342900" y="1514536"/>
            <a:ext cx="0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6169256" y="1522152"/>
            <a:ext cx="7621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342900" y="1531989"/>
            <a:ext cx="5826356" cy="6021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42901" y="6203868"/>
            <a:ext cx="5826355" cy="11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H="1">
            <a:off x="8250747" y="1524369"/>
            <a:ext cx="1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11855008" y="1524369"/>
            <a:ext cx="0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8250748" y="1538009"/>
            <a:ext cx="3604260" cy="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8277013" y="6215605"/>
            <a:ext cx="3604260" cy="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Стрелка вправо 26"/>
          <p:cNvSpPr/>
          <p:nvPr/>
        </p:nvSpPr>
        <p:spPr>
          <a:xfrm>
            <a:off x="6176877" y="5463993"/>
            <a:ext cx="2094858" cy="48463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038212" y="5250629"/>
            <a:ext cx="222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boost::interprocess::</a:t>
            </a:r>
            <a:endParaRPr lang="ru-RU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864159" y="1541817"/>
            <a:ext cx="2755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</a:t>
            </a:r>
            <a:r>
              <a:rPr lang="en-US" dirty="0" smtClean="0"/>
              <a:t>search-engine.exe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8645527" y="1538919"/>
            <a:ext cx="2829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</a:t>
            </a:r>
            <a:r>
              <a:rPr lang="en-US" dirty="0" smtClean="0"/>
              <a:t>logger-monitor.exe</a:t>
            </a:r>
            <a:endParaRPr lang="ru-RU" dirty="0"/>
          </a:p>
        </p:txBody>
      </p:sp>
      <p:grpSp>
        <p:nvGrpSpPr>
          <p:cNvPr id="36" name="Группа 35"/>
          <p:cNvGrpSpPr>
            <a:grpSpLocks noChangeAspect="1"/>
          </p:cNvGrpSpPr>
          <p:nvPr/>
        </p:nvGrpSpPr>
        <p:grpSpPr>
          <a:xfrm>
            <a:off x="4223776" y="4346837"/>
            <a:ext cx="1620000" cy="1620000"/>
            <a:chOff x="6093193" y="1986699"/>
            <a:chExt cx="1440000" cy="1442301"/>
          </a:xfrm>
        </p:grpSpPr>
        <p:grpSp>
          <p:nvGrpSpPr>
            <p:cNvPr id="37" name="Группа 3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9" name="Скругленный прямоугольник 3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 smtClean="0"/>
                  <a:t>MonitorSender</a:t>
                </a:r>
                <a:endParaRPr lang="ru-RU" sz="1400" b="1" kern="1200" dirty="0"/>
              </a:p>
            </p:txBody>
          </p:sp>
        </p:grpSp>
        <p:sp>
          <p:nvSpPr>
            <p:cNvPr id="38" name="Прямоугольник 3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>
                  <a:solidFill>
                    <a:schemeClr val="tx1"/>
                  </a:solidFill>
                </a:rPr>
                <a:t>Отправить сообщение в очередь сообщений</a:t>
              </a:r>
            </a:p>
          </p:txBody>
        </p:sp>
      </p:grpSp>
      <p:grpSp>
        <p:nvGrpSpPr>
          <p:cNvPr id="44" name="Группа 43"/>
          <p:cNvGrpSpPr>
            <a:grpSpLocks noChangeAspect="1"/>
          </p:cNvGrpSpPr>
          <p:nvPr/>
        </p:nvGrpSpPr>
        <p:grpSpPr>
          <a:xfrm>
            <a:off x="8368822" y="4346843"/>
            <a:ext cx="1620000" cy="1620000"/>
            <a:chOff x="6093193" y="1986699"/>
            <a:chExt cx="1440000" cy="1442301"/>
          </a:xfrm>
        </p:grpSpPr>
        <p:grpSp>
          <p:nvGrpSpPr>
            <p:cNvPr id="45" name="Группа 4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7" name="Скругленный прямоугольник 4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 smtClean="0"/>
                  <a:t>MonitorReceiver</a:t>
                </a:r>
                <a:endParaRPr lang="en-US" sz="1400" dirty="0"/>
              </a:p>
            </p:txBody>
          </p:sp>
        </p:grpSp>
        <p:sp>
          <p:nvSpPr>
            <p:cNvPr id="46" name="Прямоугольник 4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>
                  <a:solidFill>
                    <a:schemeClr val="tx1"/>
                  </a:solidFill>
                </a:rPr>
                <a:t>Получить сообщение из очереди </a:t>
              </a:r>
              <a:r>
                <a:rPr lang="ru-RU" sz="1100" dirty="0" smtClean="0">
                  <a:solidFill>
                    <a:schemeClr val="tx1"/>
                  </a:solidFill>
                </a:rPr>
                <a:t>сообщений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Группа 48"/>
          <p:cNvGrpSpPr/>
          <p:nvPr/>
        </p:nvGrpSpPr>
        <p:grpSpPr>
          <a:xfrm>
            <a:off x="9104548" y="2216725"/>
            <a:ext cx="1620000" cy="1620000"/>
            <a:chOff x="6093193" y="1986699"/>
            <a:chExt cx="1440000" cy="1442301"/>
          </a:xfrm>
        </p:grpSpPr>
        <p:grpSp>
          <p:nvGrpSpPr>
            <p:cNvPr id="50" name="Группа 49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2" name="Скругленный прямоугольник 51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3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LoggerMonitor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100" dirty="0"/>
              </a:p>
            </p:txBody>
          </p:sp>
        </p:grpSp>
        <p:sp>
          <p:nvSpPr>
            <p:cNvPr id="51" name="Прямоугольник 50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Вывести сообщение </a:t>
              </a:r>
              <a:r>
                <a:rPr lang="ru-RU" sz="1100" dirty="0">
                  <a:solidFill>
                    <a:schemeClr val="tx1"/>
                  </a:solidFill>
                </a:rPr>
                <a:t>на консоль</a:t>
              </a:r>
            </a:p>
          </p:txBody>
        </p:sp>
      </p:grpSp>
      <p:grpSp>
        <p:nvGrpSpPr>
          <p:cNvPr id="54" name="Группа 53"/>
          <p:cNvGrpSpPr>
            <a:grpSpLocks noChangeAspect="1"/>
          </p:cNvGrpSpPr>
          <p:nvPr/>
        </p:nvGrpSpPr>
        <p:grpSpPr>
          <a:xfrm>
            <a:off x="3476175" y="2444048"/>
            <a:ext cx="1620000" cy="1620000"/>
            <a:chOff x="6093193" y="1986699"/>
            <a:chExt cx="1440000" cy="1442301"/>
          </a:xfrm>
        </p:grpSpPr>
        <p:grpSp>
          <p:nvGrpSpPr>
            <p:cNvPr id="55" name="Группа 5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7" name="Скругленный прямоугольник 5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WriterMessage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1100" b="1" kern="1200" dirty="0"/>
              </a:p>
            </p:txBody>
          </p:sp>
        </p:grpSp>
        <p:sp>
          <p:nvSpPr>
            <p:cNvPr id="56" name="Прямоугольник 55"/>
            <p:cNvSpPr/>
            <p:nvPr/>
          </p:nvSpPr>
          <p:spPr>
            <a:xfrm>
              <a:off x="6096000" y="2857234"/>
              <a:ext cx="1437193" cy="5717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Записать сообщение в лог-файл </a:t>
              </a:r>
              <a:r>
                <a:rPr lang="ru-RU" sz="1100" dirty="0">
                  <a:solidFill>
                    <a:schemeClr val="tx1"/>
                  </a:solidFill>
                </a:rPr>
                <a:t>и отправить в монитор</a:t>
              </a:r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582624" y="2444056"/>
            <a:ext cx="1020197" cy="2473143"/>
            <a:chOff x="6093193" y="1986699"/>
            <a:chExt cx="1440000" cy="1442302"/>
          </a:xfrm>
        </p:grpSpPr>
        <p:grpSp>
          <p:nvGrpSpPr>
            <p:cNvPr id="62" name="Группа 6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64" name="Скругленный прямоугольник 6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Logger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100" dirty="0"/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1100" b="1" kern="1200" dirty="0"/>
              </a:p>
            </p:txBody>
          </p:sp>
        </p:grpSp>
        <p:sp>
          <p:nvSpPr>
            <p:cNvPr id="63" name="Прямоугольник 62"/>
            <p:cNvSpPr/>
            <p:nvPr/>
          </p:nvSpPr>
          <p:spPr>
            <a:xfrm>
              <a:off x="6096000" y="2608957"/>
              <a:ext cx="1437193" cy="8200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Записать (сформировать)  сообщение уровня </a:t>
              </a:r>
            </a:p>
            <a:p>
              <a:r>
                <a:rPr lang="ru-RU" sz="1100" dirty="0" smtClean="0">
                  <a:solidFill>
                    <a:schemeClr val="tx1"/>
                  </a:solidFill>
                </a:rPr>
                <a:t>debug </a:t>
              </a:r>
              <a:r>
                <a:rPr lang="ru-RU" sz="1100" dirty="0">
                  <a:solidFill>
                    <a:schemeClr val="tx1"/>
                  </a:solidFill>
                </a:rPr>
                <a:t>… fatal</a:t>
              </a:r>
            </a:p>
          </p:txBody>
        </p:sp>
      </p:grpSp>
      <p:pic>
        <p:nvPicPr>
          <p:cNvPr id="66" name="Рисунок 6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680" y="4409041"/>
            <a:ext cx="1080000" cy="1527507"/>
          </a:xfrm>
          <a:prstGeom prst="rect">
            <a:avLst/>
          </a:prstGeom>
        </p:spPr>
      </p:pic>
      <p:cxnSp>
        <p:nvCxnSpPr>
          <p:cNvPr id="72" name="Прямая соединительная линия 71"/>
          <p:cNvCxnSpPr/>
          <p:nvPr/>
        </p:nvCxnSpPr>
        <p:spPr>
          <a:xfrm>
            <a:off x="2637315" y="1996817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>
            <a:off x="5936048" y="2001734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>
            <a:off x="2625399" y="1985686"/>
            <a:ext cx="3309719" cy="1112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2661965" y="6073136"/>
            <a:ext cx="3309545" cy="6221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940434" y="2000005"/>
            <a:ext cx="267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 записи сообщений</a:t>
            </a:r>
            <a:endParaRPr lang="ru-RU" dirty="0"/>
          </a:p>
        </p:txBody>
      </p:sp>
      <p:cxnSp>
        <p:nvCxnSpPr>
          <p:cNvPr id="89" name="Соединительная линия уступом 88"/>
          <p:cNvCxnSpPr>
            <a:endCxn id="38" idx="1"/>
          </p:cNvCxnSpPr>
          <p:nvPr/>
        </p:nvCxnSpPr>
        <p:spPr>
          <a:xfrm rot="5400000">
            <a:off x="3897664" y="4321113"/>
            <a:ext cx="1771722" cy="1113182"/>
          </a:xfrm>
          <a:prstGeom prst="bentConnector4">
            <a:avLst>
              <a:gd name="adj1" fmla="val 13185"/>
              <a:gd name="adj2" fmla="val 138201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041328" y="5837190"/>
            <a:ext cx="222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message_queue</a:t>
            </a:r>
          </a:p>
        </p:txBody>
      </p:sp>
      <p:cxnSp>
        <p:nvCxnSpPr>
          <p:cNvPr id="99" name="Соединительная линия уступом 98"/>
          <p:cNvCxnSpPr>
            <a:stCxn id="51" idx="3"/>
          </p:cNvCxnSpPr>
          <p:nvPr/>
        </p:nvCxnSpPr>
        <p:spPr>
          <a:xfrm>
            <a:off x="10724548" y="3633453"/>
            <a:ext cx="560132" cy="1240471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Соединительная линия уступом 101"/>
          <p:cNvCxnSpPr>
            <a:stCxn id="46" idx="3"/>
            <a:endCxn id="51" idx="1"/>
          </p:cNvCxnSpPr>
          <p:nvPr/>
        </p:nvCxnSpPr>
        <p:spPr>
          <a:xfrm flipH="1" flipV="1">
            <a:off x="9107706" y="3633453"/>
            <a:ext cx="881116" cy="2130118"/>
          </a:xfrm>
          <a:prstGeom prst="bentConnector5">
            <a:avLst>
              <a:gd name="adj1" fmla="val -25944"/>
              <a:gd name="adj2" fmla="val 78618"/>
              <a:gd name="adj3" fmla="val 148262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единительная линия 116"/>
          <p:cNvCxnSpPr/>
          <p:nvPr/>
        </p:nvCxnSpPr>
        <p:spPr>
          <a:xfrm>
            <a:off x="2298107" y="1982066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/>
          <p:cNvCxnSpPr/>
          <p:nvPr/>
        </p:nvCxnSpPr>
        <p:spPr>
          <a:xfrm>
            <a:off x="454557" y="1967320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453478" y="1975983"/>
            <a:ext cx="1835278" cy="717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478056" y="6051463"/>
            <a:ext cx="1835278" cy="717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87282" y="1995088"/>
            <a:ext cx="177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Основной поток</a:t>
            </a:r>
            <a:endParaRPr lang="ru-RU" dirty="0"/>
          </a:p>
        </p:txBody>
      </p:sp>
      <p:pic>
        <p:nvPicPr>
          <p:cNvPr id="123" name="Рисунок 1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4" y="4982468"/>
            <a:ext cx="629776" cy="890728"/>
          </a:xfrm>
          <a:prstGeom prst="rect">
            <a:avLst/>
          </a:prstGeom>
        </p:spPr>
      </p:pic>
      <p:cxnSp>
        <p:nvCxnSpPr>
          <p:cNvPr id="125" name="Соединительная линия уступом 124"/>
          <p:cNvCxnSpPr>
            <a:stCxn id="63" idx="3"/>
            <a:endCxn id="123" idx="1"/>
          </p:cNvCxnSpPr>
          <p:nvPr/>
        </p:nvCxnSpPr>
        <p:spPr>
          <a:xfrm>
            <a:off x="1602821" y="4214127"/>
            <a:ext cx="556183" cy="1213705"/>
          </a:xfrm>
          <a:prstGeom prst="bentConnector3">
            <a:avLst>
              <a:gd name="adj1" fmla="val 32322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Соединительная линия уступом 128"/>
          <p:cNvCxnSpPr>
            <a:stCxn id="123" idx="3"/>
            <a:endCxn id="56" idx="1"/>
          </p:cNvCxnSpPr>
          <p:nvPr/>
        </p:nvCxnSpPr>
        <p:spPr>
          <a:xfrm flipV="1">
            <a:off x="2788780" y="3742943"/>
            <a:ext cx="690553" cy="1684889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793934" y="5743610"/>
            <a:ext cx="1417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сообщений</a:t>
            </a:r>
            <a:endParaRPr lang="ru-RU" sz="1000" dirty="0"/>
          </a:p>
        </p:txBody>
      </p:sp>
      <p:pic>
        <p:nvPicPr>
          <p:cNvPr id="133" name="Рисунок 1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886" y="2349087"/>
            <a:ext cx="763597" cy="1080000"/>
          </a:xfrm>
          <a:prstGeom prst="rect">
            <a:avLst/>
          </a:prstGeom>
        </p:spPr>
      </p:pic>
      <p:cxnSp>
        <p:nvCxnSpPr>
          <p:cNvPr id="136" name="Соединительная линия уступом 135"/>
          <p:cNvCxnSpPr/>
          <p:nvPr/>
        </p:nvCxnSpPr>
        <p:spPr>
          <a:xfrm flipV="1">
            <a:off x="5099194" y="3458363"/>
            <a:ext cx="564482" cy="487676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977" y="3874057"/>
            <a:ext cx="1418509" cy="2006279"/>
          </a:xfrm>
          <a:prstGeom prst="rect">
            <a:avLst/>
          </a:prstGeom>
        </p:spPr>
      </p:pic>
      <p:sp>
        <p:nvSpPr>
          <p:cNvPr id="67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kav_logger</a:t>
            </a:r>
            <a:endParaRPr lang="ru-RU" sz="4000" dirty="0"/>
          </a:p>
        </p:txBody>
      </p:sp>
      <p:cxnSp>
        <p:nvCxnSpPr>
          <p:cNvPr id="69" name="Прямая соединительная линия 68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256114" y="3175817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л</a:t>
            </a:r>
            <a:r>
              <a:rPr lang="ru-RU" sz="1000" dirty="0" smtClean="0"/>
              <a:t>ог-файл</a:t>
            </a:r>
            <a:endParaRPr lang="ru-RU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10973253" y="5491867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консоль</a:t>
            </a:r>
            <a:endParaRPr lang="ru-RU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6504471" y="6076886"/>
            <a:ext cx="12955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очередь сообщений</a:t>
            </a:r>
            <a:endParaRPr lang="ru-RU" sz="1000" dirty="0"/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24" y="4227797"/>
            <a:ext cx="381798" cy="540000"/>
          </a:xfrm>
          <a:prstGeom prst="rect">
            <a:avLst/>
          </a:prstGeom>
        </p:spPr>
      </p:pic>
      <p:pic>
        <p:nvPicPr>
          <p:cNvPr id="98" name="Рисунок 9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760" y="4232716"/>
            <a:ext cx="381798" cy="540000"/>
          </a:xfrm>
          <a:prstGeom prst="rect">
            <a:avLst/>
          </a:prstGeom>
        </p:spPr>
      </p:pic>
      <p:pic>
        <p:nvPicPr>
          <p:cNvPr id="101" name="Рисунок 10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05" y="3677194"/>
            <a:ext cx="381798" cy="540000"/>
          </a:xfrm>
          <a:prstGeom prst="rect">
            <a:avLst/>
          </a:prstGeom>
        </p:spPr>
      </p:pic>
      <p:pic>
        <p:nvPicPr>
          <p:cNvPr id="103" name="Рисунок 10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90" y="4603924"/>
            <a:ext cx="381798" cy="540000"/>
          </a:xfrm>
          <a:prstGeom prst="rect">
            <a:avLst/>
          </a:prstGeom>
        </p:spPr>
      </p:pic>
      <p:pic>
        <p:nvPicPr>
          <p:cNvPr id="104" name="Рисунок 10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194" y="3871420"/>
            <a:ext cx="381798" cy="5400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383278" y="4673177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2729835" y="4673347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4927104" y="4115385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9802902" y="5054398"/>
            <a:ext cx="805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10875499" y="4319641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pic>
        <p:nvPicPr>
          <p:cNvPr id="84" name="Рисунок 8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548" y="4897164"/>
            <a:ext cx="381800" cy="540000"/>
          </a:xfrm>
          <a:prstGeom prst="rect">
            <a:avLst/>
          </a:prstGeom>
        </p:spPr>
      </p:pic>
      <p:pic>
        <p:nvPicPr>
          <p:cNvPr id="85" name="Рисунок 8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907" y="4894226"/>
            <a:ext cx="381799" cy="54000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2812451" y="5287518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мьютекс</a:t>
            </a:r>
            <a:endParaRPr lang="ru-RU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1460813" y="529305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мьютекс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62236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14.02.2026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26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186715135"/>
              </p:ext>
            </p:extLst>
          </p:nvPr>
        </p:nvGraphicFramePr>
        <p:xfrm>
          <a:off x="3222901" y="1993350"/>
          <a:ext cx="7920000" cy="3987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Рисунок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197" y="2630317"/>
            <a:ext cx="611002" cy="432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735" y="2985587"/>
            <a:ext cx="661918" cy="468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200" y="3370352"/>
            <a:ext cx="330895" cy="4680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102" y="3735675"/>
            <a:ext cx="330895" cy="46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4" y="2630316"/>
            <a:ext cx="611002" cy="432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3" y="3011257"/>
            <a:ext cx="611002" cy="432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69" y="5493926"/>
            <a:ext cx="661919" cy="468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214" y="5589047"/>
            <a:ext cx="661919" cy="468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752" y="5090286"/>
            <a:ext cx="362540" cy="51276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2" y="4750320"/>
            <a:ext cx="330894" cy="46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Общие возможности</a:t>
            </a:r>
            <a:endParaRPr lang="ru-RU" sz="2400" dirty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</a:t>
            </a:r>
            <a:r>
              <a:rPr lang="ru-RU" sz="4000" dirty="0" smtClean="0"/>
              <a:t>_</a:t>
            </a:r>
            <a:r>
              <a:rPr lang="en-US" sz="4000" dirty="0" smtClean="0"/>
              <a:t>fileOperations</a:t>
            </a:r>
            <a:endParaRPr lang="ru-RU" sz="4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02929" y="2581156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1798012" y="2949865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  <p:sp>
        <p:nvSpPr>
          <p:cNvPr id="24" name="TextBox 23"/>
          <p:cNvSpPr txBox="1"/>
          <p:nvPr/>
        </p:nvSpPr>
        <p:spPr>
          <a:xfrm>
            <a:off x="1807517" y="5565251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4365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902257" y="6457817"/>
            <a:ext cx="1312025" cy="365125"/>
          </a:xfrm>
        </p:spPr>
        <p:txBody>
          <a:bodyPr/>
          <a:lstStyle/>
          <a:p>
            <a:fld id="{DEBD715E-836E-42D1-BDDD-058C1EE5707C}" type="slidenum">
              <a:rPr lang="ru-RU" smtClean="0"/>
              <a:t>27</a:t>
            </a:fld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Результаты тестов</a:t>
            </a:r>
            <a:endParaRPr lang="ru-RU" sz="4000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35940"/>
              </p:ext>
            </p:extLst>
          </p:nvPr>
        </p:nvGraphicFramePr>
        <p:xfrm>
          <a:off x="9309688" y="3853110"/>
          <a:ext cx="24935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93"/>
                <a:gridCol w="831193"/>
                <a:gridCol w="831193"/>
              </a:tblGrid>
              <a:tr h="316506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Element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Line Coverage,</a:t>
                      </a:r>
                      <a:r>
                        <a:rPr lang="en-US" sz="800" baseline="0" dirty="0" smtClean="0"/>
                        <a:t> %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Branch Coverage, %</a:t>
                      </a:r>
                      <a:endParaRPr lang="ru-RU" sz="800" dirty="0"/>
                    </a:p>
                  </a:txBody>
                  <a:tcPr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include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100%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31%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src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89%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60%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84%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50% branches covered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923990" y="3430258"/>
            <a:ext cx="1614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</a:t>
            </a:r>
            <a:r>
              <a:rPr lang="en-US" sz="1400" dirty="0" smtClean="0"/>
              <a:t>earch_engine_test</a:t>
            </a:r>
            <a:endParaRPr lang="ru-RU" sz="1400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743940"/>
              </p:ext>
            </p:extLst>
          </p:nvPr>
        </p:nvGraphicFramePr>
        <p:xfrm>
          <a:off x="343656" y="3860800"/>
          <a:ext cx="2493579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93"/>
                <a:gridCol w="831193"/>
                <a:gridCol w="831193"/>
              </a:tblGrid>
              <a:tr h="316506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Element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Line Coverage,</a:t>
                      </a:r>
                      <a:r>
                        <a:rPr lang="en-US" sz="800" baseline="0" dirty="0" smtClean="0"/>
                        <a:t> %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Branch Coverage, %</a:t>
                      </a:r>
                      <a:endParaRPr lang="ru-RU" sz="800" dirty="0"/>
                    </a:p>
                  </a:txBody>
                  <a:tcPr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src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100% files, </a:t>
                      </a:r>
                      <a:r>
                        <a:rPr lang="en-US" sz="800" dirty="0" smtClean="0"/>
                        <a:t>100% </a:t>
                      </a:r>
                      <a:r>
                        <a:rPr lang="en-US" sz="800" dirty="0"/>
                        <a:t>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70% </a:t>
                      </a:r>
                      <a:r>
                        <a:rPr lang="en-US" sz="800" dirty="0"/>
                        <a:t>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80% </a:t>
                      </a:r>
                      <a:r>
                        <a:rPr lang="en-US" sz="800" dirty="0"/>
                        <a:t>files, </a:t>
                      </a:r>
                      <a:r>
                        <a:rPr lang="en-US" sz="800" dirty="0" smtClean="0"/>
                        <a:t>89% </a:t>
                      </a:r>
                      <a:r>
                        <a:rPr lang="en-US" sz="800" dirty="0"/>
                        <a:t>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46% </a:t>
                      </a:r>
                      <a:r>
                        <a:rPr lang="en-US" sz="800" dirty="0"/>
                        <a:t>branches covered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33319" y="3439319"/>
            <a:ext cx="1923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</a:t>
            </a:r>
            <a:r>
              <a:rPr lang="en-US" sz="1400" dirty="0" smtClean="0"/>
              <a:t>av_fileOperations_test</a:t>
            </a:r>
            <a:endParaRPr lang="ru-RU" sz="1400" dirty="0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99977"/>
              </p:ext>
            </p:extLst>
          </p:nvPr>
        </p:nvGraphicFramePr>
        <p:xfrm>
          <a:off x="6304909" y="3853110"/>
          <a:ext cx="2493579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93"/>
                <a:gridCol w="831193"/>
                <a:gridCol w="831193"/>
              </a:tblGrid>
              <a:tr h="316506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Element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Line Coverage,</a:t>
                      </a:r>
                      <a:r>
                        <a:rPr lang="en-US" sz="800" baseline="0" dirty="0" smtClean="0"/>
                        <a:t> %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Branch Coverage, %</a:t>
                      </a:r>
                      <a:endParaRPr lang="ru-RU" sz="800" dirty="0"/>
                    </a:p>
                  </a:txBody>
                  <a:tcPr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include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76%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44%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src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84%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57%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95%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54% branches covered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953396" y="3430258"/>
            <a:ext cx="1690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logger_monitor_test</a:t>
            </a:r>
            <a:endParaRPr lang="ru-RU" sz="1400" dirty="0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637982"/>
              </p:ext>
            </p:extLst>
          </p:nvPr>
        </p:nvGraphicFramePr>
        <p:xfrm>
          <a:off x="3305705" y="3860800"/>
          <a:ext cx="2493579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93"/>
                <a:gridCol w="831193"/>
                <a:gridCol w="831193"/>
              </a:tblGrid>
              <a:tr h="316506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Element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Line Coverage,</a:t>
                      </a:r>
                      <a:r>
                        <a:rPr lang="en-US" sz="800" baseline="0" dirty="0" smtClean="0"/>
                        <a:t> %</a:t>
                      </a:r>
                      <a:endParaRPr lang="ru-RU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Branch Coverage, %</a:t>
                      </a:r>
                      <a:endParaRPr lang="ru-RU" sz="800" dirty="0"/>
                    </a:p>
                  </a:txBody>
                  <a:tcPr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include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100% files, 95% 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54%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 dirty="0"/>
                        <a:t>src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100% files, </a:t>
                      </a:r>
                      <a:r>
                        <a:rPr lang="en-US" sz="800" dirty="0" smtClean="0"/>
                        <a:t>83% </a:t>
                      </a:r>
                      <a:r>
                        <a:rPr lang="en-US" sz="800" dirty="0"/>
                        <a:t>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53% branches covered</a:t>
                      </a:r>
                    </a:p>
                  </a:txBody>
                  <a:tcPr anchor="ctr"/>
                </a:tc>
              </a:tr>
              <a:tr h="316506">
                <a:tc>
                  <a:txBody>
                    <a:bodyPr/>
                    <a:lstStyle/>
                    <a:p>
                      <a:r>
                        <a:rPr lang="en-US" sz="800"/>
                        <a:t>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85% </a:t>
                      </a:r>
                      <a:r>
                        <a:rPr lang="en-US" sz="800" dirty="0"/>
                        <a:t>files, </a:t>
                      </a:r>
                      <a:r>
                        <a:rPr lang="en-US" sz="800" dirty="0" smtClean="0"/>
                        <a:t>91% </a:t>
                      </a:r>
                      <a:r>
                        <a:rPr lang="en-US" sz="800" dirty="0"/>
                        <a:t>lines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49% </a:t>
                      </a:r>
                      <a:r>
                        <a:rPr lang="en-US" sz="800" dirty="0"/>
                        <a:t>branches covered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902923" y="3437948"/>
            <a:ext cx="1345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</a:t>
            </a:r>
            <a:r>
              <a:rPr lang="en-US" sz="1400" dirty="0" smtClean="0"/>
              <a:t>av_logger_test</a:t>
            </a:r>
            <a:endParaRPr lang="ru-RU" sz="14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47" y="3243985"/>
            <a:ext cx="476195" cy="67351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510" y="3227787"/>
            <a:ext cx="509070" cy="720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034" y="3228814"/>
            <a:ext cx="509065" cy="7200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995" y="3223133"/>
            <a:ext cx="509065" cy="72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0" y="913172"/>
            <a:ext cx="12181731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400" dirty="0" smtClean="0"/>
              <a:t>Результаты тестов по двум библиотекам (</a:t>
            </a:r>
            <a:r>
              <a:rPr lang="en-US" sz="2400" dirty="0" smtClean="0"/>
              <a:t>kav_fileOperations, kav_logger</a:t>
            </a:r>
            <a:r>
              <a:rPr lang="ru-RU" sz="2400" dirty="0" smtClean="0"/>
              <a:t>), </a:t>
            </a:r>
            <a:r>
              <a:rPr lang="en-US" sz="2400" dirty="0" smtClean="0"/>
              <a:t>logger_monitor</a:t>
            </a:r>
            <a:r>
              <a:rPr lang="ru-RU" sz="2400" dirty="0" smtClean="0"/>
              <a:t> и </a:t>
            </a:r>
          </a:p>
          <a:p>
            <a:pPr algn="ctr"/>
            <a:r>
              <a:rPr lang="ru-RU" sz="2400" dirty="0"/>
              <a:t>о</a:t>
            </a:r>
            <a:r>
              <a:rPr lang="ru-RU" sz="2400" dirty="0" smtClean="0"/>
              <a:t>сновной программы </a:t>
            </a:r>
            <a:r>
              <a:rPr lang="en-US" sz="2400" dirty="0" smtClean="0"/>
              <a:t>search_engine</a:t>
            </a:r>
            <a:endParaRPr lang="ru-R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37001" y="2065112"/>
            <a:ext cx="11389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	Протестирована обязательная проверка на недоступность файлов конфигурации и файлов документов, </a:t>
            </a:r>
          </a:p>
          <a:p>
            <a:r>
              <a:rPr lang="ru-RU" dirty="0"/>
              <a:t>з</a:t>
            </a:r>
            <a:r>
              <a:rPr lang="ru-RU" dirty="0" smtClean="0"/>
              <a:t>аявленная функциональность, а также наиболее </a:t>
            </a:r>
            <a:r>
              <a:rPr lang="ru-RU" smtClean="0"/>
              <a:t>сложные функции </a:t>
            </a:r>
            <a:r>
              <a:rPr lang="ru-RU" dirty="0" smtClean="0"/>
              <a:t>библиотек и основной программы.</a:t>
            </a:r>
            <a:endParaRPr lang="ru-RU" dirty="0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324000" y="2709864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76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28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4687" y="3816440"/>
            <a:ext cx="5291705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sz="1600" dirty="0" smtClean="0"/>
              <a:t>Ключи запуска приложения:</a:t>
            </a:r>
          </a:p>
          <a:p>
            <a:pPr marL="285750" indent="-285750">
              <a:buFontTx/>
              <a:buChar char="-"/>
            </a:pPr>
            <a:r>
              <a:rPr lang="ru-RU" sz="1600" dirty="0" smtClean="0"/>
              <a:t>пути файлов конфигурации, запросов и ответов;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в</a:t>
            </a:r>
            <a:r>
              <a:rPr lang="ru-RU" sz="1600" dirty="0" smtClean="0"/>
              <a:t>ыбор базы документов или путей файлов документов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п</a:t>
            </a:r>
            <a:r>
              <a:rPr lang="ru-RU" sz="1600" dirty="0" smtClean="0"/>
              <a:t>ути файлов конфигурации логгера;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п</a:t>
            </a:r>
            <a:r>
              <a:rPr lang="ru-RU" sz="1600" dirty="0" smtClean="0"/>
              <a:t>оказывать консоль сообщений;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ж</a:t>
            </a:r>
            <a:r>
              <a:rPr lang="ru-RU" sz="1600" dirty="0" smtClean="0"/>
              <a:t>елаемое количество потоков;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м</a:t>
            </a:r>
            <a:r>
              <a:rPr lang="ru-RU" sz="1600" dirty="0" smtClean="0"/>
              <a:t>аксимальное количество непрочитанных файлов;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п</a:t>
            </a:r>
            <a:r>
              <a:rPr lang="ru-RU" sz="1600" dirty="0" smtClean="0"/>
              <a:t>омощь;</a:t>
            </a:r>
            <a:endParaRPr lang="ru-RU" sz="1600" dirty="0"/>
          </a:p>
        </p:txBody>
      </p:sp>
      <p:sp>
        <p:nvSpPr>
          <p:cNvPr id="14" name="Стрелка вправо 13"/>
          <p:cNvSpPr/>
          <p:nvPr/>
        </p:nvSpPr>
        <p:spPr>
          <a:xfrm>
            <a:off x="3504523" y="2200108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133" y="624529"/>
            <a:ext cx="2567857" cy="3631868"/>
          </a:xfrm>
          <a:prstGeom prst="rect">
            <a:avLst/>
          </a:prstGeom>
        </p:spPr>
      </p:pic>
      <p:sp>
        <p:nvSpPr>
          <p:cNvPr id="17" name="Стрелка вправо 16"/>
          <p:cNvSpPr/>
          <p:nvPr/>
        </p:nvSpPr>
        <p:spPr>
          <a:xfrm>
            <a:off x="6801297" y="2197617"/>
            <a:ext cx="252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5" name="Группа 34"/>
          <p:cNvGrpSpPr/>
          <p:nvPr/>
        </p:nvGrpSpPr>
        <p:grpSpPr>
          <a:xfrm>
            <a:off x="9342536" y="1450728"/>
            <a:ext cx="1399930" cy="1980000"/>
            <a:chOff x="9755496" y="1501547"/>
            <a:chExt cx="1399930" cy="1980000"/>
          </a:xfrm>
        </p:grpSpPr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5496" y="1501547"/>
              <a:ext cx="1399930" cy="198000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004719" y="3083903"/>
              <a:ext cx="9092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ф</a:t>
              </a:r>
              <a:r>
                <a:rPr lang="ru-RU" sz="1000" dirty="0" smtClean="0"/>
                <a:t>айл ответов</a:t>
              </a:r>
              <a:endParaRPr lang="ru-RU" sz="1000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72560" y="851056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Общий итог</a:t>
            </a:r>
            <a:endParaRPr lang="ru-RU" sz="2400" dirty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Результат работы над проектом</a:t>
            </a:r>
            <a:endParaRPr lang="ru-RU" sz="4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Стрелка вправо 22"/>
          <p:cNvSpPr/>
          <p:nvPr/>
        </p:nvSpPr>
        <p:spPr>
          <a:xfrm rot="5400000">
            <a:off x="7127156" y="2582579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Стрелка вправо 23"/>
          <p:cNvSpPr/>
          <p:nvPr/>
        </p:nvSpPr>
        <p:spPr>
          <a:xfrm rot="5400000">
            <a:off x="8278536" y="2586211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33" name="Группа 32"/>
          <p:cNvGrpSpPr/>
          <p:nvPr/>
        </p:nvGrpSpPr>
        <p:grpSpPr>
          <a:xfrm>
            <a:off x="7002529" y="3075014"/>
            <a:ext cx="763597" cy="1080000"/>
            <a:chOff x="7543303" y="3686273"/>
            <a:chExt cx="763597" cy="1080000"/>
          </a:xfrm>
        </p:grpSpPr>
        <p:pic>
          <p:nvPicPr>
            <p:cNvPr id="25" name="Рисунок 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303" y="3686273"/>
              <a:ext cx="763597" cy="108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576531" y="4513003"/>
              <a:ext cx="6767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л</a:t>
              </a:r>
              <a:r>
                <a:rPr lang="ru-RU" sz="1000" dirty="0" smtClean="0"/>
                <a:t>ог-файл</a:t>
              </a:r>
              <a:endParaRPr lang="ru-RU" sz="1000" dirty="0"/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7991072" y="2843989"/>
            <a:ext cx="1080000" cy="1527507"/>
            <a:chOff x="8787484" y="3514241"/>
            <a:chExt cx="1080000" cy="1527507"/>
          </a:xfrm>
        </p:grpSpPr>
        <p:pic>
          <p:nvPicPr>
            <p:cNvPr id="27" name="Рисунок 2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7484" y="3514241"/>
              <a:ext cx="1080000" cy="1527507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9016057" y="4597067"/>
              <a:ext cx="6286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 smtClean="0"/>
                <a:t>консоль</a:t>
              </a:r>
              <a:endParaRPr lang="ru-RU" sz="1000" dirty="0"/>
            </a:p>
          </p:txBody>
        </p:sp>
      </p:grpSp>
      <p:grpSp>
        <p:nvGrpSpPr>
          <p:cNvPr id="32" name="Группа 31"/>
          <p:cNvGrpSpPr/>
          <p:nvPr/>
        </p:nvGrpSpPr>
        <p:grpSpPr>
          <a:xfrm>
            <a:off x="130291" y="1024225"/>
            <a:ext cx="3235152" cy="2691628"/>
            <a:chOff x="264344" y="758990"/>
            <a:chExt cx="3235152" cy="2691628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6341" y="1412076"/>
              <a:ext cx="1440000" cy="2036674"/>
            </a:xfrm>
            <a:prstGeom prst="rect">
              <a:avLst/>
            </a:prstGeom>
          </p:spPr>
        </p:pic>
        <p:pic>
          <p:nvPicPr>
            <p:cNvPr id="12" name="Рисунок 1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308" y="1413944"/>
              <a:ext cx="1440000" cy="2036674"/>
            </a:xfrm>
            <a:prstGeom prst="rect">
              <a:avLst/>
            </a:prstGeom>
          </p:spPr>
        </p:pic>
        <p:grpSp>
          <p:nvGrpSpPr>
            <p:cNvPr id="31" name="Группа 30"/>
            <p:cNvGrpSpPr/>
            <p:nvPr/>
          </p:nvGrpSpPr>
          <p:grpSpPr>
            <a:xfrm>
              <a:off x="264344" y="758990"/>
              <a:ext cx="3235152" cy="2402111"/>
              <a:chOff x="282853" y="772716"/>
              <a:chExt cx="3235152" cy="2402111"/>
            </a:xfrm>
          </p:grpSpPr>
          <p:pic>
            <p:nvPicPr>
              <p:cNvPr id="8" name="Рисунок 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853" y="779361"/>
                <a:ext cx="1440000" cy="2036674"/>
              </a:xfrm>
              <a:prstGeom prst="rect">
                <a:avLst/>
              </a:prstGeom>
            </p:spPr>
          </p:pic>
          <p:pic>
            <p:nvPicPr>
              <p:cNvPr id="9" name="Рисунок 8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8677" y="774489"/>
                <a:ext cx="1440000" cy="2036674"/>
              </a:xfrm>
              <a:prstGeom prst="rect">
                <a:avLst/>
              </a:prstGeom>
            </p:spPr>
          </p:pic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78005" y="772716"/>
                <a:ext cx="1440000" cy="2036675"/>
              </a:xfrm>
              <a:prstGeom prst="rect">
                <a:avLst/>
              </a:prstGeom>
            </p:spPr>
          </p:pic>
          <p:sp>
            <p:nvSpPr>
              <p:cNvPr id="6" name="Прямоугольник 5"/>
              <p:cNvSpPr/>
              <p:nvPr/>
            </p:nvSpPr>
            <p:spPr>
              <a:xfrm>
                <a:off x="466818" y="1368296"/>
                <a:ext cx="2880000" cy="1548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466053" y="2928606"/>
                <a:ext cx="86113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00" dirty="0" smtClean="0"/>
                  <a:t>пути файлов</a:t>
                </a:r>
                <a:endParaRPr lang="ru-RU" sz="1000" dirty="0"/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3993143" y="3216175"/>
            <a:ext cx="2831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earch_engine.exe /… /… /…</a:t>
            </a:r>
            <a:endParaRPr lang="ru-RU" dirty="0"/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3405" y="4270252"/>
            <a:ext cx="2893042" cy="16200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84805" y="4256397"/>
            <a:ext cx="2876274" cy="1620000"/>
          </a:xfrm>
          <a:prstGeom prst="rect">
            <a:avLst/>
          </a:prstGeom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33694" y="1630985"/>
            <a:ext cx="112174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0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14.02.2026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31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4FDAF-C654-4288-9437-917D77737F5E}" type="datetime1">
              <a:rPr lang="ru-RU" smtClean="0"/>
              <a:t>14.02.2026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30</a:t>
            </a:fld>
            <a:endParaRPr lang="ru-RU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631" y="4830489"/>
            <a:ext cx="1789957" cy="978996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552" y="4991086"/>
            <a:ext cx="1540875" cy="81787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989" y="4706199"/>
            <a:ext cx="1415007" cy="8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9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a:spPr>
      <a:bodyPr/>
      <a:lstStyle/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rgbClr r="0" g="0" b="0"/>
        </a:fillRef>
        <a:effectRef idx="0">
          <a:schemeClr val="accent1">
            <a:tint val="50000"/>
            <a:hueOff val="0"/>
            <a:satOff val="0"/>
            <a:lumOff val="0"/>
            <a:alphaOff val="0"/>
          </a:schemeClr>
        </a:effectRef>
        <a:fontRef idx="minor">
          <a:schemeClr val="lt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21742</TotalTime>
  <Words>2462</Words>
  <Application>Microsoft Office PowerPoint</Application>
  <PresentationFormat>Широкоэкранный</PresentationFormat>
  <Paragraphs>786</Paragraphs>
  <Slides>30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Calibri</vt:lpstr>
      <vt:lpstr>Calibri Light</vt:lpstr>
      <vt:lpstr>Cambria Math</vt:lpstr>
      <vt:lpstr>JetBrains Mono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Индексация документов в дополнительных потоках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Казмирчук Александр Владимирович</dc:creator>
  <cp:lastModifiedBy>Alexander</cp:lastModifiedBy>
  <cp:revision>767</cp:revision>
  <dcterms:created xsi:type="dcterms:W3CDTF">2025-10-14T05:54:15Z</dcterms:created>
  <dcterms:modified xsi:type="dcterms:W3CDTF">2026-02-14T08:57:55Z</dcterms:modified>
</cp:coreProperties>
</file>